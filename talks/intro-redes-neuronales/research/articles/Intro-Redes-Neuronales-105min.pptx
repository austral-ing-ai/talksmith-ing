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4" r:id="rId7"/>
    <p:sldId id="266" r:id="rId8"/>
    <p:sldId id="268" r:id="rId9"/>
    <p:sldId id="269" r:id="rId10"/>
    <p:sldId id="270" r:id="rId11"/>
    <p:sldId id="271" r:id="rId12"/>
    <p:sldId id="274" r:id="rId13"/>
    <p:sldId id="276" r:id="rId14"/>
    <p:sldId id="278" r:id="rId15"/>
    <p:sldId id="280" r:id="rId16"/>
    <p:sldId id="283" r:id="rId17"/>
    <p:sldId id="284" r:id="rId18"/>
    <p:sldId id="285" r:id="rId19"/>
    <p:sldId id="286" r:id="rId20"/>
    <p:sldId id="288" r:id="rId21"/>
    <p:sldId id="289" r:id="rId22"/>
    <p:sldId id="292" r:id="rId23"/>
    <p:sldId id="294" r:id="rId24"/>
    <p:sldId id="295" r:id="rId25"/>
    <p:sldId id="296" r:id="rId26"/>
    <p:sldId id="297" r:id="rId27"/>
    <p:sldId id="299" r:id="rId28"/>
    <p:sldId id="300" r:id="rId29"/>
    <p:sldId id="302" r:id="rId30"/>
    <p:sldId id="303" r:id="rId31"/>
    <p:sldId id="304" r:id="rId32"/>
    <p:sldId id="305" r:id="rId33"/>
    <p:sldId id="307" r:id="rId34"/>
    <p:sldId id="308" r:id="rId35"/>
    <p:sldId id="309" r:id="rId36"/>
    <p:sldId id="310" r:id="rId37"/>
    <p:sldId id="312" r:id="rId38"/>
    <p:sldId id="313" r:id="rId39"/>
    <p:sldId id="314" r:id="rId40"/>
    <p:sldId id="261" r:id="rId41"/>
    <p:sldId id="263" r:id="rId42"/>
    <p:sldId id="272" r:id="rId43"/>
    <p:sldId id="277" r:id="rId44"/>
    <p:sldId id="279" r:id="rId45"/>
    <p:sldId id="281" r:id="rId46"/>
    <p:sldId id="287" r:id="rId47"/>
    <p:sldId id="290" r:id="rId48"/>
    <p:sldId id="291" r:id="rId49"/>
    <p:sldId id="298" r:id="rId50"/>
    <p:sldId id="306" r:id="rId51"/>
    <p:sldId id="311" r:id="rId5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8" y="896112"/>
            <a:ext cx="13039344" cy="2627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6800"/>
              </a:lnSpc>
            </a:pPr>
            <a:r>
              <a:rPr sz="57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Inteligencia Artificial</a:t>
            </a:r>
          </a:p>
          <a:p>
            <a:pPr algn="l">
              <a:lnSpc>
                <a:spcPts val="6800"/>
              </a:lnSpc>
            </a:pPr>
            <a:r>
              <a:rPr sz="57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Generativa Aplicada en</a:t>
            </a:r>
          </a:p>
          <a:p>
            <a:pPr algn="l">
              <a:lnSpc>
                <a:spcPts val="6800"/>
              </a:lnSpc>
            </a:pPr>
            <a:r>
              <a:rPr sz="57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Biomedicina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3886200"/>
            <a:ext cx="10058400" cy="56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4200"/>
              </a:lnSpc>
            </a:pPr>
            <a:r>
              <a:rPr sz="33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Introducción a las Redes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4489704"/>
            <a:ext cx="10972800" cy="569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4200"/>
              </a:lnSpc>
            </a:pPr>
            <a:r>
              <a:rPr sz="33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Neuronales Artificiales (ANN)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5404104"/>
            <a:ext cx="5943600" cy="328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Autor: Paulo Veiga/Marcos Sanchez Sorondo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5843016"/>
            <a:ext cx="5943600" cy="328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Última Modificación: Agosto, 2026</a:t>
            </a:r>
          </a:p>
        </p:txBody>
      </p:sp>
      <p:pic>
        <p:nvPicPr>
          <p:cNvPr id="7" name="Picture 6" descr="logo_aus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328" y="5431536"/>
            <a:ext cx="2075688" cy="17170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758952"/>
            <a:ext cx="1836494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854964"/>
            <a:ext cx="1607894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CONTENIDO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" y="1078992"/>
            <a:ext cx="13139928" cy="1458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600"/>
              </a:lnSpc>
            </a:pPr>
            <a:r>
              <a:rPr sz="46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Introducción a las Redes Neuronales</a:t>
            </a:r>
          </a:p>
          <a:p>
            <a:pPr algn="l">
              <a:lnSpc>
                <a:spcPts val="5600"/>
              </a:lnSpc>
            </a:pPr>
            <a:r>
              <a:rPr sz="46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Artificiales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" y="2734056"/>
            <a:ext cx="27432" cy="473659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6424" y="2916936"/>
            <a:ext cx="521207" cy="2743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0664" y="2734056"/>
            <a:ext cx="393192" cy="393192"/>
          </a:xfrm>
          <a:prstGeom prst="roundRect">
            <a:avLst>
              <a:gd name="adj" fmla="val 1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761488"/>
            <a:ext cx="265176" cy="354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2788920"/>
            <a:ext cx="10515600" cy="315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De la intuición a la 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3118104"/>
            <a:ext cx="12079224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3B3535"/>
                </a:solidFill>
                <a:latin typeface="Roboto"/>
              </a:rPr>
              <a:t>Un circuito de sensores y actuadores, y por qué eso ya es una red neuronal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6424" y="3739896"/>
            <a:ext cx="521207" cy="2743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0664" y="3557016"/>
            <a:ext cx="393192" cy="393192"/>
          </a:xfrm>
          <a:prstGeom prst="roundRect">
            <a:avLst>
              <a:gd name="adj" fmla="val 1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584448"/>
            <a:ext cx="265176" cy="354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3611880"/>
            <a:ext cx="10515600" cy="315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La neurona y la capa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3941064"/>
            <a:ext cx="12079224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3B3535"/>
                </a:solidFill>
                <a:latin typeface="Roboto"/>
              </a:rPr>
              <a:t>Combinación lineal, no linealidad y el bloque que se repite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6424" y="4562856"/>
            <a:ext cx="521207" cy="2743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0664" y="4379976"/>
            <a:ext cx="393192" cy="393192"/>
          </a:xfrm>
          <a:prstGeom prst="roundRect">
            <a:avLst>
              <a:gd name="adj" fmla="val 1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407408"/>
            <a:ext cx="265176" cy="354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" y="4434840"/>
            <a:ext cx="10515600" cy="315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Redes profundas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4764024"/>
            <a:ext cx="12079224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3B3535"/>
                </a:solidFill>
                <a:latin typeface="Roboto"/>
              </a:rPr>
              <a:t>Apilar capas: ancho, profundidad, parámetros e hiperparámetros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6424" y="5385816"/>
            <a:ext cx="521207" cy="2743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0664" y="5202936"/>
            <a:ext cx="393192" cy="393192"/>
          </a:xfrm>
          <a:prstGeom prst="roundRect">
            <a:avLst>
              <a:gd name="adj" fmla="val 1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230368"/>
            <a:ext cx="265176" cy="354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1368" y="5257800"/>
            <a:ext cx="10515600" cy="315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El recorrido completo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1368" y="5586984"/>
            <a:ext cx="12079224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3B3535"/>
                </a:solidFill>
                <a:latin typeface="Roboto"/>
              </a:rPr>
              <a:t>Del input a la salida con un caso real: pesos, matrices y notación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6424" y="6208776"/>
            <a:ext cx="521207" cy="2743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0664" y="6025896"/>
            <a:ext cx="393192" cy="393192"/>
          </a:xfrm>
          <a:prstGeom prst="roundRect">
            <a:avLst>
              <a:gd name="adj" fmla="val 1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6053328"/>
            <a:ext cx="265176" cy="354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1368" y="6080760"/>
            <a:ext cx="10515600" cy="315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Funciones de activación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1368" y="6409944"/>
            <a:ext cx="12079224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3B3535"/>
                </a:solidFill>
                <a:latin typeface="Roboto"/>
              </a:rPr>
              <a:t>Por qué sin no linealidad la red colapsa, y cuál conviene elegir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06424" y="7031736"/>
            <a:ext cx="521207" cy="2743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0664" y="6848856"/>
            <a:ext cx="393192" cy="393192"/>
          </a:xfrm>
          <a:prstGeom prst="roundRect">
            <a:avLst>
              <a:gd name="adj" fmla="val 1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6876288"/>
            <a:ext cx="265176" cy="354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6903720"/>
            <a:ext cx="10515600" cy="315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Backpropagation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1368" y="7232904"/>
            <a:ext cx="12079224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3B3535"/>
                </a:solidFill>
                <a:latin typeface="Roboto"/>
              </a:rPr>
              <a:t>Cómo la red mide su error y ajusta cada uno de sus pesos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2404872"/>
            <a:ext cx="1538658" cy="530352"/>
          </a:xfrm>
          <a:prstGeom prst="roundRect">
            <a:avLst>
              <a:gd name="adj" fmla="val 9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2551176"/>
            <a:ext cx="1255194" cy="303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750" b="0" i="0">
                <a:solidFill>
                  <a:srgbClr val="3B3535"/>
                </a:solidFill>
                <a:latin typeface="Roboto"/>
              </a:rPr>
              <a:t>CAPÍTULO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4276344"/>
            <a:ext cx="384048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3054096"/>
            <a:ext cx="13039344" cy="874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6600"/>
              </a:lnSpc>
            </a:pPr>
            <a:r>
              <a:rPr sz="55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De la intuición a la 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897314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68714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DE LA INTUICIÓN A LA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Una red de sensores y actuadores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Imaginemos un auto con sensores — «viene algo por la izquierda», «estoy cerca de la pared» — conectados por cables a dos actuadores: el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acelerador y el freno. Entre medio hay nodos que reparten la electricidad. Eso es, literalmente, una red neuronal.</a:t>
            </a:r>
          </a:p>
        </p:txBody>
      </p:sp>
      <p:pic>
        <p:nvPicPr>
          <p:cNvPr id="6" name="Picture 5" descr="red_dibu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238" y="3538156"/>
            <a:ext cx="5299923" cy="35850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7232904"/>
            <a:ext cx="13039344" cy="258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 i="1">
                <a:solidFill>
                  <a:srgbClr val="6B6363"/>
                </a:solidFill>
                <a:latin typeface="Roboto"/>
              </a:rPr>
              <a:t>Fuente: Mark Riedl, «A Very Gentle Introduction to Large Language Models without the Hype».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897314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68714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DE LA INTUICIÓN A LA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Aprender es ajustar qué caminos conducen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912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Al principio los parámetros son azarosos y el auto choca. Probamos, medimos el error, retocamos apenas las compuertas y volvemos a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probar. Después de muchísimas repeticiones, ciertos caminos quedan reforzados: son los que llevan del sensor correcto al actuador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correcto.</a:t>
            </a:r>
          </a:p>
        </p:txBody>
      </p:sp>
      <p:pic>
        <p:nvPicPr>
          <p:cNvPr id="6" name="Picture 5" descr="red_cami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899" y="3830256"/>
            <a:ext cx="4266600" cy="25522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8" y="6437884"/>
            <a:ext cx="13039344" cy="99618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1560" y="668020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62456" y="6639052"/>
            <a:ext cx="12033504" cy="557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Esto es el entrenamiento.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No hay nadie programando reglas: hay un procedimiento incremental que ajusta números hasta que el comportamiento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del circuito se parece al que queríamos.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897314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68714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DE LA INTUICIÓN A LA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El modelo más simple que ya conocemos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Antes de complicar el circuito, recordemos el punto de partida: un modelo lineal que combina las entradas y produce una salida, y una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medida del error entre lo que predijo y lo que esperábamos.</a:t>
            </a:r>
          </a:p>
        </p:txBody>
      </p:sp>
      <p:pic>
        <p:nvPicPr>
          <p:cNvPr id="6" name="Picture 5" descr="modelo_lin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69" y="3538156"/>
            <a:ext cx="5011517" cy="3804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3967924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6608" y="3949636"/>
            <a:ext cx="4398264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 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6608" y="4344860"/>
            <a:ext cx="4398264" cy="552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Un vector de números x — las variables que describen</a:t>
            </a:r>
          </a:p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el caso.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5226240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6608" y="5207952"/>
            <a:ext cx="4398264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El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6608" y="5603176"/>
            <a:ext cx="4398264" cy="552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Una combinación lineal de esas variables, con un peso</a:t>
            </a:r>
          </a:p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por cada una.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484556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6608" y="6466268"/>
            <a:ext cx="4398264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El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6608" y="6861492"/>
            <a:ext cx="4398264" cy="552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La suma de las diferencias al cuadrado entre lo que</a:t>
            </a:r>
          </a:p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predijo y lo que esperábamos.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2404872"/>
            <a:ext cx="1538658" cy="530352"/>
          </a:xfrm>
          <a:prstGeom prst="roundRect">
            <a:avLst>
              <a:gd name="adj" fmla="val 9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2551176"/>
            <a:ext cx="1255194" cy="303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750" b="0" i="0">
                <a:solidFill>
                  <a:srgbClr val="3B3535"/>
                </a:solidFill>
                <a:latin typeface="Roboto"/>
              </a:rPr>
              <a:t>CAPÍTULO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4276344"/>
            <a:ext cx="384048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3054096"/>
            <a:ext cx="13039344" cy="874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6600"/>
              </a:lnSpc>
            </a:pPr>
            <a:r>
              <a:rPr sz="55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 neurona y la capa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757338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528738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LA NEURONA Y LA 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El mundo real no es lineal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La temperatura a lo largo del año sube y baja; la distribución del ingreso cae de forma abrupta y después se aplana. Una recta puede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aproximar el promedio, pero pierde justamente la forma que nos importa.</a:t>
            </a:r>
          </a:p>
        </p:txBody>
      </p:sp>
      <p:pic>
        <p:nvPicPr>
          <p:cNvPr id="6" name="Picture 5" descr="no_lineal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392" y="3538156"/>
            <a:ext cx="7135614" cy="29357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8" y="6437884"/>
            <a:ext cx="13039344" cy="99618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1560" y="668020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62456" y="6639052"/>
            <a:ext cx="12033504" cy="2969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Si queremos mejores predicciones, necesitamos mejores modelos.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 Y «mejor» acá significa: capaz de representar curvas, saturaciones y quiebres.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757338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528738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LA NEURONA Y LA 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1354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 neurona: primero, una combinación</a:t>
            </a:r>
          </a:p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lineal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192145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Cada neurona recibe varias entradas, las multiplica por sus pesos, las suma y le agrega un sesgo. Ese único número es todo lo que produce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la parte lineal.</a:t>
            </a:r>
          </a:p>
        </p:txBody>
      </p:sp>
      <p:pic>
        <p:nvPicPr>
          <p:cNvPr id="6" name="Picture 5" descr="neurona_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019" y="4196968"/>
            <a:ext cx="6176617" cy="3145663"/>
          </a:xfrm>
          <a:prstGeom prst="rect">
            <a:avLst/>
          </a:prstGeom>
        </p:spPr>
      </p:pic>
      <p:pic>
        <p:nvPicPr>
          <p:cNvPr id="7" name="Picture 6" descr="f_lin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4699888"/>
            <a:ext cx="3200400" cy="6059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0" y="6117208"/>
            <a:ext cx="4507992" cy="817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x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es el vector de entradas, </a:t>
            </a:r>
            <a:r>
              <a:rPr sz="1450" b="1" i="0">
                <a:solidFill>
                  <a:srgbClr val="3B3535"/>
                </a:solidFill>
                <a:latin typeface="Roboto"/>
              </a:rPr>
              <a:t> w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los pesos que la neurona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aprendió y </a:t>
            </a:r>
            <a:r>
              <a:rPr sz="1450" b="1" i="0">
                <a:solidFill>
                  <a:srgbClr val="3B3535"/>
                </a:solidFill>
                <a:latin typeface="Roboto"/>
              </a:rPr>
              <a:t> b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el sesgo: un desplazamiento que le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permite activarse antes o después.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757338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528738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LA NEURONA Y LA 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 sigmoide: la no linealidad clásica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La combinación lineal da un número cualquiera. La función sigmoide lo aplasta al intervalo entre 0 y 1, y con eso convierte una suma en algo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que podemos leer como una probabilidad o como un grado de activación.</a:t>
            </a:r>
          </a:p>
        </p:txBody>
      </p:sp>
      <p:pic>
        <p:nvPicPr>
          <p:cNvPr id="6" name="Picture 5" descr="neurona_sigm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656" y="3538156"/>
            <a:ext cx="2591087" cy="22042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8" y="5833872"/>
            <a:ext cx="3143250" cy="1600200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2668" y="5833872"/>
            <a:ext cx="91440" cy="1600200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6071616"/>
            <a:ext cx="2539746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Rango acotado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545072"/>
            <a:ext cx="2539746" cy="531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Devuelve siempre valores entre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0 y 1; se lee como probabilidad.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4226" y="5833872"/>
            <a:ext cx="3143250" cy="1600200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071365" y="5833872"/>
            <a:ext cx="91440" cy="1600200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5978" y="6071616"/>
            <a:ext cx="2539746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Diferenciable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5978" y="6545072"/>
            <a:ext cx="2539746" cy="531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Es suave en todo punto: sin eso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no habría backpropagation.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2923" y="5833872"/>
            <a:ext cx="3143250" cy="1600200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70063" y="5833872"/>
            <a:ext cx="91440" cy="1600200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4675" y="6071616"/>
            <a:ext cx="2539746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Monótona creciente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4675" y="6545072"/>
            <a:ext cx="2539746" cy="531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Si sube la entrada, sube la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salida. Conserva el orden.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91622" y="5833872"/>
            <a:ext cx="3143250" cy="1600200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668761" y="5833872"/>
            <a:ext cx="91440" cy="1600200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93374" y="6071616"/>
            <a:ext cx="2539746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Punto medio en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93374" y="6545072"/>
            <a:ext cx="2539746" cy="531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σ(0) = 0.5; un umbral natural de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decisión.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757338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528738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LA NEURONA Y LA 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 capa: el bloque que se repite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Combinación lineal seguida de una no linealidad. Ese par es una capa, y es la unidad con la que se construye cualquier red: no hay una pieza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más grande que aprender, solo esta repetida.</a:t>
            </a:r>
          </a:p>
        </p:txBody>
      </p:sp>
      <p:pic>
        <p:nvPicPr>
          <p:cNvPr id="6" name="Picture 5" descr="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185" y="3538156"/>
            <a:ext cx="4038029" cy="28900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8" y="6698234"/>
            <a:ext cx="13039344" cy="73583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1560" y="694055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62456" y="6899402"/>
            <a:ext cx="12033504" cy="2969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Una capa toma un vector y devuelve otro vector.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Encadenarlas es simplemente pasarle a la siguiente lo que produjo la anterior.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2404872"/>
            <a:ext cx="1538658" cy="530352"/>
          </a:xfrm>
          <a:prstGeom prst="roundRect">
            <a:avLst>
              <a:gd name="adj" fmla="val 9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2551176"/>
            <a:ext cx="1255194" cy="303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750" b="0" i="0">
                <a:solidFill>
                  <a:srgbClr val="3B3535"/>
                </a:solidFill>
                <a:latin typeface="Roboto"/>
              </a:rPr>
              <a:t>CAPÍTULO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4276344"/>
            <a:ext cx="384048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3054096"/>
            <a:ext cx="13039344" cy="874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6600"/>
              </a:lnSpc>
            </a:pPr>
            <a:r>
              <a:rPr sz="55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Redes profundas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473501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44901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REDES PROFUNDAS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Apilar capas: qué es una red profunda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Entre la entrada y la salida metemos capas intermedias. Se llaman ocultas porque no las observamos directamente: no son ni el dato que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entra ni la respuesta que sale.</a:t>
            </a:r>
          </a:p>
        </p:txBody>
      </p:sp>
      <p:pic>
        <p:nvPicPr>
          <p:cNvPr id="6" name="Picture 5" descr="red_multi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18" y="3538156"/>
            <a:ext cx="6968163" cy="37130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473501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44901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REDES PROFUNDAS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Las dos dimensiones: ancho y profundidad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328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Toda arquitectura se describe con dos números. Cambiarlos cambia por completo la capacidad — y el costo — del modelo.</a:t>
            </a:r>
          </a:p>
        </p:txBody>
      </p:sp>
      <p:pic>
        <p:nvPicPr>
          <p:cNvPr id="6" name="Picture 5" descr="ancho_pro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433" y="3246056"/>
            <a:ext cx="5867532" cy="2816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6153912"/>
            <a:ext cx="6377940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6464808"/>
            <a:ext cx="637794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6702552"/>
            <a:ext cx="6377940" cy="280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Ancho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7129272"/>
            <a:ext cx="6377940" cy="2439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La cantidad de unidades dentro de una capa. El ancho de la red es el de su capa más grande.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6931" y="6153912"/>
            <a:ext cx="6377940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6931" y="6464808"/>
            <a:ext cx="637794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6931" y="6702552"/>
            <a:ext cx="6377940" cy="280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Profundidad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6931" y="7129272"/>
            <a:ext cx="6377940" cy="2439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La cantidad de capas ocultas. No cuentan ni la entrada ni la salida: solo lo que hay en el medio.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473501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44901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REDES PROFUNDAS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Parámetros vs. hiperparámetros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Es la distinción que más confusión genera, y es simple: unos los fija quien diseña el modelo antes de entrenar; los otros los descubre la red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mientras entrena.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3538156"/>
            <a:ext cx="13039344" cy="526795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" y="3675316"/>
            <a:ext cx="243230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1">
                <a:solidFill>
                  <a:srgbClr val="FFFFFF"/>
                </a:solidFill>
                <a:latin typeface="Roboto"/>
              </a:rPr>
              <a:t>Aspecto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31336" y="3675316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1">
                <a:solidFill>
                  <a:srgbClr val="FFFFFF"/>
                </a:solidFill>
                <a:latin typeface="Roboto"/>
              </a:rPr>
              <a:t>Hiperparámetros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33688" y="3675316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1">
                <a:solidFill>
                  <a:srgbClr val="FFFFFF"/>
                </a:solidFill>
                <a:latin typeface="Roboto"/>
              </a:rPr>
              <a:t>Parámetros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4580775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6" y="4202112"/>
            <a:ext cx="243230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0">
                <a:solidFill>
                  <a:srgbClr val="3B3535"/>
                </a:solidFill>
                <a:latin typeface="Roboto"/>
              </a:rPr>
              <a:t>¿Quién los fija?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1336" y="4202112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Los definimos nosotros, a mano, antes de entrenar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688" y="4202112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Los aprende la red durante el entrenamiento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" y="4591748"/>
            <a:ext cx="13039344" cy="526795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8" y="5107571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" y="4728908"/>
            <a:ext cx="243230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0">
                <a:solidFill>
                  <a:srgbClr val="3B3535"/>
                </a:solidFill>
                <a:latin typeface="Roboto"/>
              </a:rPr>
              <a:t>Ejemplos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6" y="4728908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Ancho, profundidad, tasa de aprendizaje η, tamaño de lote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4728908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Pesos w de cada conexión y sesgos b de cada unidad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" y="5634367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" y="5255704"/>
            <a:ext cx="243230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0">
                <a:solidFill>
                  <a:srgbClr val="3B3535"/>
                </a:solidFill>
                <a:latin typeface="Roboto"/>
              </a:rPr>
              <a:t>¿Cuándo cambian?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6" y="5255704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Solo si volvemos a lanzar el entrenamiento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5255704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En cada iteración, con cada lote de datos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" y="5645340"/>
            <a:ext cx="13039344" cy="526795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8" y="6161163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6" y="5782500"/>
            <a:ext cx="243230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0">
                <a:solidFill>
                  <a:srgbClr val="3B3535"/>
                </a:solidFill>
                <a:latin typeface="Roboto"/>
              </a:rPr>
              <a:t>¿Cuántos hay?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31336" y="5782500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Unos pocos: decenas como mucho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5782500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Millones, o miles de millones en modelos grandes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" y="6687959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6" y="6309296"/>
            <a:ext cx="243230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0">
                <a:solidFill>
                  <a:srgbClr val="3B3535"/>
                </a:solidFill>
                <a:latin typeface="Roboto"/>
              </a:rPr>
              <a:t>¿Cómo se eligen?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31336" y="6309296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Búsqueda, experiencia previa y validación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3688" y="6309296"/>
            <a:ext cx="4700016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Descenso por gradiente sobre el error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" y="6698234"/>
            <a:ext cx="13039344" cy="73583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1560" y="694055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62456" y="6899402"/>
            <a:ext cx="12033504" cy="2969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Ajustar hiperparámetros es un ciclo externo; entrenar es el ciclo interno que corre dentro de cada configuración.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2404872"/>
            <a:ext cx="1538658" cy="530352"/>
          </a:xfrm>
          <a:prstGeom prst="roundRect">
            <a:avLst>
              <a:gd name="adj" fmla="val 9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2551176"/>
            <a:ext cx="1255194" cy="303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750" b="0" i="0">
                <a:solidFill>
                  <a:srgbClr val="3B3535"/>
                </a:solidFill>
                <a:latin typeface="Roboto"/>
              </a:rPr>
              <a:t>CAPÍTULO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4276344"/>
            <a:ext cx="384048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3054096"/>
            <a:ext cx="13039344" cy="874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6600"/>
              </a:lnSpc>
            </a:pPr>
            <a:r>
              <a:rPr sz="55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El recorrido completo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106424"/>
            <a:ext cx="113823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202436"/>
            <a:ext cx="909630" cy="211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75"/>
              </a:lnSpc>
            </a:pPr>
            <a:r>
              <a:rPr sz="1250" b="0" i="0">
                <a:solidFill>
                  <a:srgbClr val="3B3535"/>
                </a:solidFill>
                <a:latin typeface="Roboto"/>
              </a:rPr>
              <a:t>CAPÍTULO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746504"/>
            <a:ext cx="13039344" cy="773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800"/>
              </a:lnSpc>
            </a:pPr>
            <a:r>
              <a:rPr sz="4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El recorrido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788920"/>
            <a:ext cx="13039344" cy="341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3B3535"/>
                </a:solidFill>
                <a:latin typeface="Roboto"/>
              </a:rPr>
              <a:t>Del input a la salida con un caso real: pesos, matrices y notación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8313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41422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4379976"/>
            <a:ext cx="4157472" cy="361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¿Cómo se ve un caso real?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887976"/>
            <a:ext cx="4157472" cy="577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Ocho variables meteorológicas entrando a una</a:t>
            </a:r>
          </a:p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red concreta.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6464" y="38313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6464" y="41422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6464" y="4379976"/>
            <a:ext cx="4157472" cy="361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¿Dónde viven los pesos?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6464" y="4887976"/>
            <a:ext cx="4157472" cy="577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En una matriz cuyas dimensiones podemos</a:t>
            </a:r>
          </a:p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anticipar de memoria.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7399" y="38313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77399" y="41422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77399" y="4379976"/>
            <a:ext cx="4157472" cy="361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¿Cómo se calcula una capa?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399" y="4887976"/>
            <a:ext cx="4157472" cy="577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Un producto matricial y una función de</a:t>
            </a:r>
          </a:p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activación. Nada más.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0194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7334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EL RECORRIDO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Un caso concreto: predecir el clima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Ocho variables de entrada — temperatura media, máxima, mínima, humedad, precipitación, presión, nubosidad y visibilidad — y una primera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capa oculta de nueve unidades. Con este ejemplo vamos a recorrer todo el camino, de punta a punta.</a:t>
            </a:r>
          </a:p>
        </p:txBody>
      </p:sp>
      <p:pic>
        <p:nvPicPr>
          <p:cNvPr id="6" name="Picture 5" descr="clima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92" y="3538156"/>
            <a:ext cx="3532727" cy="3804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3876484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3895" y="3858196"/>
            <a:ext cx="5833872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Ocho entradas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5" y="4253420"/>
            <a:ext cx="5833872" cy="294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Una unidad por variable medida. Es el vector x que entra a la 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876990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5" y="4858702"/>
            <a:ext cx="5833872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Nueve unidades ocultas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5" y="5253926"/>
            <a:ext cx="5833872" cy="294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El ancho de la primera capa. Lo elegimos nosotros: es un hiperparámetro.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5877496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5" y="5859208"/>
            <a:ext cx="5833872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Setenta y dos conexiones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6254432"/>
            <a:ext cx="5833872" cy="552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Cada entrada se conecta con cada unidad oculta. Ahí viven los pesos que</a:t>
            </a:r>
          </a:p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se aprenden.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0194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7334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EL RECORRIDO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Cada conexión es un peso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Cada flecha que sale de una unidad de entrada y llega a una unidad oculta tiene su propio número asociado. Ese número es lo que la red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aprende.</a:t>
            </a:r>
          </a:p>
        </p:txBody>
      </p:sp>
      <p:pic>
        <p:nvPicPr>
          <p:cNvPr id="6" name="Picture 5" descr="clima_w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328" y="3538156"/>
            <a:ext cx="3791919" cy="3804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3766756"/>
            <a:ext cx="5422392" cy="836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A los 72 pesos se les suma un sesgo por unidad oculta: nueve</a:t>
            </a:r>
          </a:p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números más que también se aprenden. En total, 81 parámetros</a:t>
            </a:r>
          </a:p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solo en esta primera capa.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4955476"/>
            <a:ext cx="5422392" cy="151688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68511" y="5197792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79407" y="5156644"/>
            <a:ext cx="4416552" cy="817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Ocho entradas por nueve unidades ocultas dan 72</a:t>
            </a:r>
          </a:p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conexiones.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Setenta y dos números que arrancan al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azar y que el entrenamiento va a corregir, uno por uno.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0194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7334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EL RECORRIDO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Todos los pesos, en una matriz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Los 72 números no viven sueltos: se ordenan en una matriz de 8 filas por 9 columnas. Cada fila es una variable de entrada y cada columna,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una unidad de la capa oculta.</a:t>
            </a:r>
          </a:p>
        </p:txBody>
      </p:sp>
      <p:pic>
        <p:nvPicPr>
          <p:cNvPr id="6" name="Picture 5" descr="matriz_h1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519" y="3538156"/>
            <a:ext cx="4248577" cy="3804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3830764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3812476"/>
            <a:ext cx="5038344" cy="288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4"/>
              </a:lnSpc>
            </a:pPr>
            <a:r>
              <a:rPr sz="15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Las filas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4183316"/>
            <a:ext cx="5038344" cy="2667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0" i="0">
                <a:solidFill>
                  <a:srgbClr val="3B3535"/>
                </a:solidFill>
                <a:latin typeface="Roboto"/>
              </a:rPr>
              <a:t>Una por cada variable de entrada: ocho filas, de w1· a w8·.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696968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678680"/>
            <a:ext cx="5038344" cy="288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4"/>
              </a:lnSpc>
            </a:pPr>
            <a:r>
              <a:rPr sz="15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Las columnas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5049520"/>
            <a:ext cx="5038344" cy="2667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0" i="0">
                <a:solidFill>
                  <a:srgbClr val="3B3535"/>
                </a:solidFill>
                <a:latin typeface="Roboto"/>
              </a:rPr>
              <a:t>Una por cada unidad oculta: nueve columnas.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563171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5544883"/>
            <a:ext cx="5038344" cy="288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4"/>
              </a:lnSpc>
            </a:pPr>
            <a:r>
              <a:rPr sz="15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 celda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5915723"/>
            <a:ext cx="5038344" cy="4969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0" i="0">
                <a:solidFill>
                  <a:srgbClr val="3B3535"/>
                </a:solidFill>
                <a:latin typeface="Roboto"/>
              </a:rPr>
              <a:t>El peso de esa conexión concreta. Es el número que el entrenamiento</a:t>
            </a:r>
          </a:p>
          <a:p>
            <a:pPr algn="l">
              <a:lnSpc>
                <a:spcPts val="1812"/>
              </a:lnSpc>
            </a:pPr>
            <a:r>
              <a:rPr sz="1250" b="0" i="0">
                <a:solidFill>
                  <a:srgbClr val="3B3535"/>
                </a:solidFill>
                <a:latin typeface="Roboto"/>
              </a:rPr>
              <a:t>corrige.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6177534"/>
            <a:ext cx="5696712" cy="1256537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94192" y="641985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05088" y="6378702"/>
            <a:ext cx="4690872" cy="817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Pensar en matrices no es un capricho de notación.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Es lo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que permite calcular la capa entera con una sola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operación y aprovechar la GPU.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0194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7334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EL RECORRIDO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1354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El cálculo de la capa es un producto</a:t>
            </a:r>
          </a:p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matricial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192145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El vector de entrada multiplica a la matriz de pesos, y el resultado es el vector de la capa oculta. Las dimensiones encajan de una única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manera posible.</a:t>
            </a:r>
          </a:p>
        </p:txBody>
      </p:sp>
      <p:pic>
        <p:nvPicPr>
          <p:cNvPr id="6" name="Picture 5" descr="clima_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61" y="4196968"/>
            <a:ext cx="4533972" cy="3145663"/>
          </a:xfrm>
          <a:prstGeom prst="rect">
            <a:avLst/>
          </a:prstGeom>
        </p:spPr>
      </p:pic>
      <p:pic>
        <p:nvPicPr>
          <p:cNvPr id="7" name="Picture 6" descr="f_di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79849"/>
            <a:ext cx="4480560" cy="4009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5449696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5431408"/>
            <a:ext cx="5038344" cy="272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55"/>
              </a:lnSpc>
            </a:pPr>
            <a:r>
              <a:rPr sz="14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5785992"/>
            <a:ext cx="5038344" cy="2483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Un vector fila de 8 números: una observación del clima.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235509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6217221"/>
            <a:ext cx="5038344" cy="272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55"/>
              </a:lnSpc>
            </a:pPr>
            <a:r>
              <a:rPr sz="14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Pesos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6571805"/>
            <a:ext cx="5038344" cy="2483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La matriz de 8×9 que la red aprendió.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7021321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7003033"/>
            <a:ext cx="5038344" cy="272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55"/>
              </a:lnSpc>
            </a:pPr>
            <a:r>
              <a:rPr sz="14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7357617"/>
            <a:ext cx="5038344" cy="2483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Un vector de 9 números: la capa oculta, antes de aplicar la activación.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0194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7334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EL RECORRIDO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Resumen de dimensiones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328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Con esta tabla se puede reconstruir la arquitectura completa del ejemplo — y verificar que ninguna multiplicación quede mal encajada.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3246056"/>
            <a:ext cx="13039344" cy="535813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" y="3383216"/>
            <a:ext cx="288950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1" i="1">
                <a:solidFill>
                  <a:srgbClr val="FFFFFF"/>
                </a:solidFill>
                <a:latin typeface="Roboto"/>
              </a:rPr>
              <a:t>Etapa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8536" y="3383216"/>
            <a:ext cx="252374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1" i="1">
                <a:solidFill>
                  <a:srgbClr val="FFFFFF"/>
                </a:solidFill>
                <a:latin typeface="Roboto"/>
              </a:rPr>
              <a:t>Dimensión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4616" y="3383216"/>
            <a:ext cx="6419088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1" i="1">
                <a:solidFill>
                  <a:srgbClr val="FFFFFF"/>
                </a:solidFill>
                <a:latin typeface="Roboto"/>
              </a:rPr>
              <a:t>Qué representa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4306709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6" y="3919029"/>
            <a:ext cx="288950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Entrada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8536" y="3919029"/>
            <a:ext cx="252374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1 ×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4616" y="3919029"/>
            <a:ext cx="6419088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Las ocho variables meteorológicas de una observación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" y="4317682"/>
            <a:ext cx="13039344" cy="535813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8" y="4842522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" y="4454842"/>
            <a:ext cx="288950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Pesos W⁽¹⁾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4454842"/>
            <a:ext cx="252374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8 ×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4616" y="4454842"/>
            <a:ext cx="6419088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Todas las conexiones entre la entrada y la primera capa oculta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" y="5378335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" y="4990655"/>
            <a:ext cx="288950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Capa oculta h⁽¹⁾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4990655"/>
            <a:ext cx="252374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1 ×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4616" y="4990655"/>
            <a:ext cx="6419088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El resultado del producto, ya pasado por la activación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" y="5389308"/>
            <a:ext cx="13039344" cy="535813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8" y="5914148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6" y="5526468"/>
            <a:ext cx="288950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Pesos W⁽ⁿ⁾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8536" y="5526468"/>
            <a:ext cx="252374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100 ×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5526468"/>
            <a:ext cx="6419088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Las conexiones entre la última capa oculta y la salida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" y="6449961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6" y="6062281"/>
            <a:ext cx="288950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Salida 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8536" y="6062281"/>
            <a:ext cx="2523744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1 ×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4616" y="6062281"/>
            <a:ext cx="6419088" cy="298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Los cuatro valores que la red predice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" y="6437884"/>
            <a:ext cx="13039344" cy="99618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1560" y="668020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62456" y="6639052"/>
            <a:ext cx="12033504" cy="557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Regla práctica: el número de columnas de la izquierda tiene que coincidir con el de filas de la derecha. Si no coincide, la arquitectura está mal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planteada.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2404872"/>
            <a:ext cx="1538658" cy="530352"/>
          </a:xfrm>
          <a:prstGeom prst="roundRect">
            <a:avLst>
              <a:gd name="adj" fmla="val 9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2551176"/>
            <a:ext cx="1255194" cy="303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750" b="0" i="0">
                <a:solidFill>
                  <a:srgbClr val="3B3535"/>
                </a:solidFill>
                <a:latin typeface="Roboto"/>
              </a:rPr>
              <a:t>CAPÍTULO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4276344"/>
            <a:ext cx="384048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3054096"/>
            <a:ext cx="13039344" cy="874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6600"/>
              </a:lnSpc>
            </a:pPr>
            <a:r>
              <a:rPr sz="55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Funciones de activación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106424"/>
            <a:ext cx="113823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202436"/>
            <a:ext cx="909630" cy="211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75"/>
              </a:lnSpc>
            </a:pPr>
            <a:r>
              <a:rPr sz="1250" b="0" i="0">
                <a:solidFill>
                  <a:srgbClr val="3B3535"/>
                </a:solidFill>
                <a:latin typeface="Roboto"/>
              </a:rPr>
              <a:t>CAPÍTULO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746504"/>
            <a:ext cx="13039344" cy="773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800"/>
              </a:lnSpc>
            </a:pPr>
            <a:r>
              <a:rPr sz="4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Funciones de activación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788920"/>
            <a:ext cx="13039344" cy="341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3B3535"/>
                </a:solidFill>
                <a:latin typeface="Roboto"/>
              </a:rPr>
              <a:t>Por qué sin no linealidad la red colapsa, y cuál conviene elegir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8313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41422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4379976"/>
            <a:ext cx="4157472" cy="68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¿Qué pasa si no ponemos</a:t>
            </a:r>
          </a:p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activación?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213096"/>
            <a:ext cx="4157472" cy="3070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La red profunda colapsa en una sola capa lineal.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6464" y="38313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6464" y="41422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6464" y="4379976"/>
            <a:ext cx="4157472" cy="68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¿Qué hace exactamente la</a:t>
            </a:r>
          </a:p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activación?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6464" y="5213096"/>
            <a:ext cx="4157472" cy="577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Transforma la salida de la combinación lineal en</a:t>
            </a:r>
          </a:p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algo de otra naturaleza.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7399" y="38313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77399" y="41422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77399" y="4379976"/>
            <a:ext cx="4157472" cy="361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¿Cuál conviene usar?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399" y="5213096"/>
            <a:ext cx="4157472" cy="577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Sigmoide, tanh, ReLU y softmax, y en qué</a:t>
            </a:r>
          </a:p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situación va cada una.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8720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75860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FUNCIONES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¿Por qué necesitamos no linealidades?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328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Es la pregunta que sostiene todo el capítulo, y conviene contestarla antes de mirar una sola fórmula más.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3246056"/>
            <a:ext cx="41148" cy="853440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9576" y="3291776"/>
            <a:ext cx="12536424" cy="79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 i="1">
                <a:solidFill>
                  <a:srgbClr val="1F1E1E"/>
                </a:solidFill>
                <a:latin typeface="Roboto"/>
              </a:rPr>
              <a:t>«Necesitamos las no linealidades para poder romper la linealidad y representar relaciones más</a:t>
            </a:r>
          </a:p>
          <a:p>
            <a:pPr algn="l">
              <a:lnSpc>
                <a:spcPts val="3000"/>
              </a:lnSpc>
            </a:pPr>
            <a:r>
              <a:rPr sz="2100" b="0" i="1">
                <a:solidFill>
                  <a:srgbClr val="1F1E1E"/>
                </a:solidFill>
                <a:latin typeface="Roboto"/>
              </a:rPr>
              <a:t>complicadas.»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4510976"/>
            <a:ext cx="6441948" cy="167360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2668" y="4510976"/>
            <a:ext cx="91440" cy="167360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748720"/>
            <a:ext cx="5838444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Sin no linealidad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22176"/>
            <a:ext cx="5838444" cy="779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La red puede ser tan profunda como queramos: sigue siendo equivalente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a una única transformación lineal. Diez capas y una capa tienen el mismo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poder expresivo.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2923" y="4510976"/>
            <a:ext cx="6441948" cy="167360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70063" y="4510976"/>
            <a:ext cx="91440" cy="167360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94675" y="4748720"/>
            <a:ext cx="5838444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Con no linealidad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4675" y="5222176"/>
            <a:ext cx="5838444" cy="779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Cada capa dobla el espacio a su manera. Al encadenarlas podemos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aproximar prácticamente cualquier función continua — es el teorema de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aproximación universal.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" y="6698234"/>
            <a:ext cx="13039344" cy="73583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1560" y="694055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62456" y="6899402"/>
            <a:ext cx="12033504" cy="2969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La no linealidad no es un detalle de implementación.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Es lo único que justifica apilar capas.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8720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75860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FUNCIONES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Sin activación, la red colapsa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Dos transformaciones lineales encadenadas equivalen a una sola. Multiplicar por W₁ y después por W₂ es lo mismo que multiplicar por una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única matriz W* — la profundidad desaparece.</a:t>
            </a:r>
          </a:p>
        </p:txBody>
      </p:sp>
      <p:pic>
        <p:nvPicPr>
          <p:cNvPr id="6" name="Picture 5" descr="lineal_colap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490" y="3538156"/>
            <a:ext cx="5991419" cy="29357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8" y="6698234"/>
            <a:ext cx="13039344" cy="73583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1560" y="694055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62456" y="6899402"/>
            <a:ext cx="12033504" cy="2969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Diez capas lineales tienen exactamente el mismo poder expresivo que una.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La no linealidad es lo único que impide ese colapso.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8720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75860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FUNCIONES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Las funciones de activación más comunes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Todas comparten tres propiedades que el entrenamiento necesita: son monótonas, continuas y diferenciables. Se diferencian en el rango de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salida y en cómo se comportan sus derivadas.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3538156"/>
            <a:ext cx="13039344" cy="526795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" y="3675316"/>
            <a:ext cx="160934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1">
                <a:solidFill>
                  <a:srgbClr val="FFFFFF"/>
                </a:solidFill>
                <a:latin typeface="Roboto"/>
              </a:rPr>
              <a:t>Función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3675316"/>
            <a:ext cx="3346703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1">
                <a:solidFill>
                  <a:srgbClr val="FFFFFF"/>
                </a:solidFill>
                <a:latin typeface="Roboto"/>
              </a:rPr>
              <a:t>Definición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7416" y="3675316"/>
            <a:ext cx="133502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1">
                <a:solidFill>
                  <a:srgbClr val="FFFFFF"/>
                </a:solidFill>
                <a:latin typeface="Roboto"/>
              </a:rPr>
              <a:t>Rango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94776" y="3675316"/>
            <a:ext cx="5138927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1">
                <a:solidFill>
                  <a:srgbClr val="FFFFFF"/>
                </a:solidFill>
                <a:latin typeface="Roboto"/>
              </a:rPr>
              <a:t>Cuándo usarla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4580775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6696" y="4202112"/>
            <a:ext cx="160934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0">
                <a:solidFill>
                  <a:srgbClr val="3B3535"/>
                </a:solidFill>
                <a:latin typeface="Roboto"/>
              </a:rPr>
              <a:t>Sigmoide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4202112"/>
            <a:ext cx="3346703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σ(a) = 1 / (1 + e⁻ᵃ)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4202112"/>
            <a:ext cx="133502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(0, 1)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4776" y="4202112"/>
            <a:ext cx="5138927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Salida binaria; interpretable como probabilidad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4591748"/>
            <a:ext cx="13039344" cy="7792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8" y="5360047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" y="4728908"/>
            <a:ext cx="160934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0">
                <a:solidFill>
                  <a:srgbClr val="3B3535"/>
                </a:solidFill>
                <a:latin typeface="Roboto"/>
              </a:rPr>
              <a:t>Tanh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4728908"/>
            <a:ext cx="3346703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(eᵃ − e⁻ᵃ) / (eᵃ + e⁻ᵃ)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416" y="4728908"/>
            <a:ext cx="133502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(−1,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4728908"/>
            <a:ext cx="5138927" cy="541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Capas ocultas; centrada en 0, converge más rápido que la</a:t>
            </a:r>
          </a:p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sigmoide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" y="6139319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" y="5508180"/>
            <a:ext cx="160934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0">
                <a:solidFill>
                  <a:srgbClr val="3B3535"/>
                </a:solidFill>
                <a:latin typeface="Roboto"/>
              </a:rPr>
              <a:t>ReLU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8376" y="5508180"/>
            <a:ext cx="3346703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max(0, 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7416" y="5508180"/>
            <a:ext cx="133502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[0, ∞)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4776" y="5508180"/>
            <a:ext cx="5138927" cy="541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El estándar en capas ocultas: barata y evita el gradiente que se</a:t>
            </a:r>
          </a:p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desvanece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" y="6150292"/>
            <a:ext cx="13039344" cy="526795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5528" y="6666115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6" y="6287452"/>
            <a:ext cx="160934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1" i="0">
                <a:solidFill>
                  <a:srgbClr val="3B3535"/>
                </a:solidFill>
                <a:latin typeface="Roboto"/>
              </a:rPr>
              <a:t>Softmax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8376" y="6287452"/>
            <a:ext cx="3346703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eᵃⁱ / Σⱼ eᵃʲ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7416" y="6287452"/>
            <a:ext cx="1335024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(0, 1)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4776" y="6287452"/>
            <a:ext cx="5138927" cy="289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88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Capa de salida en clasificación multiclase; las salidas suman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" y="6698234"/>
            <a:ext cx="13039344" cy="73583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1560" y="694055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62456" y="6899402"/>
            <a:ext cx="12033504" cy="2969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La derivada importa tanto como la función: es la que viaja hacia atrás durante el entrenamiento. Una derivada que se aplana frena el aprendizaje.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8720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75860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FUNCIONES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Softmax: de puntajes a probabilidades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En la capa de salida no queremos números sueltos sino una distribución. Softmax toma valores arbitrariamente grandes o chicos y devuelve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probabilidades que suman exactamente 1.</a:t>
            </a:r>
          </a:p>
        </p:txBody>
      </p:sp>
      <p:pic>
        <p:nvPicPr>
          <p:cNvPr id="6" name="Picture 5" descr="sof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86" y="3538156"/>
            <a:ext cx="7776322" cy="3804475"/>
          </a:xfrm>
          <a:prstGeom prst="rect">
            <a:avLst/>
          </a:prstGeom>
        </p:spPr>
      </p:pic>
      <p:pic>
        <p:nvPicPr>
          <p:cNvPr id="7" name="Picture 6" descr="f_soft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3949636"/>
            <a:ext cx="3108960" cy="18235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03920" y="5549836"/>
            <a:ext cx="5330952" cy="177723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59952" y="5792152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70848" y="5751004"/>
            <a:ext cx="4325112" cy="1338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Ojo con dónde se aplica.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Softmax se usa en la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activación de la capa final. Si se la aplica en una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capa oculta, se pierde información sobre la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magnitud de los valores y solo sobrevive su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proporción.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2404872"/>
            <a:ext cx="1538658" cy="530352"/>
          </a:xfrm>
          <a:prstGeom prst="roundRect">
            <a:avLst>
              <a:gd name="adj" fmla="val 9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2551176"/>
            <a:ext cx="1255194" cy="303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750" b="0" i="0">
                <a:solidFill>
                  <a:srgbClr val="3B3535"/>
                </a:solidFill>
                <a:latin typeface="Roboto"/>
              </a:rPr>
              <a:t>CAPÍTULO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4276344"/>
            <a:ext cx="384048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3054096"/>
            <a:ext cx="13039344" cy="874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6600"/>
              </a:lnSpc>
            </a:pPr>
            <a:r>
              <a:rPr sz="55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Backpropagation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106424"/>
            <a:ext cx="113823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202436"/>
            <a:ext cx="909630" cy="211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75"/>
              </a:lnSpc>
            </a:pPr>
            <a:r>
              <a:rPr sz="1250" b="0" i="0">
                <a:solidFill>
                  <a:srgbClr val="3B3535"/>
                </a:solidFill>
                <a:latin typeface="Roboto"/>
              </a:rPr>
              <a:t>CAPÍTULO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746504"/>
            <a:ext cx="13039344" cy="773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800"/>
              </a:lnSpc>
            </a:pPr>
            <a:r>
              <a:rPr sz="4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Backpropagation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788920"/>
            <a:ext cx="13039344" cy="341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3B3535"/>
                </a:solidFill>
                <a:latin typeface="Roboto"/>
              </a:rPr>
              <a:t>Cómo la red mide su error y ajusta cada uno de sus pesos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8313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41422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4379976"/>
            <a:ext cx="4157472" cy="68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¿Cómo sabe la red que se</a:t>
            </a:r>
          </a:p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equivocó?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213096"/>
            <a:ext cx="4157472" cy="577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Una función de coste que compara la predicción</a:t>
            </a:r>
          </a:p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con el objetivo.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6464" y="38313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6464" y="41422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6464" y="4379976"/>
            <a:ext cx="4157472" cy="68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¿Cómo reparte la culpa</a:t>
            </a:r>
          </a:p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entre pesos?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6464" y="5213096"/>
            <a:ext cx="4157472" cy="577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La regla de la cadena, aplicada capa por capa</a:t>
            </a:r>
          </a:p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hacia atrás.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7399" y="38313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77399" y="41422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77399" y="4379976"/>
            <a:ext cx="4157472" cy="361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¿Cómo se corrige cada peso?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399" y="5213096"/>
            <a:ext cx="4157472" cy="577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Un paso en la dirección opuesta al gradiente, del</a:t>
            </a:r>
          </a:p>
          <a:p>
            <a:pPr algn="l">
              <a:lnSpc>
                <a:spcPts val="2129"/>
              </a:lnSpc>
            </a:pPr>
            <a:r>
              <a:rPr sz="1500" b="0" i="0">
                <a:solidFill>
                  <a:srgbClr val="3B3535"/>
                </a:solidFill>
                <a:latin typeface="Roboto"/>
              </a:rPr>
              <a:t>tamaño de η.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505723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77123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Ida y vuelta: forward y backward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El entrenamiento es un ciclo de dos movimientos. Hacia adelante, la red calcula su predicción; hacia atrás, propaga el error y ajusta cada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peso según cuánto contribuyó a equivocarse.</a:t>
            </a:r>
          </a:p>
        </p:txBody>
      </p:sp>
      <p:pic>
        <p:nvPicPr>
          <p:cNvPr id="6" name="Picture 5" descr="bp_fwd_bw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654" y="3538156"/>
            <a:ext cx="5287091" cy="24785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6108192"/>
            <a:ext cx="6377940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6419088"/>
            <a:ext cx="637794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6656832"/>
            <a:ext cx="6377940" cy="280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Propagación hacia adelante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7083552"/>
            <a:ext cx="6377940" cy="4513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Empujar la entrada a través de la red. Al final de cada época, comparamos las salidas obtenidas</a:t>
            </a:r>
          </a:p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con los objetivos y formamos el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6931" y="6108192"/>
            <a:ext cx="6377940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6931" y="6419088"/>
            <a:ext cx="637794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6931" y="6656832"/>
            <a:ext cx="6377940" cy="280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Propagación hacia atrás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6931" y="7083552"/>
            <a:ext cx="6377940" cy="4513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Propagar ese error hacia atrás por la red y actualizar los parámetros — pesos y sesgos — en</a:t>
            </a:r>
          </a:p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consecuencia.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505723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77123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El error: la función de coste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Necesitamos un único número que resuma qué tan mal lo hizo la red. La pérdida L2 suma las diferencias al cuadrado entre lo que predijo y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lo que debería haber predicho.</a:t>
            </a:r>
          </a:p>
        </p:txBody>
      </p:sp>
      <p:pic>
        <p:nvPicPr>
          <p:cNvPr id="6" name="Picture 5" descr="f_co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675316"/>
            <a:ext cx="4206240" cy="13407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8" y="5138356"/>
            <a:ext cx="4242816" cy="167360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2668" y="5138356"/>
            <a:ext cx="91440" cy="167360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376100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Al cuadrado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49556"/>
            <a:ext cx="3639311" cy="779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Los errores por exceso y por defecto no se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cancelan entre sí, y los grandes pesan más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que los chicos.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3792" y="5138356"/>
            <a:ext cx="4242816" cy="167360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70931" y="5138356"/>
            <a:ext cx="91440" cy="167360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95544" y="5376100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El medio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544" y="5849556"/>
            <a:ext cx="3639311" cy="779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El factor ½ no cambia dónde está el mínimo: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está puesto para que la derivada quede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limpia.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92055" y="5138356"/>
            <a:ext cx="4242816" cy="167360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69195" y="5138356"/>
            <a:ext cx="91440" cy="167360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93807" y="5376100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Diferenciable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3807" y="5849556"/>
            <a:ext cx="3639311" cy="531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Es lo que permite calcular el gradiente y saber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en qué dirección mover cada peso.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" y="6698234"/>
            <a:ext cx="13039344" cy="73583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1560" y="694055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62456" y="6899402"/>
            <a:ext cx="12033504" cy="2969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y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es lo que la red predijo y </a:t>
            </a:r>
            <a:r>
              <a:rPr sz="1450" b="1" i="0">
                <a:solidFill>
                  <a:srgbClr val="3B3535"/>
                </a:solidFill>
                <a:latin typeface="Roboto"/>
              </a:rPr>
              <a:t> t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el objetivo — el valor verdadero del dato de entrenamiento. La suma recorre todas las unidades de salida.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505723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77123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 regla de la cadena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¿Cuánto cambia el error si movemos un peso en particular? El peso no toca el error directamente: lo hace a través de la suma ponderada, y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esta a través de la activación. La regla de la cadena encadena esos tres efectos.</a:t>
            </a:r>
          </a:p>
        </p:txBody>
      </p:sp>
      <p:pic>
        <p:nvPicPr>
          <p:cNvPr id="6" name="Picture 5" descr="f_cad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629596"/>
            <a:ext cx="6766560" cy="1769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5901628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6212524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6450268"/>
            <a:ext cx="415747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3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Cuánto cambia el error si cambia la</a:t>
            </a:r>
          </a:p>
          <a:p>
            <a:pPr algn="l">
              <a:lnSpc>
                <a:spcPts val="1728"/>
              </a:lnSpc>
            </a:pPr>
            <a:r>
              <a:rPr sz="13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7072060"/>
            <a:ext cx="4157472" cy="4513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Sale directo de la función de coste: la diferencia entre</a:t>
            </a:r>
          </a:p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predicción y objetivo.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6464" y="5901628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6464" y="6212524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6464" y="6450268"/>
            <a:ext cx="415747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3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Cuánto cambia la salida si cambia la</a:t>
            </a:r>
          </a:p>
          <a:p>
            <a:pPr algn="l">
              <a:lnSpc>
                <a:spcPts val="1728"/>
              </a:lnSpc>
            </a:pPr>
            <a:r>
              <a:rPr sz="13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suma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6464" y="7072060"/>
            <a:ext cx="4157472" cy="2439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Es la derivada de la activación evaluada en ese punto.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7399" y="5901628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77399" y="6212524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77399" y="6450268"/>
            <a:ext cx="41574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3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Cuánto cambia la suma si cambia el peso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7399" y="7072060"/>
            <a:ext cx="4157472" cy="2439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Es simplemente la entrada que multiplicaba a ese peso.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505723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77123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Capa de salida: el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Agrupamos los dos primeros factores en un solo término, δ, que representa la sensibilidad del error respecto de la suma ponderada de esa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unidad. Con δ calculado, el gradiente de cualquier peso que llega a la unidad es una multiplicación.</a:t>
            </a:r>
          </a:p>
        </p:txBody>
      </p:sp>
      <p:pic>
        <p:nvPicPr>
          <p:cNvPr id="6" name="Picture 5" descr="f_delta_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675316"/>
            <a:ext cx="5486400" cy="699568"/>
          </a:xfrm>
          <a:prstGeom prst="rect">
            <a:avLst/>
          </a:prstGeom>
        </p:spPr>
      </p:pic>
      <p:pic>
        <p:nvPicPr>
          <p:cNvPr id="7" name="Picture 6" descr="f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583876"/>
            <a:ext cx="3108960" cy="1366209"/>
          </a:xfrm>
          <a:prstGeom prst="rect">
            <a:avLst/>
          </a:prstGeom>
        </p:spPr>
      </p:pic>
      <p:pic>
        <p:nvPicPr>
          <p:cNvPr id="8" name="Picture 7" descr="bp_diagra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173" y="5092636"/>
            <a:ext cx="4292052" cy="22042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505723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77123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1354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Capa oculta: propagar el delta hacia</a:t>
            </a:r>
          </a:p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atrás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192145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Una unidad oculta no tiene un objetivo con el cual compararse: nadie le dice cuál era su valor correcto. Su culpa se calcula sumando los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deltas de todas las unidades de la capa siguiente a las que alimenta, ponderados por los pesos que las conectan.</a:t>
            </a:r>
          </a:p>
        </p:txBody>
      </p:sp>
      <p:pic>
        <p:nvPicPr>
          <p:cNvPr id="6" name="Picture 5" descr="f_delta_h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4242688"/>
            <a:ext cx="6035040" cy="12005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4306696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2208" y="4288408"/>
            <a:ext cx="5312664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Capa de salida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208" y="4683632"/>
            <a:ext cx="5312664" cy="294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δ se calcula directo: hay un objetivo contra el cual comparar.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5307202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5288914"/>
            <a:ext cx="5312664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Capas ocultas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5684138"/>
            <a:ext cx="5312664" cy="552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δ se hereda de la capa siguiente, ponderado por los pesos de</a:t>
            </a:r>
          </a:p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conexión.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565518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6547230"/>
            <a:ext cx="5312664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Recursión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6942454"/>
            <a:ext cx="5312664" cy="552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El mismo cálculo se repite hacia atrás, hasta llegar a la primera</a:t>
            </a:r>
          </a:p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" y="5917184"/>
            <a:ext cx="6766560" cy="151688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1560" y="615950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62456" y="6118352"/>
            <a:ext cx="5760720" cy="1077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Acá está el corazón del algoritmo.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El error se reparte hacia atrás capa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por capa: cada unidad recibe la parte de culpa que le corresponde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según cuánto influyó en las que venían después. De ahí el nombre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«propagación hacia atrás».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505723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77123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El paso de actualización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Con el gradiente calculado, corregir el peso es restar una fracción de él. La tasa de aprendizaje η controla el tamaño del paso, y es uno de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los hiperparámetros más sensibles del entrenamiento.</a:t>
            </a:r>
          </a:p>
        </p:txBody>
      </p:sp>
      <p:pic>
        <p:nvPicPr>
          <p:cNvPr id="6" name="Picture 5" descr="f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675316"/>
            <a:ext cx="5303520" cy="15443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8" y="5229796"/>
            <a:ext cx="4242816" cy="167360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2668" y="5229796"/>
            <a:ext cx="91440" cy="167360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467540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η muy chico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0996"/>
            <a:ext cx="3639311" cy="531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El entrenamiento avanza, pero tan despacio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que puede volverse impracticable.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3792" y="5229796"/>
            <a:ext cx="4242816" cy="167360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70931" y="5229796"/>
            <a:ext cx="91440" cy="167360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95544" y="5467540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η muy grande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544" y="5940996"/>
            <a:ext cx="3639311" cy="531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Los pasos se pasan del mínimo y el error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oscila o directamente diverge.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92055" y="5229796"/>
            <a:ext cx="4242816" cy="167360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69195" y="5229796"/>
            <a:ext cx="91440" cy="167360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93807" y="5467540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El signo menos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3807" y="5940996"/>
            <a:ext cx="3639311" cy="779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El gradiente apunta hacia donde el error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crece; nos movemos justo en la dirección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opuesta.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713312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484712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Lo que nos llevamos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Seis ideas que sostienen todo lo que viene después. Si estas quedan firmes, cualquier arquitectura moderna es una variación sobre el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mismo 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246120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557015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794759"/>
            <a:ext cx="4157472" cy="321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40"/>
              </a:lnSpc>
            </a:pPr>
            <a:r>
              <a:rPr sz="17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Una red es un circuito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262119"/>
            <a:ext cx="4157472" cy="559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Sensores, compuertas y actuadores. Aprender es</a:t>
            </a:r>
          </a:p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ajustar cuánta señal deja pasar cada compuerta.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6464" y="3246120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6464" y="3557015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6464" y="3794759"/>
            <a:ext cx="4157472" cy="321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40"/>
              </a:lnSpc>
            </a:pPr>
            <a:r>
              <a:rPr sz="17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La capa es el bloque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6464" y="4262119"/>
            <a:ext cx="4157472" cy="559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Combinación lineal más no linealidad, repetido. No</a:t>
            </a:r>
          </a:p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hay una pieza más grande que entender.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7399" y="3246120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77399" y="3557015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77399" y="3794759"/>
            <a:ext cx="4157472" cy="321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40"/>
              </a:lnSpc>
            </a:pPr>
            <a:r>
              <a:rPr sz="17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La no linealidad es obligatoria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399" y="4262119"/>
            <a:ext cx="4157472" cy="559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Sin ella, apilar capas no agrega nada: la red</a:t>
            </a:r>
          </a:p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colapsa en una sola transformación lineal.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440680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" y="5751576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5989320"/>
            <a:ext cx="4157472" cy="321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40"/>
              </a:lnSpc>
            </a:pPr>
            <a:r>
              <a:rPr sz="17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Los pesos viven en matrices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6456680"/>
            <a:ext cx="4157472" cy="559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Las dimensiones se deducen de la arquitectura, y</a:t>
            </a:r>
          </a:p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el cálculo de una capa es un producto matricial.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6464" y="5440680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6464" y="5751576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36464" y="5989320"/>
            <a:ext cx="4157472" cy="321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40"/>
              </a:lnSpc>
            </a:pPr>
            <a:r>
              <a:rPr sz="17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El error se propaga hacia atrás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6464" y="6456680"/>
            <a:ext cx="4157472" cy="559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La regla de la cadena reparte la culpa entre todos</a:t>
            </a:r>
          </a:p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los pesos, capa por capa.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7399" y="5440680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77399" y="5751576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77399" y="5989320"/>
            <a:ext cx="4157472" cy="321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40"/>
              </a:lnSpc>
            </a:pPr>
            <a:r>
              <a:rPr sz="17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El aprendizaje es incremental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7399" y="6456680"/>
            <a:ext cx="4157472" cy="559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Adivinar, medir, corregir un poco, repetir. Millones</a:t>
            </a:r>
          </a:p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de veces.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713312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484712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328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Con la red neuronal como base, el curso avanza hacia las arquitecturas que la usan para generar contenido.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" y="3657600"/>
            <a:ext cx="4242816" cy="167360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2668" y="3657600"/>
            <a:ext cx="91440" cy="167360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895344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Redes convolucionales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68800"/>
            <a:ext cx="3639311" cy="779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El mismo esqueleto, adaptado a imágenes: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pesos compartidos y detección de patrones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locales.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93792" y="3657600"/>
            <a:ext cx="4242816" cy="167360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70931" y="3657600"/>
            <a:ext cx="91440" cy="167360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95544" y="3895344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Redes generativas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544" y="4368800"/>
            <a:ext cx="3639311" cy="779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GANs y modelos de difusión. Dejamos de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clasificar lo que existe para crear lo que no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existía.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92055" y="3657600"/>
            <a:ext cx="4242816" cy="167360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569195" y="3657600"/>
            <a:ext cx="91440" cy="167360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93807" y="3895344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Aplicaciones en biomedicina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3807" y="4368800"/>
            <a:ext cx="3639311" cy="779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Datos sintéticos, traducción entre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modalidades y segmentación de estructuras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clínicas.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" y="6437884"/>
            <a:ext cx="13039344" cy="99618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" y="668020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62456" y="6639052"/>
            <a:ext cx="12033504" cy="557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La clase 8 retoma exactamente desde acá: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las GANs son dos de estas redes compitiendo entre sí, entrenadas con el mismo mecanismo de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backpropagation que acabamos de ver.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2404872"/>
            <a:ext cx="1048562" cy="530352"/>
          </a:xfrm>
          <a:prstGeom prst="roundRect">
            <a:avLst>
              <a:gd name="adj" fmla="val 9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2551176"/>
            <a:ext cx="765098" cy="303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750" b="0" i="0">
                <a:solidFill>
                  <a:srgbClr val="3B3535"/>
                </a:solidFill>
                <a:latin typeface="Roboto"/>
              </a:rPr>
              <a:t>ANEXO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3054096"/>
            <a:ext cx="13039344" cy="874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6600"/>
              </a:lnSpc>
            </a:pPr>
            <a:r>
              <a:rPr sz="55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Material de apoyo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4279392"/>
            <a:ext cx="384048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4663440"/>
            <a:ext cx="10972800" cy="646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3B3535"/>
                </a:solidFill>
                <a:latin typeface="Roboto"/>
              </a:rPr>
              <a:t>Slides que quedaron fuera del recorrido de 105 minutos. Sirven para responder preguntas en vivo o como material</a:t>
            </a:r>
          </a:p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3B3535"/>
                </a:solidFill>
                <a:latin typeface="Roboto"/>
              </a:rPr>
              <a:t>de lectura posterior.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897314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68714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DE LA INTUICIÓN A LA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1354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Cada nodo decide cuánta energía deja</a:t>
            </a:r>
          </a:p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pasar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192145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Los nodos no son cables pelados: cada uno tiene una compuerta que decide si conduce mucha, poca o ninguna electricidad hacia el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siguiente. Ese «cuánto deja pasar» es todo el secreto.</a:t>
            </a:r>
          </a:p>
        </p:txBody>
      </p:sp>
      <p:pic>
        <p:nvPicPr>
          <p:cNvPr id="6" name="Picture 5" descr="red_dibujo_an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707" y="4196968"/>
            <a:ext cx="4953800" cy="31456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4626736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02368" y="4608449"/>
            <a:ext cx="4032504" cy="280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02368" y="4971160"/>
            <a:ext cx="4032504" cy="478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La entrada. Un número que describe algo del mundo: una</a:t>
            </a:r>
          </a:p>
          <a:p>
            <a:pPr algn="l">
              <a:lnSpc>
                <a:spcPts val="1739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distancia, una temperatura, un píxel.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5669152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8" y="5650864"/>
            <a:ext cx="4032504" cy="280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Compuerta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2368" y="6013576"/>
            <a:ext cx="4032504" cy="478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El nodo intermedio. Deja pasar más o menos energía según</a:t>
            </a:r>
          </a:p>
          <a:p>
            <a:pPr algn="l">
              <a:lnSpc>
                <a:spcPts val="1739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el parámetro que aprendió.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711568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2368" y="6693280"/>
            <a:ext cx="4032504" cy="280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Actuador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2368" y="7055992"/>
            <a:ext cx="4032504" cy="478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La salida. Frenar o acelerar; en una red real, una clase o un</a:t>
            </a:r>
          </a:p>
          <a:p>
            <a:pPr algn="l">
              <a:lnSpc>
                <a:spcPts val="1739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número.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897314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68714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DE LA INTUICIÓN A LA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Deep Learning: el mismo truco, más piezas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912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Deep Learning es el reconocimiento de que podemos poner otras cosas en el circuito además de resistencias y compuertas. Por ejemplo, un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cálculo matemático en el medio que suma y multiplica antes de dejar pasar la electricidad. La técnica de fondo — adivinar parámetros de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forma incremental — sigue siendo exactamente la misma.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" y="3830256"/>
            <a:ext cx="4242816" cy="142595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2668" y="3830256"/>
            <a:ext cx="91440" cy="142595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068000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Más piezas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41456"/>
            <a:ext cx="3639311" cy="531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Dentro de cada nodo entra una operación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matemática, no solo una compuerta binaria.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93792" y="3830256"/>
            <a:ext cx="4242816" cy="142595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70931" y="3830256"/>
            <a:ext cx="91440" cy="142595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95544" y="4068000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Más capas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544" y="4541456"/>
            <a:ext cx="3639311" cy="531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Los nodos se organizan en capas sucesivas: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la salida de una es la entrada de la siguiente.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92055" y="3830256"/>
            <a:ext cx="4242816" cy="1425956"/>
          </a:xfrm>
          <a:prstGeom prst="roundRect">
            <a:avLst>
              <a:gd name="adj" fmla="val 3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569195" y="3830256"/>
            <a:ext cx="91440" cy="1425956"/>
          </a:xfrm>
          <a:prstGeom prst="roundRect">
            <a:avLst>
              <a:gd name="adj" fmla="val 35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93807" y="4068000"/>
            <a:ext cx="3639311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Misma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3807" y="4541456"/>
            <a:ext cx="3639311" cy="531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Adivinar, medir el error, corregir. Repetir</a:t>
            </a:r>
          </a:p>
          <a:p>
            <a:pPr algn="l">
              <a:lnSpc>
                <a:spcPts val="195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millones de veces.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" y="6698234"/>
            <a:ext cx="13039344" cy="73583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" y="694055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62456" y="6899402"/>
            <a:ext cx="12033504" cy="2969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«Deep» no se refiere a la profundidad conceptual, sino a la cantidad de capas apiladas.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757338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528738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LA NEURONA Y LA 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Del ejemplo mínimo a la red neuronal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En el ejemplo mínimo entrenamos una red sin profundidad: una capa de entrada, una de salida y nada en el medio. La salida era una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combinación lineal de la entrada — nada que una regresión no pudiera hacer.</a:t>
            </a:r>
          </a:p>
        </p:txBody>
      </p:sp>
      <p:pic>
        <p:nvPicPr>
          <p:cNvPr id="6" name="Picture 5" descr="ejemplo_mini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239" y="3538156"/>
            <a:ext cx="5697920" cy="24785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6108192"/>
            <a:ext cx="6377940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6419088"/>
            <a:ext cx="637794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6656832"/>
            <a:ext cx="6377940" cy="280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Ejemplo mínimo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7083552"/>
            <a:ext cx="6377940" cy="2439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Sin capas ocultas. La salida es una combinación lineal de la entrada, y el modelo se queda ahí.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6931" y="6108192"/>
            <a:ext cx="6377940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6931" y="6419088"/>
            <a:ext cx="6377940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6931" y="6656832"/>
            <a:ext cx="6377940" cy="280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Red neuronal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6931" y="7083552"/>
            <a:ext cx="6377940" cy="4513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Sigue apoyándose en combinaciones lineales, pero les agrega una no linealidad a cada una.</a:t>
            </a:r>
          </a:p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Mezclando ambas cosas podemos modelar funciones arbitrarias.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473501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44901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REDES PROFUNDAS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¿Qué pasa dentro de las capas ocultas?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Esta es la pregunta incómoda. No hay una etiqueta que diga qué representa cada unidad: la red descubre por su cuenta qué combinaciones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de la entrada le sirven para reducir el error.</a:t>
            </a:r>
          </a:p>
        </p:txBody>
      </p:sp>
      <p:pic>
        <p:nvPicPr>
          <p:cNvPr id="6" name="Picture 5" descr="red_ocultas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665" y="3538156"/>
            <a:ext cx="5241069" cy="28900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8" y="6437884"/>
            <a:ext cx="13039344" cy="99618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1560" y="668020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62456" y="6639052"/>
            <a:ext cx="12033504" cy="557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Las capas ocultas construyen representaciones intermedias.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En una red de visión, las primeras detectan bordes; las siguientes, texturas; las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últimas, objetos. Nadie se lo indicó.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473501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44901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REDES PROFUNDAS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Cómo leer un diagrama de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Los círculos son unidades, las flechas son transformaciones matemáticas con pesos asociados, y cada columna es una capa. Con esas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tres convenciones se lee cualquier diagrama del curso.</a:t>
            </a:r>
          </a:p>
        </p:txBody>
      </p:sp>
      <p:pic>
        <p:nvPicPr>
          <p:cNvPr id="6" name="Picture 5" descr="ancho_profun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94" y="3538156"/>
            <a:ext cx="7572210" cy="371303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473501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44901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REDES PROFUNDAS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El ciclo de ajuste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Elegimos una configuración, entrenamos, medimos, y volvemos a elegir. El entrenamiento produce los parámetros del modelo; la búsqueda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de hiperparámetros produce la mejor configuración.</a:t>
            </a:r>
          </a:p>
        </p:txBody>
      </p:sp>
      <p:pic>
        <p:nvPicPr>
          <p:cNvPr id="6" name="Picture 5" descr="hiperpa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80" y="3538156"/>
            <a:ext cx="6535295" cy="3804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0" y="3967924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19488" y="3949636"/>
            <a:ext cx="4215384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Elegir la configuración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19488" y="4344860"/>
            <a:ext cx="4215384" cy="552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Fijamos ancho, profundidad y tasa de aprendizaje</a:t>
            </a:r>
          </a:p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antes de empezar.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5226240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19488" y="5207952"/>
            <a:ext cx="4215384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Entrenar y medir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9488" y="5603176"/>
            <a:ext cx="4215384" cy="552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La red ajusta sus pesos, y nosotros evaluamos el</a:t>
            </a:r>
          </a:p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error en validación.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6484556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19488" y="6466268"/>
            <a:ext cx="4215384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Volver a probar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9488" y="6861492"/>
            <a:ext cx="4215384" cy="552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Cambiamos la configuración y repetimos, hasta que</a:t>
            </a:r>
          </a:p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el error deja de mejorar.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0194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7334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EL RECORRIDO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Notación: quién se conecta con quién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El subíndice no es decorativo. El primer número identifica la unidad de entrada; el segundo, la unidad oculta a la que llega. Así, w₃₆ es el peso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que va de la tercera entrada a la sexta unidad oculta.</a:t>
            </a:r>
          </a:p>
        </p:txBody>
      </p:sp>
      <p:pic>
        <p:nvPicPr>
          <p:cNvPr id="6" name="Picture 5" descr="notacion_w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705" y="3812476"/>
            <a:ext cx="4067804" cy="2981515"/>
          </a:xfrm>
          <a:prstGeom prst="rect">
            <a:avLst/>
          </a:prstGeom>
        </p:spPr>
      </p:pic>
      <p:pic>
        <p:nvPicPr>
          <p:cNvPr id="7" name="Picture 6" descr="peso_cami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526" y="3538156"/>
            <a:ext cx="3196698" cy="375875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0194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7334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EL RECORRIDO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 capa oculta, 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Cada una de las nueve unidades recibe una combinación de las ocho entradas, con sus propios pesos. Todas se calculan a la vez, no una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después de la otra.</a:t>
            </a:r>
          </a:p>
        </p:txBody>
      </p:sp>
      <p:pic>
        <p:nvPicPr>
          <p:cNvPr id="6" name="Picture 5" descr="clima_ocu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468" y="3538156"/>
            <a:ext cx="3331798" cy="3804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3967924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3949636"/>
            <a:ext cx="5221224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Todo a la vez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4344860"/>
            <a:ext cx="5221224" cy="552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Las nueve unidades se calculan en paralelo, con una única</a:t>
            </a:r>
          </a:p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multiplicación de matrices.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226240"/>
            <a:ext cx="5029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DA1B2E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5207952"/>
            <a:ext cx="5221224" cy="31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Mismo input, distinto peso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5603176"/>
            <a:ext cx="5221224" cy="552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Todas ven las mismas ocho variables; lo que las diferencia es su</a:t>
            </a:r>
          </a:p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3B3535"/>
                </a:solidFill>
                <a:latin typeface="Roboto"/>
              </a:rPr>
              <a:t>columna de pesos.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6177534"/>
            <a:ext cx="5879592" cy="1256537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11311" y="6419850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7" y="6378702"/>
            <a:ext cx="4873752" cy="817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Después del producto matricial viene la activación.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Sin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ese paso la capa sería lineal y toda la profundidad se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desperdiciaría — lo vemos en el próximo capítulo.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0194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67334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EL RECORRIDO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Hacia la capa de salida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El mismo mecanismo se repite. Si la última capa oculta tiene 100 unidades y queremos 4 salidas, la matriz que las conecta es de 100×4: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cuatrocientos pesos más.</a:t>
            </a:r>
          </a:p>
        </p:txBody>
      </p:sp>
      <p:pic>
        <p:nvPicPr>
          <p:cNvPr id="6" name="Picture 5" descr="salida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115" y="3538156"/>
            <a:ext cx="3347625" cy="3713035"/>
          </a:xfrm>
          <a:prstGeom prst="rect">
            <a:avLst/>
          </a:prstGeom>
        </p:spPr>
      </p:pic>
      <p:pic>
        <p:nvPicPr>
          <p:cNvPr id="7" name="Picture 6" descr="salida_pe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965" y="3538156"/>
            <a:ext cx="2209021" cy="371303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987200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758600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FUNCIONES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 función de activación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Pensémosla como el termostato del ejemplo: la temperatura baja de forma continua, pero nuestra decisión — ponerse el abrigo o no — es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binaria. La activación es lo que convierte una magnitud continua en una respuesta de otra naturaleza.</a:t>
            </a:r>
          </a:p>
        </p:txBody>
      </p:sp>
      <p:pic>
        <p:nvPicPr>
          <p:cNvPr id="6" name="Picture 5" descr="activ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040" y="3538156"/>
            <a:ext cx="4731774" cy="2514600"/>
          </a:xfrm>
          <a:prstGeom prst="rect">
            <a:avLst/>
          </a:prstGeom>
        </p:spPr>
      </p:pic>
      <p:pic>
        <p:nvPicPr>
          <p:cNvPr id="7" name="Picture 6" descr="act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913" y="3538156"/>
            <a:ext cx="3826565" cy="25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8" y="62356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" y="65465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6784276"/>
            <a:ext cx="4157472" cy="272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55"/>
              </a:lnSpc>
            </a:pPr>
            <a:r>
              <a:rPr sz="14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La entrada es continua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7202868"/>
            <a:ext cx="4157472" cy="2439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La suma ponderada da cualquier número real.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6464" y="62356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6464" y="65465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6464" y="6784276"/>
            <a:ext cx="4157472" cy="272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55"/>
              </a:lnSpc>
            </a:pPr>
            <a:r>
              <a:rPr sz="14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La activación 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6464" y="7202868"/>
            <a:ext cx="4157472" cy="2439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Aplasta, corta o normaliza ese número.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7399" y="6235636"/>
            <a:ext cx="4157472" cy="290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77399" y="6546532"/>
            <a:ext cx="4157472" cy="32004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77399" y="6784276"/>
            <a:ext cx="4157472" cy="272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55"/>
              </a:lnSpc>
            </a:pPr>
            <a:r>
              <a:rPr sz="1450" b="0" i="0">
                <a:solidFill>
                  <a:srgbClr val="3B3535"/>
                </a:solidFill>
                <a:latin typeface="Roboto Mono Medium"/>
                <a:ea typeface="Roboto Mono Medium"/>
                <a:cs typeface="Roboto Mono Medium"/>
              </a:rPr>
              <a:t>La salida cambia de naturaleza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7399" y="7202868"/>
            <a:ext cx="4157472" cy="2439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150" b="0" i="0">
                <a:solidFill>
                  <a:srgbClr val="3B3535"/>
                </a:solidFill>
                <a:latin typeface="Roboto"/>
              </a:rPr>
              <a:t>Pasa a ser una probabilidad, una activación o un cero.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505723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77123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La sigmoide y su derivada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62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Antes de derivar la red completa hace falta una pieza. La derivada de la sigmoide tiene una forma notablemente cómoda: se escribe en</a:t>
            </a:r>
          </a:p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términos de la propia sigmoide, así que no hay que recalcular nada.</a:t>
            </a:r>
          </a:p>
        </p:txBody>
      </p:sp>
      <p:pic>
        <p:nvPicPr>
          <p:cNvPr id="6" name="Picture 5" descr="f_sigm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3766756"/>
            <a:ext cx="3840480" cy="1123385"/>
          </a:xfrm>
          <a:prstGeom prst="rect">
            <a:avLst/>
          </a:prstGeom>
        </p:spPr>
      </p:pic>
      <p:pic>
        <p:nvPicPr>
          <p:cNvPr id="7" name="Picture 6" descr="f_sigmoid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949636"/>
            <a:ext cx="5120640" cy="57014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8" y="5686996"/>
            <a:ext cx="13039344" cy="996188"/>
          </a:xfrm>
          <a:prstGeom prst="roundRect">
            <a:avLst>
              <a:gd name="adj" fmla="val 55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1560" y="5929312"/>
            <a:ext cx="118872" cy="118872"/>
          </a:xfrm>
          <a:prstGeom prst="roundRect">
            <a:avLst>
              <a:gd name="adj" fmla="val 50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62456" y="5888164"/>
            <a:ext cx="12033504" cy="557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3B3535"/>
                </a:solidFill>
                <a:latin typeface="Roboto"/>
              </a:rPr>
              <a:t>Por eso la sigmoide fue la activación por defecto durante años: </a:t>
            </a:r>
            <a:r>
              <a:rPr sz="1450" b="0" i="0">
                <a:solidFill>
                  <a:srgbClr val="3B3535"/>
                </a:solidFill>
                <a:latin typeface="Roboto"/>
              </a:rPr>
              <a:t> su derivada sale casi gratis. Su problema aparece en los extremos, donde se</a:t>
            </a:r>
          </a:p>
          <a:p>
            <a:pPr algn="l">
              <a:lnSpc>
                <a:spcPts val="2050"/>
              </a:lnSpc>
            </a:pPr>
            <a:r>
              <a:rPr sz="1450" b="0" i="0">
                <a:solidFill>
                  <a:srgbClr val="3B3535"/>
                </a:solidFill>
                <a:latin typeface="Roboto"/>
              </a:rPr>
              <a:t>aplana y el gradiente se desvanece.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8" y="1088136"/>
            <a:ext cx="1505723" cy="365760"/>
          </a:xfrm>
          <a:prstGeom prst="roundRect">
            <a:avLst>
              <a:gd name="adj" fmla="val 11000"/>
            </a:avLst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1184148"/>
            <a:ext cx="1277123" cy="183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3B3535"/>
                </a:solidFill>
                <a:latin typeface="Roboto"/>
              </a:rPr>
              <a:t>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63624"/>
            <a:ext cx="13039344" cy="69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187"/>
              </a:lnSpc>
            </a:pPr>
            <a:r>
              <a:rPr sz="4150" b="0" i="0">
                <a:solidFill>
                  <a:srgbClr val="1F1E1E"/>
                </a:solidFill>
                <a:latin typeface="Roboto Mono Medium"/>
                <a:ea typeface="Roboto Mono Medium"/>
                <a:cs typeface="Roboto Mono Medium"/>
              </a:rPr>
              <a:t>Glosario de símbolos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33332"/>
            <a:ext cx="13039344" cy="328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650" b="0" i="0">
                <a:solidFill>
                  <a:srgbClr val="3B3535"/>
                </a:solidFill>
                <a:latin typeface="Roboto"/>
              </a:rPr>
              <a:t>Toda la notación del capítulo, en un solo lugar. Vale la pena tenerla a mano al leer cualquier derivación de backpropagation.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3246056"/>
            <a:ext cx="13039344" cy="449579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" y="3383216"/>
            <a:ext cx="13350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1" i="1">
                <a:solidFill>
                  <a:srgbClr val="FFFFFF"/>
                </a:solidFill>
                <a:latin typeface="Roboto"/>
              </a:rPr>
              <a:t>Símbolo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4056" y="3383216"/>
            <a:ext cx="27066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1" i="1">
                <a:solidFill>
                  <a:srgbClr val="FFFFFF"/>
                </a:solidFill>
                <a:latin typeface="Roboto"/>
              </a:rPr>
              <a:t>Nombre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3383216"/>
            <a:ext cx="7790688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1" i="1">
                <a:solidFill>
                  <a:srgbClr val="FFFFFF"/>
                </a:solidFill>
                <a:latin typeface="Roboto"/>
              </a:rPr>
              <a:t>Qué representa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4134243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6" y="3832796"/>
            <a:ext cx="13350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1" i="0">
                <a:solidFill>
                  <a:srgbClr val="3B3535"/>
                </a:solidFill>
                <a:latin typeface="Roboto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3832796"/>
            <a:ext cx="27066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Entrada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3016" y="3832796"/>
            <a:ext cx="7790688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El valor que llega a la unidad desde la capa anterior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" y="4145216"/>
            <a:ext cx="13039344" cy="449579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8" y="4583823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" y="4282376"/>
            <a:ext cx="13350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1" i="0">
                <a:solidFill>
                  <a:srgbClr val="3B3535"/>
                </a:solidFill>
                <a:latin typeface="Roboto"/>
              </a:rPr>
              <a:t>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4056" y="4282376"/>
            <a:ext cx="27066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Peso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3016" y="4282376"/>
            <a:ext cx="7790688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El número que se aprende, asociado a cada conexión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" y="5033403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" y="4731956"/>
            <a:ext cx="13350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1" i="0">
                <a:solidFill>
                  <a:srgbClr val="3B3535"/>
                </a:solidFill>
                <a:latin typeface="Roboto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4056" y="4731956"/>
            <a:ext cx="27066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Suma ponderada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3016" y="4731956"/>
            <a:ext cx="7790688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La combinación lineal xw + b, antes de la activación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" y="5044376"/>
            <a:ext cx="13039344" cy="449579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8" y="5482983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6" y="5181536"/>
            <a:ext cx="13350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1" i="0">
                <a:solidFill>
                  <a:srgbClr val="3B3535"/>
                </a:solidFill>
                <a:latin typeface="Roboto"/>
              </a:rPr>
              <a:t>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4056" y="5181536"/>
            <a:ext cx="27066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Salida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3016" y="5181536"/>
            <a:ext cx="7790688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El resultado de aplicar la activación a la suma ponderada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" y="5932563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6" y="5631116"/>
            <a:ext cx="13350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1" i="0">
                <a:solidFill>
                  <a:srgbClr val="3B3535"/>
                </a:solidFill>
                <a:latin typeface="Roboto"/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4056" y="5631116"/>
            <a:ext cx="27066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Objetivo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3016" y="5631116"/>
            <a:ext cx="7790688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El valor verdadero que viene con el dato de entrenamiento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" y="5943536"/>
            <a:ext cx="13039344" cy="449579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" y="6382143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6696" y="6080696"/>
            <a:ext cx="13350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1" i="0">
                <a:solidFill>
                  <a:srgbClr val="3B3535"/>
                </a:solidFill>
                <a:latin typeface="Roboto"/>
              </a:rPr>
              <a:t>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34056" y="6080696"/>
            <a:ext cx="27066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Pérdida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6080696"/>
            <a:ext cx="7790688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El número único que mide cuánto se equivocó la 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" y="6831723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6696" y="6530276"/>
            <a:ext cx="13350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1" i="0">
                <a:solidFill>
                  <a:srgbClr val="3B3535"/>
                </a:solidFill>
                <a:latin typeface="Roboto"/>
              </a:rPr>
              <a:t>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34056" y="6530276"/>
            <a:ext cx="27066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Delta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3016" y="6530276"/>
            <a:ext cx="7790688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La sensibilidad del error respecto de la suma ponderada de esa unidad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" y="6842696"/>
            <a:ext cx="13039344" cy="449579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95528" y="7281303"/>
            <a:ext cx="13039344" cy="10972"/>
          </a:xfrm>
          <a:prstGeom prst="rect">
            <a:avLst/>
          </a:prstGeom>
          <a:effectLst/>
        </p:spPr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6696" y="6979856"/>
            <a:ext cx="13350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1" i="0">
                <a:solidFill>
                  <a:srgbClr val="3B3535"/>
                </a:solidFill>
                <a:latin typeface="Roboto"/>
              </a:rPr>
              <a:t>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34056" y="6979856"/>
            <a:ext cx="2706624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Tasa de aprendizaje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3016" y="6979856"/>
            <a:ext cx="7790688" cy="252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4"/>
              </a:lnSpc>
            </a:pPr>
            <a:r>
              <a:rPr sz="1200" b="0" i="0">
                <a:solidFill>
                  <a:srgbClr val="3B3535"/>
                </a:solidFill>
                <a:latin typeface="Roboto"/>
              </a:rPr>
              <a:t>El tamaño del paso con el que se corrige cada peso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4354</Words>
  <Application>Microsoft Office PowerPoint</Application>
  <PresentationFormat>Personalizado</PresentationFormat>
  <Paragraphs>591</Paragraphs>
  <Slides>51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6" baseType="lpstr">
      <vt:lpstr>Arial</vt:lpstr>
      <vt:lpstr>Calibri</vt:lpstr>
      <vt:lpstr>Roboto</vt:lpstr>
      <vt:lpstr>Roboto Mono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Claudio</dc:creator>
  <cp:keywords/>
  <dc:description>generated using python-pptx</dc:description>
  <cp:lastModifiedBy>Claudio Righetti</cp:lastModifiedBy>
  <cp:revision>1</cp:revision>
  <dcterms:created xsi:type="dcterms:W3CDTF">2013-01-27T09:14:16Z</dcterms:created>
  <dcterms:modified xsi:type="dcterms:W3CDTF">2026-08-19T17:23:22Z</dcterms:modified>
  <cp:category/>
</cp:coreProperties>
</file>