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1695" cy="6858000"/>
  <p:notesSz cx="6858000" cy="12191695"/>
  <p:embeddedFontLst>
    <p:embeddedFont>
      <p:font typeface="Roboto"/>
      <p:regular r:id="rId201314"/>
    </p:embeddedFont>
    <p:embeddedFont>
      <p:font typeface="Roboto Bold"/>
      <p:regular r:id="rId201315"/>
    </p:embeddedFont>
    <p:embeddedFont>
      <p:font typeface="Roboto Mono Medium"/>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AFAFA"/>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alpha val="95000"/>
            </a:srgbClr>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image" Target="../media/image-3-4.png"/><Relationship Id="rId5" Type="http://schemas.openxmlformats.org/officeDocument/2006/relationships/image" Target="../media/image-3-5.svg"/><Relationship Id="rId6" Type="http://schemas.openxmlformats.org/officeDocument/2006/relationships/image" Target="../media/image-3-6.png"/><Relationship Id="rId7" Type="http://schemas.openxmlformats.org/officeDocument/2006/relationships/image" Target="../media/image-3-7.svg"/><Relationship Id="rId8" Type="http://schemas.openxmlformats.org/officeDocument/2006/relationships/slideLayout" Target="../slideLayouts/slideLayout2.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image" Target="../media/image-7-7.png"/><Relationship Id="rId8" Type="http://schemas.openxmlformats.org/officeDocument/2006/relationships/image" Target="../media/image-7-8.svg"/><Relationship Id="rId9" Type="http://schemas.openxmlformats.org/officeDocument/2006/relationships/slideLayout" Target="../slideLayouts/slideLayout2.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svg"/><Relationship Id="rId3" Type="http://schemas.openxmlformats.org/officeDocument/2006/relationships/image" Target="../media/image-11-3.png"/><Relationship Id="rId4" Type="http://schemas.openxmlformats.org/officeDocument/2006/relationships/image" Target="../media/image-11-4.svg"/><Relationship Id="rId5" Type="http://schemas.openxmlformats.org/officeDocument/2006/relationships/image" Target="../media/image-11-5.png"/><Relationship Id="rId6" Type="http://schemas.openxmlformats.org/officeDocument/2006/relationships/image" Target="../media/image-11-6.svg"/><Relationship Id="rId7" Type="http://schemas.openxmlformats.org/officeDocument/2006/relationships/image" Target="../media/image-11-7.png"/><Relationship Id="rId8" Type="http://schemas.openxmlformats.org/officeDocument/2006/relationships/slideLayout" Target="../slideLayouts/slideLayout2.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svg"/><Relationship Id="rId3" Type="http://schemas.openxmlformats.org/officeDocument/2006/relationships/image" Target="../media/image-12-3.png"/><Relationship Id="rId4" Type="http://schemas.openxmlformats.org/officeDocument/2006/relationships/image" Target="../media/image-12-4.svg"/><Relationship Id="rId5" Type="http://schemas.openxmlformats.org/officeDocument/2006/relationships/image" Target="../media/image-12-5.png"/><Relationship Id="rId6" Type="http://schemas.openxmlformats.org/officeDocument/2006/relationships/image" Target="../media/image-12-6.svg"/><Relationship Id="rId7" Type="http://schemas.openxmlformats.org/officeDocument/2006/relationships/image" Target="../media/image-12-7.png"/><Relationship Id="rId8" Type="http://schemas.openxmlformats.org/officeDocument/2006/relationships/image" Target="../media/image-12-8.svg"/><Relationship Id="rId9" Type="http://schemas.openxmlformats.org/officeDocument/2006/relationships/image" Target="../media/image-12-9.png"/><Relationship Id="rId10" Type="http://schemas.openxmlformats.org/officeDocument/2006/relationships/image" Target="../media/image-12-10.svg"/><Relationship Id="rId11" Type="http://schemas.openxmlformats.org/officeDocument/2006/relationships/image" Target="../media/image-12-11.png"/><Relationship Id="rId12" Type="http://schemas.openxmlformats.org/officeDocument/2006/relationships/image" Target="../media/image-12-12.svg"/><Relationship Id="rId13" Type="http://schemas.openxmlformats.org/officeDocument/2006/relationships/image" Target="../media/image-12-13.png"/><Relationship Id="rId14" Type="http://schemas.openxmlformats.org/officeDocument/2006/relationships/image" Target="../media/image-12-14.svg"/><Relationship Id="rId15" Type="http://schemas.openxmlformats.org/officeDocument/2006/relationships/slideLayout" Target="../slideLayouts/slideLayout2.xml"/><Relationship Id="rId1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svg"/><Relationship Id="rId3" Type="http://schemas.openxmlformats.org/officeDocument/2006/relationships/image" Target="../media/image-14-3.png"/><Relationship Id="rId4" Type="http://schemas.openxmlformats.org/officeDocument/2006/relationships/image" Target="../media/image-14-4.svg"/><Relationship Id="rId5" Type="http://schemas.openxmlformats.org/officeDocument/2006/relationships/image" Target="../media/image-14-5.png"/><Relationship Id="rId6" Type="http://schemas.openxmlformats.org/officeDocument/2006/relationships/image" Target="../media/image-14-6.svg"/><Relationship Id="rId7" Type="http://schemas.openxmlformats.org/officeDocument/2006/relationships/slideLayout" Target="../slideLayouts/slideLayout2.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svg"/><Relationship Id="rId3" Type="http://schemas.openxmlformats.org/officeDocument/2006/relationships/image" Target="../media/image-15-1.png"/><Relationship Id="rId4" Type="http://schemas.openxmlformats.org/officeDocument/2006/relationships/image" Target="../media/image-15-2.svg"/><Relationship Id="rId5" Type="http://schemas.openxmlformats.org/officeDocument/2006/relationships/image" Target="../media/image-15-1.png"/><Relationship Id="rId6" Type="http://schemas.openxmlformats.org/officeDocument/2006/relationships/image" Target="../media/image-15-2.svg"/><Relationship Id="rId7" Type="http://schemas.openxmlformats.org/officeDocument/2006/relationships/image" Target="../media/image-15-1.png"/><Relationship Id="rId8" Type="http://schemas.openxmlformats.org/officeDocument/2006/relationships/image" Target="../media/image-15-2.svg"/><Relationship Id="rId9" Type="http://schemas.openxmlformats.org/officeDocument/2006/relationships/slideLayout" Target="../slideLayouts/slideLayout2.xml"/><Relationship Id="rId10"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svg"/><Relationship Id="rId3" Type="http://schemas.openxmlformats.org/officeDocument/2006/relationships/image" Target="../media/image-19-3.png"/><Relationship Id="rId4" Type="http://schemas.openxmlformats.org/officeDocument/2006/relationships/image" Target="../media/image-19-4.svg"/><Relationship Id="rId5" Type="http://schemas.openxmlformats.org/officeDocument/2006/relationships/image" Target="../media/image-19-5.png"/><Relationship Id="rId6" Type="http://schemas.openxmlformats.org/officeDocument/2006/relationships/image" Target="../media/image-19-6.svg"/><Relationship Id="rId7" Type="http://schemas.openxmlformats.org/officeDocument/2006/relationships/image" Target="../media/image-19-7.png"/><Relationship Id="rId8" Type="http://schemas.openxmlformats.org/officeDocument/2006/relationships/image" Target="../media/image-19-8.svg"/><Relationship Id="rId9" Type="http://schemas.openxmlformats.org/officeDocument/2006/relationships/slideLayout" Target="../slideLayouts/slideLayout2.xml"/><Relationship Id="rId10"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2" Type="http://schemas.openxmlformats.org/officeDocument/2006/relationships/hyperlink" Target="https://aitutorial.dev/agents/intro" TargetMode="External"/><Relationship Id="rId1" Type="http://schemas.openxmlformats.org/officeDocument/2006/relationships/image" Target="../media/image-21-1.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svg"/><Relationship Id="rId3" Type="http://schemas.openxmlformats.org/officeDocument/2006/relationships/image" Target="../media/image-22-3.png"/><Relationship Id="rId4" Type="http://schemas.openxmlformats.org/officeDocument/2006/relationships/image" Target="../media/image-22-4.svg"/><Relationship Id="rId5" Type="http://schemas.openxmlformats.org/officeDocument/2006/relationships/image" Target="../media/image-22-5.png"/><Relationship Id="rId6" Type="http://schemas.openxmlformats.org/officeDocument/2006/relationships/image" Target="../media/image-22-6.svg"/><Relationship Id="rId7" Type="http://schemas.openxmlformats.org/officeDocument/2006/relationships/slideLayout" Target="../slideLayouts/slideLayout2.xml"/><Relationship Id="rId8"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11-7.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svg"/><Relationship Id="rId3" Type="http://schemas.openxmlformats.org/officeDocument/2006/relationships/image" Target="../media/image-26-1.png"/><Relationship Id="rId4" Type="http://schemas.openxmlformats.org/officeDocument/2006/relationships/image" Target="../media/image-26-2.svg"/><Relationship Id="rId5" Type="http://schemas.openxmlformats.org/officeDocument/2006/relationships/image" Target="../media/image-26-5.png"/><Relationship Id="rId6" Type="http://schemas.openxmlformats.org/officeDocument/2006/relationships/image" Target="../media/image-26-6.svg"/><Relationship Id="rId7" Type="http://schemas.openxmlformats.org/officeDocument/2006/relationships/image" Target="../media/image-26-5.png"/><Relationship Id="rId8" Type="http://schemas.openxmlformats.org/officeDocument/2006/relationships/image" Target="../media/image-26-6.svg"/><Relationship Id="rId9" Type="http://schemas.openxmlformats.org/officeDocument/2006/relationships/slideLayout" Target="../slideLayouts/slideLayout2.xml"/><Relationship Id="rId10"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svg"/><Relationship Id="rId3" Type="http://schemas.openxmlformats.org/officeDocument/2006/relationships/image" Target="../media/image-29-3.png"/><Relationship Id="rId4" Type="http://schemas.openxmlformats.org/officeDocument/2006/relationships/image" Target="../media/image-29-4.svg"/><Relationship Id="rId5" Type="http://schemas.openxmlformats.org/officeDocument/2006/relationships/image" Target="../media/image-29-5.png"/><Relationship Id="rId6" Type="http://schemas.openxmlformats.org/officeDocument/2006/relationships/image" Target="../media/image-29-6.svg"/><Relationship Id="rId7" Type="http://schemas.openxmlformats.org/officeDocument/2006/relationships/slideLayout" Target="../slideLayouts/slideLayout2.xml"/><Relationship Id="rId8"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svg"/><Relationship Id="rId3" Type="http://schemas.openxmlformats.org/officeDocument/2006/relationships/image" Target="../media/image-31-3.png"/><Relationship Id="rId4" Type="http://schemas.openxmlformats.org/officeDocument/2006/relationships/image" Target="../media/image-31-4.svg"/><Relationship Id="rId5" Type="http://schemas.openxmlformats.org/officeDocument/2006/relationships/image" Target="../media/image-31-5.png"/><Relationship Id="rId6" Type="http://schemas.openxmlformats.org/officeDocument/2006/relationships/image" Target="../media/image-31-6.svg"/><Relationship Id="rId7" Type="http://schemas.openxmlformats.org/officeDocument/2006/relationships/slideLayout" Target="../slideLayouts/slideLayout2.xml"/><Relationship Id="rId8"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eg"/><Relationship Id="rId2" Type="http://schemas.openxmlformats.org/officeDocument/2006/relationships/image" Target="../media/image-32-2.png"/><Relationship Id="rId3" Type="http://schemas.openxmlformats.org/officeDocument/2006/relationships/image" Target="../media/image-32-3.svg"/><Relationship Id="rId4" Type="http://schemas.openxmlformats.org/officeDocument/2006/relationships/image" Target="../media/image-32-4.png"/><Relationship Id="rId5" Type="http://schemas.openxmlformats.org/officeDocument/2006/relationships/image" Target="../media/image-32-5.svg"/><Relationship Id="rId6" Type="http://schemas.openxmlformats.org/officeDocument/2006/relationships/image" Target="../media/image-32-2.png"/><Relationship Id="rId7" Type="http://schemas.openxmlformats.org/officeDocument/2006/relationships/image" Target="../media/image-32-3.svg"/><Relationship Id="rId8" Type="http://schemas.openxmlformats.org/officeDocument/2006/relationships/image" Target="../media/image-32-8.png"/><Relationship Id="rId9" Type="http://schemas.openxmlformats.org/officeDocument/2006/relationships/image" Target="../media/image-32-9.svg"/><Relationship Id="rId10" Type="http://schemas.openxmlformats.org/officeDocument/2006/relationships/image" Target="../media/image-32-10.png"/><Relationship Id="rId11" Type="http://schemas.openxmlformats.org/officeDocument/2006/relationships/image" Target="../media/image-32-11.svg"/><Relationship Id="rId12" Type="http://schemas.openxmlformats.org/officeDocument/2006/relationships/image" Target="../media/image-32-12.png"/><Relationship Id="rId13" Type="http://schemas.openxmlformats.org/officeDocument/2006/relationships/image" Target="../media/image-32-13.svg"/><Relationship Id="rId14" Type="http://schemas.openxmlformats.org/officeDocument/2006/relationships/image" Target="../media/image-32-10.png"/><Relationship Id="rId15" Type="http://schemas.openxmlformats.org/officeDocument/2006/relationships/image" Target="../media/image-32-11.svg"/><Relationship Id="rId16" Type="http://schemas.openxmlformats.org/officeDocument/2006/relationships/image" Target="../media/image-32-16.png"/><Relationship Id="rId17" Type="http://schemas.openxmlformats.org/officeDocument/2006/relationships/image" Target="../media/image-32-17.svg"/><Relationship Id="rId18" Type="http://schemas.openxmlformats.org/officeDocument/2006/relationships/slideLayout" Target="../slideLayouts/slideLayout2.xml"/><Relationship Id="rId19"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11-7.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2" Type="http://schemas.openxmlformats.org/officeDocument/2006/relationships/hyperlink" Target="https://aitutorial.dev/agents/memory" TargetMode="External"/><Relationship Id="rId1" Type="http://schemas.openxmlformats.org/officeDocument/2006/relationships/image" Target="../media/image-38-1.png"/><Relationship Id="rId3" Type="http://schemas.openxmlformats.org/officeDocument/2006/relationships/slideLayout" Target="../slideLayouts/slideLayout2.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svg"/><Relationship Id="rId3" Type="http://schemas.openxmlformats.org/officeDocument/2006/relationships/image" Target="../media/image-39-1.png"/><Relationship Id="rId4" Type="http://schemas.openxmlformats.org/officeDocument/2006/relationships/image" Target="../media/image-39-2.svg"/><Relationship Id="rId5" Type="http://schemas.openxmlformats.org/officeDocument/2006/relationships/image" Target="../media/image-39-1.png"/><Relationship Id="rId6" Type="http://schemas.openxmlformats.org/officeDocument/2006/relationships/image" Target="../media/image-39-2.svg"/><Relationship Id="rId7" Type="http://schemas.openxmlformats.org/officeDocument/2006/relationships/image" Target="../media/image-39-1.png"/><Relationship Id="rId8" Type="http://schemas.openxmlformats.org/officeDocument/2006/relationships/image" Target="../media/image-39-2.svg"/><Relationship Id="rId9" Type="http://schemas.openxmlformats.org/officeDocument/2006/relationships/image" Target="../media/image-39-9.png"/><Relationship Id="rId10" Type="http://schemas.openxmlformats.org/officeDocument/2006/relationships/slideLayout" Target="../slideLayouts/slideLayout2.xml"/><Relationship Id="rId11"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svg"/><Relationship Id="rId3" Type="http://schemas.openxmlformats.org/officeDocument/2006/relationships/image" Target="../media/image-42-3.png"/><Relationship Id="rId4" Type="http://schemas.openxmlformats.org/officeDocument/2006/relationships/image" Target="../media/image-42-4.svg"/><Relationship Id="rId5" Type="http://schemas.openxmlformats.org/officeDocument/2006/relationships/image" Target="../media/image-42-5.png"/><Relationship Id="rId6" Type="http://schemas.openxmlformats.org/officeDocument/2006/relationships/image" Target="../media/image-42-6.svg"/><Relationship Id="rId7" Type="http://schemas.openxmlformats.org/officeDocument/2006/relationships/slideLayout" Target="../slideLayouts/slideLayout2.xml"/><Relationship Id="rId8"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4" Type="http://schemas.openxmlformats.org/officeDocument/2006/relationships/hyperlink" Target="https://aitutorial.dev/agents/hands-on-exercise" TargetMode="External"/><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5" Type="http://schemas.openxmlformats.org/officeDocument/2006/relationships/slideLayout" Target="../slideLayouts/slideLayout2.xml"/><Relationship Id="rId6"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5" Type="http://schemas.openxmlformats.org/officeDocument/2006/relationships/hyperlink" Target="https://langchain-ai.github.io/langgraph/" TargetMode="External"/><Relationship Id="rId8" Type="http://schemas.openxmlformats.org/officeDocument/2006/relationships/hyperlink" Target="https://aitutorial.dev/agents/overview" TargetMode="External"/><Relationship Id="rId11" Type="http://schemas.openxmlformats.org/officeDocument/2006/relationships/hyperlink" Target="https://python.langchain.com/docs/modules/memory/" TargetMode="External"/><Relationship Id="rId1" Type="http://schemas.openxmlformats.org/officeDocument/2006/relationships/image" Target="../media/image-26-1.png"/><Relationship Id="rId2" Type="http://schemas.openxmlformats.org/officeDocument/2006/relationships/image" Target="../media/image-26-2.svg"/><Relationship Id="rId3" Type="http://schemas.openxmlformats.org/officeDocument/2006/relationships/image" Target="../media/image-26-1.png"/><Relationship Id="rId4" Type="http://schemas.openxmlformats.org/officeDocument/2006/relationships/image" Target="../media/image-26-2.svg"/><Relationship Id="rId6" Type="http://schemas.openxmlformats.org/officeDocument/2006/relationships/image" Target="../media/image-26-1.png"/><Relationship Id="rId7" Type="http://schemas.openxmlformats.org/officeDocument/2006/relationships/image" Target="../media/image-26-2.svg"/><Relationship Id="rId9" Type="http://schemas.openxmlformats.org/officeDocument/2006/relationships/image" Target="../media/image-26-1.png"/><Relationship Id="rId10" Type="http://schemas.openxmlformats.org/officeDocument/2006/relationships/image" Target="../media/image-26-2.svg"/><Relationship Id="rId12" Type="http://schemas.openxmlformats.org/officeDocument/2006/relationships/slideLayout" Target="../slideLayouts/slideLayout2.xml"/><Relationship Id="rId1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61475" y="1077516"/>
            <a:ext cx="10868745" cy="2139553"/>
          </a:xfrm>
          <a:prstGeom prst="rect">
            <a:avLst/>
          </a:prstGeom>
          <a:noFill/>
          <a:ln/>
        </p:spPr>
        <p:txBody>
          <a:bodyPr wrap="square" lIns="0" tIns="0" rIns="0" bIns="0" rtlCol="0" anchor="t">
            <a:normAutofit/>
          </a:bodyPr>
          <a:lstStyle/>
          <a:p>
            <a:pPr algn="l" indent="0" marL="0">
              <a:lnSpc>
                <a:spcPct val="104000"/>
              </a:lnSpc>
              <a:buNone/>
            </a:pPr>
            <a:r>
              <a:rPr lang="en-US" sz="4450" dirty="0">
                <a:solidFill>
                  <a:srgbClr val="1F1E1E"/>
                </a:solidFill>
                <a:latin typeface="Roboto Mono Medium" pitchFamily="34" charset="0"/>
                <a:ea typeface="Roboto Mono Medium" pitchFamily="34" charset="-122"/>
                <a:cs typeface="Roboto Mono Medium" pitchFamily="34" charset="-120"/>
              </a:rPr>
              <a:t>Inteligencia Artificial Generativa Aplicada en Biomedicina</a:t>
            </a:r>
            <a:endParaRPr lang="en-US" sz="4450" dirty="0"/>
          </a:p>
        </p:txBody>
      </p:sp>
      <p:sp>
        <p:nvSpPr>
          <p:cNvPr id="3" name="Text 1"/>
          <p:cNvSpPr/>
          <p:nvPr/>
        </p:nvSpPr>
        <p:spPr>
          <a:xfrm>
            <a:off x="661475" y="3465116"/>
            <a:ext cx="10868745" cy="413445"/>
          </a:xfrm>
          <a:prstGeom prst="rect">
            <a:avLst/>
          </a:prstGeom>
          <a:noFill/>
          <a:ln/>
        </p:spPr>
        <p:txBody>
          <a:bodyPr wrap="none" lIns="0" tIns="0" rIns="0" bIns="0" rtlCol="0" anchor="t"/>
          <a:lstStyle/>
          <a:p>
            <a:pPr algn="l" indent="0" marL="0">
              <a:lnSpc>
                <a:spcPct val="104000"/>
              </a:lnSpc>
              <a:buNone/>
            </a:pPr>
            <a:r>
              <a:rPr lang="en-US" sz="2600" dirty="0">
                <a:solidFill>
                  <a:srgbClr val="1F1E1E"/>
                </a:solidFill>
                <a:latin typeface="Roboto Mono Medium" pitchFamily="34" charset="0"/>
                <a:ea typeface="Roboto Mono Medium" pitchFamily="34" charset="-122"/>
                <a:cs typeface="Roboto Mono Medium" pitchFamily="34" charset="-120"/>
              </a:rPr>
              <a:t>Módulo 6: Agents</a:t>
            </a:r>
            <a:endParaRPr lang="en-US" sz="2600" dirty="0"/>
          </a:p>
        </p:txBody>
      </p:sp>
      <p:sp>
        <p:nvSpPr>
          <p:cNvPr id="4" name="Text 2"/>
          <p:cNvSpPr/>
          <p:nvPr/>
        </p:nvSpPr>
        <p:spPr>
          <a:xfrm>
            <a:off x="661475" y="4275435"/>
            <a:ext cx="5233757" cy="1356122"/>
          </a:xfrm>
          <a:prstGeom prst="rect">
            <a:avLst/>
          </a:prstGeom>
          <a:noFill/>
          <a:ln/>
        </p:spPr>
        <p:txBody>
          <a:bodyPr wrap="square" lIns="0" tIns="0" rIns="0" bIns="0" rtlCol="0" anchor="t"/>
          <a:lstStyle/>
          <a:p>
            <a:pPr algn="l" indent="0" marL="0">
              <a:lnSpc>
                <a:spcPct val="133000"/>
              </a:lnSpc>
              <a:spcAft>
                <a:spcPts val="1150"/>
              </a:spcAft>
              <a:buNone/>
            </a:pPr>
            <a:r>
              <a:rPr lang="en-US" sz="1300" dirty="0">
                <a:solidFill>
                  <a:srgbClr val="3B3535"/>
                </a:solidFill>
                <a:latin typeface="Roboto" pitchFamily="34" charset="0"/>
                <a:ea typeface="Roboto" pitchFamily="34" charset="-122"/>
                <a:cs typeface="Roboto" pitchFamily="34" charset="-120"/>
              </a:rPr>
              <a:t>Profesores: Paulo Veiga / Marco Sanchez Sorondo</a:t>
            </a:r>
            <a:endParaRPr lang="en-US" sz="1300" dirty="0"/>
          </a:p>
          <a:p>
            <a:pPr algn="l" indent="0" marL="0">
              <a:lnSpc>
                <a:spcPct val="133000"/>
              </a:lnSpc>
              <a:spcAft>
                <a:spcPts val="1150"/>
              </a:spcAft>
              <a:buNone/>
            </a:pPr>
            <a:r>
              <a:rPr lang="en-US" sz="1300" dirty="0">
                <a:solidFill>
                  <a:srgbClr val="3B3535"/>
                </a:solidFill>
                <a:latin typeface="Roboto" pitchFamily="34" charset="0"/>
                <a:ea typeface="Roboto" pitchFamily="34" charset="-122"/>
                <a:cs typeface="Roboto" pitchFamily="34" charset="-120"/>
              </a:rPr>
              <a:t>Universidad Austral · Facultad de Ingeniería · Departamento de Inteligencia Artificial</a:t>
            </a:r>
            <a:endParaRPr lang="en-US" sz="1300" dirty="0"/>
          </a:p>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Abril, 2026</a:t>
            </a:r>
            <a:endParaRPr lang="en-US" sz="1300" dirty="0"/>
          </a:p>
        </p:txBody>
      </p:sp>
      <p:pic>
        <p:nvPicPr>
          <p:cNvPr id="5" name="Image 0" descr="preencoded.png">    </p:cNvPr>
          <p:cNvPicPr>
            <a:picLocks noChangeAspect="1"/>
          </p:cNvPicPr>
          <p:nvPr/>
        </p:nvPicPr>
        <p:blipFill>
          <a:blip r:embed="rId1"/>
          <a:stretch>
            <a:fillRect/>
          </a:stretch>
        </p:blipFill>
        <p:spPr>
          <a:xfrm>
            <a:off x="10168576" y="4312642"/>
            <a:ext cx="1367895" cy="113049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61475" y="499963"/>
            <a:ext cx="10868745" cy="465138"/>
          </a:xfrm>
          <a:prstGeom prst="rect">
            <a:avLst/>
          </a:prstGeom>
          <a:noFill/>
          <a:ln/>
        </p:spPr>
        <p:txBody>
          <a:bodyPr wrap="none" lIns="0" tIns="0" rIns="0" bIns="0" rtlCol="0" anchor="t"/>
          <a:lstStyle/>
          <a:p>
            <a:pPr algn="l" indent="0" marL="0">
              <a:lnSpc>
                <a:spcPct val="104000"/>
              </a:lnSpc>
              <a:buNone/>
            </a:pPr>
            <a:r>
              <a:rPr lang="en-US" sz="2900" dirty="0">
                <a:solidFill>
                  <a:srgbClr val="1F1E1E"/>
                </a:solidFill>
                <a:latin typeface="Roboto Mono Medium" pitchFamily="34" charset="0"/>
                <a:ea typeface="Roboto Mono Medium" pitchFamily="34" charset="-122"/>
                <a:cs typeface="Roboto Mono Medium" pitchFamily="34" charset="-120"/>
              </a:rPr>
              <a:t>Agenda</a:t>
            </a:r>
            <a:endParaRPr lang="en-US" sz="2900" dirty="0"/>
          </a:p>
        </p:txBody>
      </p:sp>
      <p:sp>
        <p:nvSpPr>
          <p:cNvPr id="3" name="Shape 1"/>
          <p:cNvSpPr/>
          <p:nvPr/>
        </p:nvSpPr>
        <p:spPr>
          <a:xfrm>
            <a:off x="6086323" y="1232991"/>
            <a:ext cx="19050" cy="5125045"/>
          </a:xfrm>
          <a:prstGeom prst="roundRect">
            <a:avLst>
              <a:gd name="adj" fmla="val 39999"/>
            </a:avLst>
          </a:prstGeom>
          <a:solidFill>
            <a:srgbClr val="D8D4D4"/>
          </a:solidFill>
          <a:ln/>
        </p:spPr>
      </p:sp>
      <p:sp>
        <p:nvSpPr>
          <p:cNvPr id="4" name="Shape 2"/>
          <p:cNvSpPr/>
          <p:nvPr/>
        </p:nvSpPr>
        <p:spPr>
          <a:xfrm>
            <a:off x="5500996" y="1390848"/>
            <a:ext cx="446473" cy="19050"/>
          </a:xfrm>
          <a:prstGeom prst="roundRect">
            <a:avLst>
              <a:gd name="adj" fmla="val 39999"/>
            </a:avLst>
          </a:prstGeom>
          <a:solidFill>
            <a:srgbClr val="D8D4D4"/>
          </a:solidFill>
          <a:ln/>
        </p:spPr>
      </p:sp>
      <p:sp>
        <p:nvSpPr>
          <p:cNvPr id="5" name="Shape 3"/>
          <p:cNvSpPr/>
          <p:nvPr/>
        </p:nvSpPr>
        <p:spPr>
          <a:xfrm>
            <a:off x="5928420" y="1232991"/>
            <a:ext cx="334855" cy="334863"/>
          </a:xfrm>
          <a:prstGeom prst="roundRect">
            <a:avLst>
              <a:gd name="adj" fmla="val 2276"/>
            </a:avLst>
          </a:prstGeom>
          <a:solidFill>
            <a:srgbClr val="F2EEEE"/>
          </a:solidFill>
          <a:ln w="6350">
            <a:solidFill>
              <a:srgbClr val="D8D4D4"/>
            </a:solidFill>
            <a:prstDash val="solid"/>
          </a:ln>
        </p:spPr>
      </p:sp>
      <p:sp>
        <p:nvSpPr>
          <p:cNvPr id="6" name="Text 4"/>
          <p:cNvSpPr/>
          <p:nvPr/>
        </p:nvSpPr>
        <p:spPr>
          <a:xfrm>
            <a:off x="5984180" y="1260822"/>
            <a:ext cx="223237" cy="279102"/>
          </a:xfrm>
          <a:prstGeom prst="rect">
            <a:avLst/>
          </a:prstGeom>
          <a:noFill/>
          <a:ln/>
        </p:spPr>
        <p:txBody>
          <a:bodyPr wrap="none" lIns="0" tIns="0" rIns="0" bIns="0" rtlCol="0" anchor="ctr"/>
          <a:lstStyle/>
          <a:p>
            <a:pPr algn="ctr" indent="0" marL="0">
              <a:lnSpc>
                <a:spcPct val="100000"/>
              </a:lnSpc>
              <a:buNone/>
            </a:pPr>
            <a:r>
              <a:rPr lang="en-US" sz="1750" dirty="0">
                <a:solidFill>
                  <a:srgbClr val="3B3535"/>
                </a:solidFill>
                <a:latin typeface="Roboto Mono Medium" pitchFamily="34" charset="0"/>
                <a:ea typeface="Roboto Mono Medium" pitchFamily="34" charset="-122"/>
                <a:cs typeface="Roboto Mono Medium" pitchFamily="34" charset="-120"/>
              </a:rPr>
              <a:t>1</a:t>
            </a:r>
            <a:endParaRPr lang="en-US" sz="1750" dirty="0"/>
          </a:p>
        </p:txBody>
      </p:sp>
      <p:sp>
        <p:nvSpPr>
          <p:cNvPr id="7" name="Text 5"/>
          <p:cNvSpPr/>
          <p:nvPr/>
        </p:nvSpPr>
        <p:spPr>
          <a:xfrm>
            <a:off x="661475" y="1284089"/>
            <a:ext cx="4690151" cy="232470"/>
          </a:xfrm>
          <a:prstGeom prst="rect">
            <a:avLst/>
          </a:prstGeom>
          <a:noFill/>
          <a:ln/>
        </p:spPr>
        <p:txBody>
          <a:bodyPr wrap="none" lIns="0" tIns="0" rIns="0" bIns="0" rtlCol="0" anchor="t"/>
          <a:lstStyle/>
          <a:p>
            <a:pPr algn="r" indent="0" marL="0">
              <a:lnSpc>
                <a:spcPct val="104000"/>
              </a:lnSpc>
              <a:buNone/>
            </a:pPr>
            <a:r>
              <a:rPr lang="en-US" sz="1450" dirty="0">
                <a:solidFill>
                  <a:srgbClr val="3B3535"/>
                </a:solidFill>
                <a:latin typeface="Roboto Mono Medium" pitchFamily="34" charset="0"/>
                <a:ea typeface="Roboto Mono Medium" pitchFamily="34" charset="-122"/>
                <a:cs typeface="Roboto Mono Medium" pitchFamily="34" charset="-120"/>
              </a:rPr>
              <a:t>¿Qué es un Agente?</a:t>
            </a:r>
            <a:endParaRPr lang="en-US" sz="1450" dirty="0"/>
          </a:p>
        </p:txBody>
      </p:sp>
      <p:sp>
        <p:nvSpPr>
          <p:cNvPr id="8" name="Text 6"/>
          <p:cNvSpPr/>
          <p:nvPr/>
        </p:nvSpPr>
        <p:spPr>
          <a:xfrm>
            <a:off x="661475" y="1596926"/>
            <a:ext cx="4690151" cy="226219"/>
          </a:xfrm>
          <a:prstGeom prst="rect">
            <a:avLst/>
          </a:prstGeom>
          <a:noFill/>
          <a:ln/>
        </p:spPr>
        <p:txBody>
          <a:bodyPr wrap="none" lIns="0" tIns="0" rIns="0" bIns="0" rtlCol="0" anchor="t"/>
          <a:lstStyle/>
          <a:p>
            <a:pPr algn="r" indent="0" marL="0">
              <a:lnSpc>
                <a:spcPct val="127000"/>
              </a:lnSpc>
              <a:buNone/>
            </a:pPr>
            <a:r>
              <a:rPr lang="en-US" sz="1150" dirty="0">
                <a:solidFill>
                  <a:srgbClr val="3B3535"/>
                </a:solidFill>
                <a:latin typeface="Roboto" pitchFamily="34" charset="0"/>
                <a:ea typeface="Roboto" pitchFamily="34" charset="-122"/>
                <a:cs typeface="Roboto" pitchFamily="34" charset="-120"/>
              </a:rPr>
              <a:t>Definición formal, racionalidad, ejemplos y tipos de ambientes</a:t>
            </a:r>
            <a:endParaRPr lang="en-US" sz="1150" dirty="0"/>
          </a:p>
        </p:txBody>
      </p:sp>
      <p:sp>
        <p:nvSpPr>
          <p:cNvPr id="9" name="Shape 7"/>
          <p:cNvSpPr/>
          <p:nvPr/>
        </p:nvSpPr>
        <p:spPr>
          <a:xfrm>
            <a:off x="6244225" y="2254151"/>
            <a:ext cx="446473" cy="19050"/>
          </a:xfrm>
          <a:prstGeom prst="roundRect">
            <a:avLst>
              <a:gd name="adj" fmla="val 39999"/>
            </a:avLst>
          </a:prstGeom>
          <a:solidFill>
            <a:srgbClr val="D8D4D4"/>
          </a:solidFill>
          <a:ln/>
        </p:spPr>
      </p:sp>
      <p:sp>
        <p:nvSpPr>
          <p:cNvPr id="10" name="Shape 8"/>
          <p:cNvSpPr/>
          <p:nvPr/>
        </p:nvSpPr>
        <p:spPr>
          <a:xfrm>
            <a:off x="5928420" y="2096294"/>
            <a:ext cx="334855" cy="334863"/>
          </a:xfrm>
          <a:prstGeom prst="roundRect">
            <a:avLst>
              <a:gd name="adj" fmla="val 2276"/>
            </a:avLst>
          </a:prstGeom>
          <a:solidFill>
            <a:srgbClr val="F2EEEE"/>
          </a:solidFill>
          <a:ln w="6350">
            <a:solidFill>
              <a:srgbClr val="D8D4D4"/>
            </a:solidFill>
            <a:prstDash val="solid"/>
          </a:ln>
        </p:spPr>
      </p:sp>
      <p:sp>
        <p:nvSpPr>
          <p:cNvPr id="11" name="Text 9"/>
          <p:cNvSpPr/>
          <p:nvPr/>
        </p:nvSpPr>
        <p:spPr>
          <a:xfrm>
            <a:off x="5984180" y="2124125"/>
            <a:ext cx="223237" cy="279102"/>
          </a:xfrm>
          <a:prstGeom prst="rect">
            <a:avLst/>
          </a:prstGeom>
          <a:noFill/>
          <a:ln/>
        </p:spPr>
        <p:txBody>
          <a:bodyPr wrap="none" lIns="0" tIns="0" rIns="0" bIns="0" rtlCol="0" anchor="ctr"/>
          <a:lstStyle/>
          <a:p>
            <a:pPr algn="ctr" indent="0" marL="0">
              <a:lnSpc>
                <a:spcPct val="100000"/>
              </a:lnSpc>
              <a:buNone/>
            </a:pPr>
            <a:r>
              <a:rPr lang="en-US" sz="1750" dirty="0">
                <a:solidFill>
                  <a:srgbClr val="3B3535"/>
                </a:solidFill>
                <a:latin typeface="Roboto Mono Medium" pitchFamily="34" charset="0"/>
                <a:ea typeface="Roboto Mono Medium" pitchFamily="34" charset="-122"/>
                <a:cs typeface="Roboto Mono Medium" pitchFamily="34" charset="-120"/>
              </a:rPr>
              <a:t>2</a:t>
            </a:r>
            <a:endParaRPr lang="en-US" sz="1750" dirty="0"/>
          </a:p>
        </p:txBody>
      </p:sp>
      <p:sp>
        <p:nvSpPr>
          <p:cNvPr id="12" name="Text 10"/>
          <p:cNvSpPr/>
          <p:nvPr/>
        </p:nvSpPr>
        <p:spPr>
          <a:xfrm>
            <a:off x="6840069" y="2147391"/>
            <a:ext cx="4690151" cy="232470"/>
          </a:xfrm>
          <a:prstGeom prst="rect">
            <a:avLst/>
          </a:prstGeom>
          <a:noFill/>
          <a:ln/>
        </p:spPr>
        <p:txBody>
          <a:bodyPr wrap="none" lIns="0" tIns="0" rIns="0" bIns="0" rtlCol="0" anchor="t"/>
          <a:lstStyle/>
          <a:p>
            <a:pPr algn="l" indent="0" marL="0">
              <a:lnSpc>
                <a:spcPct val="104000"/>
              </a:lnSpc>
              <a:buNone/>
            </a:pPr>
            <a:r>
              <a:rPr lang="en-US" sz="1450" dirty="0">
                <a:solidFill>
                  <a:srgbClr val="3B3535"/>
                </a:solidFill>
                <a:latin typeface="Roboto Mono Medium" pitchFamily="34" charset="0"/>
                <a:ea typeface="Roboto Mono Medium" pitchFamily="34" charset="-122"/>
                <a:cs typeface="Roboto Mono Medium" pitchFamily="34" charset="-120"/>
              </a:rPr>
              <a:t>Agentes basados en LLMs</a:t>
            </a:r>
            <a:endParaRPr lang="en-US" sz="1450" dirty="0"/>
          </a:p>
        </p:txBody>
      </p:sp>
      <p:sp>
        <p:nvSpPr>
          <p:cNvPr id="13" name="Text 11"/>
          <p:cNvSpPr/>
          <p:nvPr/>
        </p:nvSpPr>
        <p:spPr>
          <a:xfrm>
            <a:off x="6840069" y="2460228"/>
            <a:ext cx="4690151" cy="226219"/>
          </a:xfrm>
          <a:prstGeom prst="rect">
            <a:avLst/>
          </a:prstGeom>
          <a:noFill/>
          <a:ln/>
        </p:spPr>
        <p:txBody>
          <a:bodyPr wrap="none" lIns="0" tIns="0" rIns="0" bIns="0" rtlCol="0" anchor="t"/>
          <a:lstStyle/>
          <a:p>
            <a:pPr algn="l" indent="0" marL="0">
              <a:lnSpc>
                <a:spcPct val="127000"/>
              </a:lnSpc>
              <a:buNone/>
            </a:pPr>
            <a:r>
              <a:rPr lang="en-US" sz="1150" dirty="0">
                <a:solidFill>
                  <a:srgbClr val="3B3535"/>
                </a:solidFill>
                <a:latin typeface="Roboto" pitchFamily="34" charset="0"/>
                <a:ea typeface="Roboto" pitchFamily="34" charset="-122"/>
                <a:cs typeface="Roboto" pitchFamily="34" charset="-120"/>
              </a:rPr>
              <a:t>Formulación, valor del LLM, arquitectura ReAct y componentes</a:t>
            </a:r>
            <a:endParaRPr lang="en-US" sz="1150" dirty="0"/>
          </a:p>
        </p:txBody>
      </p:sp>
      <p:sp>
        <p:nvSpPr>
          <p:cNvPr id="14" name="Shape 12"/>
          <p:cNvSpPr/>
          <p:nvPr/>
        </p:nvSpPr>
        <p:spPr>
          <a:xfrm>
            <a:off x="5500996" y="3009007"/>
            <a:ext cx="446473" cy="19050"/>
          </a:xfrm>
          <a:prstGeom prst="roundRect">
            <a:avLst>
              <a:gd name="adj" fmla="val 39999"/>
            </a:avLst>
          </a:prstGeom>
          <a:solidFill>
            <a:srgbClr val="D8D4D4"/>
          </a:solidFill>
          <a:ln/>
        </p:spPr>
      </p:sp>
      <p:sp>
        <p:nvSpPr>
          <p:cNvPr id="15" name="Shape 13"/>
          <p:cNvSpPr/>
          <p:nvPr/>
        </p:nvSpPr>
        <p:spPr>
          <a:xfrm>
            <a:off x="5928420" y="2851150"/>
            <a:ext cx="334855" cy="334863"/>
          </a:xfrm>
          <a:prstGeom prst="roundRect">
            <a:avLst>
              <a:gd name="adj" fmla="val 2276"/>
            </a:avLst>
          </a:prstGeom>
          <a:solidFill>
            <a:srgbClr val="F2EEEE"/>
          </a:solidFill>
          <a:ln w="6350">
            <a:solidFill>
              <a:srgbClr val="D8D4D4"/>
            </a:solidFill>
            <a:prstDash val="solid"/>
          </a:ln>
        </p:spPr>
      </p:sp>
      <p:sp>
        <p:nvSpPr>
          <p:cNvPr id="16" name="Text 14"/>
          <p:cNvSpPr/>
          <p:nvPr/>
        </p:nvSpPr>
        <p:spPr>
          <a:xfrm>
            <a:off x="5984180" y="2878981"/>
            <a:ext cx="223237" cy="279102"/>
          </a:xfrm>
          <a:prstGeom prst="rect">
            <a:avLst/>
          </a:prstGeom>
          <a:noFill/>
          <a:ln/>
        </p:spPr>
        <p:txBody>
          <a:bodyPr wrap="none" lIns="0" tIns="0" rIns="0" bIns="0" rtlCol="0" anchor="ctr"/>
          <a:lstStyle/>
          <a:p>
            <a:pPr algn="ctr" indent="0" marL="0">
              <a:lnSpc>
                <a:spcPct val="100000"/>
              </a:lnSpc>
              <a:buNone/>
            </a:pPr>
            <a:r>
              <a:rPr lang="en-US" sz="1750" dirty="0">
                <a:solidFill>
                  <a:srgbClr val="3B3535"/>
                </a:solidFill>
                <a:latin typeface="Roboto Mono Medium" pitchFamily="34" charset="0"/>
                <a:ea typeface="Roboto Mono Medium" pitchFamily="34" charset="-122"/>
                <a:cs typeface="Roboto Mono Medium" pitchFamily="34" charset="-120"/>
              </a:rPr>
              <a:t>3</a:t>
            </a:r>
            <a:endParaRPr lang="en-US" sz="1750" dirty="0"/>
          </a:p>
        </p:txBody>
      </p:sp>
      <p:sp>
        <p:nvSpPr>
          <p:cNvPr id="17" name="Text 15"/>
          <p:cNvSpPr/>
          <p:nvPr/>
        </p:nvSpPr>
        <p:spPr>
          <a:xfrm>
            <a:off x="661475" y="2902248"/>
            <a:ext cx="4690151" cy="232470"/>
          </a:xfrm>
          <a:prstGeom prst="rect">
            <a:avLst/>
          </a:prstGeom>
          <a:noFill/>
          <a:ln/>
        </p:spPr>
        <p:txBody>
          <a:bodyPr wrap="none" lIns="0" tIns="0" rIns="0" bIns="0" rtlCol="0" anchor="t"/>
          <a:lstStyle/>
          <a:p>
            <a:pPr algn="r" indent="0" marL="0">
              <a:lnSpc>
                <a:spcPct val="104000"/>
              </a:lnSpc>
              <a:buNone/>
            </a:pPr>
            <a:r>
              <a:rPr lang="en-US" sz="1450" dirty="0">
                <a:solidFill>
                  <a:srgbClr val="3B3535"/>
                </a:solidFill>
                <a:latin typeface="Roboto Mono Medium" pitchFamily="34" charset="0"/>
                <a:ea typeface="Roboto Mono Medium" pitchFamily="34" charset="-122"/>
                <a:cs typeface="Roboto Mono Medium" pitchFamily="34" charset="-120"/>
              </a:rPr>
              <a:t>Desafíos de Producción</a:t>
            </a:r>
            <a:endParaRPr lang="en-US" sz="1450" dirty="0"/>
          </a:p>
        </p:txBody>
      </p:sp>
      <p:sp>
        <p:nvSpPr>
          <p:cNvPr id="18" name="Text 16"/>
          <p:cNvSpPr/>
          <p:nvPr/>
        </p:nvSpPr>
        <p:spPr>
          <a:xfrm>
            <a:off x="661475" y="3215084"/>
            <a:ext cx="4690151" cy="226219"/>
          </a:xfrm>
          <a:prstGeom prst="rect">
            <a:avLst/>
          </a:prstGeom>
          <a:noFill/>
          <a:ln/>
        </p:spPr>
        <p:txBody>
          <a:bodyPr wrap="none" lIns="0" tIns="0" rIns="0" bIns="0" rtlCol="0" anchor="t"/>
          <a:lstStyle/>
          <a:p>
            <a:pPr algn="r" indent="0" marL="0">
              <a:lnSpc>
                <a:spcPct val="127000"/>
              </a:lnSpc>
              <a:buNone/>
            </a:pPr>
            <a:r>
              <a:rPr lang="en-US" sz="1150" dirty="0">
                <a:solidFill>
                  <a:srgbClr val="3B3535"/>
                </a:solidFill>
                <a:latin typeface="Roboto" pitchFamily="34" charset="0"/>
                <a:ea typeface="Roboto" pitchFamily="34" charset="-122"/>
                <a:cs typeface="Roboto" pitchFamily="34" charset="-120"/>
              </a:rPr>
              <a:t>Brecha prototipo-producción y Model Context Protocol</a:t>
            </a:r>
            <a:endParaRPr lang="en-US" sz="1150" dirty="0"/>
          </a:p>
        </p:txBody>
      </p:sp>
      <p:sp>
        <p:nvSpPr>
          <p:cNvPr id="19" name="Shape 17"/>
          <p:cNvSpPr/>
          <p:nvPr/>
        </p:nvSpPr>
        <p:spPr>
          <a:xfrm>
            <a:off x="6244225" y="3763963"/>
            <a:ext cx="446473" cy="19050"/>
          </a:xfrm>
          <a:prstGeom prst="roundRect">
            <a:avLst>
              <a:gd name="adj" fmla="val 39999"/>
            </a:avLst>
          </a:prstGeom>
          <a:solidFill>
            <a:srgbClr val="D8D4D4"/>
          </a:solidFill>
          <a:ln/>
        </p:spPr>
      </p:sp>
      <p:sp>
        <p:nvSpPr>
          <p:cNvPr id="20" name="Shape 18"/>
          <p:cNvSpPr/>
          <p:nvPr/>
        </p:nvSpPr>
        <p:spPr>
          <a:xfrm>
            <a:off x="5928420" y="3606105"/>
            <a:ext cx="334855" cy="334863"/>
          </a:xfrm>
          <a:prstGeom prst="roundRect">
            <a:avLst>
              <a:gd name="adj" fmla="val 2276"/>
            </a:avLst>
          </a:prstGeom>
          <a:solidFill>
            <a:srgbClr val="F2EEEE"/>
          </a:solidFill>
          <a:ln w="6350">
            <a:solidFill>
              <a:srgbClr val="D8D4D4"/>
            </a:solidFill>
            <a:prstDash val="solid"/>
          </a:ln>
        </p:spPr>
      </p:sp>
      <p:sp>
        <p:nvSpPr>
          <p:cNvPr id="21" name="Text 19"/>
          <p:cNvSpPr/>
          <p:nvPr/>
        </p:nvSpPr>
        <p:spPr>
          <a:xfrm>
            <a:off x="5984180" y="3633936"/>
            <a:ext cx="223237" cy="279102"/>
          </a:xfrm>
          <a:prstGeom prst="rect">
            <a:avLst/>
          </a:prstGeom>
          <a:noFill/>
          <a:ln/>
        </p:spPr>
        <p:txBody>
          <a:bodyPr wrap="none" lIns="0" tIns="0" rIns="0" bIns="0" rtlCol="0" anchor="ctr"/>
          <a:lstStyle/>
          <a:p>
            <a:pPr algn="ctr" indent="0" marL="0">
              <a:lnSpc>
                <a:spcPct val="100000"/>
              </a:lnSpc>
              <a:buNone/>
            </a:pPr>
            <a:r>
              <a:rPr lang="en-US" sz="1750" dirty="0">
                <a:solidFill>
                  <a:srgbClr val="3B3535"/>
                </a:solidFill>
                <a:latin typeface="Roboto Mono Medium" pitchFamily="34" charset="0"/>
                <a:ea typeface="Roboto Mono Medium" pitchFamily="34" charset="-122"/>
                <a:cs typeface="Roboto Mono Medium" pitchFamily="34" charset="-120"/>
              </a:rPr>
              <a:t>4</a:t>
            </a:r>
            <a:endParaRPr lang="en-US" sz="1750" dirty="0"/>
          </a:p>
        </p:txBody>
      </p:sp>
      <p:sp>
        <p:nvSpPr>
          <p:cNvPr id="22" name="Text 20"/>
          <p:cNvSpPr/>
          <p:nvPr/>
        </p:nvSpPr>
        <p:spPr>
          <a:xfrm>
            <a:off x="6840069" y="3657203"/>
            <a:ext cx="4690151" cy="232470"/>
          </a:xfrm>
          <a:prstGeom prst="rect">
            <a:avLst/>
          </a:prstGeom>
          <a:noFill/>
          <a:ln/>
        </p:spPr>
        <p:txBody>
          <a:bodyPr wrap="none" lIns="0" tIns="0" rIns="0" bIns="0" rtlCol="0" anchor="t"/>
          <a:lstStyle/>
          <a:p>
            <a:pPr algn="l" indent="0" marL="0">
              <a:lnSpc>
                <a:spcPct val="104000"/>
              </a:lnSpc>
              <a:buNone/>
            </a:pPr>
            <a:r>
              <a:rPr lang="en-US" sz="1450" dirty="0">
                <a:solidFill>
                  <a:srgbClr val="3B3535"/>
                </a:solidFill>
                <a:latin typeface="Roboto Mono Medium" pitchFamily="34" charset="0"/>
                <a:ea typeface="Roboto Mono Medium" pitchFamily="34" charset="-122"/>
                <a:cs typeface="Roboto Mono Medium" pitchFamily="34" charset="-120"/>
              </a:rPr>
              <a:t>Sistemas Multiagente</a:t>
            </a:r>
            <a:endParaRPr lang="en-US" sz="1450" dirty="0"/>
          </a:p>
        </p:txBody>
      </p:sp>
      <p:sp>
        <p:nvSpPr>
          <p:cNvPr id="23" name="Text 21"/>
          <p:cNvSpPr/>
          <p:nvPr/>
        </p:nvSpPr>
        <p:spPr>
          <a:xfrm>
            <a:off x="6840069" y="3970040"/>
            <a:ext cx="4690151" cy="452438"/>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3B3535"/>
                </a:solidFill>
                <a:latin typeface="Roboto" pitchFamily="34" charset="0"/>
                <a:ea typeface="Roboto" pitchFamily="34" charset="-122"/>
                <a:cs typeface="Roboto" pitchFamily="34" charset="-120"/>
              </a:rPr>
              <a:t>Limitaciones de un agente, arquitecturas multiagente y el espectro workflows-agentes</a:t>
            </a:r>
            <a:endParaRPr lang="en-US" sz="1150" dirty="0"/>
          </a:p>
        </p:txBody>
      </p:sp>
      <p:sp>
        <p:nvSpPr>
          <p:cNvPr id="24" name="Shape 22"/>
          <p:cNvSpPr/>
          <p:nvPr/>
        </p:nvSpPr>
        <p:spPr>
          <a:xfrm>
            <a:off x="5500996" y="4518918"/>
            <a:ext cx="446473" cy="19050"/>
          </a:xfrm>
          <a:prstGeom prst="roundRect">
            <a:avLst>
              <a:gd name="adj" fmla="val 39999"/>
            </a:avLst>
          </a:prstGeom>
          <a:solidFill>
            <a:srgbClr val="D8D4D4"/>
          </a:solidFill>
          <a:ln/>
        </p:spPr>
      </p:sp>
      <p:sp>
        <p:nvSpPr>
          <p:cNvPr id="25" name="Shape 23"/>
          <p:cNvSpPr/>
          <p:nvPr/>
        </p:nvSpPr>
        <p:spPr>
          <a:xfrm>
            <a:off x="5928420" y="4361061"/>
            <a:ext cx="334855" cy="334863"/>
          </a:xfrm>
          <a:prstGeom prst="roundRect">
            <a:avLst>
              <a:gd name="adj" fmla="val 2276"/>
            </a:avLst>
          </a:prstGeom>
          <a:solidFill>
            <a:srgbClr val="F2EEEE"/>
          </a:solidFill>
          <a:ln w="6350">
            <a:solidFill>
              <a:srgbClr val="D8D4D4"/>
            </a:solidFill>
            <a:prstDash val="solid"/>
          </a:ln>
        </p:spPr>
      </p:sp>
      <p:sp>
        <p:nvSpPr>
          <p:cNvPr id="26" name="Text 24"/>
          <p:cNvSpPr/>
          <p:nvPr/>
        </p:nvSpPr>
        <p:spPr>
          <a:xfrm>
            <a:off x="5984180" y="4388892"/>
            <a:ext cx="223237" cy="279102"/>
          </a:xfrm>
          <a:prstGeom prst="rect">
            <a:avLst/>
          </a:prstGeom>
          <a:noFill/>
          <a:ln/>
        </p:spPr>
        <p:txBody>
          <a:bodyPr wrap="none" lIns="0" tIns="0" rIns="0" bIns="0" rtlCol="0" anchor="ctr"/>
          <a:lstStyle/>
          <a:p>
            <a:pPr algn="ctr" indent="0" marL="0">
              <a:lnSpc>
                <a:spcPct val="100000"/>
              </a:lnSpc>
              <a:buNone/>
            </a:pPr>
            <a:r>
              <a:rPr lang="en-US" sz="1750" dirty="0">
                <a:solidFill>
                  <a:srgbClr val="3B3535"/>
                </a:solidFill>
                <a:latin typeface="Roboto Mono Medium" pitchFamily="34" charset="0"/>
                <a:ea typeface="Roboto Mono Medium" pitchFamily="34" charset="-122"/>
                <a:cs typeface="Roboto Mono Medium" pitchFamily="34" charset="-120"/>
              </a:rPr>
              <a:t>5</a:t>
            </a:r>
            <a:endParaRPr lang="en-US" sz="1750" dirty="0"/>
          </a:p>
        </p:txBody>
      </p:sp>
      <p:sp>
        <p:nvSpPr>
          <p:cNvPr id="27" name="Text 25"/>
          <p:cNvSpPr/>
          <p:nvPr/>
        </p:nvSpPr>
        <p:spPr>
          <a:xfrm>
            <a:off x="661475" y="4412159"/>
            <a:ext cx="4690151" cy="232470"/>
          </a:xfrm>
          <a:prstGeom prst="rect">
            <a:avLst/>
          </a:prstGeom>
          <a:noFill/>
          <a:ln/>
        </p:spPr>
        <p:txBody>
          <a:bodyPr wrap="none" lIns="0" tIns="0" rIns="0" bIns="0" rtlCol="0" anchor="t"/>
          <a:lstStyle/>
          <a:p>
            <a:pPr algn="r" indent="0" marL="0">
              <a:lnSpc>
                <a:spcPct val="104000"/>
              </a:lnSpc>
              <a:buNone/>
            </a:pPr>
            <a:r>
              <a:rPr lang="en-US" sz="1450" dirty="0">
                <a:solidFill>
                  <a:srgbClr val="3B3535"/>
                </a:solidFill>
                <a:latin typeface="Roboto Mono Medium" pitchFamily="34" charset="0"/>
                <a:ea typeface="Roboto Mono Medium" pitchFamily="34" charset="-122"/>
                <a:cs typeface="Roboto Mono Medium" pitchFamily="34" charset="-120"/>
              </a:rPr>
              <a:t>Memoria de Agentes</a:t>
            </a:r>
            <a:endParaRPr lang="en-US" sz="1450" dirty="0"/>
          </a:p>
        </p:txBody>
      </p:sp>
      <p:sp>
        <p:nvSpPr>
          <p:cNvPr id="28" name="Text 26"/>
          <p:cNvSpPr/>
          <p:nvPr/>
        </p:nvSpPr>
        <p:spPr>
          <a:xfrm>
            <a:off x="661475" y="4724995"/>
            <a:ext cx="4690151" cy="226219"/>
          </a:xfrm>
          <a:prstGeom prst="rect">
            <a:avLst/>
          </a:prstGeom>
          <a:noFill/>
          <a:ln/>
        </p:spPr>
        <p:txBody>
          <a:bodyPr wrap="none" lIns="0" tIns="0" rIns="0" bIns="0" rtlCol="0" anchor="t"/>
          <a:lstStyle/>
          <a:p>
            <a:pPr algn="r" indent="0" marL="0">
              <a:lnSpc>
                <a:spcPct val="127000"/>
              </a:lnSpc>
              <a:buNone/>
            </a:pPr>
            <a:r>
              <a:rPr lang="en-US" sz="1150" dirty="0">
                <a:solidFill>
                  <a:srgbClr val="3B3535"/>
                </a:solidFill>
                <a:latin typeface="Roboto" pitchFamily="34" charset="0"/>
                <a:ea typeface="Roboto" pitchFamily="34" charset="-122"/>
                <a:cs typeface="Roboto" pitchFamily="34" charset="-120"/>
              </a:rPr>
              <a:t>Arquitectura de dos niveles, patrones de integración y soluciones</a:t>
            </a:r>
            <a:endParaRPr lang="en-US" sz="1150" dirty="0"/>
          </a:p>
        </p:txBody>
      </p:sp>
      <p:sp>
        <p:nvSpPr>
          <p:cNvPr id="29" name="Shape 27"/>
          <p:cNvSpPr/>
          <p:nvPr/>
        </p:nvSpPr>
        <p:spPr>
          <a:xfrm>
            <a:off x="6244225" y="5273873"/>
            <a:ext cx="446473" cy="19050"/>
          </a:xfrm>
          <a:prstGeom prst="roundRect">
            <a:avLst>
              <a:gd name="adj" fmla="val 39999"/>
            </a:avLst>
          </a:prstGeom>
          <a:solidFill>
            <a:srgbClr val="D8D4D4"/>
          </a:solidFill>
          <a:ln/>
        </p:spPr>
      </p:sp>
      <p:sp>
        <p:nvSpPr>
          <p:cNvPr id="30" name="Shape 28"/>
          <p:cNvSpPr/>
          <p:nvPr/>
        </p:nvSpPr>
        <p:spPr>
          <a:xfrm>
            <a:off x="5928420" y="5116016"/>
            <a:ext cx="334855" cy="334863"/>
          </a:xfrm>
          <a:prstGeom prst="roundRect">
            <a:avLst>
              <a:gd name="adj" fmla="val 2276"/>
            </a:avLst>
          </a:prstGeom>
          <a:solidFill>
            <a:srgbClr val="F2EEEE"/>
          </a:solidFill>
          <a:ln w="6350">
            <a:solidFill>
              <a:srgbClr val="D8D4D4"/>
            </a:solidFill>
            <a:prstDash val="solid"/>
          </a:ln>
        </p:spPr>
      </p:sp>
      <p:sp>
        <p:nvSpPr>
          <p:cNvPr id="31" name="Text 29"/>
          <p:cNvSpPr/>
          <p:nvPr/>
        </p:nvSpPr>
        <p:spPr>
          <a:xfrm>
            <a:off x="5984180" y="5143847"/>
            <a:ext cx="223237" cy="279102"/>
          </a:xfrm>
          <a:prstGeom prst="rect">
            <a:avLst/>
          </a:prstGeom>
          <a:noFill/>
          <a:ln/>
        </p:spPr>
        <p:txBody>
          <a:bodyPr wrap="none" lIns="0" tIns="0" rIns="0" bIns="0" rtlCol="0" anchor="ctr"/>
          <a:lstStyle/>
          <a:p>
            <a:pPr algn="ctr" indent="0" marL="0">
              <a:lnSpc>
                <a:spcPct val="100000"/>
              </a:lnSpc>
              <a:buNone/>
            </a:pPr>
            <a:r>
              <a:rPr lang="en-US" sz="1750" dirty="0">
                <a:solidFill>
                  <a:srgbClr val="3B3535"/>
                </a:solidFill>
                <a:latin typeface="Roboto Mono Medium" pitchFamily="34" charset="0"/>
                <a:ea typeface="Roboto Mono Medium" pitchFamily="34" charset="-122"/>
                <a:cs typeface="Roboto Mono Medium" pitchFamily="34" charset="-120"/>
              </a:rPr>
              <a:t>6</a:t>
            </a:r>
            <a:endParaRPr lang="en-US" sz="1750" dirty="0"/>
          </a:p>
        </p:txBody>
      </p:sp>
      <p:sp>
        <p:nvSpPr>
          <p:cNvPr id="32" name="Text 30"/>
          <p:cNvSpPr/>
          <p:nvPr/>
        </p:nvSpPr>
        <p:spPr>
          <a:xfrm>
            <a:off x="6840069" y="5167114"/>
            <a:ext cx="4690151" cy="232470"/>
          </a:xfrm>
          <a:prstGeom prst="rect">
            <a:avLst/>
          </a:prstGeom>
          <a:noFill/>
          <a:ln/>
        </p:spPr>
        <p:txBody>
          <a:bodyPr wrap="none" lIns="0" tIns="0" rIns="0" bIns="0" rtlCol="0" anchor="t"/>
          <a:lstStyle/>
          <a:p>
            <a:pPr algn="l" indent="0" marL="0">
              <a:lnSpc>
                <a:spcPct val="104000"/>
              </a:lnSpc>
              <a:buNone/>
            </a:pPr>
            <a:r>
              <a:rPr lang="en-US" sz="1450" dirty="0">
                <a:solidFill>
                  <a:srgbClr val="3B3535"/>
                </a:solidFill>
                <a:latin typeface="Roboto Mono Medium" pitchFamily="34" charset="0"/>
                <a:ea typeface="Roboto Mono Medium" pitchFamily="34" charset="-122"/>
                <a:cs typeface="Roboto Mono Medium" pitchFamily="34" charset="-120"/>
              </a:rPr>
              <a:t>Objetivos y Práctica</a:t>
            </a:r>
            <a:endParaRPr lang="en-US" sz="1450" dirty="0"/>
          </a:p>
        </p:txBody>
      </p:sp>
      <p:sp>
        <p:nvSpPr>
          <p:cNvPr id="33" name="Text 31"/>
          <p:cNvSpPr/>
          <p:nvPr/>
        </p:nvSpPr>
        <p:spPr>
          <a:xfrm>
            <a:off x="6840069" y="5479951"/>
            <a:ext cx="4690151" cy="226219"/>
          </a:xfrm>
          <a:prstGeom prst="rect">
            <a:avLst/>
          </a:prstGeom>
          <a:noFill/>
          <a:ln/>
        </p:spPr>
        <p:txBody>
          <a:bodyPr wrap="none" lIns="0" tIns="0" rIns="0" bIns="0" rtlCol="0" anchor="t"/>
          <a:lstStyle/>
          <a:p>
            <a:pPr algn="l" indent="0" marL="0">
              <a:lnSpc>
                <a:spcPct val="127000"/>
              </a:lnSpc>
              <a:buNone/>
            </a:pPr>
            <a:r>
              <a:rPr lang="en-US" sz="1150" dirty="0">
                <a:solidFill>
                  <a:srgbClr val="3B3535"/>
                </a:solidFill>
                <a:latin typeface="Roboto" pitchFamily="34" charset="0"/>
                <a:ea typeface="Roboto" pitchFamily="34" charset="-122"/>
                <a:cs typeface="Roboto" pitchFamily="34" charset="-120"/>
              </a:rPr>
              <a:t>Objetivos de aprendizaje, proyectos prácticos y ejercicio final</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661475" y="672405"/>
            <a:ext cx="1481398" cy="247352"/>
          </a:xfrm>
          <a:prstGeom prst="roundRect">
            <a:avLst>
              <a:gd name="adj" fmla="val 3081"/>
            </a:avLst>
          </a:prstGeom>
          <a:solidFill>
            <a:srgbClr val="F9D2D6"/>
          </a:solidFill>
          <a:ln/>
        </p:spPr>
      </p:sp>
      <p:sp>
        <p:nvSpPr>
          <p:cNvPr id="3" name="Text 1"/>
          <p:cNvSpPr/>
          <p:nvPr/>
        </p:nvSpPr>
        <p:spPr>
          <a:xfrm>
            <a:off x="759104" y="721221"/>
            <a:ext cx="1895725" cy="149721"/>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¿QUÉ ES UN AGENTE?</a:t>
            </a:r>
            <a:endParaRPr lang="en-US" sz="1000" dirty="0"/>
          </a:p>
        </p:txBody>
      </p:sp>
      <p:sp>
        <p:nvSpPr>
          <p:cNvPr id="4" name="Text 2"/>
          <p:cNvSpPr/>
          <p:nvPr/>
        </p:nvSpPr>
        <p:spPr>
          <a:xfrm>
            <a:off x="661475" y="983853"/>
            <a:ext cx="4672491" cy="508695"/>
          </a:xfrm>
          <a:prstGeom prst="rect">
            <a:avLst/>
          </a:prstGeom>
          <a:noFill/>
          <a:ln/>
        </p:spPr>
        <p:txBody>
          <a:bodyPr wrap="none" lIns="0" tIns="0" rIns="0" bIns="0" rtlCol="0" anchor="t"/>
          <a:lstStyle/>
          <a:p>
            <a:pPr algn="l" indent="0" marL="0">
              <a:lnSpc>
                <a:spcPct val="104000"/>
              </a:lnSpc>
              <a:buNone/>
            </a:pPr>
            <a:r>
              <a:rPr lang="en-US" sz="3200" dirty="0">
                <a:solidFill>
                  <a:srgbClr val="1F1E1E"/>
                </a:solidFill>
                <a:latin typeface="Roboto Mono Medium" pitchFamily="34" charset="0"/>
                <a:ea typeface="Roboto Mono Medium" pitchFamily="34" charset="-122"/>
                <a:cs typeface="Roboto Mono Medium" pitchFamily="34" charset="-120"/>
              </a:rPr>
              <a:t>¿Qué es un </a:t>
            </a:r>
            <a:pPr algn="l" indent="0" marL="0">
              <a:lnSpc>
                <a:spcPct val="104000"/>
              </a:lnSpc>
              <a:buNone/>
            </a:pPr>
            <a:r>
              <a:rPr lang="en-US" sz="3200" dirty="0">
                <a:solidFill>
                  <a:srgbClr val="DA1B2E"/>
                </a:solidFill>
                <a:latin typeface="Roboto Mono Medium" pitchFamily="34" charset="0"/>
                <a:ea typeface="Roboto Mono Medium" pitchFamily="34" charset="-122"/>
                <a:cs typeface="Roboto Mono Medium" pitchFamily="34" charset="-120"/>
              </a:rPr>
              <a:t>Agente</a:t>
            </a:r>
            <a:pPr algn="l" indent="0" marL="0">
              <a:lnSpc>
                <a:spcPct val="104000"/>
              </a:lnSpc>
              <a:buNone/>
            </a:pPr>
            <a:r>
              <a:rPr lang="en-US" sz="3200" dirty="0">
                <a:solidFill>
                  <a:srgbClr val="1F1E1E"/>
                </a:solidFill>
                <a:latin typeface="Roboto Mono Medium" pitchFamily="34" charset="0"/>
                <a:ea typeface="Roboto Mono Medium" pitchFamily="34" charset="-122"/>
                <a:cs typeface="Roboto Mono Medium" pitchFamily="34" charset="-120"/>
              </a:rPr>
              <a:t>?</a:t>
            </a:r>
            <a:endParaRPr lang="en-US" sz="3200" dirty="0"/>
          </a:p>
        </p:txBody>
      </p:sp>
      <p:sp>
        <p:nvSpPr>
          <p:cNvPr id="5" name="Text 3"/>
          <p:cNvSpPr/>
          <p:nvPr/>
        </p:nvSpPr>
        <p:spPr>
          <a:xfrm>
            <a:off x="661475" y="1652786"/>
            <a:ext cx="4672491" cy="516930"/>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3B3535"/>
                </a:solidFill>
                <a:latin typeface="Roboto" pitchFamily="34" charset="0"/>
                <a:ea typeface="Roboto" pitchFamily="34" charset="-122"/>
                <a:cs typeface="Roboto" pitchFamily="34" charset="-120"/>
              </a:rPr>
              <a:t>Antes de hablar de agentes basados en LLMs, necesitamos entender la definición formal y rigurosa del concepto.</a:t>
            </a:r>
            <a:endParaRPr lang="en-US" sz="1250" dirty="0"/>
          </a:p>
        </p:txBody>
      </p:sp>
      <p:sp>
        <p:nvSpPr>
          <p:cNvPr id="6" name="Shape 4"/>
          <p:cNvSpPr/>
          <p:nvPr/>
        </p:nvSpPr>
        <p:spPr>
          <a:xfrm>
            <a:off x="661475" y="2349996"/>
            <a:ext cx="4672491" cy="1145084"/>
          </a:xfrm>
          <a:prstGeom prst="roundRect">
            <a:avLst>
              <a:gd name="adj" fmla="val 665"/>
            </a:avLst>
          </a:prstGeom>
          <a:solidFill>
            <a:srgbClr val="F9D2D6"/>
          </a:solidFill>
          <a:ln/>
        </p:spPr>
      </p:sp>
      <p:pic>
        <p:nvPicPr>
          <p:cNvPr id="7" name="Image 0" descr="preencoded.png">    </p:cNvPr>
          <p:cNvPicPr>
            <a:picLocks noChangeAspect="1"/>
          </p:cNvPicPr>
          <p:nvPr/>
        </p:nvPicPr>
        <p:blipFill>
          <a:blip r:embed="rId1"/>
          <a:stretch>
            <a:fillRect/>
          </a:stretch>
        </p:blipFill>
        <p:spPr>
          <a:xfrm>
            <a:off x="824190" y="2592685"/>
            <a:ext cx="203493" cy="162719"/>
          </a:xfrm>
          <a:prstGeom prst="rect">
            <a:avLst/>
          </a:prstGeom>
        </p:spPr>
      </p:pic>
      <p:sp>
        <p:nvSpPr>
          <p:cNvPr id="8" name="Text 5"/>
          <p:cNvSpPr/>
          <p:nvPr/>
        </p:nvSpPr>
        <p:spPr>
          <a:xfrm>
            <a:off x="1190397" y="2534841"/>
            <a:ext cx="3980854" cy="775395"/>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000000"/>
                </a:solidFill>
                <a:latin typeface="Roboto" pitchFamily="34" charset="0"/>
                <a:ea typeface="Roboto" pitchFamily="34" charset="-122"/>
                <a:cs typeface="Roboto" pitchFamily="34" charset="-120"/>
              </a:rPr>
              <a:t>En IA clásica, un agente es cualquier entidad que percibe su entorno mediante sensores y actúa sobre él mediante actuadores. — Russell &amp; Norvig</a:t>
            </a:r>
            <a:endParaRPr lang="en-US" sz="1250" dirty="0"/>
          </a:p>
        </p:txBody>
      </p:sp>
      <p:sp>
        <p:nvSpPr>
          <p:cNvPr id="9" name="Text 6"/>
          <p:cNvSpPr/>
          <p:nvPr/>
        </p:nvSpPr>
        <p:spPr>
          <a:xfrm>
            <a:off x="5737379" y="652363"/>
            <a:ext cx="5799092" cy="813991"/>
          </a:xfrm>
          <a:prstGeom prst="rect">
            <a:avLst/>
          </a:prstGeom>
          <a:noFill/>
          <a:ln/>
        </p:spPr>
        <p:txBody>
          <a:bodyPr wrap="square" lIns="0" tIns="0" rIns="0" bIns="0" rtlCol="0" anchor="t">
            <a:normAutofit/>
          </a:bodyPr>
          <a:lstStyle/>
          <a:p>
            <a:pPr algn="l" indent="0" marL="0">
              <a:lnSpc>
                <a:spcPct val="104000"/>
              </a:lnSpc>
              <a:buNone/>
            </a:pPr>
            <a:r>
              <a:rPr lang="en-US" sz="2550" dirty="0">
                <a:solidFill>
                  <a:srgbClr val="1F1E1E"/>
                </a:solidFill>
                <a:latin typeface="Roboto Mono Medium" pitchFamily="34" charset="0"/>
                <a:ea typeface="Roboto Mono Medium" pitchFamily="34" charset="-122"/>
                <a:cs typeface="Roboto Mono Medium" pitchFamily="34" charset="-120"/>
              </a:rPr>
              <a:t>Agentes – Una palabra mal utilizada</a:t>
            </a:r>
            <a:endParaRPr lang="en-US" sz="2550" dirty="0"/>
          </a:p>
        </p:txBody>
      </p:sp>
      <p:sp>
        <p:nvSpPr>
          <p:cNvPr id="10" name="Text 7"/>
          <p:cNvSpPr/>
          <p:nvPr/>
        </p:nvSpPr>
        <p:spPr>
          <a:xfrm>
            <a:off x="5737379" y="1626592"/>
            <a:ext cx="5799092" cy="775395"/>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3B3535"/>
                </a:solidFill>
                <a:latin typeface="Roboto" pitchFamily="34" charset="0"/>
                <a:ea typeface="Roboto" pitchFamily="34" charset="-122"/>
                <a:cs typeface="Roboto" pitchFamily="34" charset="-120"/>
              </a:rPr>
              <a:t>En el uso cotidiano, la palabra "agente" se aplica con demasiada frecuencia a sistemas basados en LLMs, pero esa simplificación suele ocultar distinciones importantes.</a:t>
            </a:r>
            <a:endParaRPr lang="en-US" sz="1250" dirty="0"/>
          </a:p>
        </p:txBody>
      </p:sp>
      <p:pic>
        <p:nvPicPr>
          <p:cNvPr id="11"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737379" y="2582267"/>
            <a:ext cx="325529" cy="325537"/>
          </a:xfrm>
          <a:prstGeom prst="rect">
            <a:avLst/>
          </a:prstGeom>
        </p:spPr>
      </p:pic>
      <p:sp>
        <p:nvSpPr>
          <p:cNvPr id="12" name="Text 8"/>
          <p:cNvSpPr/>
          <p:nvPr/>
        </p:nvSpPr>
        <p:spPr>
          <a:xfrm>
            <a:off x="6263225" y="2638227"/>
            <a:ext cx="5273245" cy="254298"/>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¿Qué se suele llamar agente?</a:t>
            </a:r>
            <a:endParaRPr lang="en-US" sz="1600" dirty="0"/>
          </a:p>
        </p:txBody>
      </p:sp>
      <p:sp>
        <p:nvSpPr>
          <p:cNvPr id="13" name="Text 9"/>
          <p:cNvSpPr/>
          <p:nvPr/>
        </p:nvSpPr>
        <p:spPr>
          <a:xfrm>
            <a:off x="6263225" y="3052763"/>
            <a:ext cx="5273245" cy="516930"/>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3B3535"/>
                </a:solidFill>
                <a:latin typeface="Roboto" pitchFamily="34" charset="0"/>
                <a:ea typeface="Roboto" pitchFamily="34" charset="-122"/>
                <a:cs typeface="Roboto" pitchFamily="34" charset="-120"/>
              </a:rPr>
              <a:t>En el uso popular, se denomina "agente" simplemente a un LLM o a cualquier sistema basado en LLM, sin más distinción.</a:t>
            </a:r>
            <a:endParaRPr lang="en-US" sz="1250" dirty="0"/>
          </a:p>
        </p:txBody>
      </p:sp>
      <p:pic>
        <p:nvPicPr>
          <p:cNvPr id="14"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737379" y="3890169"/>
            <a:ext cx="325529" cy="325537"/>
          </a:xfrm>
          <a:prstGeom prst="rect">
            <a:avLst/>
          </a:prstGeom>
        </p:spPr>
      </p:pic>
      <p:sp>
        <p:nvSpPr>
          <p:cNvPr id="15" name="Text 10"/>
          <p:cNvSpPr/>
          <p:nvPr/>
        </p:nvSpPr>
        <p:spPr>
          <a:xfrm>
            <a:off x="6263225" y="3946128"/>
            <a:ext cx="5273245" cy="254298"/>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¿Por qué esto es incorrecto?</a:t>
            </a:r>
            <a:endParaRPr lang="en-US" sz="1600" dirty="0"/>
          </a:p>
        </p:txBody>
      </p:sp>
      <p:sp>
        <p:nvSpPr>
          <p:cNvPr id="16" name="Text 11"/>
          <p:cNvSpPr/>
          <p:nvPr/>
        </p:nvSpPr>
        <p:spPr>
          <a:xfrm>
            <a:off x="6263225" y="4360664"/>
            <a:ext cx="5273245" cy="516930"/>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3B3535"/>
                </a:solidFill>
                <a:latin typeface="Roboto" pitchFamily="34" charset="0"/>
                <a:ea typeface="Roboto" pitchFamily="34" charset="-122"/>
                <a:cs typeface="Roboto" pitchFamily="34" charset="-120"/>
              </a:rPr>
              <a:t>Un LLM no es un agente por sí solo. Además, existen muchos tipos de agentes que no involucran en absoluto modelos de lenguaje.</a:t>
            </a:r>
            <a:endParaRPr lang="en-US" sz="1250" dirty="0"/>
          </a:p>
        </p:txBody>
      </p:sp>
      <p:pic>
        <p:nvPicPr>
          <p:cNvPr id="17"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737379" y="5198070"/>
            <a:ext cx="325529" cy="325537"/>
          </a:xfrm>
          <a:prstGeom prst="rect">
            <a:avLst/>
          </a:prstGeom>
        </p:spPr>
      </p:pic>
      <p:sp>
        <p:nvSpPr>
          <p:cNvPr id="18" name="Text 12"/>
          <p:cNvSpPr/>
          <p:nvPr/>
        </p:nvSpPr>
        <p:spPr>
          <a:xfrm>
            <a:off x="6263225" y="5254030"/>
            <a:ext cx="5273245" cy="254298"/>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¿Cuál es el camino correcto?</a:t>
            </a:r>
            <a:endParaRPr lang="en-US" sz="1600" dirty="0"/>
          </a:p>
        </p:txBody>
      </p:sp>
      <p:sp>
        <p:nvSpPr>
          <p:cNvPr id="19" name="Text 13"/>
          <p:cNvSpPr/>
          <p:nvPr/>
        </p:nvSpPr>
        <p:spPr>
          <a:xfrm>
            <a:off x="6263225" y="5668566"/>
            <a:ext cx="5273245" cy="516930"/>
          </a:xfrm>
          <a:prstGeom prst="rect">
            <a:avLst/>
          </a:prstGeom>
          <a:noFill/>
          <a:ln/>
        </p:spPr>
        <p:txBody>
          <a:bodyPr wrap="square" lIns="0" tIns="0" rIns="0" bIns="0" rtlCol="0" anchor="t">
            <a:normAutofit/>
          </a:bodyPr>
          <a:lstStyle/>
          <a:p>
            <a:pPr algn="l" indent="0" marL="0">
              <a:lnSpc>
                <a:spcPct val="132000"/>
              </a:lnSpc>
              <a:buNone/>
            </a:pPr>
            <a:r>
              <a:rPr lang="en-US" sz="1250" dirty="0">
                <a:solidFill>
                  <a:srgbClr val="3B3535"/>
                </a:solidFill>
                <a:latin typeface="Roboto" pitchFamily="34" charset="0"/>
                <a:ea typeface="Roboto" pitchFamily="34" charset="-122"/>
                <a:cs typeface="Roboto" pitchFamily="34" charset="-120"/>
              </a:rPr>
              <a:t>Entender la definición formal de agente antes de hablar de agentes basados en LLMs es indispensable para razonar con rigor.</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661475" y="1478062"/>
            <a:ext cx="1505111" cy="251420"/>
          </a:xfrm>
          <a:prstGeom prst="roundRect">
            <a:avLst>
              <a:gd name="adj" fmla="val 3031"/>
            </a:avLst>
          </a:prstGeom>
          <a:solidFill>
            <a:srgbClr val="F9D2D6"/>
          </a:solidFill>
          <a:ln/>
        </p:spPr>
      </p:sp>
      <p:sp>
        <p:nvSpPr>
          <p:cNvPr id="3" name="Text 1"/>
          <p:cNvSpPr/>
          <p:nvPr/>
        </p:nvSpPr>
        <p:spPr>
          <a:xfrm>
            <a:off x="760691" y="1527671"/>
            <a:ext cx="1916263"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¿QUÉ ES UN AGENTE?</a:t>
            </a:r>
            <a:endParaRPr lang="en-US" sz="1000" dirty="0"/>
          </a:p>
        </p:txBody>
      </p:sp>
      <p:sp>
        <p:nvSpPr>
          <p:cNvPr id="4" name="Text 2"/>
          <p:cNvSpPr/>
          <p:nvPr/>
        </p:nvSpPr>
        <p:spPr>
          <a:xfrm>
            <a:off x="909516" y="2163564"/>
            <a:ext cx="10620705" cy="2066925"/>
          </a:xfrm>
          <a:prstGeom prst="rect">
            <a:avLst/>
          </a:prstGeom>
          <a:noFill/>
          <a:ln/>
        </p:spPr>
        <p:txBody>
          <a:bodyPr wrap="square" lIns="0" tIns="0" rIns="0" bIns="0" rtlCol="0" anchor="t">
            <a:normAutofit/>
          </a:bodyPr>
          <a:lstStyle/>
          <a:p>
            <a:pPr algn="l" indent="0" marL="0">
              <a:lnSpc>
                <a:spcPct val="104000"/>
              </a:lnSpc>
              <a:buNone/>
            </a:pPr>
            <a:r>
              <a:rPr lang="en-US" sz="3250" i="1" dirty="0">
                <a:solidFill>
                  <a:srgbClr val="1F1E1E"/>
                </a:solidFill>
                <a:latin typeface="Roboto Mono Medium" pitchFamily="34" charset="0"/>
                <a:ea typeface="Roboto Mono Medium" pitchFamily="34" charset="-122"/>
                <a:cs typeface="Roboto Mono Medium" pitchFamily="34" charset="-120"/>
              </a:rPr>
              <a:t>"An agent is anything that can be viewed as perceiving its environment through sensors and acting upon that environment through actuators..."</a:t>
            </a:r>
            <a:endParaRPr lang="en-US" sz="3250" dirty="0"/>
          </a:p>
        </p:txBody>
      </p:sp>
      <p:sp>
        <p:nvSpPr>
          <p:cNvPr id="5" name="Text 3"/>
          <p:cNvSpPr/>
          <p:nvPr/>
        </p:nvSpPr>
        <p:spPr>
          <a:xfrm>
            <a:off x="909516" y="4478536"/>
            <a:ext cx="11230289" cy="264616"/>
          </a:xfrm>
          <a:prstGeom prst="rect">
            <a:avLst/>
          </a:prstGeom>
          <a:noFill/>
          <a:ln/>
        </p:spPr>
        <p:txBody>
          <a:bodyPr wrap="none" lIns="0" tIns="0" rIns="0" bIns="0" rtlCol="0" anchor="t"/>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 </a:t>
            </a:r>
            <a:pPr algn="l" indent="0" marL="0">
              <a:lnSpc>
                <a:spcPct val="133000"/>
              </a:lnSpc>
              <a:buNone/>
            </a:pPr>
            <a:r>
              <a:rPr lang="en-US" sz="1300" b="1" dirty="0">
                <a:solidFill>
                  <a:srgbClr val="3B3535"/>
                </a:solidFill>
                <a:latin typeface="Roboto Bold" pitchFamily="34" charset="0"/>
                <a:ea typeface="Roboto Bold" pitchFamily="34" charset="-122"/>
                <a:cs typeface="Roboto Bold" pitchFamily="34" charset="-120"/>
              </a:rPr>
              <a:t>Russell &amp; Norvig</a:t>
            </a:r>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 </a:t>
            </a:r>
            <a:pPr algn="l" indent="0" marL="0">
              <a:lnSpc>
                <a:spcPct val="133000"/>
              </a:lnSpc>
              <a:buNone/>
            </a:pPr>
            <a:r>
              <a:rPr lang="en-US" sz="1300" i="1" dirty="0">
                <a:solidFill>
                  <a:srgbClr val="3B3535"/>
                </a:solidFill>
                <a:latin typeface="Roboto" pitchFamily="34" charset="0"/>
                <a:ea typeface="Roboto" pitchFamily="34" charset="-122"/>
                <a:cs typeface="Roboto" pitchFamily="34" charset="-120"/>
              </a:rPr>
              <a:t>Artificial Intelligence: A Modern Approach</a:t>
            </a:r>
            <a:endParaRPr lang="en-US" sz="1300" dirty="0"/>
          </a:p>
        </p:txBody>
      </p:sp>
      <p:sp>
        <p:nvSpPr>
          <p:cNvPr id="6" name="Shape 4"/>
          <p:cNvSpPr/>
          <p:nvPr/>
        </p:nvSpPr>
        <p:spPr>
          <a:xfrm>
            <a:off x="661475" y="1915517"/>
            <a:ext cx="19050" cy="3013670"/>
          </a:xfrm>
          <a:prstGeom prst="roundRect">
            <a:avLst>
              <a:gd name="adj" fmla="val 49999"/>
            </a:avLst>
          </a:prstGeom>
          <a:solidFill>
            <a:srgbClr val="DA1B2E"/>
          </a:solidFill>
          <a:ln/>
        </p:spPr>
      </p:sp>
      <p:sp>
        <p:nvSpPr>
          <p:cNvPr id="7" name="Text 5"/>
          <p:cNvSpPr/>
          <p:nvPr/>
        </p:nvSpPr>
        <p:spPr>
          <a:xfrm>
            <a:off x="661475" y="5115223"/>
            <a:ext cx="11478330" cy="264616"/>
          </a:xfrm>
          <a:prstGeom prst="rect">
            <a:avLst/>
          </a:prstGeom>
          <a:noFill/>
          <a:ln/>
        </p:spPr>
        <p:txBody>
          <a:bodyPr wrap="none" lIns="0" tIns="0" rIns="0" bIns="0" rtlCol="0" anchor="t"/>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Esta es la definición canónica y punto de partida de toda la teoría de agentes inteligentes en IA clásica.</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661475" y="1926034"/>
            <a:ext cx="1505111" cy="251420"/>
          </a:xfrm>
          <a:prstGeom prst="roundRect">
            <a:avLst>
              <a:gd name="adj" fmla="val 3031"/>
            </a:avLst>
          </a:prstGeom>
          <a:solidFill>
            <a:srgbClr val="F9D2D6"/>
          </a:solidFill>
          <a:ln/>
        </p:spPr>
      </p:sp>
      <p:sp>
        <p:nvSpPr>
          <p:cNvPr id="3" name="Text 1"/>
          <p:cNvSpPr/>
          <p:nvPr/>
        </p:nvSpPr>
        <p:spPr>
          <a:xfrm>
            <a:off x="760691" y="1975644"/>
            <a:ext cx="1916263"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¿QUÉ ES UN AGENTE?</a:t>
            </a:r>
            <a:endParaRPr lang="en-US" sz="1000" dirty="0"/>
          </a:p>
        </p:txBody>
      </p:sp>
      <p:sp>
        <p:nvSpPr>
          <p:cNvPr id="4" name="Text 2"/>
          <p:cNvSpPr/>
          <p:nvPr/>
        </p:nvSpPr>
        <p:spPr>
          <a:xfrm>
            <a:off x="661475" y="2243534"/>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Comentarios sobre la definición</a:t>
            </a:r>
            <a:endParaRPr lang="en-US" sz="3250" dirty="0"/>
          </a:p>
        </p:txBody>
      </p:sp>
      <p:sp>
        <p:nvSpPr>
          <p:cNvPr id="5" name="Text 3"/>
          <p:cNvSpPr/>
          <p:nvPr/>
        </p:nvSpPr>
        <p:spPr>
          <a:xfrm>
            <a:off x="661475" y="3008313"/>
            <a:ext cx="11478330" cy="264616"/>
          </a:xfrm>
          <a:prstGeom prst="rect">
            <a:avLst/>
          </a:prstGeom>
          <a:noFill/>
          <a:ln/>
        </p:spPr>
        <p:txBody>
          <a:bodyPr wrap="none" lIns="0" tIns="0" rIns="0" bIns="0" rtlCol="0" anchor="t"/>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La elegancia de esta definición radica en su </a:t>
            </a:r>
            <a:pPr algn="l" indent="0" marL="0">
              <a:lnSpc>
                <a:spcPct val="133000"/>
              </a:lnSpc>
              <a:buNone/>
            </a:pPr>
            <a:r>
              <a:rPr lang="en-US" sz="1300" b="1" dirty="0">
                <a:solidFill>
                  <a:srgbClr val="3B3535"/>
                </a:solidFill>
                <a:latin typeface="Roboto Bold" pitchFamily="34" charset="0"/>
                <a:ea typeface="Roboto Bold" pitchFamily="34" charset="-122"/>
                <a:cs typeface="Roboto Bold" pitchFamily="34" charset="-120"/>
              </a:rPr>
              <a:t>amplitud y generalidad</a:t>
            </a:r>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 Veamos lo que </a:t>
            </a:r>
            <a:pPr algn="l" indent="0" marL="0">
              <a:lnSpc>
                <a:spcPct val="133000"/>
              </a:lnSpc>
              <a:buNone/>
            </a:pPr>
            <a:r>
              <a:rPr lang="en-US" sz="1300" i="1" dirty="0">
                <a:solidFill>
                  <a:srgbClr val="3B3535"/>
                </a:solidFill>
                <a:latin typeface="Roboto" pitchFamily="34" charset="0"/>
                <a:ea typeface="Roboto" pitchFamily="34" charset="-122"/>
                <a:cs typeface="Roboto" pitchFamily="34" charset="-120"/>
              </a:rPr>
              <a:t>no</a:t>
            </a:r>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 menciona:</a:t>
            </a:r>
            <a:endParaRPr lang="en-US" sz="130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3458964"/>
            <a:ext cx="330688" cy="330696"/>
          </a:xfrm>
          <a:prstGeom prst="rect">
            <a:avLst/>
          </a:prstGeom>
        </p:spPr>
      </p:pic>
      <p:sp>
        <p:nvSpPr>
          <p:cNvPr id="7" name="Text 4"/>
          <p:cNvSpPr/>
          <p:nvPr/>
        </p:nvSpPr>
        <p:spPr>
          <a:xfrm>
            <a:off x="1198830" y="3515816"/>
            <a:ext cx="2947715"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Sin ML ni LLMs</a:t>
            </a:r>
            <a:endParaRPr lang="en-US" sz="1600" dirty="0"/>
          </a:p>
        </p:txBody>
      </p:sp>
      <p:sp>
        <p:nvSpPr>
          <p:cNvPr id="8" name="Text 5"/>
          <p:cNvSpPr/>
          <p:nvPr/>
        </p:nvSpPr>
        <p:spPr>
          <a:xfrm>
            <a:off x="1198830" y="3873500"/>
            <a:ext cx="2947715"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No se mencionan Machine Learning, Deep Learning, LLMs, tools ni RAG. Son implementaciones posibles, no la definición.</a:t>
            </a:r>
            <a:endParaRPr lang="en-US" sz="130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53213" y="3458964"/>
            <a:ext cx="330688" cy="330696"/>
          </a:xfrm>
          <a:prstGeom prst="rect">
            <a:avLst/>
          </a:prstGeom>
        </p:spPr>
      </p:pic>
      <p:sp>
        <p:nvSpPr>
          <p:cNvPr id="10" name="Text 6"/>
          <p:cNvSpPr/>
          <p:nvPr/>
        </p:nvSpPr>
        <p:spPr>
          <a:xfrm>
            <a:off x="4890568" y="3515816"/>
            <a:ext cx="2947815"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Sin programas</a:t>
            </a:r>
            <a:endParaRPr lang="en-US" sz="1600" dirty="0"/>
          </a:p>
        </p:txBody>
      </p:sp>
      <p:sp>
        <p:nvSpPr>
          <p:cNvPr id="11" name="Text 7"/>
          <p:cNvSpPr/>
          <p:nvPr/>
        </p:nvSpPr>
        <p:spPr>
          <a:xfrm>
            <a:off x="4890568" y="3873500"/>
            <a:ext cx="2947815"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Ni siquiera se mencionan programas o software. Un sistema mecánico o electrónico también encaja perfectamente.</a:t>
            </a:r>
            <a:endParaRPr lang="en-US" sz="130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45050" y="3458964"/>
            <a:ext cx="330688" cy="330696"/>
          </a:xfrm>
          <a:prstGeom prst="rect">
            <a:avLst/>
          </a:prstGeom>
        </p:spPr>
      </p:pic>
      <p:sp>
        <p:nvSpPr>
          <p:cNvPr id="13" name="Text 8"/>
          <p:cNvSpPr/>
          <p:nvPr/>
        </p:nvSpPr>
        <p:spPr>
          <a:xfrm>
            <a:off x="8582406" y="3515816"/>
            <a:ext cx="2947815"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Sistemas biológicos</a:t>
            </a:r>
            <a:endParaRPr lang="en-US" sz="1600" dirty="0"/>
          </a:p>
        </p:txBody>
      </p:sp>
      <p:sp>
        <p:nvSpPr>
          <p:cNvPr id="14" name="Text 9"/>
          <p:cNvSpPr/>
          <p:nvPr/>
        </p:nvSpPr>
        <p:spPr>
          <a:xfrm>
            <a:off x="8582406" y="3873500"/>
            <a:ext cx="2947815"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La definición contempla sistemas biológicos: células, humanos, animales e insectos son todos agentes válidos bajo esta definición.</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661475" y="1219696"/>
            <a:ext cx="1505111" cy="251420"/>
          </a:xfrm>
          <a:prstGeom prst="roundRect">
            <a:avLst>
              <a:gd name="adj" fmla="val 3031"/>
            </a:avLst>
          </a:prstGeom>
          <a:solidFill>
            <a:srgbClr val="F9D2D6"/>
          </a:solidFill>
          <a:ln/>
        </p:spPr>
      </p:sp>
      <p:sp>
        <p:nvSpPr>
          <p:cNvPr id="3" name="Text 1"/>
          <p:cNvSpPr/>
          <p:nvPr/>
        </p:nvSpPr>
        <p:spPr>
          <a:xfrm>
            <a:off x="760691" y="1269305"/>
            <a:ext cx="1916263"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¿QUÉ ES UN AGENTE?</a:t>
            </a:r>
            <a:endParaRPr lang="en-US" sz="1000" dirty="0"/>
          </a:p>
        </p:txBody>
      </p:sp>
      <p:sp>
        <p:nvSpPr>
          <p:cNvPr id="4" name="Text 2"/>
          <p:cNvSpPr/>
          <p:nvPr/>
        </p:nvSpPr>
        <p:spPr>
          <a:xfrm>
            <a:off x="909516" y="1905198"/>
            <a:ext cx="10620705" cy="2583656"/>
          </a:xfrm>
          <a:prstGeom prst="rect">
            <a:avLst/>
          </a:prstGeom>
          <a:noFill/>
          <a:ln/>
        </p:spPr>
        <p:txBody>
          <a:bodyPr wrap="square" lIns="0" tIns="0" rIns="0" bIns="0" rtlCol="0" anchor="t">
            <a:normAutofit/>
          </a:bodyPr>
          <a:lstStyle/>
          <a:p>
            <a:pPr algn="l" indent="0" marL="0">
              <a:lnSpc>
                <a:spcPct val="104000"/>
              </a:lnSpc>
              <a:buNone/>
            </a:pPr>
            <a:r>
              <a:rPr lang="en-US" sz="3250" i="1" dirty="0">
                <a:solidFill>
                  <a:srgbClr val="1F1E1E"/>
                </a:solidFill>
                <a:latin typeface="Roboto Mono Medium" pitchFamily="34" charset="0"/>
                <a:ea typeface="Roboto Mono Medium" pitchFamily="34" charset="-122"/>
                <a:cs typeface="Roboto Mono Medium" pitchFamily="34" charset="-120"/>
              </a:rPr>
              <a:t>"A rational agent is one that does the right thing... This notion of desirability is captured by a performance measure that evaluates any given sequence of environment states."</a:t>
            </a:r>
            <a:endParaRPr lang="en-US" sz="3250" dirty="0"/>
          </a:p>
        </p:txBody>
      </p:sp>
      <p:sp>
        <p:nvSpPr>
          <p:cNvPr id="5" name="Text 3"/>
          <p:cNvSpPr/>
          <p:nvPr/>
        </p:nvSpPr>
        <p:spPr>
          <a:xfrm>
            <a:off x="909516" y="4736902"/>
            <a:ext cx="11230289" cy="264616"/>
          </a:xfrm>
          <a:prstGeom prst="rect">
            <a:avLst/>
          </a:prstGeom>
          <a:noFill/>
          <a:ln/>
        </p:spPr>
        <p:txBody>
          <a:bodyPr wrap="none" lIns="0" tIns="0" rIns="0" bIns="0" rtlCol="0" anchor="t"/>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 </a:t>
            </a:r>
            <a:pPr algn="l" indent="0" marL="0">
              <a:lnSpc>
                <a:spcPct val="133000"/>
              </a:lnSpc>
              <a:buNone/>
            </a:pPr>
            <a:r>
              <a:rPr lang="en-US" sz="1300" b="1" dirty="0">
                <a:solidFill>
                  <a:srgbClr val="3B3535"/>
                </a:solidFill>
                <a:latin typeface="Roboto Bold" pitchFamily="34" charset="0"/>
                <a:ea typeface="Roboto Bold" pitchFamily="34" charset="-122"/>
                <a:cs typeface="Roboto Bold" pitchFamily="34" charset="-120"/>
              </a:rPr>
              <a:t>Russell &amp; Norvig</a:t>
            </a:r>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 </a:t>
            </a:r>
            <a:pPr algn="l" indent="0" marL="0">
              <a:lnSpc>
                <a:spcPct val="133000"/>
              </a:lnSpc>
              <a:buNone/>
            </a:pPr>
            <a:r>
              <a:rPr lang="en-US" sz="1300" i="1" dirty="0">
                <a:solidFill>
                  <a:srgbClr val="3B3535"/>
                </a:solidFill>
                <a:latin typeface="Roboto" pitchFamily="34" charset="0"/>
                <a:ea typeface="Roboto" pitchFamily="34" charset="-122"/>
                <a:cs typeface="Roboto" pitchFamily="34" charset="-120"/>
              </a:rPr>
              <a:t>Artificial Intelligence: A Modern Approach</a:t>
            </a:r>
            <a:endParaRPr lang="en-US" sz="1300" dirty="0"/>
          </a:p>
        </p:txBody>
      </p:sp>
      <p:sp>
        <p:nvSpPr>
          <p:cNvPr id="6" name="Shape 4"/>
          <p:cNvSpPr/>
          <p:nvPr/>
        </p:nvSpPr>
        <p:spPr>
          <a:xfrm>
            <a:off x="661475" y="1657152"/>
            <a:ext cx="19050" cy="3530402"/>
          </a:xfrm>
          <a:prstGeom prst="roundRect">
            <a:avLst>
              <a:gd name="adj" fmla="val 49999"/>
            </a:avLst>
          </a:prstGeom>
          <a:solidFill>
            <a:srgbClr val="DA1B2E"/>
          </a:solidFill>
          <a:ln/>
        </p:spPr>
      </p:sp>
      <p:sp>
        <p:nvSpPr>
          <p:cNvPr id="7" name="Text 5"/>
          <p:cNvSpPr/>
          <p:nvPr/>
        </p:nvSpPr>
        <p:spPr>
          <a:xfrm>
            <a:off x="661475" y="5373588"/>
            <a:ext cx="11478330" cy="264616"/>
          </a:xfrm>
          <a:prstGeom prst="rect">
            <a:avLst/>
          </a:prstGeom>
          <a:noFill/>
          <a:ln/>
        </p:spPr>
        <p:txBody>
          <a:bodyPr wrap="none" lIns="0" tIns="0" rIns="0" bIns="0" rtlCol="0" anchor="t"/>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La racionalidad introduce el concepto de </a:t>
            </a:r>
            <a:pPr algn="l" indent="0" marL="0">
              <a:lnSpc>
                <a:spcPct val="133000"/>
              </a:lnSpc>
              <a:buNone/>
            </a:pPr>
            <a:r>
              <a:rPr lang="en-US" sz="1300" b="1" dirty="0">
                <a:solidFill>
                  <a:srgbClr val="3B3535"/>
                </a:solidFill>
                <a:latin typeface="Roboto Bold" pitchFamily="34" charset="0"/>
                <a:ea typeface="Roboto Bold" pitchFamily="34" charset="-122"/>
                <a:cs typeface="Roboto Bold" pitchFamily="34" charset="-120"/>
              </a:rPr>
              <a:t>optimización</a:t>
            </a:r>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 no basta con percibir y actuar, hay que hacerlo bien según un criterio definido.</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61475" y="1421110"/>
            <a:ext cx="1505111" cy="251420"/>
          </a:xfrm>
          <a:prstGeom prst="roundRect">
            <a:avLst>
              <a:gd name="adj" fmla="val 3031"/>
            </a:avLst>
          </a:prstGeom>
          <a:solidFill>
            <a:srgbClr val="F9D2D6"/>
          </a:solidFill>
          <a:ln/>
        </p:spPr>
      </p:sp>
      <p:sp>
        <p:nvSpPr>
          <p:cNvPr id="3" name="Text 1"/>
          <p:cNvSpPr/>
          <p:nvPr/>
        </p:nvSpPr>
        <p:spPr>
          <a:xfrm>
            <a:off x="760691" y="1470720"/>
            <a:ext cx="1916263"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¿QUÉ ES UN AGENTE?</a:t>
            </a:r>
            <a:endParaRPr lang="en-US" sz="1000" dirty="0"/>
          </a:p>
        </p:txBody>
      </p:sp>
      <p:sp>
        <p:nvSpPr>
          <p:cNvPr id="4" name="Text 2"/>
          <p:cNvSpPr/>
          <p:nvPr/>
        </p:nvSpPr>
        <p:spPr>
          <a:xfrm>
            <a:off x="661475" y="1738610"/>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Racionalidad</a:t>
            </a:r>
            <a:endParaRPr lang="en-US" sz="3250" dirty="0"/>
          </a:p>
        </p:txBody>
      </p:sp>
      <p:sp>
        <p:nvSpPr>
          <p:cNvPr id="5" name="Text 3"/>
          <p:cNvSpPr/>
          <p:nvPr/>
        </p:nvSpPr>
        <p:spPr>
          <a:xfrm>
            <a:off x="661475" y="2503388"/>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Un </a:t>
            </a:r>
            <a:pPr algn="l" indent="0" marL="0">
              <a:lnSpc>
                <a:spcPct val="133000"/>
              </a:lnSpc>
              <a:buNone/>
            </a:pPr>
            <a:r>
              <a:rPr lang="en-US" sz="1300" b="1" dirty="0">
                <a:solidFill>
                  <a:srgbClr val="3B3535"/>
                </a:solidFill>
                <a:latin typeface="Roboto Bold" pitchFamily="34" charset="0"/>
                <a:ea typeface="Roboto Bold" pitchFamily="34" charset="-122"/>
                <a:cs typeface="Roboto Bold" pitchFamily="34" charset="-120"/>
              </a:rPr>
              <a:t>agente racional</a:t>
            </a:r>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 selecciona la acción que maximiza su medida de performance, dada la evidencia de sus percepciones y su conocimiento previo. La racionalidad depende de cuatro factores clave:</a:t>
            </a:r>
            <a:endParaRPr lang="en-US" sz="130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3218656"/>
            <a:ext cx="330688" cy="330696"/>
          </a:xfrm>
          <a:prstGeom prst="rect">
            <a:avLst/>
          </a:prstGeom>
        </p:spPr>
      </p:pic>
      <p:sp>
        <p:nvSpPr>
          <p:cNvPr id="7" name="Text 4"/>
          <p:cNvSpPr/>
          <p:nvPr/>
        </p:nvSpPr>
        <p:spPr>
          <a:xfrm>
            <a:off x="1198830" y="3275509"/>
            <a:ext cx="4793634"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Medida de performance</a:t>
            </a:r>
            <a:endParaRPr lang="en-US" sz="1600" dirty="0"/>
          </a:p>
        </p:txBody>
      </p:sp>
      <p:sp>
        <p:nvSpPr>
          <p:cNvPr id="8" name="Text 5"/>
          <p:cNvSpPr/>
          <p:nvPr/>
        </p:nvSpPr>
        <p:spPr>
          <a:xfrm>
            <a:off x="1198830" y="3633192"/>
            <a:ext cx="4793634"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El criterio que define el éxito del agente. Sin esta medida, no hay racionalidad posible.</a:t>
            </a:r>
            <a:endParaRPr lang="en-US" sz="130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99132" y="3218656"/>
            <a:ext cx="330688" cy="330696"/>
          </a:xfrm>
          <a:prstGeom prst="rect">
            <a:avLst/>
          </a:prstGeom>
        </p:spPr>
      </p:pic>
      <p:sp>
        <p:nvSpPr>
          <p:cNvPr id="10" name="Text 6"/>
          <p:cNvSpPr/>
          <p:nvPr/>
        </p:nvSpPr>
        <p:spPr>
          <a:xfrm>
            <a:off x="6736487" y="3275509"/>
            <a:ext cx="4793733"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Conocimiento previo</a:t>
            </a:r>
            <a:endParaRPr lang="en-US" sz="1600" dirty="0"/>
          </a:p>
        </p:txBody>
      </p:sp>
      <p:sp>
        <p:nvSpPr>
          <p:cNvPr id="11" name="Text 7"/>
          <p:cNvSpPr/>
          <p:nvPr/>
        </p:nvSpPr>
        <p:spPr>
          <a:xfrm>
            <a:off x="6736487" y="3633192"/>
            <a:ext cx="4793733"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Lo que el agente ya sabe sobre el ambiente antes de comenzar a actuar.</a:t>
            </a:r>
            <a:endParaRPr lang="en-US" sz="130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4493121"/>
            <a:ext cx="330688" cy="330696"/>
          </a:xfrm>
          <a:prstGeom prst="rect">
            <a:avLst/>
          </a:prstGeom>
        </p:spPr>
      </p:pic>
      <p:sp>
        <p:nvSpPr>
          <p:cNvPr id="13" name="Text 8"/>
          <p:cNvSpPr/>
          <p:nvPr/>
        </p:nvSpPr>
        <p:spPr>
          <a:xfrm>
            <a:off x="1198830" y="4549973"/>
            <a:ext cx="4793634"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Acciones disponibles</a:t>
            </a:r>
            <a:endParaRPr lang="en-US" sz="1600" dirty="0"/>
          </a:p>
        </p:txBody>
      </p:sp>
      <p:sp>
        <p:nvSpPr>
          <p:cNvPr id="14" name="Text 9"/>
          <p:cNvSpPr/>
          <p:nvPr/>
        </p:nvSpPr>
        <p:spPr>
          <a:xfrm>
            <a:off x="1198830" y="4907657"/>
            <a:ext cx="4793634"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El conjunto de acciones que el agente puede ejecutar en su entorno.</a:t>
            </a:r>
            <a:endParaRPr lang="en-US" sz="130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99132" y="4493121"/>
            <a:ext cx="330688" cy="330696"/>
          </a:xfrm>
          <a:prstGeom prst="rect">
            <a:avLst/>
          </a:prstGeom>
        </p:spPr>
      </p:pic>
      <p:sp>
        <p:nvSpPr>
          <p:cNvPr id="16" name="Text 10"/>
          <p:cNvSpPr/>
          <p:nvPr/>
        </p:nvSpPr>
        <p:spPr>
          <a:xfrm>
            <a:off x="6736487" y="4549973"/>
            <a:ext cx="4793733"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Secuencia de percepciones</a:t>
            </a:r>
            <a:endParaRPr lang="en-US" sz="1600" dirty="0"/>
          </a:p>
        </p:txBody>
      </p:sp>
      <p:sp>
        <p:nvSpPr>
          <p:cNvPr id="17" name="Text 11"/>
          <p:cNvSpPr/>
          <p:nvPr/>
        </p:nvSpPr>
        <p:spPr>
          <a:xfrm>
            <a:off x="6736487" y="4907657"/>
            <a:ext cx="4793733"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El historial de todo lo que el agente ha observado del ambiente hasta el momento.</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61475" y="1228923"/>
            <a:ext cx="1505111" cy="251420"/>
          </a:xfrm>
          <a:prstGeom prst="roundRect">
            <a:avLst>
              <a:gd name="adj" fmla="val 3031"/>
            </a:avLst>
          </a:prstGeom>
          <a:solidFill>
            <a:srgbClr val="F9D2D6"/>
          </a:solidFill>
          <a:ln/>
        </p:spPr>
      </p:sp>
      <p:sp>
        <p:nvSpPr>
          <p:cNvPr id="3" name="Text 1"/>
          <p:cNvSpPr/>
          <p:nvPr/>
        </p:nvSpPr>
        <p:spPr>
          <a:xfrm>
            <a:off x="760691" y="1278533"/>
            <a:ext cx="1916263"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¿QUÉ ES UN AGENTE?</a:t>
            </a:r>
            <a:endParaRPr lang="en-US" sz="1000" dirty="0"/>
          </a:p>
        </p:txBody>
      </p:sp>
      <p:sp>
        <p:nvSpPr>
          <p:cNvPr id="4" name="Text 2"/>
          <p:cNvSpPr/>
          <p:nvPr/>
        </p:nvSpPr>
        <p:spPr>
          <a:xfrm>
            <a:off x="661475" y="1546423"/>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Ejemplo: </a:t>
            </a:r>
            <a:pPr algn="l" indent="0" marL="0">
              <a:lnSpc>
                <a:spcPct val="104000"/>
              </a:lnSpc>
              <a:buNone/>
            </a:pPr>
            <a:r>
              <a:rPr lang="en-US" sz="3250" dirty="0">
                <a:solidFill>
                  <a:srgbClr val="DA1B2E"/>
                </a:solidFill>
                <a:latin typeface="Roboto Mono Medium" pitchFamily="34" charset="0"/>
                <a:ea typeface="Roboto Mono Medium" pitchFamily="34" charset="-122"/>
                <a:cs typeface="Roboto Mono Medium" pitchFamily="34" charset="-120"/>
              </a:rPr>
              <a:t>Vacuum Cleaner</a:t>
            </a:r>
            <a:endParaRPr lang="en-US" sz="3250" dirty="0"/>
          </a:p>
        </p:txBody>
      </p:sp>
      <p:sp>
        <p:nvSpPr>
          <p:cNvPr id="5" name="Text 3"/>
          <p:cNvSpPr/>
          <p:nvPr/>
        </p:nvSpPr>
        <p:spPr>
          <a:xfrm>
            <a:off x="661475" y="2311202"/>
            <a:ext cx="11478330" cy="264616"/>
          </a:xfrm>
          <a:prstGeom prst="rect">
            <a:avLst/>
          </a:prstGeom>
          <a:noFill/>
          <a:ln/>
        </p:spPr>
        <p:txBody>
          <a:bodyPr wrap="none" lIns="0" tIns="0" rIns="0" bIns="0" rtlCol="0" anchor="t"/>
          <a:lstStyle/>
          <a:p>
            <a:pPr algn="l" indent="0" marL="0">
              <a:lnSpc>
                <a:spcPct val="133000"/>
              </a:lnSpc>
              <a:buNone/>
            </a:pPr>
            <a:r>
              <a:rPr lang="en-US" sz="1300" i="1" dirty="0">
                <a:solidFill>
                  <a:srgbClr val="3B3535"/>
                </a:solidFill>
                <a:latin typeface="Roboto" pitchFamily="34" charset="0"/>
                <a:ea typeface="Roboto" pitchFamily="34" charset="-122"/>
                <a:cs typeface="Roboto" pitchFamily="34" charset="-120"/>
              </a:rPr>
              <a:t>Formulación como agente inteligente</a:t>
            </a:r>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 — Mantener limpio un entorno (grilla n×m) eliminando la suciedad con el mínimo de acciones posibles.</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61475" y="2761853"/>
          <a:ext cx="10868745" cy="914400"/>
        </p:xfrm>
        <a:graphic>
          <a:graphicData uri="http://schemas.openxmlformats.org/drawingml/2006/table">
            <a:tbl>
              <a:tblPr/>
              <a:tblGrid>
                <a:gridCol w="2173709"/>
                <a:gridCol w="8695036"/>
              </a:tblGrid>
              <a:tr h="475742">
                <a:tc>
                  <a:txBody>
                    <a:bodyPr/>
                    <a:lstStyle/>
                    <a:p>
                      <a:pPr algn="l" indent="0" marL="0">
                        <a:buNone/>
                      </a:pPr>
                      <a:r>
                        <a:rPr lang="en-US" sz="1300" b="1" dirty="0">
                          <a:solidFill>
                            <a:srgbClr val="3B3535"/>
                          </a:solidFill>
                          <a:latin typeface="Roboto" pitchFamily="34" charset="0"/>
                          <a:ea typeface="Roboto" pitchFamily="34" charset="-122"/>
                          <a:cs typeface="Roboto" pitchFamily="34" charset="-120"/>
                        </a:rPr>
                        <a:t>Agente</a:t>
                      </a:r>
                      <a:endParaRPr lang="en-US" sz="1300" dirty="0">
                        <a:latin typeface="Roboto" charset="0"/>
                        <a:ea typeface="Roboto" charset="0"/>
                        <a:cs typeface="Roboto" charset="0"/>
                      </a:endParaRPr>
                    </a:p>
                  </a:txBody>
                  <a:tcPr marL="165391" marR="165391" marT="6350" marB="6350" anchor="ctr">
                    <a:lnL w="12700" cap="flat" cmpd="sng" algn="ctr">
                      <a:solidFill>
                        <a:srgbClr val="D8D4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c>
                  <a:txBody>
                    <a:bodyPr/>
                    <a:lstStyle/>
                    <a:p>
                      <a:pPr algn="l" indent="0" marL="0">
                        <a:buNone/>
                      </a:pPr>
                      <a:r>
                        <a:rPr lang="en-US" sz="1300" dirty="0">
                          <a:solidFill>
                            <a:srgbClr val="3B3535"/>
                          </a:solidFill>
                          <a:latin typeface="Roboto" pitchFamily="34" charset="0"/>
                          <a:ea typeface="Roboto" pitchFamily="34" charset="-122"/>
                          <a:cs typeface="Roboto" pitchFamily="34" charset="-120"/>
                        </a:rPr>
                        <a:t>Aspiradora autónoma (robot o modelo abstracto)</a:t>
                      </a:r>
                      <a:endParaRPr lang="en-US" sz="1300" dirty="0">
                        <a:latin typeface="Roboto" charset="0"/>
                        <a:ea typeface="Roboto" charset="0"/>
                        <a:cs typeface="Roboto" charset="0"/>
                      </a:endParaRPr>
                    </a:p>
                  </a:txBody>
                  <a:tcPr marL="165391" marR="165391" marT="6350" marB="6350" anchor="ctr">
                    <a:lnL w="12700" cap="flat" cmpd="sng" algn="ctr">
                      <a:solidFill>
                        <a:srgbClr val="FFFFFF"/>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r>
              <a:tr h="475742">
                <a:tc>
                  <a:txBody>
                    <a:bodyPr/>
                    <a:lstStyle/>
                    <a:p>
                      <a:pPr algn="l" indent="0" marL="0">
                        <a:buNone/>
                      </a:pPr>
                      <a:r>
                        <a:rPr lang="en-US" sz="1300" b="1" dirty="0">
                          <a:solidFill>
                            <a:srgbClr val="3B3535"/>
                          </a:solidFill>
                          <a:latin typeface="Roboto" pitchFamily="34" charset="0"/>
                          <a:ea typeface="Roboto" pitchFamily="34" charset="-122"/>
                          <a:cs typeface="Roboto" pitchFamily="34" charset="-120"/>
                        </a:rPr>
                        <a:t>Sensores</a:t>
                      </a:r>
                      <a:endParaRPr lang="en-US" sz="1300" dirty="0">
                        <a:latin typeface="Roboto" charset="0"/>
                        <a:ea typeface="Roboto" charset="0"/>
                        <a:cs typeface="Roboto" charset="0"/>
                      </a:endParaRPr>
                    </a:p>
                  </a:txBody>
                  <a:tcPr marL="165391" marR="165391" marT="6350" marB="6350" anchor="ctr">
                    <a:lnL w="12700" cap="flat" cmpd="sng" algn="ctr">
                      <a:solidFill>
                        <a:srgbClr val="D8D4D4"/>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algn="l" indent="0" marL="0">
                        <a:buNone/>
                      </a:pPr>
                      <a:r>
                        <a:rPr lang="en-US" sz="1300" dirty="0">
                          <a:solidFill>
                            <a:srgbClr val="3B3535"/>
                          </a:solidFill>
                          <a:latin typeface="Roboto" pitchFamily="34" charset="0"/>
                          <a:ea typeface="Roboto" pitchFamily="34" charset="-122"/>
                          <a:cs typeface="Roboto" pitchFamily="34" charset="-120"/>
                        </a:rPr>
                        <a:t>Detector de suciedad, posición actual en la grilla</a:t>
                      </a:r>
                      <a:endParaRPr lang="en-US" sz="1300" dirty="0">
                        <a:latin typeface="Roboto" charset="0"/>
                        <a:ea typeface="Roboto" charset="0"/>
                        <a:cs typeface="Roboto" charset="0"/>
                      </a:endParaRPr>
                    </a:p>
                  </a:txBody>
                  <a:tcPr marL="165391" marR="165391" marT="6350" marB="6350" anchor="ctr">
                    <a:lnL w="12700" cap="flat" cmpd="sng" algn="ctr">
                      <a:solidFill>
                        <a:srgbClr val="F5F5F5"/>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r>
              <a:tr h="475742">
                <a:tc>
                  <a:txBody>
                    <a:bodyPr/>
                    <a:lstStyle/>
                    <a:p>
                      <a:pPr algn="l" indent="0" marL="0">
                        <a:buNone/>
                      </a:pPr>
                      <a:r>
                        <a:rPr lang="en-US" sz="1300" b="1" dirty="0">
                          <a:solidFill>
                            <a:srgbClr val="3B3535"/>
                          </a:solidFill>
                          <a:latin typeface="Roboto" pitchFamily="34" charset="0"/>
                          <a:ea typeface="Roboto" pitchFamily="34" charset="-122"/>
                          <a:cs typeface="Roboto" pitchFamily="34" charset="-120"/>
                        </a:rPr>
                        <a:t>Actuadores</a:t>
                      </a:r>
                      <a:endParaRPr lang="en-US" sz="1300" dirty="0">
                        <a:latin typeface="Roboto" charset="0"/>
                        <a:ea typeface="Roboto" charset="0"/>
                        <a:cs typeface="Roboto" charset="0"/>
                      </a:endParaRPr>
                    </a:p>
                  </a:txBody>
                  <a:tcPr marL="165391" marR="165391" marT="6350" marB="6350" anchor="ctr">
                    <a:lnL w="12700" cap="flat" cmpd="sng" algn="ctr">
                      <a:solidFill>
                        <a:srgbClr val="D8D4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c>
                  <a:txBody>
                    <a:bodyPr/>
                    <a:lstStyle/>
                    <a:p>
                      <a:pPr algn="l" indent="0" marL="0">
                        <a:buNone/>
                      </a:pPr>
                      <a:r>
                        <a:rPr lang="en-US" sz="1300" dirty="0">
                          <a:solidFill>
                            <a:srgbClr val="3B3535"/>
                          </a:solidFill>
                          <a:latin typeface="Roboto" pitchFamily="34" charset="0"/>
                          <a:ea typeface="Roboto" pitchFamily="34" charset="-122"/>
                          <a:cs typeface="Roboto" pitchFamily="34" charset="-120"/>
                        </a:rPr>
                        <a:t>Motor de movimiento (izq/der/adelante/atrás), motor de succión</a:t>
                      </a:r>
                      <a:endParaRPr lang="en-US" sz="1300" dirty="0">
                        <a:latin typeface="Roboto" charset="0"/>
                        <a:ea typeface="Roboto" charset="0"/>
                        <a:cs typeface="Roboto" charset="0"/>
                      </a:endParaRPr>
                    </a:p>
                  </a:txBody>
                  <a:tcPr marL="165391" marR="165391" marT="6350" marB="6350" anchor="ctr">
                    <a:lnL w="12700" cap="flat" cmpd="sng" algn="ctr">
                      <a:solidFill>
                        <a:srgbClr val="FFFFFF"/>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r>
              <a:tr h="475742">
                <a:tc>
                  <a:txBody>
                    <a:bodyPr/>
                    <a:lstStyle/>
                    <a:p>
                      <a:pPr algn="l" indent="0" marL="0">
                        <a:buNone/>
                      </a:pPr>
                      <a:r>
                        <a:rPr lang="en-US" sz="1300" b="1" dirty="0">
                          <a:solidFill>
                            <a:srgbClr val="3B3535"/>
                          </a:solidFill>
                          <a:latin typeface="Roboto" pitchFamily="34" charset="0"/>
                          <a:ea typeface="Roboto" pitchFamily="34" charset="-122"/>
                          <a:cs typeface="Roboto" pitchFamily="34" charset="-120"/>
                        </a:rPr>
                        <a:t>Ambiente</a:t>
                      </a:r>
                      <a:endParaRPr lang="en-US" sz="1300" dirty="0">
                        <a:latin typeface="Roboto" charset="0"/>
                        <a:ea typeface="Roboto" charset="0"/>
                        <a:cs typeface="Roboto" charset="0"/>
                      </a:endParaRPr>
                    </a:p>
                  </a:txBody>
                  <a:tcPr marL="165391" marR="165391" marT="6350" marB="6350" anchor="ctr">
                    <a:lnL w="12700" cap="flat" cmpd="sng" algn="ctr">
                      <a:solidFill>
                        <a:srgbClr val="D8D4D4"/>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algn="l" indent="0" marL="0">
                        <a:buNone/>
                      </a:pPr>
                      <a:r>
                        <a:rPr lang="en-US" sz="1300" dirty="0">
                          <a:solidFill>
                            <a:srgbClr val="3B3535"/>
                          </a:solidFill>
                          <a:latin typeface="Roboto" pitchFamily="34" charset="0"/>
                          <a:ea typeface="Roboto" pitchFamily="34" charset="-122"/>
                          <a:cs typeface="Roboto" pitchFamily="34" charset="-120"/>
                        </a:rPr>
                        <a:t>Grilla n×m, parcialmente observable, determinístico</a:t>
                      </a:r>
                      <a:endParaRPr lang="en-US" sz="1300" dirty="0">
                        <a:latin typeface="Roboto" charset="0"/>
                        <a:ea typeface="Roboto" charset="0"/>
                        <a:cs typeface="Roboto" charset="0"/>
                      </a:endParaRPr>
                    </a:p>
                  </a:txBody>
                  <a:tcPr marL="165391" marR="165391" marT="6350" marB="6350" anchor="ctr">
                    <a:lnL w="12700" cap="flat" cmpd="sng" algn="ctr">
                      <a:solidFill>
                        <a:srgbClr val="F5F5F5"/>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r>
              <a:tr h="475742">
                <a:tc>
                  <a:txBody>
                    <a:bodyPr/>
                    <a:lstStyle/>
                    <a:p>
                      <a:pPr algn="l" indent="0" marL="0">
                        <a:buNone/>
                      </a:pPr>
                      <a:r>
                        <a:rPr lang="en-US" sz="1300" b="1" dirty="0">
                          <a:solidFill>
                            <a:srgbClr val="3B3535"/>
                          </a:solidFill>
                          <a:latin typeface="Roboto" pitchFamily="34" charset="0"/>
                          <a:ea typeface="Roboto" pitchFamily="34" charset="-122"/>
                          <a:cs typeface="Roboto" pitchFamily="34" charset="-120"/>
                        </a:rPr>
                        <a:t>Acciones</a:t>
                      </a:r>
                      <a:endParaRPr lang="en-US" sz="1300" dirty="0">
                        <a:latin typeface="Roboto" charset="0"/>
                        <a:ea typeface="Roboto" charset="0"/>
                        <a:cs typeface="Roboto" charset="0"/>
                      </a:endParaRPr>
                    </a:p>
                  </a:txBody>
                  <a:tcPr marL="165391" marR="165391" marT="6350" marB="6350" anchor="ctr">
                    <a:lnL w="12700" cap="flat" cmpd="sng" algn="ctr">
                      <a:solidFill>
                        <a:srgbClr val="D8D4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c>
                  <a:txBody>
                    <a:bodyPr/>
                    <a:lstStyle/>
                    <a:p>
                      <a:pPr algn="l" indent="0" marL="0">
                        <a:buNone/>
                      </a:pPr>
                      <a:r>
                        <a:rPr lang="en-US" sz="1300" dirty="0">
                          <a:solidFill>
                            <a:srgbClr val="3B3535"/>
                          </a:solidFill>
                          <a:latin typeface="Roboto" pitchFamily="34" charset="0"/>
                          <a:ea typeface="Roboto" pitchFamily="34" charset="-122"/>
                          <a:cs typeface="Roboto" pitchFamily="34" charset="-120"/>
                        </a:rPr>
                        <a:t>Aspirar, MoverIzquierda, MoverDerecha, Esperar</a:t>
                      </a:r>
                      <a:endParaRPr lang="en-US" sz="1300" dirty="0">
                        <a:latin typeface="Roboto" charset="0"/>
                        <a:ea typeface="Roboto" charset="0"/>
                        <a:cs typeface="Roboto" charset="0"/>
                      </a:endParaRPr>
                    </a:p>
                  </a:txBody>
                  <a:tcPr marL="165391" marR="165391" marT="6350" marB="6350" anchor="ctr">
                    <a:lnL w="12700" cap="flat" cmpd="sng" algn="ctr">
                      <a:solidFill>
                        <a:srgbClr val="FFFFFF"/>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r>
              <a:tr h="475742">
                <a:tc>
                  <a:txBody>
                    <a:bodyPr/>
                    <a:lstStyle/>
                    <a:p>
                      <a:pPr algn="l" indent="0" marL="0">
                        <a:buNone/>
                      </a:pPr>
                      <a:r>
                        <a:rPr lang="en-US" sz="1300" b="1" dirty="0">
                          <a:solidFill>
                            <a:srgbClr val="3B3535"/>
                          </a:solidFill>
                          <a:latin typeface="Roboto" pitchFamily="34" charset="0"/>
                          <a:ea typeface="Roboto" pitchFamily="34" charset="-122"/>
                          <a:cs typeface="Roboto" pitchFamily="34" charset="-120"/>
                        </a:rPr>
                        <a:t>Performance</a:t>
                      </a:r>
                      <a:endParaRPr lang="en-US" sz="1300" dirty="0">
                        <a:latin typeface="Roboto" charset="0"/>
                        <a:ea typeface="Roboto" charset="0"/>
                        <a:cs typeface="Roboto" charset="0"/>
                      </a:endParaRPr>
                    </a:p>
                  </a:txBody>
                  <a:tcPr marL="165391" marR="165391" marT="6350" marB="6350" anchor="ctr">
                    <a:lnL w="12700" cap="flat" cmpd="sng" algn="ctr">
                      <a:solidFill>
                        <a:srgbClr val="D8D4D4"/>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D8D4D4"/>
                      </a:solidFill>
                      <a:prstDash val="solid"/>
                      <a:round/>
                      <a:headEnd type="none" w="med" len="med"/>
                      <a:tailEnd type="none" w="med" len="med"/>
                    </a:lnB>
                    <a:solidFill>
                      <a:srgbClr val="000000">
                        <a:alpha val="4000"/>
                      </a:srgbClr>
                    </a:solidFill>
                  </a:tcPr>
                </a:tc>
                <a:tc>
                  <a:txBody>
                    <a:bodyPr/>
                    <a:lstStyle/>
                    <a:p>
                      <a:pPr algn="l" indent="0" marL="0">
                        <a:buNone/>
                      </a:pPr>
                      <a:r>
                        <a:rPr lang="en-US" sz="1300" dirty="0">
                          <a:solidFill>
                            <a:srgbClr val="3B3535"/>
                          </a:solidFill>
                          <a:latin typeface="Roboto" pitchFamily="34" charset="0"/>
                          <a:ea typeface="Roboto" pitchFamily="34" charset="-122"/>
                          <a:cs typeface="Roboto" pitchFamily="34" charset="-120"/>
                        </a:rPr>
                        <a:t>+10 limpiar celda sucia · −1 moverse · −5 aspirar celda limpia · −10 chocar</a:t>
                      </a:r>
                      <a:endParaRPr lang="en-US" sz="1300" dirty="0">
                        <a:latin typeface="Roboto" charset="0"/>
                        <a:ea typeface="Roboto" charset="0"/>
                        <a:cs typeface="Roboto" charset="0"/>
                      </a:endParaRPr>
                    </a:p>
                  </a:txBody>
                  <a:tcPr marL="165391" marR="165391" marT="6350" marB="6350" anchor="ctr">
                    <a:lnL w="12700" cap="flat" cmpd="sng" algn="ctr">
                      <a:solidFill>
                        <a:srgbClr val="F5F5F5"/>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D8D4D4"/>
                      </a:solidFill>
                      <a:prstDash val="solid"/>
                      <a:round/>
                      <a:headEnd type="none" w="med" len="med"/>
                      <a:tailEnd type="none" w="med" len="med"/>
                    </a:lnB>
                    <a:solidFill>
                      <a:srgbClr val="000000">
                        <a:alpha val="4000"/>
                      </a:srgbClr>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61475" y="1228923"/>
            <a:ext cx="1505111" cy="251420"/>
          </a:xfrm>
          <a:prstGeom prst="roundRect">
            <a:avLst>
              <a:gd name="adj" fmla="val 3031"/>
            </a:avLst>
          </a:prstGeom>
          <a:solidFill>
            <a:srgbClr val="F9D2D6"/>
          </a:solidFill>
          <a:ln/>
        </p:spPr>
      </p:sp>
      <p:sp>
        <p:nvSpPr>
          <p:cNvPr id="3" name="Text 1"/>
          <p:cNvSpPr/>
          <p:nvPr/>
        </p:nvSpPr>
        <p:spPr>
          <a:xfrm>
            <a:off x="760691" y="1278533"/>
            <a:ext cx="1916263"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¿QUÉ ES UN AGENTE?</a:t>
            </a:r>
            <a:endParaRPr lang="en-US" sz="1000" dirty="0"/>
          </a:p>
        </p:txBody>
      </p:sp>
      <p:sp>
        <p:nvSpPr>
          <p:cNvPr id="4" name="Text 2"/>
          <p:cNvSpPr/>
          <p:nvPr/>
        </p:nvSpPr>
        <p:spPr>
          <a:xfrm>
            <a:off x="661475" y="1546423"/>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Ejemplo: </a:t>
            </a:r>
            <a:pPr algn="l" indent="0" marL="0">
              <a:lnSpc>
                <a:spcPct val="104000"/>
              </a:lnSpc>
              <a:buNone/>
            </a:pPr>
            <a:r>
              <a:rPr lang="en-US" sz="3250" dirty="0">
                <a:solidFill>
                  <a:srgbClr val="DA1B2E"/>
                </a:solidFill>
                <a:latin typeface="Roboto Mono Medium" pitchFamily="34" charset="0"/>
                <a:ea typeface="Roboto Mono Medium" pitchFamily="34" charset="-122"/>
                <a:cs typeface="Roboto Mono Medium" pitchFamily="34" charset="-120"/>
              </a:rPr>
              <a:t>Robot Móvil</a:t>
            </a:r>
            <a:endParaRPr lang="en-US" sz="3250" dirty="0"/>
          </a:p>
        </p:txBody>
      </p:sp>
      <p:sp>
        <p:nvSpPr>
          <p:cNvPr id="5" name="Text 3"/>
          <p:cNvSpPr/>
          <p:nvPr/>
        </p:nvSpPr>
        <p:spPr>
          <a:xfrm>
            <a:off x="661475" y="2311202"/>
            <a:ext cx="11478330" cy="264616"/>
          </a:xfrm>
          <a:prstGeom prst="rect">
            <a:avLst/>
          </a:prstGeom>
          <a:noFill/>
          <a:ln/>
        </p:spPr>
        <p:txBody>
          <a:bodyPr wrap="none" lIns="0" tIns="0" rIns="0" bIns="0" rtlCol="0" anchor="t"/>
          <a:lstStyle/>
          <a:p>
            <a:pPr algn="l" indent="0" marL="0">
              <a:lnSpc>
                <a:spcPct val="133000"/>
              </a:lnSpc>
              <a:buNone/>
            </a:pPr>
            <a:r>
              <a:rPr lang="en-US" sz="1300" i="1" dirty="0">
                <a:solidFill>
                  <a:srgbClr val="3B3535"/>
                </a:solidFill>
                <a:latin typeface="Roboto" pitchFamily="34" charset="0"/>
                <a:ea typeface="Roboto" pitchFamily="34" charset="-122"/>
                <a:cs typeface="Roboto" pitchFamily="34" charset="-120"/>
              </a:rPr>
              <a:t>Formulación como agente inteligente</a:t>
            </a:r>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 — Desplazarse desde un punto inicial hasta un destino evitando obstáculos en entornos complejos.</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61475" y="2761853"/>
          <a:ext cx="10868745" cy="914400"/>
        </p:xfrm>
        <a:graphic>
          <a:graphicData uri="http://schemas.openxmlformats.org/drawingml/2006/table">
            <a:tbl>
              <a:tblPr/>
              <a:tblGrid>
                <a:gridCol w="2173709"/>
                <a:gridCol w="8695036"/>
              </a:tblGrid>
              <a:tr h="475742">
                <a:tc>
                  <a:txBody>
                    <a:bodyPr/>
                    <a:lstStyle/>
                    <a:p>
                      <a:pPr algn="l" indent="0" marL="0">
                        <a:buNone/>
                      </a:pPr>
                      <a:r>
                        <a:rPr lang="en-US" sz="1300" b="1" dirty="0">
                          <a:solidFill>
                            <a:srgbClr val="3B3535"/>
                          </a:solidFill>
                          <a:latin typeface="Roboto" pitchFamily="34" charset="0"/>
                          <a:ea typeface="Roboto" pitchFamily="34" charset="-122"/>
                          <a:cs typeface="Roboto" pitchFamily="34" charset="-120"/>
                        </a:rPr>
                        <a:t>Agente</a:t>
                      </a:r>
                      <a:endParaRPr lang="en-US" sz="1300" dirty="0">
                        <a:latin typeface="Roboto" charset="0"/>
                        <a:ea typeface="Roboto" charset="0"/>
                        <a:cs typeface="Roboto" charset="0"/>
                      </a:endParaRPr>
                    </a:p>
                  </a:txBody>
                  <a:tcPr marL="165391" marR="165391" marT="6350" marB="6350" anchor="ctr">
                    <a:lnL w="12700" cap="flat" cmpd="sng" algn="ctr">
                      <a:solidFill>
                        <a:srgbClr val="D8D4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c>
                  <a:txBody>
                    <a:bodyPr/>
                    <a:lstStyle/>
                    <a:p>
                      <a:pPr algn="l" indent="0" marL="0">
                        <a:buNone/>
                      </a:pPr>
                      <a:r>
                        <a:rPr lang="en-US" sz="1300" dirty="0">
                          <a:solidFill>
                            <a:srgbClr val="3B3535"/>
                          </a:solidFill>
                          <a:latin typeface="Roboto" pitchFamily="34" charset="0"/>
                          <a:ea typeface="Roboto" pitchFamily="34" charset="-122"/>
                          <a:cs typeface="Roboto" pitchFamily="34" charset="-120"/>
                        </a:rPr>
                        <a:t>Robot móvil autónomo con sistema de control y planificación</a:t>
                      </a:r>
                      <a:endParaRPr lang="en-US" sz="1300" dirty="0">
                        <a:latin typeface="Roboto" charset="0"/>
                        <a:ea typeface="Roboto" charset="0"/>
                        <a:cs typeface="Roboto" charset="0"/>
                      </a:endParaRPr>
                    </a:p>
                  </a:txBody>
                  <a:tcPr marL="165391" marR="165391" marT="6350" marB="6350" anchor="ctr">
                    <a:lnL w="12700" cap="flat" cmpd="sng" algn="ctr">
                      <a:solidFill>
                        <a:srgbClr val="FFFFFF"/>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r>
              <a:tr h="475742">
                <a:tc>
                  <a:txBody>
                    <a:bodyPr/>
                    <a:lstStyle/>
                    <a:p>
                      <a:pPr algn="l" indent="0" marL="0">
                        <a:buNone/>
                      </a:pPr>
                      <a:r>
                        <a:rPr lang="en-US" sz="1300" b="1" dirty="0">
                          <a:solidFill>
                            <a:srgbClr val="3B3535"/>
                          </a:solidFill>
                          <a:latin typeface="Roboto" pitchFamily="34" charset="0"/>
                          <a:ea typeface="Roboto" pitchFamily="34" charset="-122"/>
                          <a:cs typeface="Roboto" pitchFamily="34" charset="-120"/>
                        </a:rPr>
                        <a:t>Sensores</a:t>
                      </a:r>
                      <a:endParaRPr lang="en-US" sz="1300" dirty="0">
                        <a:latin typeface="Roboto" charset="0"/>
                        <a:ea typeface="Roboto" charset="0"/>
                        <a:cs typeface="Roboto" charset="0"/>
                      </a:endParaRPr>
                    </a:p>
                  </a:txBody>
                  <a:tcPr marL="165391" marR="165391" marT="6350" marB="6350" anchor="ctr">
                    <a:lnL w="12700" cap="flat" cmpd="sng" algn="ctr">
                      <a:solidFill>
                        <a:srgbClr val="D8D4D4"/>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algn="l" indent="0" marL="0">
                        <a:buNone/>
                      </a:pPr>
                      <a:r>
                        <a:rPr lang="en-US" sz="1300" dirty="0">
                          <a:solidFill>
                            <a:srgbClr val="3B3535"/>
                          </a:solidFill>
                          <a:latin typeface="Roboto" pitchFamily="34" charset="0"/>
                          <a:ea typeface="Roboto" pitchFamily="34" charset="-122"/>
                          <a:cs typeface="Roboto" pitchFamily="34" charset="-120"/>
                        </a:rPr>
                        <a:t>Cámara, LiDAR, GPS, giroscopio, sensores de proximidad</a:t>
                      </a:r>
                      <a:endParaRPr lang="en-US" sz="1300" dirty="0">
                        <a:latin typeface="Roboto" charset="0"/>
                        <a:ea typeface="Roboto" charset="0"/>
                        <a:cs typeface="Roboto" charset="0"/>
                      </a:endParaRPr>
                    </a:p>
                  </a:txBody>
                  <a:tcPr marL="165391" marR="165391" marT="6350" marB="6350" anchor="ctr">
                    <a:lnL w="12700" cap="flat" cmpd="sng" algn="ctr">
                      <a:solidFill>
                        <a:srgbClr val="F5F5F5"/>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r>
              <a:tr h="475742">
                <a:tc>
                  <a:txBody>
                    <a:bodyPr/>
                    <a:lstStyle/>
                    <a:p>
                      <a:pPr algn="l" indent="0" marL="0">
                        <a:buNone/>
                      </a:pPr>
                      <a:r>
                        <a:rPr lang="en-US" sz="1300" b="1" dirty="0">
                          <a:solidFill>
                            <a:srgbClr val="3B3535"/>
                          </a:solidFill>
                          <a:latin typeface="Roboto" pitchFamily="34" charset="0"/>
                          <a:ea typeface="Roboto" pitchFamily="34" charset="-122"/>
                          <a:cs typeface="Roboto" pitchFamily="34" charset="-120"/>
                        </a:rPr>
                        <a:t>Actuadores</a:t>
                      </a:r>
                      <a:endParaRPr lang="en-US" sz="1300" dirty="0">
                        <a:latin typeface="Roboto" charset="0"/>
                        <a:ea typeface="Roboto" charset="0"/>
                        <a:cs typeface="Roboto" charset="0"/>
                      </a:endParaRPr>
                    </a:p>
                  </a:txBody>
                  <a:tcPr marL="165391" marR="165391" marT="6350" marB="6350" anchor="ctr">
                    <a:lnL w="12700" cap="flat" cmpd="sng" algn="ctr">
                      <a:solidFill>
                        <a:srgbClr val="D8D4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c>
                  <a:txBody>
                    <a:bodyPr/>
                    <a:lstStyle/>
                    <a:p>
                      <a:pPr algn="l" indent="0" marL="0">
                        <a:buNone/>
                      </a:pPr>
                      <a:r>
                        <a:rPr lang="en-US" sz="1300" dirty="0">
                          <a:solidFill>
                            <a:srgbClr val="3B3535"/>
                          </a:solidFill>
                          <a:latin typeface="Roboto" pitchFamily="34" charset="0"/>
                          <a:ea typeface="Roboto" pitchFamily="34" charset="-122"/>
                          <a:cs typeface="Roboto" pitchFamily="34" charset="-120"/>
                        </a:rPr>
                        <a:t>Motores de tracción, dirección, frenos, brazo robótico</a:t>
                      </a:r>
                      <a:endParaRPr lang="en-US" sz="1300" dirty="0">
                        <a:latin typeface="Roboto" charset="0"/>
                        <a:ea typeface="Roboto" charset="0"/>
                        <a:cs typeface="Roboto" charset="0"/>
                      </a:endParaRPr>
                    </a:p>
                  </a:txBody>
                  <a:tcPr marL="165391" marR="165391" marT="6350" marB="6350" anchor="ctr">
                    <a:lnL w="12700" cap="flat" cmpd="sng" algn="ctr">
                      <a:solidFill>
                        <a:srgbClr val="FFFFFF"/>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r>
              <a:tr h="475742">
                <a:tc>
                  <a:txBody>
                    <a:bodyPr/>
                    <a:lstStyle/>
                    <a:p>
                      <a:pPr algn="l" indent="0" marL="0">
                        <a:buNone/>
                      </a:pPr>
                      <a:r>
                        <a:rPr lang="en-US" sz="1300" b="1" dirty="0">
                          <a:solidFill>
                            <a:srgbClr val="3B3535"/>
                          </a:solidFill>
                          <a:latin typeface="Roboto" pitchFamily="34" charset="0"/>
                          <a:ea typeface="Roboto" pitchFamily="34" charset="-122"/>
                          <a:cs typeface="Roboto" pitchFamily="34" charset="-120"/>
                        </a:rPr>
                        <a:t>Ambiente</a:t>
                      </a:r>
                      <a:endParaRPr lang="en-US" sz="1300" dirty="0">
                        <a:latin typeface="Roboto" charset="0"/>
                        <a:ea typeface="Roboto" charset="0"/>
                        <a:cs typeface="Roboto" charset="0"/>
                      </a:endParaRPr>
                    </a:p>
                  </a:txBody>
                  <a:tcPr marL="165391" marR="165391" marT="6350" marB="6350" anchor="ctr">
                    <a:lnL w="12700" cap="flat" cmpd="sng" algn="ctr">
                      <a:solidFill>
                        <a:srgbClr val="D8D4D4"/>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algn="l" indent="0" marL="0">
                        <a:buNone/>
                      </a:pPr>
                      <a:r>
                        <a:rPr lang="en-US" sz="1300" dirty="0">
                          <a:solidFill>
                            <a:srgbClr val="3B3535"/>
                          </a:solidFill>
                          <a:latin typeface="Roboto" pitchFamily="34" charset="0"/>
                          <a:ea typeface="Roboto" pitchFamily="34" charset="-122"/>
                          <a:cs typeface="Roboto" pitchFamily="34" charset="-120"/>
                        </a:rPr>
                        <a:t>Entorno físico (indoor/outdoor), continuo, parcialmente observable, dinámico</a:t>
                      </a:r>
                      <a:endParaRPr lang="en-US" sz="1300" dirty="0">
                        <a:latin typeface="Roboto" charset="0"/>
                        <a:ea typeface="Roboto" charset="0"/>
                        <a:cs typeface="Roboto" charset="0"/>
                      </a:endParaRPr>
                    </a:p>
                  </a:txBody>
                  <a:tcPr marL="165391" marR="165391" marT="6350" marB="6350" anchor="ctr">
                    <a:lnL w="12700" cap="flat" cmpd="sng" algn="ctr">
                      <a:solidFill>
                        <a:srgbClr val="F5F5F5"/>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r>
              <a:tr h="475742">
                <a:tc>
                  <a:txBody>
                    <a:bodyPr/>
                    <a:lstStyle/>
                    <a:p>
                      <a:pPr algn="l" indent="0" marL="0">
                        <a:buNone/>
                      </a:pPr>
                      <a:r>
                        <a:rPr lang="en-US" sz="1300" b="1" dirty="0">
                          <a:solidFill>
                            <a:srgbClr val="3B3535"/>
                          </a:solidFill>
                          <a:latin typeface="Roboto" pitchFamily="34" charset="0"/>
                          <a:ea typeface="Roboto" pitchFamily="34" charset="-122"/>
                          <a:cs typeface="Roboto" pitchFamily="34" charset="-120"/>
                        </a:rPr>
                        <a:t>Acciones</a:t>
                      </a:r>
                      <a:endParaRPr lang="en-US" sz="1300" dirty="0">
                        <a:latin typeface="Roboto" charset="0"/>
                        <a:ea typeface="Roboto" charset="0"/>
                        <a:cs typeface="Roboto" charset="0"/>
                      </a:endParaRPr>
                    </a:p>
                  </a:txBody>
                  <a:tcPr marL="165391" marR="165391" marT="6350" marB="6350" anchor="ctr">
                    <a:lnL w="12700" cap="flat" cmpd="sng" algn="ctr">
                      <a:solidFill>
                        <a:srgbClr val="D8D4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c>
                  <a:txBody>
                    <a:bodyPr/>
                    <a:lstStyle/>
                    <a:p>
                      <a:pPr algn="l" indent="0" marL="0">
                        <a:buNone/>
                      </a:pPr>
                      <a:r>
                        <a:rPr lang="en-US" sz="1300" dirty="0">
                          <a:solidFill>
                            <a:srgbClr val="3B3535"/>
                          </a:solidFill>
                          <a:latin typeface="Roboto" pitchFamily="34" charset="0"/>
                          <a:ea typeface="Roboto" pitchFamily="34" charset="-122"/>
                          <a:cs typeface="Roboto" pitchFamily="34" charset="-120"/>
                        </a:rPr>
                        <a:t>Avanzar, girar, frenar, recalcular ruta</a:t>
                      </a:r>
                      <a:endParaRPr lang="en-US" sz="1300" dirty="0">
                        <a:latin typeface="Roboto" charset="0"/>
                        <a:ea typeface="Roboto" charset="0"/>
                        <a:cs typeface="Roboto" charset="0"/>
                      </a:endParaRPr>
                    </a:p>
                  </a:txBody>
                  <a:tcPr marL="165391" marR="165391" marT="6350" marB="6350" anchor="ctr">
                    <a:lnL w="12700" cap="flat" cmpd="sng" algn="ctr">
                      <a:solidFill>
                        <a:srgbClr val="FFFFFF"/>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r>
              <a:tr h="475742">
                <a:tc>
                  <a:txBody>
                    <a:bodyPr/>
                    <a:lstStyle/>
                    <a:p>
                      <a:pPr algn="l" indent="0" marL="0">
                        <a:buNone/>
                      </a:pPr>
                      <a:r>
                        <a:rPr lang="en-US" sz="1300" b="1" dirty="0">
                          <a:solidFill>
                            <a:srgbClr val="3B3535"/>
                          </a:solidFill>
                          <a:latin typeface="Roboto" pitchFamily="34" charset="0"/>
                          <a:ea typeface="Roboto" pitchFamily="34" charset="-122"/>
                          <a:cs typeface="Roboto" pitchFamily="34" charset="-120"/>
                        </a:rPr>
                        <a:t>Performance</a:t>
                      </a:r>
                      <a:endParaRPr lang="en-US" sz="1300" dirty="0">
                        <a:latin typeface="Roboto" charset="0"/>
                        <a:ea typeface="Roboto" charset="0"/>
                        <a:cs typeface="Roboto" charset="0"/>
                      </a:endParaRPr>
                    </a:p>
                  </a:txBody>
                  <a:tcPr marL="165391" marR="165391" marT="6350" marB="6350" anchor="ctr">
                    <a:lnL w="12700" cap="flat" cmpd="sng" algn="ctr">
                      <a:solidFill>
                        <a:srgbClr val="D8D4D4"/>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D8D4D4"/>
                      </a:solidFill>
                      <a:prstDash val="solid"/>
                      <a:round/>
                      <a:headEnd type="none" w="med" len="med"/>
                      <a:tailEnd type="none" w="med" len="med"/>
                    </a:lnB>
                    <a:solidFill>
                      <a:srgbClr val="000000">
                        <a:alpha val="4000"/>
                      </a:srgbClr>
                    </a:solidFill>
                  </a:tcPr>
                </a:tc>
                <a:tc>
                  <a:txBody>
                    <a:bodyPr/>
                    <a:lstStyle/>
                    <a:p>
                      <a:pPr algn="l" indent="0" marL="0">
                        <a:buNone/>
                      </a:pPr>
                      <a:r>
                        <a:rPr lang="en-US" sz="1300" dirty="0">
                          <a:solidFill>
                            <a:srgbClr val="3B3535"/>
                          </a:solidFill>
                          <a:latin typeface="Roboto" pitchFamily="34" charset="0"/>
                          <a:ea typeface="Roboto" pitchFamily="34" charset="-122"/>
                          <a:cs typeface="Roboto" pitchFamily="34" charset="-120"/>
                        </a:rPr>
                        <a:t>Llegar al destino rápido, sin colisiones y con mínimo consumo de energía</a:t>
                      </a:r>
                      <a:endParaRPr lang="en-US" sz="1300" dirty="0">
                        <a:latin typeface="Roboto" charset="0"/>
                        <a:ea typeface="Roboto" charset="0"/>
                        <a:cs typeface="Roboto" charset="0"/>
                      </a:endParaRPr>
                    </a:p>
                  </a:txBody>
                  <a:tcPr marL="165391" marR="165391" marT="6350" marB="6350" anchor="ctr">
                    <a:lnL w="12700" cap="flat" cmpd="sng" algn="ctr">
                      <a:solidFill>
                        <a:srgbClr val="F5F5F5"/>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D8D4D4"/>
                      </a:solidFill>
                      <a:prstDash val="solid"/>
                      <a:round/>
                      <a:headEnd type="none" w="med" len="med"/>
                      <a:tailEnd type="none" w="med" len="med"/>
                    </a:lnB>
                    <a:solidFill>
                      <a:srgbClr val="000000">
                        <a:alpha val="4000"/>
                      </a:srgbClr>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661475" y="1466751"/>
            <a:ext cx="1505111" cy="251420"/>
          </a:xfrm>
          <a:prstGeom prst="roundRect">
            <a:avLst>
              <a:gd name="adj" fmla="val 3031"/>
            </a:avLst>
          </a:prstGeom>
          <a:solidFill>
            <a:srgbClr val="F9D2D6"/>
          </a:solidFill>
          <a:ln/>
        </p:spPr>
      </p:sp>
      <p:sp>
        <p:nvSpPr>
          <p:cNvPr id="3" name="Text 1"/>
          <p:cNvSpPr/>
          <p:nvPr/>
        </p:nvSpPr>
        <p:spPr>
          <a:xfrm>
            <a:off x="760691" y="1516360"/>
            <a:ext cx="1916263"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¿QUÉ ES UN AGENTE?</a:t>
            </a:r>
            <a:endParaRPr lang="en-US" sz="1000" dirty="0"/>
          </a:p>
        </p:txBody>
      </p:sp>
      <p:sp>
        <p:nvSpPr>
          <p:cNvPr id="4" name="Text 2"/>
          <p:cNvSpPr/>
          <p:nvPr/>
        </p:nvSpPr>
        <p:spPr>
          <a:xfrm>
            <a:off x="661475" y="1784251"/>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Ejemplo: </a:t>
            </a:r>
            <a:pPr algn="l" indent="0" marL="0">
              <a:lnSpc>
                <a:spcPct val="104000"/>
              </a:lnSpc>
              <a:buNone/>
            </a:pPr>
            <a:r>
              <a:rPr lang="en-US" sz="3250" dirty="0">
                <a:solidFill>
                  <a:srgbClr val="DA1B2E"/>
                </a:solidFill>
                <a:latin typeface="Roboto Mono Medium" pitchFamily="34" charset="0"/>
                <a:ea typeface="Roboto Mono Medium" pitchFamily="34" charset="-122"/>
                <a:cs typeface="Roboto Mono Medium" pitchFamily="34" charset="-120"/>
              </a:rPr>
              <a:t>DeepMind AlphaGo</a:t>
            </a:r>
            <a:endParaRPr lang="en-US" sz="3250" dirty="0"/>
          </a:p>
        </p:txBody>
      </p:sp>
      <p:sp>
        <p:nvSpPr>
          <p:cNvPr id="5" name="Text 3"/>
          <p:cNvSpPr/>
          <p:nvPr/>
        </p:nvSpPr>
        <p:spPr>
          <a:xfrm>
            <a:off x="661475" y="2549029"/>
            <a:ext cx="11478330" cy="264616"/>
          </a:xfrm>
          <a:prstGeom prst="rect">
            <a:avLst/>
          </a:prstGeom>
          <a:noFill/>
          <a:ln/>
        </p:spPr>
        <p:txBody>
          <a:bodyPr wrap="none" lIns="0" tIns="0" rIns="0" bIns="0" rtlCol="0" anchor="t"/>
          <a:lstStyle/>
          <a:p>
            <a:pPr algn="l" indent="0" marL="0">
              <a:lnSpc>
                <a:spcPct val="133000"/>
              </a:lnSpc>
              <a:buNone/>
            </a:pPr>
            <a:r>
              <a:rPr lang="en-US" sz="1300" i="1" dirty="0">
                <a:solidFill>
                  <a:srgbClr val="3B3535"/>
                </a:solidFill>
                <a:latin typeface="Roboto" pitchFamily="34" charset="0"/>
                <a:ea typeface="Roboto" pitchFamily="34" charset="-122"/>
                <a:cs typeface="Roboto" pitchFamily="34" charset="-120"/>
              </a:rPr>
              <a:t>Formulación como agente inteligente</a:t>
            </a:r>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 — Jugar al Go a nivel superhumano mediante redes neuronales profundas y búsqueda Monte Carlo.</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61475" y="2999680"/>
          <a:ext cx="10868745" cy="914400"/>
        </p:xfrm>
        <a:graphic>
          <a:graphicData uri="http://schemas.openxmlformats.org/drawingml/2006/table">
            <a:tbl>
              <a:tblPr/>
              <a:tblGrid>
                <a:gridCol w="2173709"/>
                <a:gridCol w="8695036"/>
              </a:tblGrid>
              <a:tr h="475742">
                <a:tc>
                  <a:txBody>
                    <a:bodyPr/>
                    <a:lstStyle/>
                    <a:p>
                      <a:pPr algn="l" indent="0" marL="0">
                        <a:buNone/>
                      </a:pPr>
                      <a:r>
                        <a:rPr lang="en-US" sz="1300" b="1" dirty="0">
                          <a:solidFill>
                            <a:srgbClr val="3B3535"/>
                          </a:solidFill>
                          <a:latin typeface="Roboto" pitchFamily="34" charset="0"/>
                          <a:ea typeface="Roboto" pitchFamily="34" charset="-122"/>
                          <a:cs typeface="Roboto" pitchFamily="34" charset="-120"/>
                        </a:rPr>
                        <a:t>Agente</a:t>
                      </a:r>
                      <a:endParaRPr lang="en-US" sz="1300" dirty="0">
                        <a:latin typeface="Roboto" charset="0"/>
                        <a:ea typeface="Roboto" charset="0"/>
                        <a:cs typeface="Roboto" charset="0"/>
                      </a:endParaRPr>
                    </a:p>
                  </a:txBody>
                  <a:tcPr marL="165391" marR="165391" marT="6350" marB="6350" anchor="ctr">
                    <a:lnL w="12700" cap="flat" cmpd="sng" algn="ctr">
                      <a:solidFill>
                        <a:srgbClr val="D8D4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c>
                  <a:txBody>
                    <a:bodyPr/>
                    <a:lstStyle/>
                    <a:p>
                      <a:pPr algn="l" indent="0" marL="0">
                        <a:buNone/>
                      </a:pPr>
                      <a:r>
                        <a:rPr lang="en-US" sz="1300" dirty="0">
                          <a:solidFill>
                            <a:srgbClr val="3B3535"/>
                          </a:solidFill>
                          <a:latin typeface="Roboto" pitchFamily="34" charset="0"/>
                          <a:ea typeface="Roboto" pitchFamily="34" charset="-122"/>
                          <a:cs typeface="Roboto" pitchFamily="34" charset="-120"/>
                        </a:rPr>
                        <a:t>Red neuronal profunda + búsqueda Monte Carlo (MCTS)</a:t>
                      </a:r>
                      <a:endParaRPr lang="en-US" sz="1300" dirty="0">
                        <a:latin typeface="Roboto" charset="0"/>
                        <a:ea typeface="Roboto" charset="0"/>
                        <a:cs typeface="Roboto" charset="0"/>
                      </a:endParaRPr>
                    </a:p>
                  </a:txBody>
                  <a:tcPr marL="165391" marR="165391" marT="6350" marB="6350" anchor="ctr">
                    <a:lnL w="12700" cap="flat" cmpd="sng" algn="ctr">
                      <a:solidFill>
                        <a:srgbClr val="FFFFFF"/>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r>
              <a:tr h="475742">
                <a:tc>
                  <a:txBody>
                    <a:bodyPr/>
                    <a:lstStyle/>
                    <a:p>
                      <a:pPr algn="l" indent="0" marL="0">
                        <a:buNone/>
                      </a:pPr>
                      <a:r>
                        <a:rPr lang="en-US" sz="1300" b="1" dirty="0">
                          <a:solidFill>
                            <a:srgbClr val="3B3535"/>
                          </a:solidFill>
                          <a:latin typeface="Roboto" pitchFamily="34" charset="0"/>
                          <a:ea typeface="Roboto" pitchFamily="34" charset="-122"/>
                          <a:cs typeface="Roboto" pitchFamily="34" charset="-120"/>
                        </a:rPr>
                        <a:t>Sensores</a:t>
                      </a:r>
                      <a:endParaRPr lang="en-US" sz="1300" dirty="0">
                        <a:latin typeface="Roboto" charset="0"/>
                        <a:ea typeface="Roboto" charset="0"/>
                        <a:cs typeface="Roboto" charset="0"/>
                      </a:endParaRPr>
                    </a:p>
                  </a:txBody>
                  <a:tcPr marL="165391" marR="165391" marT="6350" marB="6350" anchor="ctr">
                    <a:lnL w="12700" cap="flat" cmpd="sng" algn="ctr">
                      <a:solidFill>
                        <a:srgbClr val="D8D4D4"/>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algn="l" indent="0" marL="0">
                        <a:buNone/>
                      </a:pPr>
                      <a:r>
                        <a:rPr lang="en-US" sz="1300" dirty="0">
                          <a:solidFill>
                            <a:srgbClr val="3B3535"/>
                          </a:solidFill>
                          <a:latin typeface="Roboto" pitchFamily="34" charset="0"/>
                          <a:ea typeface="Roboto" pitchFamily="34" charset="-122"/>
                          <a:cs typeface="Roboto" pitchFamily="34" charset="-120"/>
                        </a:rPr>
                        <a:t>Estado actual del tablero (disposición de fichas blancas y negras)</a:t>
                      </a:r>
                      <a:endParaRPr lang="en-US" sz="1300" dirty="0">
                        <a:latin typeface="Roboto" charset="0"/>
                        <a:ea typeface="Roboto" charset="0"/>
                        <a:cs typeface="Roboto" charset="0"/>
                      </a:endParaRPr>
                    </a:p>
                  </a:txBody>
                  <a:tcPr marL="165391" marR="165391" marT="6350" marB="6350" anchor="ctr">
                    <a:lnL w="12700" cap="flat" cmpd="sng" algn="ctr">
                      <a:solidFill>
                        <a:srgbClr val="F5F5F5"/>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r>
              <a:tr h="475742">
                <a:tc>
                  <a:txBody>
                    <a:bodyPr/>
                    <a:lstStyle/>
                    <a:p>
                      <a:pPr algn="l" indent="0" marL="0">
                        <a:buNone/>
                      </a:pPr>
                      <a:r>
                        <a:rPr lang="en-US" sz="1300" b="1" dirty="0">
                          <a:solidFill>
                            <a:srgbClr val="3B3535"/>
                          </a:solidFill>
                          <a:latin typeface="Roboto" pitchFamily="34" charset="0"/>
                          <a:ea typeface="Roboto" pitchFamily="34" charset="-122"/>
                          <a:cs typeface="Roboto" pitchFamily="34" charset="-120"/>
                        </a:rPr>
                        <a:t>Actuadores</a:t>
                      </a:r>
                      <a:endParaRPr lang="en-US" sz="1300" dirty="0">
                        <a:latin typeface="Roboto" charset="0"/>
                        <a:ea typeface="Roboto" charset="0"/>
                        <a:cs typeface="Roboto" charset="0"/>
                      </a:endParaRPr>
                    </a:p>
                  </a:txBody>
                  <a:tcPr marL="165391" marR="165391" marT="6350" marB="6350" anchor="ctr">
                    <a:lnL w="12700" cap="flat" cmpd="sng" algn="ctr">
                      <a:solidFill>
                        <a:srgbClr val="D8D4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c>
                  <a:txBody>
                    <a:bodyPr/>
                    <a:lstStyle/>
                    <a:p>
                      <a:pPr algn="l" indent="0" marL="0">
                        <a:buNone/>
                      </a:pPr>
                      <a:r>
                        <a:rPr lang="en-US" sz="1300" dirty="0">
                          <a:solidFill>
                            <a:srgbClr val="3B3535"/>
                          </a:solidFill>
                          <a:latin typeface="Roboto" pitchFamily="34" charset="0"/>
                          <a:ea typeface="Roboto" pitchFamily="34" charset="-122"/>
                          <a:cs typeface="Roboto" pitchFamily="34" charset="-120"/>
                        </a:rPr>
                        <a:t>Colocar una piedra en una intersección válida o pasar turno</a:t>
                      </a:r>
                      <a:endParaRPr lang="en-US" sz="1300" dirty="0">
                        <a:latin typeface="Roboto" charset="0"/>
                        <a:ea typeface="Roboto" charset="0"/>
                        <a:cs typeface="Roboto" charset="0"/>
                      </a:endParaRPr>
                    </a:p>
                  </a:txBody>
                  <a:tcPr marL="165391" marR="165391" marT="6350" marB="6350" anchor="ctr">
                    <a:lnL w="12700" cap="flat" cmpd="sng" algn="ctr">
                      <a:solidFill>
                        <a:srgbClr val="FFFFFF"/>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r>
              <a:tr h="475742">
                <a:tc>
                  <a:txBody>
                    <a:bodyPr/>
                    <a:lstStyle/>
                    <a:p>
                      <a:pPr algn="l" indent="0" marL="0">
                        <a:buNone/>
                      </a:pPr>
                      <a:r>
                        <a:rPr lang="en-US" sz="1300" b="1" dirty="0">
                          <a:solidFill>
                            <a:srgbClr val="3B3535"/>
                          </a:solidFill>
                          <a:latin typeface="Roboto" pitchFamily="34" charset="0"/>
                          <a:ea typeface="Roboto" pitchFamily="34" charset="-122"/>
                          <a:cs typeface="Roboto" pitchFamily="34" charset="-120"/>
                        </a:rPr>
                        <a:t>Ambiente</a:t>
                      </a:r>
                      <a:endParaRPr lang="en-US" sz="1300" dirty="0">
                        <a:latin typeface="Roboto" charset="0"/>
                        <a:ea typeface="Roboto" charset="0"/>
                        <a:cs typeface="Roboto" charset="0"/>
                      </a:endParaRPr>
                    </a:p>
                  </a:txBody>
                  <a:tcPr marL="165391" marR="165391" marT="6350" marB="6350" anchor="ctr">
                    <a:lnL w="12700" cap="flat" cmpd="sng" algn="ctr">
                      <a:solidFill>
                        <a:srgbClr val="D8D4D4"/>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algn="l" indent="0" marL="0">
                        <a:buNone/>
                      </a:pPr>
                      <a:r>
                        <a:rPr lang="en-US" sz="1300" dirty="0">
                          <a:solidFill>
                            <a:srgbClr val="3B3535"/>
                          </a:solidFill>
                          <a:latin typeface="Roboto" pitchFamily="34" charset="0"/>
                          <a:ea typeface="Roboto" pitchFamily="34" charset="-122"/>
                          <a:cs typeface="Roboto" pitchFamily="34" charset="-120"/>
                        </a:rPr>
                        <a:t>Tablero de Go 19×19, determinístico, completamente observable, competitivo</a:t>
                      </a:r>
                      <a:endParaRPr lang="en-US" sz="1300" dirty="0">
                        <a:latin typeface="Roboto" charset="0"/>
                        <a:ea typeface="Roboto" charset="0"/>
                        <a:cs typeface="Roboto" charset="0"/>
                      </a:endParaRPr>
                    </a:p>
                  </a:txBody>
                  <a:tcPr marL="165391" marR="165391" marT="6350" marB="6350" anchor="ctr">
                    <a:lnL w="12700" cap="flat" cmpd="sng" algn="ctr">
                      <a:solidFill>
                        <a:srgbClr val="F5F5F5"/>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r>
              <a:tr h="475742">
                <a:tc>
                  <a:txBody>
                    <a:bodyPr/>
                    <a:lstStyle/>
                    <a:p>
                      <a:pPr algn="l" indent="0" marL="0">
                        <a:buNone/>
                      </a:pPr>
                      <a:r>
                        <a:rPr lang="en-US" sz="1300" b="1" dirty="0">
                          <a:solidFill>
                            <a:srgbClr val="3B3535"/>
                          </a:solidFill>
                          <a:latin typeface="Roboto" pitchFamily="34" charset="0"/>
                          <a:ea typeface="Roboto" pitchFamily="34" charset="-122"/>
                          <a:cs typeface="Roboto" pitchFamily="34" charset="-120"/>
                        </a:rPr>
                        <a:t>Performance</a:t>
                      </a:r>
                      <a:endParaRPr lang="en-US" sz="1300" dirty="0">
                        <a:latin typeface="Roboto" charset="0"/>
                        <a:ea typeface="Roboto" charset="0"/>
                        <a:cs typeface="Roboto" charset="0"/>
                      </a:endParaRPr>
                    </a:p>
                  </a:txBody>
                  <a:tcPr marL="165391" marR="165391" marT="6350" marB="6350" anchor="ctr">
                    <a:lnL w="12700" cap="flat" cmpd="sng" algn="ctr">
                      <a:solidFill>
                        <a:srgbClr val="D8D4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D8D4D4"/>
                      </a:solidFill>
                      <a:prstDash val="solid"/>
                      <a:round/>
                      <a:headEnd type="none" w="med" len="med"/>
                      <a:tailEnd type="none" w="med" len="med"/>
                    </a:lnB>
                    <a:solidFill>
                      <a:srgbClr val="FFFFFF">
                        <a:alpha val="4000"/>
                      </a:srgbClr>
                    </a:solidFill>
                  </a:tcPr>
                </a:tc>
                <a:tc>
                  <a:txBody>
                    <a:bodyPr/>
                    <a:lstStyle/>
                    <a:p>
                      <a:pPr algn="l" indent="0" marL="0">
                        <a:buNone/>
                      </a:pPr>
                      <a:r>
                        <a:rPr lang="en-US" sz="1300" dirty="0">
                          <a:solidFill>
                            <a:srgbClr val="3B3535"/>
                          </a:solidFill>
                          <a:latin typeface="Roboto" pitchFamily="34" charset="0"/>
                          <a:ea typeface="Roboto" pitchFamily="34" charset="-122"/>
                          <a:cs typeface="Roboto" pitchFamily="34" charset="-120"/>
                        </a:rPr>
                        <a:t>Probabilidad de victoria en la partida</a:t>
                      </a:r>
                      <a:endParaRPr lang="en-US" sz="1300" dirty="0">
                        <a:latin typeface="Roboto" charset="0"/>
                        <a:ea typeface="Roboto" charset="0"/>
                        <a:cs typeface="Roboto" charset="0"/>
                      </a:endParaRPr>
                    </a:p>
                  </a:txBody>
                  <a:tcPr marL="165391" marR="165391" marT="6350" marB="6350" anchor="ctr">
                    <a:lnL w="12700" cap="flat" cmpd="sng" algn="ctr">
                      <a:solidFill>
                        <a:srgbClr val="FFFFFF"/>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D8D4D4"/>
                      </a:solidFill>
                      <a:prstDash val="solid"/>
                      <a:round/>
                      <a:headEnd type="none" w="med" len="med"/>
                      <a:tailEnd type="none" w="med" len="med"/>
                    </a:lnB>
                    <a:solidFill>
                      <a:srgbClr val="FFFFFF">
                        <a:alpha val="4000"/>
                      </a:srgbClr>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661475" y="1370013"/>
            <a:ext cx="1505111" cy="251420"/>
          </a:xfrm>
          <a:prstGeom prst="roundRect">
            <a:avLst>
              <a:gd name="adj" fmla="val 3031"/>
            </a:avLst>
          </a:prstGeom>
          <a:solidFill>
            <a:srgbClr val="F9D2D6"/>
          </a:solidFill>
          <a:ln/>
        </p:spPr>
      </p:sp>
      <p:sp>
        <p:nvSpPr>
          <p:cNvPr id="3" name="Text 1"/>
          <p:cNvSpPr/>
          <p:nvPr/>
        </p:nvSpPr>
        <p:spPr>
          <a:xfrm>
            <a:off x="760691" y="1419622"/>
            <a:ext cx="1916263"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¿QUÉ ES UN AGENTE?</a:t>
            </a:r>
            <a:endParaRPr lang="en-US" sz="1000" dirty="0"/>
          </a:p>
        </p:txBody>
      </p:sp>
      <p:sp>
        <p:nvSpPr>
          <p:cNvPr id="4" name="Text 2"/>
          <p:cNvSpPr/>
          <p:nvPr/>
        </p:nvSpPr>
        <p:spPr>
          <a:xfrm>
            <a:off x="661475" y="1687513"/>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De AlphaGo Zero a AlphaZero</a:t>
            </a:r>
            <a:endParaRPr lang="en-US" sz="3250" dirty="0"/>
          </a:p>
        </p:txBody>
      </p:sp>
      <p:sp>
        <p:nvSpPr>
          <p:cNvPr id="5" name="Text 3"/>
          <p:cNvSpPr/>
          <p:nvPr/>
        </p:nvSpPr>
        <p:spPr>
          <a:xfrm>
            <a:off x="661475" y="2452291"/>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La evolución de AlphaGo ilustra uno de los saltos más significativos en la historia de los agentes inteligentes: pasar del aprendizaje con datos humanos a la </a:t>
            </a:r>
            <a:pPr algn="l" indent="0" marL="0">
              <a:lnSpc>
                <a:spcPct val="133000"/>
              </a:lnSpc>
              <a:buNone/>
            </a:pPr>
            <a:r>
              <a:rPr lang="en-US" sz="1300" b="1" dirty="0">
                <a:solidFill>
                  <a:srgbClr val="3B3535"/>
                </a:solidFill>
                <a:latin typeface="Roboto Bold" pitchFamily="34" charset="0"/>
                <a:ea typeface="Roboto Bold" pitchFamily="34" charset="-122"/>
                <a:cs typeface="Roboto Bold" pitchFamily="34" charset="-120"/>
              </a:rPr>
              <a:t>generalización pura</a:t>
            </a:r>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a:t>
            </a:r>
            <a:endParaRPr lang="en-US" sz="130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3167559"/>
            <a:ext cx="330688" cy="330696"/>
          </a:xfrm>
          <a:prstGeom prst="rect">
            <a:avLst/>
          </a:prstGeom>
        </p:spPr>
      </p:pic>
      <p:sp>
        <p:nvSpPr>
          <p:cNvPr id="7" name="Text 4"/>
          <p:cNvSpPr/>
          <p:nvPr/>
        </p:nvSpPr>
        <p:spPr>
          <a:xfrm>
            <a:off x="1198830" y="3224411"/>
            <a:ext cx="2947715"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AlphaGo</a:t>
            </a:r>
            <a:endParaRPr lang="en-US" sz="1600" dirty="0"/>
          </a:p>
        </p:txBody>
      </p:sp>
      <p:sp>
        <p:nvSpPr>
          <p:cNvPr id="8" name="Text 5"/>
          <p:cNvSpPr/>
          <p:nvPr/>
        </p:nvSpPr>
        <p:spPr>
          <a:xfrm>
            <a:off x="1198830" y="3582095"/>
            <a:ext cx="2947715"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Aprende de partidas humanas. Requiere datos de expertos como punto de partida.</a:t>
            </a:r>
            <a:endParaRPr lang="en-US" sz="130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53213" y="3167559"/>
            <a:ext cx="330688" cy="330696"/>
          </a:xfrm>
          <a:prstGeom prst="rect">
            <a:avLst/>
          </a:prstGeom>
        </p:spPr>
      </p:pic>
      <p:sp>
        <p:nvSpPr>
          <p:cNvPr id="10" name="Text 6"/>
          <p:cNvSpPr/>
          <p:nvPr/>
        </p:nvSpPr>
        <p:spPr>
          <a:xfrm>
            <a:off x="4890568" y="3224411"/>
            <a:ext cx="2947815"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AlphaGo Zero</a:t>
            </a:r>
            <a:endParaRPr lang="en-US" sz="1600" dirty="0"/>
          </a:p>
        </p:txBody>
      </p:sp>
      <p:sp>
        <p:nvSpPr>
          <p:cNvPr id="11" name="Text 7"/>
          <p:cNvSpPr/>
          <p:nvPr/>
        </p:nvSpPr>
        <p:spPr>
          <a:xfrm>
            <a:off x="4890568" y="3582095"/>
            <a:ext cx="2947815"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Aprende desde cero sin datos humanos, solo autojuego y retroalimentación. Red neuronal unificada política-valor + MCTS.</a:t>
            </a:r>
            <a:endParaRPr lang="en-US" sz="130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45050" y="3167559"/>
            <a:ext cx="330688" cy="330696"/>
          </a:xfrm>
          <a:prstGeom prst="rect">
            <a:avLst/>
          </a:prstGeom>
        </p:spPr>
      </p:pic>
      <p:sp>
        <p:nvSpPr>
          <p:cNvPr id="13" name="Text 8"/>
          <p:cNvSpPr/>
          <p:nvPr/>
        </p:nvSpPr>
        <p:spPr>
          <a:xfrm>
            <a:off x="8582406" y="3224411"/>
            <a:ext cx="2947815"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AlphaZero</a:t>
            </a:r>
            <a:endParaRPr lang="en-US" sz="1600" dirty="0"/>
          </a:p>
        </p:txBody>
      </p:sp>
      <p:sp>
        <p:nvSpPr>
          <p:cNvPr id="14" name="Text 9"/>
          <p:cNvSpPr/>
          <p:nvPr/>
        </p:nvSpPr>
        <p:spPr>
          <a:xfrm>
            <a:off x="8582406" y="3582095"/>
            <a:ext cx="2947815"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Generaliza a múltiples juegos (ajedrez, shogi, go) sin conocimiento previo. Mismo algoritmo, distintos juegos.</a:t>
            </a:r>
            <a:endParaRPr lang="en-US" sz="1300" dirty="0"/>
          </a:p>
        </p:txBody>
      </p:sp>
      <p:sp>
        <p:nvSpPr>
          <p:cNvPr id="15" name="Shape 10"/>
          <p:cNvSpPr/>
          <p:nvPr/>
        </p:nvSpPr>
        <p:spPr>
          <a:xfrm>
            <a:off x="661475" y="4826595"/>
            <a:ext cx="10868745" cy="661293"/>
          </a:xfrm>
          <a:prstGeom prst="roundRect">
            <a:avLst>
              <a:gd name="adj" fmla="val 1152"/>
            </a:avLst>
          </a:prstGeom>
          <a:solidFill>
            <a:srgbClr val="F9D2D6"/>
          </a:solidFill>
          <a:ln/>
        </p:spPr>
      </p:sp>
      <p:pic>
        <p:nvPicPr>
          <p:cNvPr id="16" name="Image 3" descr="preencoded.png">    </p:cNvPr>
          <p:cNvPicPr>
            <a:picLocks noChangeAspect="1"/>
          </p:cNvPicPr>
          <p:nvPr/>
        </p:nvPicPr>
        <p:blipFill>
          <a:blip r:embed="rId7"/>
          <a:stretch>
            <a:fillRect/>
          </a:stretch>
        </p:blipFill>
        <p:spPr>
          <a:xfrm>
            <a:off x="826769" y="5066308"/>
            <a:ext cx="206667" cy="165298"/>
          </a:xfrm>
          <a:prstGeom prst="rect">
            <a:avLst/>
          </a:prstGeom>
        </p:spPr>
      </p:pic>
      <p:sp>
        <p:nvSpPr>
          <p:cNvPr id="17" name="Text 11"/>
          <p:cNvSpPr/>
          <p:nvPr/>
        </p:nvSpPr>
        <p:spPr>
          <a:xfrm>
            <a:off x="1198731" y="5033169"/>
            <a:ext cx="10775780" cy="264616"/>
          </a:xfrm>
          <a:prstGeom prst="rect">
            <a:avLst/>
          </a:prstGeom>
          <a:noFill/>
          <a:ln/>
        </p:spPr>
        <p:txBody>
          <a:bodyPr wrap="none" lIns="0" tIns="0" rIns="0" bIns="0" rtlCol="0" anchor="t"/>
          <a:lstStyle/>
          <a:p>
            <a:pPr algn="l" indent="0" marL="0">
              <a:lnSpc>
                <a:spcPct val="133000"/>
              </a:lnSpc>
              <a:buNone/>
            </a:pPr>
            <a:r>
              <a:rPr lang="en-US" sz="1300" dirty="0">
                <a:solidFill>
                  <a:srgbClr val="000000"/>
                </a:solidFill>
                <a:latin typeface="Roboto" pitchFamily="34" charset="0"/>
                <a:ea typeface="Roboto" pitchFamily="34" charset="-122"/>
                <a:cs typeface="Roboto" pitchFamily="34" charset="-120"/>
              </a:rPr>
              <a:t>La métrica de performance es universal: tasa de victorias (ganar &gt; empatar &gt; perder).</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661475" y="525363"/>
            <a:ext cx="1505111" cy="251420"/>
          </a:xfrm>
          <a:prstGeom prst="roundRect">
            <a:avLst>
              <a:gd name="adj" fmla="val 3031"/>
            </a:avLst>
          </a:prstGeom>
          <a:solidFill>
            <a:srgbClr val="F9D2D6"/>
          </a:solidFill>
          <a:ln/>
        </p:spPr>
      </p:sp>
      <p:sp>
        <p:nvSpPr>
          <p:cNvPr id="3" name="Text 1"/>
          <p:cNvSpPr/>
          <p:nvPr/>
        </p:nvSpPr>
        <p:spPr>
          <a:xfrm>
            <a:off x="760691" y="574973"/>
            <a:ext cx="1916263"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¿QUÉ ES UN AGENTE?</a:t>
            </a:r>
            <a:endParaRPr lang="en-US" sz="1000" dirty="0"/>
          </a:p>
        </p:txBody>
      </p:sp>
      <p:sp>
        <p:nvSpPr>
          <p:cNvPr id="4" name="Text 2"/>
          <p:cNvSpPr/>
          <p:nvPr/>
        </p:nvSpPr>
        <p:spPr>
          <a:xfrm>
            <a:off x="661475" y="842863"/>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Tipos de Ambientes</a:t>
            </a:r>
            <a:endParaRPr lang="en-US" sz="3250" dirty="0"/>
          </a:p>
        </p:txBody>
      </p:sp>
      <p:sp>
        <p:nvSpPr>
          <p:cNvPr id="5" name="Text 3"/>
          <p:cNvSpPr/>
          <p:nvPr/>
        </p:nvSpPr>
        <p:spPr>
          <a:xfrm>
            <a:off x="661475" y="1607641"/>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La naturaleza del ambiente determina en gran medida la complejidad del agente necesario para operar en él. Estas son las dimensiones fundamentales de clasificación:</a:t>
            </a:r>
            <a:endParaRPr lang="en-US" sz="130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322909"/>
            <a:ext cx="330688" cy="330696"/>
          </a:xfrm>
          <a:prstGeom prst="rect">
            <a:avLst/>
          </a:prstGeom>
        </p:spPr>
      </p:pic>
      <p:sp>
        <p:nvSpPr>
          <p:cNvPr id="7" name="Text 4"/>
          <p:cNvSpPr/>
          <p:nvPr/>
        </p:nvSpPr>
        <p:spPr>
          <a:xfrm>
            <a:off x="1198830" y="2379762"/>
            <a:ext cx="2947715"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Observable</a:t>
            </a:r>
            <a:endParaRPr lang="en-US" sz="1600" dirty="0"/>
          </a:p>
        </p:txBody>
      </p:sp>
      <p:sp>
        <p:nvSpPr>
          <p:cNvPr id="8" name="Text 5"/>
          <p:cNvSpPr/>
          <p:nvPr/>
        </p:nvSpPr>
        <p:spPr>
          <a:xfrm>
            <a:off x="1198830" y="2737445"/>
            <a:ext cx="294771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Completamente observable vs. Parcialmente observable</a:t>
            </a:r>
            <a:endParaRPr lang="en-US" sz="130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53213" y="2322909"/>
            <a:ext cx="330688" cy="330696"/>
          </a:xfrm>
          <a:prstGeom prst="rect">
            <a:avLst/>
          </a:prstGeom>
        </p:spPr>
      </p:pic>
      <p:sp>
        <p:nvSpPr>
          <p:cNvPr id="10" name="Text 6"/>
          <p:cNvSpPr/>
          <p:nvPr/>
        </p:nvSpPr>
        <p:spPr>
          <a:xfrm>
            <a:off x="4890568" y="2379762"/>
            <a:ext cx="2947815"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Agentes</a:t>
            </a:r>
            <a:endParaRPr lang="en-US" sz="1600" dirty="0"/>
          </a:p>
        </p:txBody>
      </p:sp>
      <p:sp>
        <p:nvSpPr>
          <p:cNvPr id="11" name="Text 7"/>
          <p:cNvSpPr/>
          <p:nvPr/>
        </p:nvSpPr>
        <p:spPr>
          <a:xfrm>
            <a:off x="4890568" y="2737445"/>
            <a:ext cx="2947815" cy="264616"/>
          </a:xfrm>
          <a:prstGeom prst="rect">
            <a:avLst/>
          </a:prstGeom>
          <a:noFill/>
          <a:ln/>
        </p:spPr>
        <p:txBody>
          <a:bodyPr wrap="none" lIns="0" tIns="0" rIns="0" bIns="0" rtlCol="0" anchor="t"/>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Un agente vs. Multi-agente</a:t>
            </a:r>
            <a:endParaRPr lang="en-US" sz="130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45050" y="2322909"/>
            <a:ext cx="330688" cy="330696"/>
          </a:xfrm>
          <a:prstGeom prst="rect">
            <a:avLst/>
          </a:prstGeom>
        </p:spPr>
      </p:pic>
      <p:sp>
        <p:nvSpPr>
          <p:cNvPr id="13" name="Text 8"/>
          <p:cNvSpPr/>
          <p:nvPr/>
        </p:nvSpPr>
        <p:spPr>
          <a:xfrm>
            <a:off x="8582406" y="2379762"/>
            <a:ext cx="2947815"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Determinismo</a:t>
            </a:r>
            <a:endParaRPr lang="en-US" sz="1600" dirty="0"/>
          </a:p>
        </p:txBody>
      </p:sp>
      <p:sp>
        <p:nvSpPr>
          <p:cNvPr id="14" name="Text 9"/>
          <p:cNvSpPr/>
          <p:nvPr/>
        </p:nvSpPr>
        <p:spPr>
          <a:xfrm>
            <a:off x="8582406" y="2737445"/>
            <a:ext cx="2947815" cy="264616"/>
          </a:xfrm>
          <a:prstGeom prst="rect">
            <a:avLst/>
          </a:prstGeom>
          <a:noFill/>
          <a:ln/>
        </p:spPr>
        <p:txBody>
          <a:bodyPr wrap="none" lIns="0" tIns="0" rIns="0" bIns="0" rtlCol="0" anchor="t"/>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Determinístico vs. Estocástico</a:t>
            </a:r>
            <a:endParaRPr lang="en-US" sz="130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475" y="3597374"/>
            <a:ext cx="330688" cy="330696"/>
          </a:xfrm>
          <a:prstGeom prst="rect">
            <a:avLst/>
          </a:prstGeom>
        </p:spPr>
      </p:pic>
      <p:sp>
        <p:nvSpPr>
          <p:cNvPr id="16" name="Text 10"/>
          <p:cNvSpPr/>
          <p:nvPr/>
        </p:nvSpPr>
        <p:spPr>
          <a:xfrm>
            <a:off x="1198830" y="3654227"/>
            <a:ext cx="2947715" cy="516930"/>
          </a:xfrm>
          <a:prstGeom prst="rect">
            <a:avLst/>
          </a:prstGeom>
          <a:noFill/>
          <a:ln/>
        </p:spPr>
        <p:txBody>
          <a:bodyPr wrap="square" lIns="0" tIns="0" rIns="0" bIns="0" rtlCol="0" anchor="t">
            <a:normAutofit/>
          </a:bodyPr>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Episódico vs. Secuencial</a:t>
            </a:r>
            <a:endParaRPr lang="en-US" sz="1600" dirty="0"/>
          </a:p>
        </p:txBody>
      </p:sp>
      <p:sp>
        <p:nvSpPr>
          <p:cNvPr id="17" name="Text 11"/>
          <p:cNvSpPr/>
          <p:nvPr/>
        </p:nvSpPr>
        <p:spPr>
          <a:xfrm>
            <a:off x="1198830" y="4270375"/>
            <a:ext cx="294771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Acciones independientes vs. acciones con consecuencias a largo plazo</a:t>
            </a:r>
            <a:endParaRPr lang="en-US" sz="1300" dirty="0"/>
          </a:p>
        </p:txBody>
      </p:sp>
      <p:pic>
        <p:nvPicPr>
          <p:cNvPr id="18"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53213" y="3597374"/>
            <a:ext cx="330688" cy="330696"/>
          </a:xfrm>
          <a:prstGeom prst="rect">
            <a:avLst/>
          </a:prstGeom>
        </p:spPr>
      </p:pic>
      <p:sp>
        <p:nvSpPr>
          <p:cNvPr id="19" name="Text 12"/>
          <p:cNvSpPr/>
          <p:nvPr/>
        </p:nvSpPr>
        <p:spPr>
          <a:xfrm>
            <a:off x="4890568" y="3654227"/>
            <a:ext cx="2947815"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Estático vs. Dinámico</a:t>
            </a:r>
            <a:endParaRPr lang="en-US" sz="1600" dirty="0"/>
          </a:p>
        </p:txBody>
      </p:sp>
      <p:sp>
        <p:nvSpPr>
          <p:cNvPr id="20" name="Text 13"/>
          <p:cNvSpPr/>
          <p:nvPr/>
        </p:nvSpPr>
        <p:spPr>
          <a:xfrm>
            <a:off x="4890568" y="4011910"/>
            <a:ext cx="294781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El ambiente cambia o no mientras el agente delibera</a:t>
            </a:r>
            <a:endParaRPr lang="en-US" sz="1300" dirty="0"/>
          </a:p>
        </p:txBody>
      </p:sp>
      <p:pic>
        <p:nvPicPr>
          <p:cNvPr id="21"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045050" y="3597374"/>
            <a:ext cx="330688" cy="330696"/>
          </a:xfrm>
          <a:prstGeom prst="rect">
            <a:avLst/>
          </a:prstGeom>
        </p:spPr>
      </p:pic>
      <p:sp>
        <p:nvSpPr>
          <p:cNvPr id="22" name="Text 14"/>
          <p:cNvSpPr/>
          <p:nvPr/>
        </p:nvSpPr>
        <p:spPr>
          <a:xfrm>
            <a:off x="8582406" y="3654227"/>
            <a:ext cx="2947815"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Discreto vs. Continuo</a:t>
            </a:r>
            <a:endParaRPr lang="en-US" sz="1600" dirty="0"/>
          </a:p>
        </p:txBody>
      </p:sp>
      <p:sp>
        <p:nvSpPr>
          <p:cNvPr id="23" name="Text 15"/>
          <p:cNvSpPr/>
          <p:nvPr/>
        </p:nvSpPr>
        <p:spPr>
          <a:xfrm>
            <a:off x="8582406" y="4011910"/>
            <a:ext cx="2947815" cy="264616"/>
          </a:xfrm>
          <a:prstGeom prst="rect">
            <a:avLst/>
          </a:prstGeom>
          <a:noFill/>
          <a:ln/>
        </p:spPr>
        <p:txBody>
          <a:bodyPr wrap="none" lIns="0" tIns="0" rIns="0" bIns="0" rtlCol="0" anchor="t"/>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Estados y acciones finitos vs. infinitos</a:t>
            </a:r>
            <a:endParaRPr lang="en-US" sz="1300" dirty="0"/>
          </a:p>
        </p:txBody>
      </p:sp>
      <p:pic>
        <p:nvPicPr>
          <p:cNvPr id="24"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61475" y="5130304"/>
            <a:ext cx="330688" cy="330696"/>
          </a:xfrm>
          <a:prstGeom prst="rect">
            <a:avLst/>
          </a:prstGeom>
        </p:spPr>
      </p:pic>
      <p:sp>
        <p:nvSpPr>
          <p:cNvPr id="25" name="Text 16"/>
          <p:cNvSpPr/>
          <p:nvPr/>
        </p:nvSpPr>
        <p:spPr>
          <a:xfrm>
            <a:off x="1198830" y="5187156"/>
            <a:ext cx="2947715" cy="516930"/>
          </a:xfrm>
          <a:prstGeom prst="rect">
            <a:avLst/>
          </a:prstGeom>
          <a:noFill/>
          <a:ln/>
        </p:spPr>
        <p:txBody>
          <a:bodyPr wrap="square" lIns="0" tIns="0" rIns="0" bIns="0" rtlCol="0" anchor="t">
            <a:normAutofit/>
          </a:bodyPr>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Conocido vs. Desconocido</a:t>
            </a:r>
            <a:endParaRPr lang="en-US" sz="1600" dirty="0"/>
          </a:p>
        </p:txBody>
      </p:sp>
      <p:sp>
        <p:nvSpPr>
          <p:cNvPr id="26" name="Text 17"/>
          <p:cNvSpPr/>
          <p:nvPr/>
        </p:nvSpPr>
        <p:spPr>
          <a:xfrm>
            <a:off x="1198830" y="5803305"/>
            <a:ext cx="294771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El agente conoce o no las reglas del ambiente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661475" y="753566"/>
            <a:ext cx="1505111" cy="251420"/>
          </a:xfrm>
          <a:prstGeom prst="roundRect">
            <a:avLst>
              <a:gd name="adj" fmla="val 3031"/>
            </a:avLst>
          </a:prstGeom>
          <a:solidFill>
            <a:srgbClr val="F9D2D6"/>
          </a:solidFill>
          <a:ln/>
        </p:spPr>
      </p:sp>
      <p:sp>
        <p:nvSpPr>
          <p:cNvPr id="3" name="Text 1"/>
          <p:cNvSpPr/>
          <p:nvPr/>
        </p:nvSpPr>
        <p:spPr>
          <a:xfrm>
            <a:off x="760691" y="803176"/>
            <a:ext cx="1916263"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¿QUÉ ES UN AGENTE?</a:t>
            </a:r>
            <a:endParaRPr lang="en-US" sz="1000" dirty="0"/>
          </a:p>
        </p:txBody>
      </p:sp>
      <p:sp>
        <p:nvSpPr>
          <p:cNvPr id="4" name="Text 2"/>
          <p:cNvSpPr/>
          <p:nvPr/>
        </p:nvSpPr>
        <p:spPr>
          <a:xfrm>
            <a:off x="661475" y="1071066"/>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Dificultad de Ambientes</a:t>
            </a:r>
            <a:endParaRPr lang="en-US" sz="3250" dirty="0"/>
          </a:p>
        </p:txBody>
      </p:sp>
      <p:sp>
        <p:nvSpPr>
          <p:cNvPr id="5" name="Text 3"/>
          <p:cNvSpPr/>
          <p:nvPr/>
        </p:nvSpPr>
        <p:spPr>
          <a:xfrm>
            <a:off x="661475" y="1835845"/>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Las dimensiones del ambiente se combinan para determinar cuán desafiante resulta operar en él. El espectro va de problemas triviales a extraordinariamente complejos.</a:t>
            </a:r>
            <a:endParaRPr lang="en-US" sz="1300" dirty="0"/>
          </a:p>
        </p:txBody>
      </p:sp>
      <p:sp>
        <p:nvSpPr>
          <p:cNvPr id="6" name="Shape 4"/>
          <p:cNvSpPr/>
          <p:nvPr/>
        </p:nvSpPr>
        <p:spPr>
          <a:xfrm>
            <a:off x="2472866" y="2551113"/>
            <a:ext cx="1811391" cy="952897"/>
          </a:xfrm>
          <a:prstGeom prst="roundRect">
            <a:avLst>
              <a:gd name="adj" fmla="val 800"/>
            </a:avLst>
          </a:prstGeom>
          <a:solidFill>
            <a:srgbClr val="F2EEEE"/>
          </a:solidFill>
          <a:ln w="6350">
            <a:solidFill>
              <a:srgbClr val="D8D4D4"/>
            </a:solidFill>
            <a:prstDash val="solid"/>
          </a:ln>
        </p:spPr>
      </p:sp>
      <p:sp>
        <p:nvSpPr>
          <p:cNvPr id="7" name="Text 5"/>
          <p:cNvSpPr/>
          <p:nvPr/>
        </p:nvSpPr>
        <p:spPr>
          <a:xfrm>
            <a:off x="3262231" y="2882205"/>
            <a:ext cx="232563" cy="290711"/>
          </a:xfrm>
          <a:prstGeom prst="rect">
            <a:avLst/>
          </a:prstGeom>
          <a:noFill/>
          <a:ln/>
        </p:spPr>
        <p:txBody>
          <a:bodyPr wrap="none" lIns="0" tIns="0" rIns="0" bIns="0" rtlCol="0" anchor="ctr"/>
          <a:lstStyle/>
          <a:p>
            <a:pPr algn="ctr" indent="0" marL="0">
              <a:lnSpc>
                <a:spcPct val="100000"/>
              </a:lnSpc>
              <a:buNone/>
            </a:pPr>
            <a:r>
              <a:rPr lang="en-US" sz="1800" dirty="0">
                <a:solidFill>
                  <a:srgbClr val="3B3535"/>
                </a:solidFill>
                <a:latin typeface="Roboto Mono Medium" pitchFamily="34" charset="0"/>
                <a:ea typeface="Roboto Mono Medium" pitchFamily="34" charset="-122"/>
                <a:cs typeface="Roboto Mono Medium" pitchFamily="34" charset="-120"/>
              </a:rPr>
              <a:t>1</a:t>
            </a:r>
            <a:endParaRPr lang="en-US" sz="1800" dirty="0"/>
          </a:p>
        </p:txBody>
      </p:sp>
      <p:sp>
        <p:nvSpPr>
          <p:cNvPr id="8" name="Text 6"/>
          <p:cNvSpPr/>
          <p:nvPr/>
        </p:nvSpPr>
        <p:spPr>
          <a:xfrm>
            <a:off x="4449552" y="2716411"/>
            <a:ext cx="6915374"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Crucigrama</a:t>
            </a:r>
            <a:endParaRPr lang="en-US" sz="1600" dirty="0"/>
          </a:p>
        </p:txBody>
      </p:sp>
      <p:sp>
        <p:nvSpPr>
          <p:cNvPr id="9" name="Text 7"/>
          <p:cNvSpPr/>
          <p:nvPr/>
        </p:nvSpPr>
        <p:spPr>
          <a:xfrm>
            <a:off x="4449552" y="3074095"/>
            <a:ext cx="6915374" cy="264616"/>
          </a:xfrm>
          <a:prstGeom prst="rect">
            <a:avLst/>
          </a:prstGeom>
          <a:noFill/>
          <a:ln/>
        </p:spPr>
        <p:txBody>
          <a:bodyPr wrap="none" lIns="0" tIns="0" rIns="0" bIns="0" rtlCol="0" anchor="t"/>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Fácil: observable, determinístico, estático. Un solo agente.</a:t>
            </a:r>
            <a:endParaRPr lang="en-US" sz="1300" dirty="0"/>
          </a:p>
        </p:txBody>
      </p:sp>
      <p:sp>
        <p:nvSpPr>
          <p:cNvPr id="10" name="Shape 8"/>
          <p:cNvSpPr/>
          <p:nvPr/>
        </p:nvSpPr>
        <p:spPr>
          <a:xfrm>
            <a:off x="4366905" y="3496072"/>
            <a:ext cx="7080668" cy="9525"/>
          </a:xfrm>
          <a:prstGeom prst="roundRect">
            <a:avLst>
              <a:gd name="adj" fmla="val 49999"/>
            </a:avLst>
          </a:prstGeom>
          <a:solidFill>
            <a:srgbClr val="D8D4D4"/>
          </a:solidFill>
          <a:ln/>
        </p:spPr>
      </p:sp>
      <p:sp>
        <p:nvSpPr>
          <p:cNvPr id="11" name="Shape 9"/>
          <p:cNvSpPr/>
          <p:nvPr/>
        </p:nvSpPr>
        <p:spPr>
          <a:xfrm>
            <a:off x="1567121" y="3586659"/>
            <a:ext cx="3622882" cy="1217513"/>
          </a:xfrm>
          <a:prstGeom prst="roundRect">
            <a:avLst>
              <a:gd name="adj" fmla="val 626"/>
            </a:avLst>
          </a:prstGeom>
          <a:solidFill>
            <a:srgbClr val="F2EEEE"/>
          </a:solidFill>
          <a:ln w="6350">
            <a:solidFill>
              <a:srgbClr val="D8D4D4"/>
            </a:solidFill>
            <a:prstDash val="solid"/>
          </a:ln>
        </p:spPr>
      </p:sp>
      <p:sp>
        <p:nvSpPr>
          <p:cNvPr id="12" name="Text 10"/>
          <p:cNvSpPr/>
          <p:nvPr/>
        </p:nvSpPr>
        <p:spPr>
          <a:xfrm>
            <a:off x="3262231" y="4050010"/>
            <a:ext cx="232563" cy="290711"/>
          </a:xfrm>
          <a:prstGeom prst="rect">
            <a:avLst/>
          </a:prstGeom>
          <a:noFill/>
          <a:ln/>
        </p:spPr>
        <p:txBody>
          <a:bodyPr wrap="none" lIns="0" tIns="0" rIns="0" bIns="0" rtlCol="0" anchor="ctr"/>
          <a:lstStyle/>
          <a:p>
            <a:pPr algn="ctr" indent="0" marL="0">
              <a:lnSpc>
                <a:spcPct val="100000"/>
              </a:lnSpc>
              <a:buNone/>
            </a:pPr>
            <a:r>
              <a:rPr lang="en-US" sz="1800" dirty="0">
                <a:solidFill>
                  <a:srgbClr val="3B3535"/>
                </a:solidFill>
                <a:latin typeface="Roboto Mono Medium" pitchFamily="34" charset="0"/>
                <a:ea typeface="Roboto Mono Medium" pitchFamily="34" charset="-122"/>
                <a:cs typeface="Roboto Mono Medium" pitchFamily="34" charset="-120"/>
              </a:rPr>
              <a:t>2</a:t>
            </a:r>
            <a:endParaRPr lang="en-US" sz="1800" dirty="0"/>
          </a:p>
        </p:txBody>
      </p:sp>
      <p:sp>
        <p:nvSpPr>
          <p:cNvPr id="13" name="Text 11"/>
          <p:cNvSpPr/>
          <p:nvPr/>
        </p:nvSpPr>
        <p:spPr>
          <a:xfrm>
            <a:off x="5355297" y="3751957"/>
            <a:ext cx="6009629"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Ajedrez</a:t>
            </a:r>
            <a:endParaRPr lang="en-US" sz="1600" dirty="0"/>
          </a:p>
        </p:txBody>
      </p:sp>
      <p:sp>
        <p:nvSpPr>
          <p:cNvPr id="14" name="Text 12"/>
          <p:cNvSpPr/>
          <p:nvPr/>
        </p:nvSpPr>
        <p:spPr>
          <a:xfrm>
            <a:off x="5355297" y="4109641"/>
            <a:ext cx="6009629"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Medio: observable y determinístico, pero competitivo. Requiere anticipar al oponente.</a:t>
            </a:r>
            <a:endParaRPr lang="en-US" sz="1300" dirty="0"/>
          </a:p>
        </p:txBody>
      </p:sp>
      <p:sp>
        <p:nvSpPr>
          <p:cNvPr id="15" name="Shape 13"/>
          <p:cNvSpPr/>
          <p:nvPr/>
        </p:nvSpPr>
        <p:spPr>
          <a:xfrm>
            <a:off x="5272650" y="4796234"/>
            <a:ext cx="6174923" cy="9525"/>
          </a:xfrm>
          <a:prstGeom prst="roundRect">
            <a:avLst>
              <a:gd name="adj" fmla="val 49999"/>
            </a:avLst>
          </a:prstGeom>
          <a:solidFill>
            <a:srgbClr val="D8D4D4"/>
          </a:solidFill>
          <a:ln/>
        </p:spPr>
      </p:sp>
      <p:sp>
        <p:nvSpPr>
          <p:cNvPr id="16" name="Shape 14"/>
          <p:cNvSpPr/>
          <p:nvPr/>
        </p:nvSpPr>
        <p:spPr>
          <a:xfrm>
            <a:off x="661475" y="4886821"/>
            <a:ext cx="5434373" cy="1217513"/>
          </a:xfrm>
          <a:prstGeom prst="roundRect">
            <a:avLst>
              <a:gd name="adj" fmla="val 626"/>
            </a:avLst>
          </a:prstGeom>
          <a:solidFill>
            <a:srgbClr val="F2EEEE"/>
          </a:solidFill>
          <a:ln w="6350">
            <a:solidFill>
              <a:srgbClr val="D8D4D4"/>
            </a:solidFill>
            <a:prstDash val="solid"/>
          </a:ln>
        </p:spPr>
      </p:sp>
      <p:sp>
        <p:nvSpPr>
          <p:cNvPr id="17" name="Text 15"/>
          <p:cNvSpPr/>
          <p:nvPr/>
        </p:nvSpPr>
        <p:spPr>
          <a:xfrm>
            <a:off x="3262330" y="5350173"/>
            <a:ext cx="232563" cy="290711"/>
          </a:xfrm>
          <a:prstGeom prst="rect">
            <a:avLst/>
          </a:prstGeom>
          <a:noFill/>
          <a:ln/>
        </p:spPr>
        <p:txBody>
          <a:bodyPr wrap="none" lIns="0" tIns="0" rIns="0" bIns="0" rtlCol="0" anchor="ctr"/>
          <a:lstStyle/>
          <a:p>
            <a:pPr algn="ctr" indent="0" marL="0">
              <a:lnSpc>
                <a:spcPct val="100000"/>
              </a:lnSpc>
              <a:buNone/>
            </a:pPr>
            <a:r>
              <a:rPr lang="en-US" sz="1800" dirty="0">
                <a:solidFill>
                  <a:srgbClr val="3B3535"/>
                </a:solidFill>
                <a:latin typeface="Roboto Mono Medium" pitchFamily="34" charset="0"/>
                <a:ea typeface="Roboto Mono Medium" pitchFamily="34" charset="-122"/>
                <a:cs typeface="Roboto Mono Medium" pitchFamily="34" charset="-120"/>
              </a:rPr>
              <a:t>3</a:t>
            </a:r>
            <a:endParaRPr lang="en-US" sz="1800" dirty="0"/>
          </a:p>
        </p:txBody>
      </p:sp>
      <p:sp>
        <p:nvSpPr>
          <p:cNvPr id="18" name="Text 16"/>
          <p:cNvSpPr/>
          <p:nvPr/>
        </p:nvSpPr>
        <p:spPr>
          <a:xfrm>
            <a:off x="6261142" y="5052120"/>
            <a:ext cx="5103784"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Taxi Autónomo</a:t>
            </a:r>
            <a:endParaRPr lang="en-US" sz="1600" dirty="0"/>
          </a:p>
        </p:txBody>
      </p:sp>
      <p:sp>
        <p:nvSpPr>
          <p:cNvPr id="19" name="Text 17"/>
          <p:cNvSpPr/>
          <p:nvPr/>
        </p:nvSpPr>
        <p:spPr>
          <a:xfrm>
            <a:off x="6261142" y="5409803"/>
            <a:ext cx="5103784"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Difícil: parcialmente observable, estocástico, dinámico, continuo, multi-agente.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661475" y="1796752"/>
            <a:ext cx="1505111" cy="251420"/>
          </a:xfrm>
          <a:prstGeom prst="roundRect">
            <a:avLst>
              <a:gd name="adj" fmla="val 3031"/>
            </a:avLst>
          </a:prstGeom>
          <a:solidFill>
            <a:srgbClr val="F9D2D6"/>
          </a:solidFill>
          <a:ln/>
        </p:spPr>
      </p:sp>
      <p:sp>
        <p:nvSpPr>
          <p:cNvPr id="3" name="Text 1"/>
          <p:cNvSpPr/>
          <p:nvPr/>
        </p:nvSpPr>
        <p:spPr>
          <a:xfrm>
            <a:off x="760691" y="1846362"/>
            <a:ext cx="1916263"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¿QUÉ ES UN AGENTE?</a:t>
            </a:r>
            <a:endParaRPr lang="en-US" sz="1000" dirty="0"/>
          </a:p>
        </p:txBody>
      </p:sp>
      <p:sp>
        <p:nvSpPr>
          <p:cNvPr id="4" name="Text 2"/>
          <p:cNvSpPr/>
          <p:nvPr/>
        </p:nvSpPr>
        <p:spPr>
          <a:xfrm>
            <a:off x="661475" y="2114252"/>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¿Por qué todas estas definiciones?</a:t>
            </a:r>
            <a:endParaRPr lang="en-US" sz="3250" dirty="0"/>
          </a:p>
        </p:txBody>
      </p:sp>
      <p:sp>
        <p:nvSpPr>
          <p:cNvPr id="5" name="Text 3"/>
          <p:cNvSpPr/>
          <p:nvPr/>
        </p:nvSpPr>
        <p:spPr>
          <a:xfrm>
            <a:off x="661475" y="2879030"/>
            <a:ext cx="11478330" cy="264616"/>
          </a:xfrm>
          <a:prstGeom prst="rect">
            <a:avLst/>
          </a:prstGeom>
          <a:noFill/>
          <a:ln/>
        </p:spPr>
        <p:txBody>
          <a:bodyPr wrap="none" lIns="0" tIns="0" rIns="0" bIns="0" rtlCol="0" anchor="t"/>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La formalización agentica no es un ejercicio académico vacío. Tiene tres utilidades prácticas concretas y poderosas:</a:t>
            </a:r>
            <a:endParaRPr lang="en-US" sz="130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3329682"/>
            <a:ext cx="330688" cy="330696"/>
          </a:xfrm>
          <a:prstGeom prst="rect">
            <a:avLst/>
          </a:prstGeom>
        </p:spPr>
      </p:pic>
      <p:sp>
        <p:nvSpPr>
          <p:cNvPr id="7" name="Text 4"/>
          <p:cNvSpPr/>
          <p:nvPr/>
        </p:nvSpPr>
        <p:spPr>
          <a:xfrm>
            <a:off x="1198830" y="3386534"/>
            <a:ext cx="2947715"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Análisis riguroso</a:t>
            </a:r>
            <a:endParaRPr lang="en-US" sz="1600" dirty="0"/>
          </a:p>
        </p:txBody>
      </p:sp>
      <p:sp>
        <p:nvSpPr>
          <p:cNvPr id="8" name="Text 5"/>
          <p:cNvSpPr/>
          <p:nvPr/>
        </p:nvSpPr>
        <p:spPr>
          <a:xfrm>
            <a:off x="1198830" y="3744218"/>
            <a:ext cx="2947715"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Nos obliga a pensar bien en el problema a resolver y analizar todos sus aspectos antes de implementar.</a:t>
            </a:r>
            <a:endParaRPr lang="en-US" sz="130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53213" y="3329682"/>
            <a:ext cx="330688" cy="330696"/>
          </a:xfrm>
          <a:prstGeom prst="rect">
            <a:avLst/>
          </a:prstGeom>
        </p:spPr>
      </p:pic>
      <p:sp>
        <p:nvSpPr>
          <p:cNvPr id="10" name="Text 6"/>
          <p:cNvSpPr/>
          <p:nvPr/>
        </p:nvSpPr>
        <p:spPr>
          <a:xfrm>
            <a:off x="4890568" y="3386534"/>
            <a:ext cx="2947815" cy="516930"/>
          </a:xfrm>
          <a:prstGeom prst="rect">
            <a:avLst/>
          </a:prstGeom>
          <a:noFill/>
          <a:ln/>
        </p:spPr>
        <p:txBody>
          <a:bodyPr wrap="square" lIns="0" tIns="0" rIns="0" bIns="0" rtlCol="0" anchor="t">
            <a:normAutofit/>
          </a:bodyPr>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Reutilización de frameworks</a:t>
            </a:r>
            <a:endParaRPr lang="en-US" sz="1600" dirty="0"/>
          </a:p>
        </p:txBody>
      </p:sp>
      <p:sp>
        <p:nvSpPr>
          <p:cNvPr id="11" name="Text 7"/>
          <p:cNvSpPr/>
          <p:nvPr/>
        </p:nvSpPr>
        <p:spPr>
          <a:xfrm>
            <a:off x="4890568" y="4002683"/>
            <a:ext cx="2947815"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Permite usar frameworks agnósticos que resuelven la formulación agentica. Un mismo algoritmo puede ganar en ajedrez y dirigir un robot.</a:t>
            </a:r>
            <a:endParaRPr lang="en-US" sz="130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45050" y="3329682"/>
            <a:ext cx="330688" cy="330696"/>
          </a:xfrm>
          <a:prstGeom prst="rect">
            <a:avLst/>
          </a:prstGeom>
        </p:spPr>
      </p:pic>
      <p:sp>
        <p:nvSpPr>
          <p:cNvPr id="13" name="Text 8"/>
          <p:cNvSpPr/>
          <p:nvPr/>
        </p:nvSpPr>
        <p:spPr>
          <a:xfrm>
            <a:off x="8582406" y="3386534"/>
            <a:ext cx="2947815"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Decisión informada</a:t>
            </a:r>
            <a:endParaRPr lang="en-US" sz="1600" dirty="0"/>
          </a:p>
        </p:txBody>
      </p:sp>
      <p:sp>
        <p:nvSpPr>
          <p:cNvPr id="14" name="Text 9"/>
          <p:cNvSpPr/>
          <p:nvPr/>
        </p:nvSpPr>
        <p:spPr>
          <a:xfrm>
            <a:off x="8582406" y="3744218"/>
            <a:ext cx="2947815"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Es fundamental saber cuándo vale la pena usar un agente y cuándo una solución más simple es suficiente.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661475" y="1477963"/>
            <a:ext cx="1505111" cy="251420"/>
          </a:xfrm>
          <a:prstGeom prst="roundRect">
            <a:avLst>
              <a:gd name="adj" fmla="val 3031"/>
            </a:avLst>
          </a:prstGeom>
          <a:solidFill>
            <a:srgbClr val="F9D2D6"/>
          </a:solidFill>
          <a:ln/>
        </p:spPr>
      </p:sp>
      <p:sp>
        <p:nvSpPr>
          <p:cNvPr id="3" name="Text 1"/>
          <p:cNvSpPr/>
          <p:nvPr/>
        </p:nvSpPr>
        <p:spPr>
          <a:xfrm>
            <a:off x="760691" y="1527572"/>
            <a:ext cx="1916263"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¿QUÉ ES UN AGENTE?</a:t>
            </a:r>
            <a:endParaRPr lang="en-US" sz="1000" dirty="0"/>
          </a:p>
        </p:txBody>
      </p:sp>
      <p:sp>
        <p:nvSpPr>
          <p:cNvPr id="4" name="Text 2"/>
          <p:cNvSpPr/>
          <p:nvPr/>
        </p:nvSpPr>
        <p:spPr>
          <a:xfrm>
            <a:off x="661475" y="1795463"/>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¿Cuándo vale la pena usar agentes?</a:t>
            </a:r>
            <a:endParaRPr lang="en-US" sz="3250" dirty="0"/>
          </a:p>
        </p:txBody>
      </p:sp>
      <p:sp>
        <p:nvSpPr>
          <p:cNvPr id="5" name="Text 3"/>
          <p:cNvSpPr/>
          <p:nvPr/>
        </p:nvSpPr>
        <p:spPr>
          <a:xfrm>
            <a:off x="661475" y="2560241"/>
            <a:ext cx="11478330" cy="264616"/>
          </a:xfrm>
          <a:prstGeom prst="rect">
            <a:avLst/>
          </a:prstGeom>
          <a:noFill/>
          <a:ln/>
        </p:spPr>
        <p:txBody>
          <a:bodyPr wrap="none" lIns="0" tIns="0" rIns="0" bIns="0" rtlCol="0" anchor="t"/>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Los agentes no son la solución a todo. Estas son las condiciones que justifican su uso frente a soluciones determinísticas más simples:</a:t>
            </a:r>
            <a:endParaRPr lang="en-US" sz="130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23485" y="3015952"/>
            <a:ext cx="248041" cy="248047"/>
          </a:xfrm>
          <a:prstGeom prst="rect">
            <a:avLst/>
          </a:prstGeom>
        </p:spPr>
      </p:pic>
      <p:sp>
        <p:nvSpPr>
          <p:cNvPr id="7" name="Text 4"/>
          <p:cNvSpPr/>
          <p:nvPr/>
        </p:nvSpPr>
        <p:spPr>
          <a:xfrm>
            <a:off x="1198830" y="3010892"/>
            <a:ext cx="4793634" cy="516930"/>
          </a:xfrm>
          <a:prstGeom prst="rect">
            <a:avLst/>
          </a:prstGeom>
          <a:noFill/>
          <a:ln/>
        </p:spPr>
        <p:txBody>
          <a:bodyPr wrap="square" lIns="0" tIns="0" rIns="0" bIns="0" rtlCol="0" anchor="t">
            <a:normAutofit/>
          </a:bodyPr>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Múltiples herramientas en orden variable</a:t>
            </a:r>
            <a:endParaRPr lang="en-US" sz="1600" dirty="0"/>
          </a:p>
        </p:txBody>
      </p:sp>
      <p:sp>
        <p:nvSpPr>
          <p:cNvPr id="8" name="Text 5"/>
          <p:cNvSpPr/>
          <p:nvPr/>
        </p:nvSpPr>
        <p:spPr>
          <a:xfrm>
            <a:off x="1198830" y="3627041"/>
            <a:ext cx="4793634"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Cuando la solución requiere usar varias herramientas, en múltiples órdenes y de distintas maneras según el contexto.</a:t>
            </a:r>
            <a:endParaRPr lang="en-US" sz="130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61142" y="3015952"/>
            <a:ext cx="248041" cy="248047"/>
          </a:xfrm>
          <a:prstGeom prst="rect">
            <a:avLst/>
          </a:prstGeom>
        </p:spPr>
      </p:pic>
      <p:sp>
        <p:nvSpPr>
          <p:cNvPr id="10" name="Text 6"/>
          <p:cNvSpPr/>
          <p:nvPr/>
        </p:nvSpPr>
        <p:spPr>
          <a:xfrm>
            <a:off x="6736487" y="3010892"/>
            <a:ext cx="4793733"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Interpretación dinámica de resultados</a:t>
            </a:r>
            <a:endParaRPr lang="en-US" sz="1600" dirty="0"/>
          </a:p>
        </p:txBody>
      </p:sp>
      <p:sp>
        <p:nvSpPr>
          <p:cNvPr id="11" name="Text 7"/>
          <p:cNvSpPr/>
          <p:nvPr/>
        </p:nvSpPr>
        <p:spPr>
          <a:xfrm>
            <a:off x="6736487" y="3368576"/>
            <a:ext cx="4793733"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Cuando hay que interpretar y relacionar apropiadamente resultados en tiempo de ejecución, adaptando el comportamiento.</a:t>
            </a:r>
            <a:endParaRPr lang="en-US" sz="130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3485" y="4498181"/>
            <a:ext cx="248041" cy="248047"/>
          </a:xfrm>
          <a:prstGeom prst="rect">
            <a:avLst/>
          </a:prstGeom>
        </p:spPr>
      </p:pic>
      <p:sp>
        <p:nvSpPr>
          <p:cNvPr id="13" name="Text 8"/>
          <p:cNvSpPr/>
          <p:nvPr/>
        </p:nvSpPr>
        <p:spPr>
          <a:xfrm>
            <a:off x="1198830" y="4493121"/>
            <a:ext cx="4793634"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Orquestación variable de sistemas</a:t>
            </a:r>
            <a:endParaRPr lang="en-US" sz="1600" dirty="0"/>
          </a:p>
        </p:txBody>
      </p:sp>
      <p:sp>
        <p:nvSpPr>
          <p:cNvPr id="14" name="Text 9"/>
          <p:cNvSpPr/>
          <p:nvPr/>
        </p:nvSpPr>
        <p:spPr>
          <a:xfrm>
            <a:off x="1198830" y="4850805"/>
            <a:ext cx="4793634"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Cuando hay que sincronizar y/u orquestar distintos sistemas de manera variable según las circunstancias.</a:t>
            </a:r>
            <a:endParaRPr lang="en-US" sz="130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61142" y="4498181"/>
            <a:ext cx="248041" cy="248047"/>
          </a:xfrm>
          <a:prstGeom prst="rect">
            <a:avLst/>
          </a:prstGeom>
        </p:spPr>
      </p:pic>
      <p:sp>
        <p:nvSpPr>
          <p:cNvPr id="16" name="Text 10"/>
          <p:cNvSpPr/>
          <p:nvPr/>
        </p:nvSpPr>
        <p:spPr>
          <a:xfrm>
            <a:off x="6736487" y="4493121"/>
            <a:ext cx="4793733"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Solución determinística insuficiente</a:t>
            </a:r>
            <a:endParaRPr lang="en-US" sz="1600" dirty="0"/>
          </a:p>
        </p:txBody>
      </p:sp>
      <p:sp>
        <p:nvSpPr>
          <p:cNvPr id="17" name="Text 11"/>
          <p:cNvSpPr/>
          <p:nvPr/>
        </p:nvSpPr>
        <p:spPr>
          <a:xfrm>
            <a:off x="6736487" y="4850805"/>
            <a:ext cx="4793733"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Cuando el espacio de posibilidades es demasiado grande o dinámico para ser cubierto con reglas fijas.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661475" y="590054"/>
            <a:ext cx="607997" cy="213717"/>
          </a:xfrm>
          <a:prstGeom prst="roundRect">
            <a:avLst>
              <a:gd name="adj" fmla="val 3565"/>
            </a:avLst>
          </a:prstGeom>
          <a:solidFill>
            <a:srgbClr val="F9D2D6"/>
          </a:solidFill>
          <a:ln/>
        </p:spPr>
      </p:sp>
      <p:sp>
        <p:nvSpPr>
          <p:cNvPr id="3" name="Text 1"/>
          <p:cNvSpPr/>
          <p:nvPr/>
        </p:nvSpPr>
        <p:spPr>
          <a:xfrm>
            <a:off x="745809" y="632222"/>
            <a:ext cx="1048914" cy="129381"/>
          </a:xfrm>
          <a:prstGeom prst="rect">
            <a:avLst/>
          </a:prstGeom>
          <a:noFill/>
          <a:ln/>
        </p:spPr>
        <p:txBody>
          <a:bodyPr wrap="none" lIns="0" tIns="0" rIns="0" bIns="0" rtlCol="0" anchor="t"/>
          <a:lstStyle/>
          <a:p>
            <a:pPr algn="l" indent="0" marL="0">
              <a:lnSpc>
                <a:spcPct val="96000"/>
              </a:lnSpc>
              <a:buNone/>
            </a:pPr>
            <a:r>
              <a:rPr lang="en-US" sz="850" dirty="0">
                <a:solidFill>
                  <a:srgbClr val="3B3535"/>
                </a:solidFill>
                <a:latin typeface="Roboto" pitchFamily="34" charset="0"/>
                <a:ea typeface="Roboto" pitchFamily="34" charset="-122"/>
                <a:cs typeface="Roboto" pitchFamily="34" charset="-120"/>
              </a:rPr>
              <a:t>AGENDA</a:t>
            </a:r>
            <a:endParaRPr lang="en-US" sz="850" dirty="0"/>
          </a:p>
        </p:txBody>
      </p:sp>
      <p:sp>
        <p:nvSpPr>
          <p:cNvPr id="4" name="Text 2"/>
          <p:cNvSpPr/>
          <p:nvPr/>
        </p:nvSpPr>
        <p:spPr>
          <a:xfrm>
            <a:off x="661475" y="851495"/>
            <a:ext cx="10868745" cy="439241"/>
          </a:xfrm>
          <a:prstGeom prst="rect">
            <a:avLst/>
          </a:prstGeom>
          <a:noFill/>
          <a:ln/>
        </p:spPr>
        <p:txBody>
          <a:bodyPr wrap="none" lIns="0" tIns="0" rIns="0" bIns="0" rtlCol="0" anchor="t"/>
          <a:lstStyle/>
          <a:p>
            <a:pPr algn="l" indent="0" marL="0">
              <a:lnSpc>
                <a:spcPct val="104000"/>
              </a:lnSpc>
              <a:buNone/>
            </a:pPr>
            <a:r>
              <a:rPr lang="en-US" sz="2750" dirty="0">
                <a:solidFill>
                  <a:srgbClr val="1F1E1E"/>
                </a:solidFill>
                <a:latin typeface="Roboto Mono Medium" pitchFamily="34" charset="0"/>
                <a:ea typeface="Roboto Mono Medium" pitchFamily="34" charset="-122"/>
                <a:cs typeface="Roboto Mono Medium" pitchFamily="34" charset="-120"/>
              </a:rPr>
              <a:t>Agenda</a:t>
            </a:r>
            <a:endParaRPr lang="en-US" sz="2750" dirty="0"/>
          </a:p>
        </p:txBody>
      </p:sp>
      <p:sp>
        <p:nvSpPr>
          <p:cNvPr id="5" name="Shape 3"/>
          <p:cNvSpPr/>
          <p:nvPr/>
        </p:nvSpPr>
        <p:spPr>
          <a:xfrm>
            <a:off x="6086323" y="1469926"/>
            <a:ext cx="19050" cy="4797921"/>
          </a:xfrm>
          <a:prstGeom prst="roundRect">
            <a:avLst>
              <a:gd name="adj" fmla="val 39999"/>
            </a:avLst>
          </a:prstGeom>
          <a:solidFill>
            <a:srgbClr val="D8D4D4"/>
          </a:solidFill>
          <a:ln/>
        </p:spPr>
      </p:sp>
      <p:sp>
        <p:nvSpPr>
          <p:cNvPr id="6" name="Shape 4"/>
          <p:cNvSpPr/>
          <p:nvPr/>
        </p:nvSpPr>
        <p:spPr>
          <a:xfrm>
            <a:off x="5535077" y="1618555"/>
            <a:ext cx="421669" cy="19050"/>
          </a:xfrm>
          <a:prstGeom prst="roundRect">
            <a:avLst>
              <a:gd name="adj" fmla="val 39999"/>
            </a:avLst>
          </a:prstGeom>
          <a:solidFill>
            <a:srgbClr val="D8D4D4"/>
          </a:solidFill>
          <a:ln/>
        </p:spPr>
      </p:sp>
      <p:sp>
        <p:nvSpPr>
          <p:cNvPr id="7" name="Shape 5"/>
          <p:cNvSpPr/>
          <p:nvPr/>
        </p:nvSpPr>
        <p:spPr>
          <a:xfrm>
            <a:off x="5937697" y="1469926"/>
            <a:ext cx="316301" cy="316309"/>
          </a:xfrm>
          <a:prstGeom prst="roundRect">
            <a:avLst>
              <a:gd name="adj" fmla="val 2409"/>
            </a:avLst>
          </a:prstGeom>
          <a:solidFill>
            <a:srgbClr val="F2EEEE"/>
          </a:solidFill>
          <a:ln w="6350">
            <a:solidFill>
              <a:srgbClr val="D8D4D4"/>
            </a:solidFill>
            <a:prstDash val="solid"/>
          </a:ln>
        </p:spPr>
      </p:sp>
      <p:sp>
        <p:nvSpPr>
          <p:cNvPr id="8" name="Text 6"/>
          <p:cNvSpPr/>
          <p:nvPr/>
        </p:nvSpPr>
        <p:spPr>
          <a:xfrm>
            <a:off x="5990430" y="1496318"/>
            <a:ext cx="210835" cy="263525"/>
          </a:xfrm>
          <a:prstGeom prst="rect">
            <a:avLst/>
          </a:prstGeom>
          <a:noFill/>
          <a:ln/>
        </p:spPr>
        <p:txBody>
          <a:bodyPr wrap="none" lIns="0" tIns="0" rIns="0" bIns="0" rtlCol="0" anchor="ctr"/>
          <a:lstStyle/>
          <a:p>
            <a:pPr algn="ctr" indent="0" marL="0">
              <a:lnSpc>
                <a:spcPct val="100000"/>
              </a:lnSpc>
              <a:buNone/>
            </a:pPr>
            <a:r>
              <a:rPr lang="en-US" sz="1650" dirty="0">
                <a:solidFill>
                  <a:srgbClr val="3B3535"/>
                </a:solidFill>
                <a:latin typeface="Roboto Mono Medium" pitchFamily="34" charset="0"/>
                <a:ea typeface="Roboto Mono Medium" pitchFamily="34" charset="-122"/>
                <a:cs typeface="Roboto Mono Medium" pitchFamily="34" charset="-120"/>
              </a:rPr>
              <a:t>1</a:t>
            </a:r>
            <a:endParaRPr lang="en-US" sz="1650" dirty="0"/>
          </a:p>
        </p:txBody>
      </p:sp>
      <p:sp>
        <p:nvSpPr>
          <p:cNvPr id="9" name="Text 7"/>
          <p:cNvSpPr/>
          <p:nvPr/>
        </p:nvSpPr>
        <p:spPr>
          <a:xfrm>
            <a:off x="661475" y="1518245"/>
            <a:ext cx="4731525" cy="219571"/>
          </a:xfrm>
          <a:prstGeom prst="rect">
            <a:avLst/>
          </a:prstGeom>
          <a:noFill/>
          <a:ln/>
        </p:spPr>
        <p:txBody>
          <a:bodyPr wrap="none" lIns="0" tIns="0" rIns="0" bIns="0" rtlCol="0" anchor="t"/>
          <a:lstStyle/>
          <a:p>
            <a:pPr algn="r" indent="0" marL="0">
              <a:lnSpc>
                <a:spcPct val="104000"/>
              </a:lnSpc>
              <a:buNone/>
            </a:pPr>
            <a:r>
              <a:rPr lang="en-US" sz="1350" dirty="0">
                <a:solidFill>
                  <a:srgbClr val="3B3535"/>
                </a:solidFill>
                <a:latin typeface="Roboto Mono Medium" pitchFamily="34" charset="0"/>
                <a:ea typeface="Roboto Mono Medium" pitchFamily="34" charset="-122"/>
                <a:cs typeface="Roboto Mono Medium" pitchFamily="34" charset="-120"/>
              </a:rPr>
              <a:t>¿Qué es un Agente?</a:t>
            </a:r>
            <a:endParaRPr lang="en-US" sz="1350" dirty="0"/>
          </a:p>
        </p:txBody>
      </p:sp>
      <p:sp>
        <p:nvSpPr>
          <p:cNvPr id="10" name="Text 8"/>
          <p:cNvSpPr/>
          <p:nvPr/>
        </p:nvSpPr>
        <p:spPr>
          <a:xfrm>
            <a:off x="661475" y="1809452"/>
            <a:ext cx="4731525" cy="208062"/>
          </a:xfrm>
          <a:prstGeom prst="rect">
            <a:avLst/>
          </a:prstGeom>
          <a:noFill/>
          <a:ln/>
        </p:spPr>
        <p:txBody>
          <a:bodyPr wrap="none" lIns="0" tIns="0" rIns="0" bIns="0" rtlCol="0" anchor="t"/>
          <a:lstStyle/>
          <a:p>
            <a:pPr algn="r" indent="0" marL="0">
              <a:lnSpc>
                <a:spcPct val="123000"/>
              </a:lnSpc>
              <a:buNone/>
            </a:pPr>
            <a:r>
              <a:rPr lang="en-US" sz="1100" dirty="0">
                <a:solidFill>
                  <a:srgbClr val="3B3535"/>
                </a:solidFill>
                <a:latin typeface="Roboto" pitchFamily="34" charset="0"/>
                <a:ea typeface="Roboto" pitchFamily="34" charset="-122"/>
                <a:cs typeface="Roboto" pitchFamily="34" charset="-120"/>
              </a:rPr>
              <a:t>Definición formal, racionalidad, ejemplos y tipos de ambientes</a:t>
            </a:r>
            <a:endParaRPr lang="en-US" sz="1100" dirty="0"/>
          </a:p>
        </p:txBody>
      </p:sp>
      <p:sp>
        <p:nvSpPr>
          <p:cNvPr id="11" name="Shape 9"/>
          <p:cNvSpPr/>
          <p:nvPr/>
        </p:nvSpPr>
        <p:spPr>
          <a:xfrm>
            <a:off x="6234949" y="2419747"/>
            <a:ext cx="421669" cy="19050"/>
          </a:xfrm>
          <a:prstGeom prst="roundRect">
            <a:avLst>
              <a:gd name="adj" fmla="val 39999"/>
            </a:avLst>
          </a:prstGeom>
          <a:solidFill>
            <a:srgbClr val="D8D4D4"/>
          </a:solidFill>
          <a:ln/>
        </p:spPr>
      </p:sp>
      <p:sp>
        <p:nvSpPr>
          <p:cNvPr id="12" name="Shape 10"/>
          <p:cNvSpPr/>
          <p:nvPr/>
        </p:nvSpPr>
        <p:spPr>
          <a:xfrm>
            <a:off x="5937697" y="2271117"/>
            <a:ext cx="316301" cy="316309"/>
          </a:xfrm>
          <a:prstGeom prst="roundRect">
            <a:avLst>
              <a:gd name="adj" fmla="val 2409"/>
            </a:avLst>
          </a:prstGeom>
          <a:solidFill>
            <a:srgbClr val="F2EEEE"/>
          </a:solidFill>
          <a:ln w="6350">
            <a:solidFill>
              <a:srgbClr val="D8D4D4"/>
            </a:solidFill>
            <a:prstDash val="solid"/>
          </a:ln>
        </p:spPr>
      </p:sp>
      <p:sp>
        <p:nvSpPr>
          <p:cNvPr id="13" name="Text 11"/>
          <p:cNvSpPr/>
          <p:nvPr/>
        </p:nvSpPr>
        <p:spPr>
          <a:xfrm>
            <a:off x="5990430" y="2297509"/>
            <a:ext cx="210835" cy="263525"/>
          </a:xfrm>
          <a:prstGeom prst="rect">
            <a:avLst/>
          </a:prstGeom>
          <a:noFill/>
          <a:ln/>
        </p:spPr>
        <p:txBody>
          <a:bodyPr wrap="none" lIns="0" tIns="0" rIns="0" bIns="0" rtlCol="0" anchor="ctr"/>
          <a:lstStyle/>
          <a:p>
            <a:pPr algn="ctr" indent="0" marL="0">
              <a:lnSpc>
                <a:spcPct val="100000"/>
              </a:lnSpc>
              <a:buNone/>
            </a:pPr>
            <a:r>
              <a:rPr lang="en-US" sz="1650" dirty="0">
                <a:solidFill>
                  <a:srgbClr val="3B3535"/>
                </a:solidFill>
                <a:latin typeface="Roboto Mono Medium" pitchFamily="34" charset="0"/>
                <a:ea typeface="Roboto Mono Medium" pitchFamily="34" charset="-122"/>
                <a:cs typeface="Roboto Mono Medium" pitchFamily="34" charset="-120"/>
              </a:rPr>
              <a:t>2</a:t>
            </a:r>
            <a:endParaRPr lang="en-US" sz="1650" dirty="0"/>
          </a:p>
        </p:txBody>
      </p:sp>
      <p:sp>
        <p:nvSpPr>
          <p:cNvPr id="14" name="Text 12"/>
          <p:cNvSpPr/>
          <p:nvPr/>
        </p:nvSpPr>
        <p:spPr>
          <a:xfrm>
            <a:off x="6798696" y="2319437"/>
            <a:ext cx="4731525" cy="219571"/>
          </a:xfrm>
          <a:prstGeom prst="rect">
            <a:avLst/>
          </a:prstGeom>
          <a:noFill/>
          <a:ln/>
        </p:spPr>
        <p:txBody>
          <a:bodyPr wrap="none" lIns="0" tIns="0" rIns="0" bIns="0" rtlCol="0" anchor="t"/>
          <a:lstStyle/>
          <a:p>
            <a:pPr algn="l" indent="0" marL="0">
              <a:lnSpc>
                <a:spcPct val="104000"/>
              </a:lnSpc>
              <a:buNone/>
            </a:pPr>
            <a:r>
              <a:rPr lang="en-US" sz="1350" dirty="0">
                <a:solidFill>
                  <a:srgbClr val="3B3535"/>
                </a:solidFill>
                <a:latin typeface="Roboto Mono Medium" pitchFamily="34" charset="0"/>
                <a:ea typeface="Roboto Mono Medium" pitchFamily="34" charset="-122"/>
                <a:cs typeface="Roboto Mono Medium" pitchFamily="34" charset="-120"/>
              </a:rPr>
              <a:t>Agentes basados en LLMs</a:t>
            </a:r>
            <a:endParaRPr lang="en-US" sz="1350" dirty="0"/>
          </a:p>
        </p:txBody>
      </p:sp>
      <p:sp>
        <p:nvSpPr>
          <p:cNvPr id="15" name="Text 13"/>
          <p:cNvSpPr/>
          <p:nvPr/>
        </p:nvSpPr>
        <p:spPr>
          <a:xfrm>
            <a:off x="6798696" y="2610644"/>
            <a:ext cx="4731525" cy="208062"/>
          </a:xfrm>
          <a:prstGeom prst="rect">
            <a:avLst/>
          </a:prstGeom>
          <a:noFill/>
          <a:ln/>
        </p:spPr>
        <p:txBody>
          <a:bodyPr wrap="none" lIns="0" tIns="0" rIns="0" bIns="0" rtlCol="0" anchor="t"/>
          <a:lstStyle/>
          <a:p>
            <a:pPr algn="l" indent="0" marL="0">
              <a:lnSpc>
                <a:spcPct val="123000"/>
              </a:lnSpc>
              <a:buNone/>
            </a:pPr>
            <a:r>
              <a:rPr lang="en-US" sz="1100" dirty="0">
                <a:solidFill>
                  <a:srgbClr val="3B3535"/>
                </a:solidFill>
                <a:latin typeface="Roboto" pitchFamily="34" charset="0"/>
                <a:ea typeface="Roboto" pitchFamily="34" charset="-122"/>
                <a:cs typeface="Roboto" pitchFamily="34" charset="-120"/>
              </a:rPr>
              <a:t>Formulación, valor del LLM, arquitectura ReAct y componentes</a:t>
            </a:r>
            <a:endParaRPr lang="en-US" sz="1100" dirty="0"/>
          </a:p>
        </p:txBody>
      </p:sp>
      <p:sp>
        <p:nvSpPr>
          <p:cNvPr id="16" name="Shape 14"/>
          <p:cNvSpPr/>
          <p:nvPr/>
        </p:nvSpPr>
        <p:spPr>
          <a:xfrm>
            <a:off x="5535077" y="3125688"/>
            <a:ext cx="421669" cy="19050"/>
          </a:xfrm>
          <a:prstGeom prst="roundRect">
            <a:avLst>
              <a:gd name="adj" fmla="val 39999"/>
            </a:avLst>
          </a:prstGeom>
          <a:solidFill>
            <a:srgbClr val="D8D4D4"/>
          </a:solidFill>
          <a:ln/>
        </p:spPr>
      </p:sp>
      <p:sp>
        <p:nvSpPr>
          <p:cNvPr id="17" name="Shape 15"/>
          <p:cNvSpPr/>
          <p:nvPr/>
        </p:nvSpPr>
        <p:spPr>
          <a:xfrm>
            <a:off x="5937697" y="2977059"/>
            <a:ext cx="316301" cy="316309"/>
          </a:xfrm>
          <a:prstGeom prst="roundRect">
            <a:avLst>
              <a:gd name="adj" fmla="val 2409"/>
            </a:avLst>
          </a:prstGeom>
          <a:solidFill>
            <a:srgbClr val="F2EEEE"/>
          </a:solidFill>
          <a:ln w="6350">
            <a:solidFill>
              <a:srgbClr val="D8D4D4"/>
            </a:solidFill>
            <a:prstDash val="solid"/>
          </a:ln>
        </p:spPr>
      </p:sp>
      <p:sp>
        <p:nvSpPr>
          <p:cNvPr id="18" name="Text 16"/>
          <p:cNvSpPr/>
          <p:nvPr/>
        </p:nvSpPr>
        <p:spPr>
          <a:xfrm>
            <a:off x="5990430" y="3003451"/>
            <a:ext cx="210835" cy="263525"/>
          </a:xfrm>
          <a:prstGeom prst="rect">
            <a:avLst/>
          </a:prstGeom>
          <a:noFill/>
          <a:ln/>
        </p:spPr>
        <p:txBody>
          <a:bodyPr wrap="none" lIns="0" tIns="0" rIns="0" bIns="0" rtlCol="0" anchor="ctr"/>
          <a:lstStyle/>
          <a:p>
            <a:pPr algn="ctr" indent="0" marL="0">
              <a:lnSpc>
                <a:spcPct val="100000"/>
              </a:lnSpc>
              <a:buNone/>
            </a:pPr>
            <a:r>
              <a:rPr lang="en-US" sz="1650" dirty="0">
                <a:solidFill>
                  <a:srgbClr val="3B3535"/>
                </a:solidFill>
                <a:latin typeface="Roboto Mono Medium" pitchFamily="34" charset="0"/>
                <a:ea typeface="Roboto Mono Medium" pitchFamily="34" charset="-122"/>
                <a:cs typeface="Roboto Mono Medium" pitchFamily="34" charset="-120"/>
              </a:rPr>
              <a:t>3</a:t>
            </a:r>
            <a:endParaRPr lang="en-US" sz="1650" dirty="0"/>
          </a:p>
        </p:txBody>
      </p:sp>
      <p:sp>
        <p:nvSpPr>
          <p:cNvPr id="19" name="Text 17"/>
          <p:cNvSpPr/>
          <p:nvPr/>
        </p:nvSpPr>
        <p:spPr>
          <a:xfrm>
            <a:off x="661475" y="3025378"/>
            <a:ext cx="4731525" cy="219571"/>
          </a:xfrm>
          <a:prstGeom prst="rect">
            <a:avLst/>
          </a:prstGeom>
          <a:noFill/>
          <a:ln/>
        </p:spPr>
        <p:txBody>
          <a:bodyPr wrap="none" lIns="0" tIns="0" rIns="0" bIns="0" rtlCol="0" anchor="t"/>
          <a:lstStyle/>
          <a:p>
            <a:pPr algn="r" indent="0" marL="0">
              <a:lnSpc>
                <a:spcPct val="104000"/>
              </a:lnSpc>
              <a:buNone/>
            </a:pPr>
            <a:r>
              <a:rPr lang="en-US" sz="1350" dirty="0">
                <a:solidFill>
                  <a:srgbClr val="3B3535"/>
                </a:solidFill>
                <a:latin typeface="Roboto Mono Medium" pitchFamily="34" charset="0"/>
                <a:ea typeface="Roboto Mono Medium" pitchFamily="34" charset="-122"/>
                <a:cs typeface="Roboto Mono Medium" pitchFamily="34" charset="-120"/>
              </a:rPr>
              <a:t>Desafíos de Producción</a:t>
            </a:r>
            <a:endParaRPr lang="en-US" sz="1350" dirty="0"/>
          </a:p>
        </p:txBody>
      </p:sp>
      <p:sp>
        <p:nvSpPr>
          <p:cNvPr id="20" name="Text 18"/>
          <p:cNvSpPr/>
          <p:nvPr/>
        </p:nvSpPr>
        <p:spPr>
          <a:xfrm>
            <a:off x="661475" y="3316585"/>
            <a:ext cx="4731525" cy="208062"/>
          </a:xfrm>
          <a:prstGeom prst="rect">
            <a:avLst/>
          </a:prstGeom>
          <a:noFill/>
          <a:ln/>
        </p:spPr>
        <p:txBody>
          <a:bodyPr wrap="none" lIns="0" tIns="0" rIns="0" bIns="0" rtlCol="0" anchor="t"/>
          <a:lstStyle/>
          <a:p>
            <a:pPr algn="r" indent="0" marL="0">
              <a:lnSpc>
                <a:spcPct val="123000"/>
              </a:lnSpc>
              <a:buNone/>
            </a:pPr>
            <a:r>
              <a:rPr lang="en-US" sz="1100" dirty="0">
                <a:solidFill>
                  <a:srgbClr val="3B3535"/>
                </a:solidFill>
                <a:latin typeface="Roboto" pitchFamily="34" charset="0"/>
                <a:ea typeface="Roboto" pitchFamily="34" charset="-122"/>
                <a:cs typeface="Roboto" pitchFamily="34" charset="-120"/>
              </a:rPr>
              <a:t>Brecha prototipo-producción y Model Context Protocol</a:t>
            </a:r>
            <a:endParaRPr lang="en-US" sz="1100" dirty="0"/>
          </a:p>
        </p:txBody>
      </p:sp>
      <p:sp>
        <p:nvSpPr>
          <p:cNvPr id="21" name="Shape 19"/>
          <p:cNvSpPr/>
          <p:nvPr/>
        </p:nvSpPr>
        <p:spPr>
          <a:xfrm>
            <a:off x="6234949" y="3831630"/>
            <a:ext cx="421669" cy="19050"/>
          </a:xfrm>
          <a:prstGeom prst="roundRect">
            <a:avLst>
              <a:gd name="adj" fmla="val 39999"/>
            </a:avLst>
          </a:prstGeom>
          <a:solidFill>
            <a:srgbClr val="D8D4D4"/>
          </a:solidFill>
          <a:ln/>
        </p:spPr>
      </p:sp>
      <p:sp>
        <p:nvSpPr>
          <p:cNvPr id="22" name="Shape 20"/>
          <p:cNvSpPr/>
          <p:nvPr/>
        </p:nvSpPr>
        <p:spPr>
          <a:xfrm>
            <a:off x="5937697" y="3683000"/>
            <a:ext cx="316301" cy="316309"/>
          </a:xfrm>
          <a:prstGeom prst="roundRect">
            <a:avLst>
              <a:gd name="adj" fmla="val 2409"/>
            </a:avLst>
          </a:prstGeom>
          <a:solidFill>
            <a:srgbClr val="F2EEEE"/>
          </a:solidFill>
          <a:ln w="6350">
            <a:solidFill>
              <a:srgbClr val="D8D4D4"/>
            </a:solidFill>
            <a:prstDash val="solid"/>
          </a:ln>
        </p:spPr>
      </p:sp>
      <p:sp>
        <p:nvSpPr>
          <p:cNvPr id="23" name="Text 21"/>
          <p:cNvSpPr/>
          <p:nvPr/>
        </p:nvSpPr>
        <p:spPr>
          <a:xfrm>
            <a:off x="5990430" y="3709392"/>
            <a:ext cx="210835" cy="263525"/>
          </a:xfrm>
          <a:prstGeom prst="rect">
            <a:avLst/>
          </a:prstGeom>
          <a:noFill/>
          <a:ln/>
        </p:spPr>
        <p:txBody>
          <a:bodyPr wrap="none" lIns="0" tIns="0" rIns="0" bIns="0" rtlCol="0" anchor="ctr"/>
          <a:lstStyle/>
          <a:p>
            <a:pPr algn="ctr" indent="0" marL="0">
              <a:lnSpc>
                <a:spcPct val="100000"/>
              </a:lnSpc>
              <a:buNone/>
            </a:pPr>
            <a:r>
              <a:rPr lang="en-US" sz="1650" dirty="0">
                <a:solidFill>
                  <a:srgbClr val="3B3535"/>
                </a:solidFill>
                <a:latin typeface="Roboto Mono Medium" pitchFamily="34" charset="0"/>
                <a:ea typeface="Roboto Mono Medium" pitchFamily="34" charset="-122"/>
                <a:cs typeface="Roboto Mono Medium" pitchFamily="34" charset="-120"/>
              </a:rPr>
              <a:t>4</a:t>
            </a:r>
            <a:endParaRPr lang="en-US" sz="1650" dirty="0"/>
          </a:p>
        </p:txBody>
      </p:sp>
      <p:sp>
        <p:nvSpPr>
          <p:cNvPr id="24" name="Text 22"/>
          <p:cNvSpPr/>
          <p:nvPr/>
        </p:nvSpPr>
        <p:spPr>
          <a:xfrm>
            <a:off x="6798696" y="3731320"/>
            <a:ext cx="4731525" cy="219571"/>
          </a:xfrm>
          <a:prstGeom prst="rect">
            <a:avLst/>
          </a:prstGeom>
          <a:noFill/>
          <a:ln/>
        </p:spPr>
        <p:txBody>
          <a:bodyPr wrap="none" lIns="0" tIns="0" rIns="0" bIns="0" rtlCol="0" anchor="t"/>
          <a:lstStyle/>
          <a:p>
            <a:pPr algn="l" indent="0" marL="0">
              <a:lnSpc>
                <a:spcPct val="104000"/>
              </a:lnSpc>
              <a:buNone/>
            </a:pPr>
            <a:r>
              <a:rPr lang="en-US" sz="1350" dirty="0">
                <a:solidFill>
                  <a:srgbClr val="3B3535"/>
                </a:solidFill>
                <a:latin typeface="Roboto Mono Medium" pitchFamily="34" charset="0"/>
                <a:ea typeface="Roboto Mono Medium" pitchFamily="34" charset="-122"/>
                <a:cs typeface="Roboto Mono Medium" pitchFamily="34" charset="-120"/>
              </a:rPr>
              <a:t>Sistemas Multiagente</a:t>
            </a:r>
            <a:endParaRPr lang="en-US" sz="1350" dirty="0"/>
          </a:p>
        </p:txBody>
      </p:sp>
      <p:sp>
        <p:nvSpPr>
          <p:cNvPr id="25" name="Text 23"/>
          <p:cNvSpPr/>
          <p:nvPr/>
        </p:nvSpPr>
        <p:spPr>
          <a:xfrm>
            <a:off x="6798696" y="4022527"/>
            <a:ext cx="4731525" cy="416123"/>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3B3535"/>
                </a:solidFill>
                <a:latin typeface="Roboto" pitchFamily="34" charset="0"/>
                <a:ea typeface="Roboto" pitchFamily="34" charset="-122"/>
                <a:cs typeface="Roboto" pitchFamily="34" charset="-120"/>
              </a:rPr>
              <a:t>Limitaciones de un agente, arquitecturas multiagente y el espectro workflows-agentes</a:t>
            </a:r>
            <a:endParaRPr lang="en-US" sz="1100" dirty="0"/>
          </a:p>
        </p:txBody>
      </p:sp>
      <p:sp>
        <p:nvSpPr>
          <p:cNvPr id="26" name="Shape 24"/>
          <p:cNvSpPr/>
          <p:nvPr/>
        </p:nvSpPr>
        <p:spPr>
          <a:xfrm>
            <a:off x="5535077" y="4537571"/>
            <a:ext cx="421669" cy="19050"/>
          </a:xfrm>
          <a:prstGeom prst="roundRect">
            <a:avLst>
              <a:gd name="adj" fmla="val 39999"/>
            </a:avLst>
          </a:prstGeom>
          <a:solidFill>
            <a:srgbClr val="D8D4D4"/>
          </a:solidFill>
          <a:ln/>
        </p:spPr>
      </p:sp>
      <p:sp>
        <p:nvSpPr>
          <p:cNvPr id="27" name="Shape 25"/>
          <p:cNvSpPr/>
          <p:nvPr/>
        </p:nvSpPr>
        <p:spPr>
          <a:xfrm>
            <a:off x="5937697" y="4388941"/>
            <a:ext cx="316301" cy="316309"/>
          </a:xfrm>
          <a:prstGeom prst="roundRect">
            <a:avLst>
              <a:gd name="adj" fmla="val 2409"/>
            </a:avLst>
          </a:prstGeom>
          <a:solidFill>
            <a:srgbClr val="F2EEEE"/>
          </a:solidFill>
          <a:ln w="6350">
            <a:solidFill>
              <a:srgbClr val="D8D4D4"/>
            </a:solidFill>
            <a:prstDash val="solid"/>
          </a:ln>
        </p:spPr>
      </p:sp>
      <p:sp>
        <p:nvSpPr>
          <p:cNvPr id="28" name="Text 26"/>
          <p:cNvSpPr/>
          <p:nvPr/>
        </p:nvSpPr>
        <p:spPr>
          <a:xfrm>
            <a:off x="5990430" y="4415334"/>
            <a:ext cx="210835" cy="263525"/>
          </a:xfrm>
          <a:prstGeom prst="rect">
            <a:avLst/>
          </a:prstGeom>
          <a:noFill/>
          <a:ln/>
        </p:spPr>
        <p:txBody>
          <a:bodyPr wrap="none" lIns="0" tIns="0" rIns="0" bIns="0" rtlCol="0" anchor="ctr"/>
          <a:lstStyle/>
          <a:p>
            <a:pPr algn="ctr" indent="0" marL="0">
              <a:lnSpc>
                <a:spcPct val="100000"/>
              </a:lnSpc>
              <a:buNone/>
            </a:pPr>
            <a:r>
              <a:rPr lang="en-US" sz="1650" dirty="0">
                <a:solidFill>
                  <a:srgbClr val="3B3535"/>
                </a:solidFill>
                <a:latin typeface="Roboto Mono Medium" pitchFamily="34" charset="0"/>
                <a:ea typeface="Roboto Mono Medium" pitchFamily="34" charset="-122"/>
                <a:cs typeface="Roboto Mono Medium" pitchFamily="34" charset="-120"/>
              </a:rPr>
              <a:t>5</a:t>
            </a:r>
            <a:endParaRPr lang="en-US" sz="1650" dirty="0"/>
          </a:p>
        </p:txBody>
      </p:sp>
      <p:sp>
        <p:nvSpPr>
          <p:cNvPr id="29" name="Text 27"/>
          <p:cNvSpPr/>
          <p:nvPr/>
        </p:nvSpPr>
        <p:spPr>
          <a:xfrm>
            <a:off x="661475" y="4437261"/>
            <a:ext cx="4731525" cy="219571"/>
          </a:xfrm>
          <a:prstGeom prst="rect">
            <a:avLst/>
          </a:prstGeom>
          <a:noFill/>
          <a:ln/>
        </p:spPr>
        <p:txBody>
          <a:bodyPr wrap="none" lIns="0" tIns="0" rIns="0" bIns="0" rtlCol="0" anchor="t"/>
          <a:lstStyle/>
          <a:p>
            <a:pPr algn="r" indent="0" marL="0">
              <a:lnSpc>
                <a:spcPct val="104000"/>
              </a:lnSpc>
              <a:buNone/>
            </a:pPr>
            <a:r>
              <a:rPr lang="en-US" sz="1350" dirty="0">
                <a:solidFill>
                  <a:srgbClr val="3B3535"/>
                </a:solidFill>
                <a:latin typeface="Roboto Mono Medium" pitchFamily="34" charset="0"/>
                <a:ea typeface="Roboto Mono Medium" pitchFamily="34" charset="-122"/>
                <a:cs typeface="Roboto Mono Medium" pitchFamily="34" charset="-120"/>
              </a:rPr>
              <a:t>Memoria de Agentes</a:t>
            </a:r>
            <a:endParaRPr lang="en-US" sz="1350" dirty="0"/>
          </a:p>
        </p:txBody>
      </p:sp>
      <p:sp>
        <p:nvSpPr>
          <p:cNvPr id="30" name="Text 28"/>
          <p:cNvSpPr/>
          <p:nvPr/>
        </p:nvSpPr>
        <p:spPr>
          <a:xfrm>
            <a:off x="661475" y="4728468"/>
            <a:ext cx="4731525" cy="208062"/>
          </a:xfrm>
          <a:prstGeom prst="rect">
            <a:avLst/>
          </a:prstGeom>
          <a:noFill/>
          <a:ln/>
        </p:spPr>
        <p:txBody>
          <a:bodyPr wrap="none" lIns="0" tIns="0" rIns="0" bIns="0" rtlCol="0" anchor="t"/>
          <a:lstStyle/>
          <a:p>
            <a:pPr algn="r" indent="0" marL="0">
              <a:lnSpc>
                <a:spcPct val="123000"/>
              </a:lnSpc>
              <a:buNone/>
            </a:pPr>
            <a:r>
              <a:rPr lang="en-US" sz="1100" dirty="0">
                <a:solidFill>
                  <a:srgbClr val="3B3535"/>
                </a:solidFill>
                <a:latin typeface="Roboto" pitchFamily="34" charset="0"/>
                <a:ea typeface="Roboto" pitchFamily="34" charset="-122"/>
                <a:cs typeface="Roboto" pitchFamily="34" charset="-120"/>
              </a:rPr>
              <a:t>Arquitectura de dos niveles, patrones de integración y soluciones</a:t>
            </a:r>
            <a:endParaRPr lang="en-US" sz="1100" dirty="0"/>
          </a:p>
        </p:txBody>
      </p:sp>
      <p:sp>
        <p:nvSpPr>
          <p:cNvPr id="31" name="Shape 29"/>
          <p:cNvSpPr/>
          <p:nvPr/>
        </p:nvSpPr>
        <p:spPr>
          <a:xfrm>
            <a:off x="6234949" y="5243513"/>
            <a:ext cx="421669" cy="19050"/>
          </a:xfrm>
          <a:prstGeom prst="roundRect">
            <a:avLst>
              <a:gd name="adj" fmla="val 39999"/>
            </a:avLst>
          </a:prstGeom>
          <a:solidFill>
            <a:srgbClr val="D8D4D4"/>
          </a:solidFill>
          <a:ln/>
        </p:spPr>
      </p:sp>
      <p:sp>
        <p:nvSpPr>
          <p:cNvPr id="32" name="Shape 30"/>
          <p:cNvSpPr/>
          <p:nvPr/>
        </p:nvSpPr>
        <p:spPr>
          <a:xfrm>
            <a:off x="5937697" y="5094883"/>
            <a:ext cx="316301" cy="316309"/>
          </a:xfrm>
          <a:prstGeom prst="roundRect">
            <a:avLst>
              <a:gd name="adj" fmla="val 2409"/>
            </a:avLst>
          </a:prstGeom>
          <a:solidFill>
            <a:srgbClr val="F2EEEE"/>
          </a:solidFill>
          <a:ln w="6350">
            <a:solidFill>
              <a:srgbClr val="D8D4D4"/>
            </a:solidFill>
            <a:prstDash val="solid"/>
          </a:ln>
        </p:spPr>
      </p:sp>
      <p:sp>
        <p:nvSpPr>
          <p:cNvPr id="33" name="Text 31"/>
          <p:cNvSpPr/>
          <p:nvPr/>
        </p:nvSpPr>
        <p:spPr>
          <a:xfrm>
            <a:off x="5990430" y="5121275"/>
            <a:ext cx="210835" cy="263525"/>
          </a:xfrm>
          <a:prstGeom prst="rect">
            <a:avLst/>
          </a:prstGeom>
          <a:noFill/>
          <a:ln/>
        </p:spPr>
        <p:txBody>
          <a:bodyPr wrap="none" lIns="0" tIns="0" rIns="0" bIns="0" rtlCol="0" anchor="ctr"/>
          <a:lstStyle/>
          <a:p>
            <a:pPr algn="ctr" indent="0" marL="0">
              <a:lnSpc>
                <a:spcPct val="100000"/>
              </a:lnSpc>
              <a:buNone/>
            </a:pPr>
            <a:r>
              <a:rPr lang="en-US" sz="1650" dirty="0">
                <a:solidFill>
                  <a:srgbClr val="3B3535"/>
                </a:solidFill>
                <a:latin typeface="Roboto Mono Medium" pitchFamily="34" charset="0"/>
                <a:ea typeface="Roboto Mono Medium" pitchFamily="34" charset="-122"/>
                <a:cs typeface="Roboto Mono Medium" pitchFamily="34" charset="-120"/>
              </a:rPr>
              <a:t>6</a:t>
            </a:r>
            <a:endParaRPr lang="en-US" sz="1650" dirty="0"/>
          </a:p>
        </p:txBody>
      </p:sp>
      <p:sp>
        <p:nvSpPr>
          <p:cNvPr id="34" name="Text 32"/>
          <p:cNvSpPr/>
          <p:nvPr/>
        </p:nvSpPr>
        <p:spPr>
          <a:xfrm>
            <a:off x="6798696" y="5143202"/>
            <a:ext cx="4731525" cy="219571"/>
          </a:xfrm>
          <a:prstGeom prst="rect">
            <a:avLst/>
          </a:prstGeom>
          <a:noFill/>
          <a:ln/>
        </p:spPr>
        <p:txBody>
          <a:bodyPr wrap="none" lIns="0" tIns="0" rIns="0" bIns="0" rtlCol="0" anchor="t"/>
          <a:lstStyle/>
          <a:p>
            <a:pPr algn="l" indent="0" marL="0">
              <a:lnSpc>
                <a:spcPct val="104000"/>
              </a:lnSpc>
              <a:buNone/>
            </a:pPr>
            <a:r>
              <a:rPr lang="en-US" sz="1350" dirty="0">
                <a:solidFill>
                  <a:srgbClr val="3B3535"/>
                </a:solidFill>
                <a:latin typeface="Roboto Mono Medium" pitchFamily="34" charset="0"/>
                <a:ea typeface="Roboto Mono Medium" pitchFamily="34" charset="-122"/>
                <a:cs typeface="Roboto Mono Medium" pitchFamily="34" charset="-120"/>
              </a:rPr>
              <a:t>Objetivos y Práctica</a:t>
            </a:r>
            <a:endParaRPr lang="en-US" sz="1350" dirty="0"/>
          </a:p>
        </p:txBody>
      </p:sp>
      <p:sp>
        <p:nvSpPr>
          <p:cNvPr id="35" name="Text 33"/>
          <p:cNvSpPr/>
          <p:nvPr/>
        </p:nvSpPr>
        <p:spPr>
          <a:xfrm>
            <a:off x="6798696" y="5434409"/>
            <a:ext cx="4731525" cy="208062"/>
          </a:xfrm>
          <a:prstGeom prst="rect">
            <a:avLst/>
          </a:prstGeom>
          <a:noFill/>
          <a:ln/>
        </p:spPr>
        <p:txBody>
          <a:bodyPr wrap="none" lIns="0" tIns="0" rIns="0" bIns="0" rtlCol="0" anchor="t"/>
          <a:lstStyle/>
          <a:p>
            <a:pPr algn="l" indent="0" marL="0">
              <a:lnSpc>
                <a:spcPct val="123000"/>
              </a:lnSpc>
              <a:buNone/>
            </a:pPr>
            <a:r>
              <a:rPr lang="en-US" sz="1100" dirty="0">
                <a:solidFill>
                  <a:srgbClr val="3B3535"/>
                </a:solidFill>
                <a:latin typeface="Roboto" pitchFamily="34" charset="0"/>
                <a:ea typeface="Roboto" pitchFamily="34" charset="-122"/>
                <a:cs typeface="Roboto" pitchFamily="34" charset="-120"/>
              </a:rPr>
              <a:t>Objetivos de aprendizaje, proyectos prácticos y ejercicio final</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661475" y="2755503"/>
            <a:ext cx="1968550" cy="251420"/>
          </a:xfrm>
          <a:prstGeom prst="roundRect">
            <a:avLst>
              <a:gd name="adj" fmla="val 3031"/>
            </a:avLst>
          </a:prstGeom>
          <a:solidFill>
            <a:srgbClr val="F9D2D6"/>
          </a:solidFill>
          <a:ln/>
        </p:spPr>
      </p:sp>
      <p:sp>
        <p:nvSpPr>
          <p:cNvPr id="3" name="Text 1"/>
          <p:cNvSpPr/>
          <p:nvPr/>
        </p:nvSpPr>
        <p:spPr>
          <a:xfrm>
            <a:off x="760691" y="2805113"/>
            <a:ext cx="2379702"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AGENTES BASADOS EN LLMS</a:t>
            </a:r>
            <a:endParaRPr lang="en-US" sz="1000" dirty="0"/>
          </a:p>
        </p:txBody>
      </p:sp>
      <p:sp>
        <p:nvSpPr>
          <p:cNvPr id="4" name="Text 2"/>
          <p:cNvSpPr/>
          <p:nvPr/>
        </p:nvSpPr>
        <p:spPr>
          <a:xfrm>
            <a:off x="661475" y="3073003"/>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Agentes basados en </a:t>
            </a:r>
            <a:pPr algn="l" indent="0" marL="0">
              <a:lnSpc>
                <a:spcPct val="104000"/>
              </a:lnSpc>
              <a:buNone/>
            </a:pPr>
            <a:r>
              <a:rPr lang="en-US" sz="3250" dirty="0">
                <a:solidFill>
                  <a:srgbClr val="DA1B2E"/>
                </a:solidFill>
                <a:latin typeface="Roboto Mono Medium" pitchFamily="34" charset="0"/>
                <a:ea typeface="Roboto Mono Medium" pitchFamily="34" charset="-122"/>
                <a:cs typeface="Roboto Mono Medium" pitchFamily="34" charset="-120"/>
              </a:rPr>
              <a:t>LLMs</a:t>
            </a:r>
            <a:endParaRPr lang="en-US" sz="3250" dirty="0"/>
          </a:p>
        </p:txBody>
      </p:sp>
      <p:sp>
        <p:nvSpPr>
          <p:cNvPr id="5" name="Text 3"/>
          <p:cNvSpPr/>
          <p:nvPr/>
        </p:nvSpPr>
        <p:spPr>
          <a:xfrm>
            <a:off x="661475" y="3837781"/>
            <a:ext cx="11478330" cy="264616"/>
          </a:xfrm>
          <a:prstGeom prst="rect">
            <a:avLst/>
          </a:prstGeom>
          <a:noFill/>
          <a:ln/>
        </p:spPr>
        <p:txBody>
          <a:bodyPr wrap="none" lIns="0" tIns="0" rIns="0" bIns="0" rtlCol="0" anchor="t"/>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Con la base teórica asentada, exploramos cómo los modelos de lenguaje encajan en el marco formal de agentes inteligentes.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661475" y="1466751"/>
            <a:ext cx="1968550" cy="251420"/>
          </a:xfrm>
          <a:prstGeom prst="roundRect">
            <a:avLst>
              <a:gd name="adj" fmla="val 3031"/>
            </a:avLst>
          </a:prstGeom>
          <a:solidFill>
            <a:srgbClr val="F9D2D6"/>
          </a:solidFill>
          <a:ln/>
        </p:spPr>
      </p:sp>
      <p:sp>
        <p:nvSpPr>
          <p:cNvPr id="3" name="Text 1"/>
          <p:cNvSpPr/>
          <p:nvPr/>
        </p:nvSpPr>
        <p:spPr>
          <a:xfrm>
            <a:off x="760691" y="1516360"/>
            <a:ext cx="2379702"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AGENTES BASADOS EN LLMS</a:t>
            </a:r>
            <a:endParaRPr lang="en-US" sz="1000" dirty="0"/>
          </a:p>
        </p:txBody>
      </p:sp>
      <p:sp>
        <p:nvSpPr>
          <p:cNvPr id="4" name="Text 2"/>
          <p:cNvSpPr/>
          <p:nvPr/>
        </p:nvSpPr>
        <p:spPr>
          <a:xfrm>
            <a:off x="661475" y="1784251"/>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Agentes basados en LLMs</a:t>
            </a:r>
            <a:endParaRPr lang="en-US" sz="3250" dirty="0"/>
          </a:p>
        </p:txBody>
      </p:sp>
      <p:sp>
        <p:nvSpPr>
          <p:cNvPr id="5" name="Text 3"/>
          <p:cNvSpPr/>
          <p:nvPr/>
        </p:nvSpPr>
        <p:spPr>
          <a:xfrm>
            <a:off x="661475" y="2549029"/>
            <a:ext cx="11478330" cy="264616"/>
          </a:xfrm>
          <a:prstGeom prst="rect">
            <a:avLst/>
          </a:prstGeom>
          <a:noFill/>
          <a:ln/>
        </p:spPr>
        <p:txBody>
          <a:bodyPr wrap="none" lIns="0" tIns="0" rIns="0" bIns="0" rtlCol="0" anchor="t"/>
          <a:lstStyle/>
          <a:p>
            <a:pPr algn="l" indent="0" marL="0">
              <a:lnSpc>
                <a:spcPct val="133000"/>
              </a:lnSpc>
              <a:buNone/>
            </a:pPr>
            <a:r>
              <a:rPr lang="en-US" sz="1300" i="1" dirty="0">
                <a:solidFill>
                  <a:srgbClr val="3B3535"/>
                </a:solidFill>
                <a:latin typeface="Roboto" pitchFamily="34" charset="0"/>
                <a:ea typeface="Roboto" pitchFamily="34" charset="-122"/>
                <a:cs typeface="Roboto" pitchFamily="34" charset="-120"/>
              </a:rPr>
              <a:t>Formulación como agente inteligente</a:t>
            </a:r>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 — Resolver tareas lingüísticas o de razonamiento a partir de instrucciones en lenguaje natural.</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61475" y="2999680"/>
          <a:ext cx="10868745" cy="914400"/>
        </p:xfrm>
        <a:graphic>
          <a:graphicData uri="http://schemas.openxmlformats.org/drawingml/2006/table">
            <a:tbl>
              <a:tblPr/>
              <a:tblGrid>
                <a:gridCol w="2173709"/>
                <a:gridCol w="8695036"/>
              </a:tblGrid>
              <a:tr h="475742">
                <a:tc>
                  <a:txBody>
                    <a:bodyPr/>
                    <a:lstStyle/>
                    <a:p>
                      <a:pPr algn="l" indent="0" marL="0">
                        <a:buNone/>
                      </a:pPr>
                      <a:r>
                        <a:rPr lang="en-US" sz="1300" b="1" dirty="0">
                          <a:solidFill>
                            <a:srgbClr val="3B3535"/>
                          </a:solidFill>
                          <a:latin typeface="Roboto" pitchFamily="34" charset="0"/>
                          <a:ea typeface="Roboto" pitchFamily="34" charset="-122"/>
                          <a:cs typeface="Roboto" pitchFamily="34" charset="-120"/>
                        </a:rPr>
                        <a:t>Agente</a:t>
                      </a:r>
                      <a:endParaRPr lang="en-US" sz="1300" dirty="0">
                        <a:latin typeface="Roboto" charset="0"/>
                        <a:ea typeface="Roboto" charset="0"/>
                        <a:cs typeface="Roboto" charset="0"/>
                      </a:endParaRPr>
                    </a:p>
                  </a:txBody>
                  <a:tcPr marL="165391" marR="165391" marT="6350" marB="6350" anchor="ctr">
                    <a:lnL w="12700" cap="flat" cmpd="sng" algn="ctr">
                      <a:solidFill>
                        <a:srgbClr val="D8D4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c>
                  <a:txBody>
                    <a:bodyPr/>
                    <a:lstStyle/>
                    <a:p>
                      <a:pPr algn="l" indent="0" marL="0">
                        <a:buNone/>
                      </a:pPr>
                      <a:r>
                        <a:rPr lang="en-US" sz="1300" dirty="0">
                          <a:solidFill>
                            <a:srgbClr val="3B3535"/>
                          </a:solidFill>
                          <a:latin typeface="Roboto" pitchFamily="34" charset="0"/>
                          <a:ea typeface="Roboto" pitchFamily="34" charset="-122"/>
                          <a:cs typeface="Roboto" pitchFamily="34" charset="-120"/>
                        </a:rPr>
                        <a:t>Modelo de lenguaje grande (LLM) con razonamiento, memoria y acceso a herramientas externas</a:t>
                      </a:r>
                      <a:endParaRPr lang="en-US" sz="1300" dirty="0">
                        <a:latin typeface="Roboto" charset="0"/>
                        <a:ea typeface="Roboto" charset="0"/>
                        <a:cs typeface="Roboto" charset="0"/>
                      </a:endParaRPr>
                    </a:p>
                  </a:txBody>
                  <a:tcPr marL="165391" marR="165391" marT="6350" marB="6350" anchor="ctr">
                    <a:lnL w="12700" cap="flat" cmpd="sng" algn="ctr">
                      <a:solidFill>
                        <a:srgbClr val="FFFFFF"/>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r>
              <a:tr h="475742">
                <a:tc>
                  <a:txBody>
                    <a:bodyPr/>
                    <a:lstStyle/>
                    <a:p>
                      <a:pPr algn="l" indent="0" marL="0">
                        <a:buNone/>
                      </a:pPr>
                      <a:r>
                        <a:rPr lang="en-US" sz="1300" b="1" dirty="0">
                          <a:solidFill>
                            <a:srgbClr val="3B3535"/>
                          </a:solidFill>
                          <a:latin typeface="Roboto" pitchFamily="34" charset="0"/>
                          <a:ea typeface="Roboto" pitchFamily="34" charset="-122"/>
                          <a:cs typeface="Roboto" pitchFamily="34" charset="-120"/>
                        </a:rPr>
                        <a:t>Sensores</a:t>
                      </a:r>
                      <a:endParaRPr lang="en-US" sz="1300" dirty="0">
                        <a:latin typeface="Roboto" charset="0"/>
                        <a:ea typeface="Roboto" charset="0"/>
                        <a:cs typeface="Roboto" charset="0"/>
                      </a:endParaRPr>
                    </a:p>
                  </a:txBody>
                  <a:tcPr marL="165391" marR="165391" marT="6350" marB="6350" anchor="ctr">
                    <a:lnL w="12700" cap="flat" cmpd="sng" algn="ctr">
                      <a:solidFill>
                        <a:srgbClr val="D8D4D4"/>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algn="l" indent="0" marL="0">
                        <a:buNone/>
                      </a:pPr>
                      <a:r>
                        <a:rPr lang="en-US" sz="1300" dirty="0">
                          <a:solidFill>
                            <a:srgbClr val="3B3535"/>
                          </a:solidFill>
                          <a:latin typeface="Roboto" pitchFamily="34" charset="0"/>
                          <a:ea typeface="Roboto" pitchFamily="34" charset="-122"/>
                          <a:cs typeface="Roboto" pitchFamily="34" charset="-120"/>
                        </a:rPr>
                        <a:t>Texto de entrada del usuario, contexto previo, resultados de herramientas</a:t>
                      </a:r>
                      <a:endParaRPr lang="en-US" sz="1300" dirty="0">
                        <a:latin typeface="Roboto" charset="0"/>
                        <a:ea typeface="Roboto" charset="0"/>
                        <a:cs typeface="Roboto" charset="0"/>
                      </a:endParaRPr>
                    </a:p>
                  </a:txBody>
                  <a:tcPr marL="165391" marR="165391" marT="6350" marB="6350" anchor="ctr">
                    <a:lnL w="12700" cap="flat" cmpd="sng" algn="ctr">
                      <a:solidFill>
                        <a:srgbClr val="F5F5F5"/>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r>
              <a:tr h="475742">
                <a:tc>
                  <a:txBody>
                    <a:bodyPr/>
                    <a:lstStyle/>
                    <a:p>
                      <a:pPr algn="l" indent="0" marL="0">
                        <a:buNone/>
                      </a:pPr>
                      <a:r>
                        <a:rPr lang="en-US" sz="1300" b="1" dirty="0">
                          <a:solidFill>
                            <a:srgbClr val="3B3535"/>
                          </a:solidFill>
                          <a:latin typeface="Roboto" pitchFamily="34" charset="0"/>
                          <a:ea typeface="Roboto" pitchFamily="34" charset="-122"/>
                          <a:cs typeface="Roboto" pitchFamily="34" charset="-120"/>
                        </a:rPr>
                        <a:t>Actuadores</a:t>
                      </a:r>
                      <a:endParaRPr lang="en-US" sz="1300" dirty="0">
                        <a:latin typeface="Roboto" charset="0"/>
                        <a:ea typeface="Roboto" charset="0"/>
                        <a:cs typeface="Roboto" charset="0"/>
                      </a:endParaRPr>
                    </a:p>
                  </a:txBody>
                  <a:tcPr marL="165391" marR="165391" marT="6350" marB="6350" anchor="ctr">
                    <a:lnL w="12700" cap="flat" cmpd="sng" algn="ctr">
                      <a:solidFill>
                        <a:srgbClr val="D8D4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c>
                  <a:txBody>
                    <a:bodyPr/>
                    <a:lstStyle/>
                    <a:p>
                      <a:pPr algn="l" indent="0" marL="0">
                        <a:buNone/>
                      </a:pPr>
                      <a:r>
                        <a:rPr lang="en-US" sz="1300" dirty="0">
                          <a:solidFill>
                            <a:srgbClr val="3B3535"/>
                          </a:solidFill>
                          <a:latin typeface="Roboto" pitchFamily="34" charset="0"/>
                          <a:ea typeface="Roboto" pitchFamily="34" charset="-122"/>
                          <a:cs typeface="Roboto" pitchFamily="34" charset="-120"/>
                        </a:rPr>
                        <a:t>Generar texto, razonar, ejecutar comandos, llamar APIs, producir planes</a:t>
                      </a:r>
                      <a:endParaRPr lang="en-US" sz="1300" dirty="0">
                        <a:latin typeface="Roboto" charset="0"/>
                        <a:ea typeface="Roboto" charset="0"/>
                        <a:cs typeface="Roboto" charset="0"/>
                      </a:endParaRPr>
                    </a:p>
                  </a:txBody>
                  <a:tcPr marL="165391" marR="165391" marT="6350" marB="6350" anchor="ctr">
                    <a:lnL w="12700" cap="flat" cmpd="sng" algn="ctr">
                      <a:solidFill>
                        <a:srgbClr val="FFFFFF"/>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alpha val="4000"/>
                      </a:srgbClr>
                    </a:solidFill>
                  </a:tcPr>
                </a:tc>
              </a:tr>
              <a:tr h="475742">
                <a:tc>
                  <a:txBody>
                    <a:bodyPr/>
                    <a:lstStyle/>
                    <a:p>
                      <a:pPr algn="l" indent="0" marL="0">
                        <a:buNone/>
                      </a:pPr>
                      <a:r>
                        <a:rPr lang="en-US" sz="1300" b="1" dirty="0">
                          <a:solidFill>
                            <a:srgbClr val="3B3535"/>
                          </a:solidFill>
                          <a:latin typeface="Roboto" pitchFamily="34" charset="0"/>
                          <a:ea typeface="Roboto" pitchFamily="34" charset="-122"/>
                          <a:cs typeface="Roboto" pitchFamily="34" charset="-120"/>
                        </a:rPr>
                        <a:t>Ambiente</a:t>
                      </a:r>
                      <a:endParaRPr lang="en-US" sz="1300" dirty="0">
                        <a:latin typeface="Roboto" charset="0"/>
                        <a:ea typeface="Roboto" charset="0"/>
                        <a:cs typeface="Roboto" charset="0"/>
                      </a:endParaRPr>
                    </a:p>
                  </a:txBody>
                  <a:tcPr marL="165391" marR="165391" marT="6350" marB="6350" anchor="ctr">
                    <a:lnL w="12700" cap="flat" cmpd="sng" algn="ctr">
                      <a:solidFill>
                        <a:srgbClr val="D8D4D4"/>
                      </a:solidFill>
                      <a:prstDash val="solid"/>
                      <a:round/>
                      <a:headEnd type="none" w="med" len="med"/>
                      <a:tailEnd type="none" w="med" len="med"/>
                    </a:lnL>
                    <a:lnR w="12700" cap="flat" cmpd="sng" algn="ctr">
                      <a:solidFill>
                        <a:srgbClr val="F5F5F5"/>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c>
                  <a:txBody>
                    <a:bodyPr/>
                    <a:lstStyle/>
                    <a:p>
                      <a:pPr algn="l" indent="0" marL="0">
                        <a:buNone/>
                      </a:pPr>
                      <a:r>
                        <a:rPr lang="en-US" sz="1300" dirty="0">
                          <a:solidFill>
                            <a:srgbClr val="3B3535"/>
                          </a:solidFill>
                          <a:latin typeface="Roboto" pitchFamily="34" charset="0"/>
                          <a:ea typeface="Roboto" pitchFamily="34" charset="-122"/>
                          <a:cs typeface="Roboto" pitchFamily="34" charset="-120"/>
                        </a:rPr>
                        <a:t>Entorno digital, simbólico, parcialmente observable, dinámico</a:t>
                      </a:r>
                      <a:endParaRPr lang="en-US" sz="1300" dirty="0">
                        <a:latin typeface="Roboto" charset="0"/>
                        <a:ea typeface="Roboto" charset="0"/>
                        <a:cs typeface="Roboto" charset="0"/>
                      </a:endParaRPr>
                    </a:p>
                  </a:txBody>
                  <a:tcPr marL="165391" marR="165391" marT="6350" marB="6350" anchor="ctr">
                    <a:lnL w="12700" cap="flat" cmpd="sng" algn="ctr">
                      <a:solidFill>
                        <a:srgbClr val="F5F5F5"/>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F5F5F5"/>
                      </a:solidFill>
                      <a:prstDash val="solid"/>
                      <a:round/>
                      <a:headEnd type="none" w="med" len="med"/>
                      <a:tailEnd type="none" w="med" len="med"/>
                    </a:lnT>
                    <a:lnB w="12700" cap="flat" cmpd="sng" algn="ctr">
                      <a:solidFill>
                        <a:srgbClr val="F5F5F5"/>
                      </a:solidFill>
                      <a:prstDash val="solid"/>
                      <a:round/>
                      <a:headEnd type="none" w="med" len="med"/>
                      <a:tailEnd type="none" w="med" len="med"/>
                    </a:lnB>
                    <a:solidFill>
                      <a:srgbClr val="000000">
                        <a:alpha val="4000"/>
                      </a:srgbClr>
                    </a:solidFill>
                  </a:tcPr>
                </a:tc>
              </a:tr>
              <a:tr h="475742">
                <a:tc>
                  <a:txBody>
                    <a:bodyPr/>
                    <a:lstStyle/>
                    <a:p>
                      <a:pPr algn="l" indent="0" marL="0">
                        <a:buNone/>
                      </a:pPr>
                      <a:r>
                        <a:rPr lang="en-US" sz="1300" b="1" dirty="0">
                          <a:solidFill>
                            <a:srgbClr val="3B3535"/>
                          </a:solidFill>
                          <a:latin typeface="Roboto" pitchFamily="34" charset="0"/>
                          <a:ea typeface="Roboto" pitchFamily="34" charset="-122"/>
                          <a:cs typeface="Roboto" pitchFamily="34" charset="-120"/>
                        </a:rPr>
                        <a:t>Performance</a:t>
                      </a:r>
                      <a:endParaRPr lang="en-US" sz="1300" dirty="0">
                        <a:latin typeface="Roboto" charset="0"/>
                        <a:ea typeface="Roboto" charset="0"/>
                        <a:cs typeface="Roboto" charset="0"/>
                      </a:endParaRPr>
                    </a:p>
                  </a:txBody>
                  <a:tcPr marL="165391" marR="165391" marT="6350" marB="6350" anchor="ctr">
                    <a:lnL w="12700" cap="flat" cmpd="sng" algn="ctr">
                      <a:solidFill>
                        <a:srgbClr val="D8D4D4"/>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D8D4D4"/>
                      </a:solidFill>
                      <a:prstDash val="solid"/>
                      <a:round/>
                      <a:headEnd type="none" w="med" len="med"/>
                      <a:tailEnd type="none" w="med" len="med"/>
                    </a:lnB>
                    <a:solidFill>
                      <a:srgbClr val="FFFFFF">
                        <a:alpha val="4000"/>
                      </a:srgbClr>
                    </a:solidFill>
                  </a:tcPr>
                </a:tc>
                <a:tc>
                  <a:txBody>
                    <a:bodyPr/>
                    <a:lstStyle/>
                    <a:p>
                      <a:pPr algn="l" indent="0" marL="0">
                        <a:buNone/>
                      </a:pPr>
                      <a:r>
                        <a:rPr lang="en-US" sz="1300" dirty="0">
                          <a:solidFill>
                            <a:srgbClr val="3B3535"/>
                          </a:solidFill>
                          <a:latin typeface="Roboto" pitchFamily="34" charset="0"/>
                          <a:ea typeface="Roboto" pitchFamily="34" charset="-122"/>
                          <a:cs typeface="Roboto" pitchFamily="34" charset="-120"/>
                        </a:rPr>
                        <a:t>Calidad, relevancia y precisión de respuestas; satisfacción del usuario</a:t>
                      </a:r>
                      <a:endParaRPr lang="en-US" sz="1300" dirty="0">
                        <a:latin typeface="Roboto" charset="0"/>
                        <a:ea typeface="Roboto" charset="0"/>
                        <a:cs typeface="Roboto" charset="0"/>
                      </a:endParaRPr>
                    </a:p>
                  </a:txBody>
                  <a:tcPr marL="165391" marR="165391" marT="6350" marB="6350" anchor="ctr">
                    <a:lnL w="12700" cap="flat" cmpd="sng" algn="ctr">
                      <a:solidFill>
                        <a:srgbClr val="FFFFFF"/>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D8D4D4"/>
                      </a:solidFill>
                      <a:prstDash val="solid"/>
                      <a:round/>
                      <a:headEnd type="none" w="med" len="med"/>
                      <a:tailEnd type="none" w="med" len="med"/>
                    </a:lnB>
                    <a:solidFill>
                      <a:srgbClr val="FFFFFF">
                        <a:alpha val="4000"/>
                      </a:srgbClr>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661475" y="857845"/>
            <a:ext cx="1968550" cy="251420"/>
          </a:xfrm>
          <a:prstGeom prst="roundRect">
            <a:avLst>
              <a:gd name="adj" fmla="val 3031"/>
            </a:avLst>
          </a:prstGeom>
          <a:solidFill>
            <a:srgbClr val="F9D2D6"/>
          </a:solidFill>
          <a:ln/>
        </p:spPr>
      </p:sp>
      <p:sp>
        <p:nvSpPr>
          <p:cNvPr id="3" name="Text 1"/>
          <p:cNvSpPr/>
          <p:nvPr/>
        </p:nvSpPr>
        <p:spPr>
          <a:xfrm>
            <a:off x="760691" y="907455"/>
            <a:ext cx="2379702"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AGENTES BASADOS EN LLMS</a:t>
            </a:r>
            <a:endParaRPr lang="en-US" sz="1000" dirty="0"/>
          </a:p>
        </p:txBody>
      </p:sp>
      <p:sp>
        <p:nvSpPr>
          <p:cNvPr id="4" name="Text 2"/>
          <p:cNvSpPr/>
          <p:nvPr/>
        </p:nvSpPr>
        <p:spPr>
          <a:xfrm>
            <a:off x="661475" y="1175345"/>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¿Cuál es el valor de un LLM en un agente?</a:t>
            </a:r>
            <a:endParaRPr lang="en-US" sz="3250" dirty="0"/>
          </a:p>
        </p:txBody>
      </p:sp>
      <p:sp>
        <p:nvSpPr>
          <p:cNvPr id="5" name="Text 3"/>
          <p:cNvSpPr/>
          <p:nvPr/>
        </p:nvSpPr>
        <p:spPr>
          <a:xfrm>
            <a:off x="661475" y="1940123"/>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El LLM no es simplemente un chatbot dentro de un agente. Su valor radica en capacidades genuinamente novedosas que ningún sistema anterior podía ofrecer:</a:t>
            </a:r>
            <a:endParaRPr lang="en-US" sz="130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655391"/>
            <a:ext cx="413434" cy="413445"/>
          </a:xfrm>
          <a:prstGeom prst="rect">
            <a:avLst/>
          </a:prstGeom>
        </p:spPr>
      </p:pic>
      <p:sp>
        <p:nvSpPr>
          <p:cNvPr id="7" name="Text 4"/>
          <p:cNvSpPr/>
          <p:nvPr/>
        </p:nvSpPr>
        <p:spPr>
          <a:xfrm>
            <a:off x="661475" y="3275509"/>
            <a:ext cx="5330989"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Observar el lenguaje natural</a:t>
            </a:r>
            <a:endParaRPr lang="en-US" sz="1600" dirty="0"/>
          </a:p>
        </p:txBody>
      </p:sp>
      <p:sp>
        <p:nvSpPr>
          <p:cNvPr id="8" name="Text 5"/>
          <p:cNvSpPr/>
          <p:nvPr/>
        </p:nvSpPr>
        <p:spPr>
          <a:xfrm>
            <a:off x="661475" y="3633192"/>
            <a:ext cx="5330989"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Abre las puertas a un agente genérico para "percibir" el ambiente del lenguaje natural y actuar en él de forma fluida.</a:t>
            </a:r>
            <a:endParaRPr lang="en-US" sz="130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99132" y="2655391"/>
            <a:ext cx="413434" cy="413445"/>
          </a:xfrm>
          <a:prstGeom prst="rect">
            <a:avLst/>
          </a:prstGeom>
        </p:spPr>
      </p:pic>
      <p:sp>
        <p:nvSpPr>
          <p:cNvPr id="10" name="Text 6"/>
          <p:cNvSpPr/>
          <p:nvPr/>
        </p:nvSpPr>
        <p:spPr>
          <a:xfrm>
            <a:off x="6199132" y="3275509"/>
            <a:ext cx="5331089"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Usar herramientas con lenguaje</a:t>
            </a:r>
            <a:endParaRPr lang="en-US" sz="1600" dirty="0"/>
          </a:p>
        </p:txBody>
      </p:sp>
      <p:sp>
        <p:nvSpPr>
          <p:cNvPr id="11" name="Text 7"/>
          <p:cNvSpPr/>
          <p:nvPr/>
        </p:nvSpPr>
        <p:spPr>
          <a:xfrm>
            <a:off x="6199132" y="3633192"/>
            <a:ext cx="5331089"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Emplea el lenguaje natural como medio universal para interactuar con herramientas de cualquier tipo y API.</a:t>
            </a:r>
            <a:endParaRPr lang="en-US" sz="130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4493121"/>
            <a:ext cx="413434" cy="413445"/>
          </a:xfrm>
          <a:prstGeom prst="rect">
            <a:avLst/>
          </a:prstGeom>
        </p:spPr>
      </p:pic>
      <p:sp>
        <p:nvSpPr>
          <p:cNvPr id="13" name="Text 8"/>
          <p:cNvSpPr/>
          <p:nvPr/>
        </p:nvSpPr>
        <p:spPr>
          <a:xfrm>
            <a:off x="661475" y="5113238"/>
            <a:ext cx="5330989"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Reflexionar sobre outputs</a:t>
            </a:r>
            <a:endParaRPr lang="en-US" sz="1600" dirty="0"/>
          </a:p>
        </p:txBody>
      </p:sp>
      <p:sp>
        <p:nvSpPr>
          <p:cNvPr id="14" name="Text 9"/>
          <p:cNvSpPr/>
          <p:nvPr/>
        </p:nvSpPr>
        <p:spPr>
          <a:xfrm>
            <a:off x="661475" y="5470922"/>
            <a:ext cx="5330989"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Puede analizar el resultado de una herramienta (ej: query con error → corrige → reintenta) en un ciclo reflexivo.</a:t>
            </a:r>
            <a:endParaRPr lang="en-US" sz="130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99132" y="4493121"/>
            <a:ext cx="413434" cy="413445"/>
          </a:xfrm>
          <a:prstGeom prst="rect">
            <a:avLst/>
          </a:prstGeom>
        </p:spPr>
      </p:pic>
      <p:sp>
        <p:nvSpPr>
          <p:cNvPr id="16" name="Text 10"/>
          <p:cNvSpPr/>
          <p:nvPr/>
        </p:nvSpPr>
        <p:spPr>
          <a:xfrm>
            <a:off x="6199132" y="5113238"/>
            <a:ext cx="5331089"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Instruir sistemas complejos</a:t>
            </a:r>
            <a:endParaRPr lang="en-US" sz="1600" dirty="0"/>
          </a:p>
        </p:txBody>
      </p:sp>
      <p:sp>
        <p:nvSpPr>
          <p:cNvPr id="17" name="Text 11"/>
          <p:cNvSpPr/>
          <p:nvPr/>
        </p:nvSpPr>
        <p:spPr>
          <a:xfrm>
            <a:off x="6199132" y="5470922"/>
            <a:ext cx="5331089"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Permite comunicarse con sistemas informáticos complejos usando lenguaje desestructurado y natural.</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661475" y="689471"/>
            <a:ext cx="1772102" cy="226219"/>
          </a:xfrm>
          <a:prstGeom prst="roundRect">
            <a:avLst>
              <a:gd name="adj" fmla="val 3368"/>
            </a:avLst>
          </a:prstGeom>
          <a:solidFill>
            <a:srgbClr val="F9D2D6"/>
          </a:solidFill>
          <a:ln/>
        </p:spPr>
      </p:sp>
      <p:sp>
        <p:nvSpPr>
          <p:cNvPr id="3" name="Text 1"/>
          <p:cNvSpPr/>
          <p:nvPr/>
        </p:nvSpPr>
        <p:spPr>
          <a:xfrm>
            <a:off x="750769" y="734120"/>
            <a:ext cx="2203097" cy="136922"/>
          </a:xfrm>
          <a:prstGeom prst="rect">
            <a:avLst/>
          </a:prstGeom>
          <a:noFill/>
          <a:ln/>
        </p:spPr>
        <p:txBody>
          <a:bodyPr wrap="none" lIns="0" tIns="0" rIns="0" bIns="0" rtlCol="0" anchor="t"/>
          <a:lstStyle/>
          <a:p>
            <a:pPr algn="l" indent="0" marL="0">
              <a:lnSpc>
                <a:spcPct val="96000"/>
              </a:lnSpc>
              <a:buNone/>
            </a:pPr>
            <a:r>
              <a:rPr lang="en-US" sz="900" dirty="0">
                <a:solidFill>
                  <a:srgbClr val="3B3535"/>
                </a:solidFill>
                <a:latin typeface="Roboto" pitchFamily="34" charset="0"/>
                <a:ea typeface="Roboto" pitchFamily="34" charset="-122"/>
                <a:cs typeface="Roboto" pitchFamily="34" charset="-120"/>
              </a:rPr>
              <a:t>AGENTES BASADOS EN LLMS</a:t>
            </a:r>
            <a:endParaRPr lang="en-US" sz="900" dirty="0"/>
          </a:p>
        </p:txBody>
      </p:sp>
      <p:sp>
        <p:nvSpPr>
          <p:cNvPr id="4" name="Text 2"/>
          <p:cNvSpPr/>
          <p:nvPr/>
        </p:nvSpPr>
        <p:spPr>
          <a:xfrm>
            <a:off x="661475" y="969268"/>
            <a:ext cx="10868745" cy="465138"/>
          </a:xfrm>
          <a:prstGeom prst="rect">
            <a:avLst/>
          </a:prstGeom>
          <a:noFill/>
          <a:ln/>
        </p:spPr>
        <p:txBody>
          <a:bodyPr wrap="none" lIns="0" tIns="0" rIns="0" bIns="0" rtlCol="0" anchor="t"/>
          <a:lstStyle/>
          <a:p>
            <a:pPr algn="l" indent="0" marL="0">
              <a:lnSpc>
                <a:spcPct val="104000"/>
              </a:lnSpc>
              <a:buNone/>
            </a:pPr>
            <a:r>
              <a:rPr lang="en-US" sz="2900" dirty="0">
                <a:solidFill>
                  <a:srgbClr val="1F1E1E"/>
                </a:solidFill>
                <a:latin typeface="Roboto Mono Medium" pitchFamily="34" charset="0"/>
                <a:ea typeface="Roboto Mono Medium" pitchFamily="34" charset="-122"/>
                <a:cs typeface="Roboto Mono Medium" pitchFamily="34" charset="-120"/>
              </a:rPr>
              <a:t>Arquitectura </a:t>
            </a:r>
            <a:pPr algn="l" indent="0" marL="0">
              <a:lnSpc>
                <a:spcPct val="104000"/>
              </a:lnSpc>
              <a:buNone/>
            </a:pPr>
            <a:r>
              <a:rPr lang="en-US" sz="2900" dirty="0">
                <a:solidFill>
                  <a:srgbClr val="DA1B2E"/>
                </a:solidFill>
                <a:latin typeface="Roboto Mono Medium" pitchFamily="34" charset="0"/>
                <a:ea typeface="Roboto Mono Medium" pitchFamily="34" charset="-122"/>
                <a:cs typeface="Roboto Mono Medium" pitchFamily="34" charset="-120"/>
              </a:rPr>
              <a:t>ReAct</a:t>
            </a:r>
            <a:pPr algn="l" indent="0" marL="0">
              <a:lnSpc>
                <a:spcPct val="104000"/>
              </a:lnSpc>
              <a:buNone/>
            </a:pPr>
            <a:r>
              <a:rPr lang="en-US" sz="2900" dirty="0">
                <a:solidFill>
                  <a:srgbClr val="1F1E1E"/>
                </a:solidFill>
                <a:latin typeface="Roboto Mono Medium" pitchFamily="34" charset="0"/>
                <a:ea typeface="Roboto Mono Medium" pitchFamily="34" charset="-122"/>
                <a:cs typeface="Roboto Mono Medium" pitchFamily="34" charset="-120"/>
              </a:rPr>
              <a:t> (Reason + Act)</a:t>
            </a:r>
            <a:endParaRPr lang="en-US" sz="2900" dirty="0"/>
          </a:p>
        </p:txBody>
      </p:sp>
      <p:sp>
        <p:nvSpPr>
          <p:cNvPr id="5" name="Text 3"/>
          <p:cNvSpPr/>
          <p:nvPr/>
        </p:nvSpPr>
        <p:spPr>
          <a:xfrm>
            <a:off x="661475" y="1635323"/>
            <a:ext cx="10868745" cy="452438"/>
          </a:xfrm>
          <a:prstGeom prst="rect">
            <a:avLst/>
          </a:prstGeom>
          <a:noFill/>
          <a:ln/>
        </p:spPr>
        <p:txBody>
          <a:bodyPr wrap="square" lIns="0" tIns="0" rIns="0" bIns="0" rtlCol="0" anchor="t">
            <a:normAutofit/>
          </a:bodyPr>
          <a:lstStyle/>
          <a:p>
            <a:pPr algn="l" indent="0" marL="0">
              <a:lnSpc>
                <a:spcPct val="127000"/>
              </a:lnSpc>
              <a:buNone/>
            </a:pPr>
            <a:r>
              <a:rPr lang="en-US" sz="1150" dirty="0">
                <a:solidFill>
                  <a:srgbClr val="3B3535"/>
                </a:solidFill>
                <a:latin typeface="Roboto" pitchFamily="34" charset="0"/>
                <a:ea typeface="Roboto" pitchFamily="34" charset="-122"/>
                <a:cs typeface="Roboto" pitchFamily="34" charset="-120"/>
              </a:rPr>
              <a:t>ReAct es la arquitectura más simple y fundamental para agentes basados en LLMs. Combina razonamiento y acción en un ciclo iterativo hasta alcanzar una respuesta final.</a:t>
            </a:r>
            <a:endParaRPr lang="en-US" sz="1150" dirty="0"/>
          </a:p>
        </p:txBody>
      </p:sp>
      <p:pic>
        <p:nvPicPr>
          <p:cNvPr id="6" name="Image 0" descr="preencoded.png">    </p:cNvPr>
          <p:cNvPicPr>
            <a:picLocks noChangeAspect="1"/>
          </p:cNvPicPr>
          <p:nvPr/>
        </p:nvPicPr>
        <p:blipFill>
          <a:blip r:embed="rId1"/>
          <a:stretch>
            <a:fillRect/>
          </a:stretch>
        </p:blipFill>
        <p:spPr>
          <a:xfrm>
            <a:off x="1361545" y="2238474"/>
            <a:ext cx="9468506" cy="3553023"/>
          </a:xfrm>
          <a:prstGeom prst="rect">
            <a:avLst/>
          </a:prstGeom>
        </p:spPr>
      </p:pic>
      <p:sp>
        <p:nvSpPr>
          <p:cNvPr id="7" name="Text 4"/>
          <p:cNvSpPr/>
          <p:nvPr/>
        </p:nvSpPr>
        <p:spPr>
          <a:xfrm>
            <a:off x="9011939" y="4928968"/>
            <a:ext cx="1428100" cy="275112"/>
          </a:xfrm>
          <a:prstGeom prst="rect">
            <a:avLst/>
          </a:prstGeom>
          <a:noFill/>
          <a:ln/>
        </p:spPr>
        <p:txBody>
          <a:bodyPr wrap="none" lIns="0" tIns="0" rIns="0" bIns="0" rtlCol="0" anchor="t"/>
          <a:lstStyle/>
          <a:p>
            <a:pPr algn="ctr" indent="0" marL="0">
              <a:lnSpc>
                <a:spcPct val="104000"/>
              </a:lnSpc>
              <a:buNone/>
            </a:pPr>
            <a:r>
              <a:rPr lang="en-US" sz="1700" dirty="0">
                <a:solidFill>
                  <a:srgbClr val="3B3535"/>
                </a:solidFill>
                <a:latin typeface="Roboto Mono Medium" pitchFamily="34" charset="0"/>
                <a:ea typeface="Roboto Mono Medium" pitchFamily="34" charset="-122"/>
                <a:cs typeface="Roboto Mono Medium" pitchFamily="34" charset="-120"/>
              </a:rPr>
              <a:t>Respuesta</a:t>
            </a:r>
            <a:endParaRPr lang="en-US" sz="1700" dirty="0"/>
          </a:p>
        </p:txBody>
      </p:sp>
      <p:sp>
        <p:nvSpPr>
          <p:cNvPr id="8" name="Text 5"/>
          <p:cNvSpPr/>
          <p:nvPr/>
        </p:nvSpPr>
        <p:spPr>
          <a:xfrm>
            <a:off x="7212142" y="4928968"/>
            <a:ext cx="1428100" cy="275112"/>
          </a:xfrm>
          <a:prstGeom prst="rect">
            <a:avLst/>
          </a:prstGeom>
          <a:noFill/>
          <a:ln/>
        </p:spPr>
        <p:txBody>
          <a:bodyPr wrap="none" lIns="0" tIns="0" rIns="0" bIns="0" rtlCol="0" anchor="t"/>
          <a:lstStyle/>
          <a:p>
            <a:pPr algn="ctr" indent="0" marL="0">
              <a:lnSpc>
                <a:spcPct val="104000"/>
              </a:lnSpc>
              <a:buNone/>
            </a:pPr>
            <a:r>
              <a:rPr lang="en-US" sz="1700" dirty="0">
                <a:solidFill>
                  <a:srgbClr val="3B3535"/>
                </a:solidFill>
                <a:latin typeface="Roboto Mono Medium" pitchFamily="34" charset="0"/>
                <a:ea typeface="Roboto Mono Medium" pitchFamily="34" charset="-122"/>
                <a:cs typeface="Roboto Mono Medium" pitchFamily="34" charset="-120"/>
              </a:rPr>
              <a:t>Razonar</a:t>
            </a:r>
            <a:endParaRPr lang="en-US" sz="1700" dirty="0"/>
          </a:p>
        </p:txBody>
      </p:sp>
      <p:sp>
        <p:nvSpPr>
          <p:cNvPr id="9" name="Text 6"/>
          <p:cNvSpPr/>
          <p:nvPr/>
        </p:nvSpPr>
        <p:spPr>
          <a:xfrm>
            <a:off x="5422126" y="4791413"/>
            <a:ext cx="1428100" cy="550223"/>
          </a:xfrm>
          <a:prstGeom prst="rect">
            <a:avLst/>
          </a:prstGeom>
          <a:noFill/>
          <a:ln/>
        </p:spPr>
        <p:txBody>
          <a:bodyPr wrap="square" lIns="0" tIns="0" rIns="0" bIns="0" rtlCol="0" anchor="t">
            <a:normAutofit/>
          </a:bodyPr>
          <a:lstStyle/>
          <a:p>
            <a:pPr algn="ctr" indent="0" marL="0">
              <a:lnSpc>
                <a:spcPct val="104000"/>
              </a:lnSpc>
              <a:buNone/>
            </a:pPr>
            <a:r>
              <a:rPr lang="en-US" sz="1700" dirty="0">
                <a:solidFill>
                  <a:srgbClr val="3B3535"/>
                </a:solidFill>
                <a:latin typeface="Roboto Mono Medium" pitchFamily="34" charset="0"/>
                <a:ea typeface="Roboto Mono Medium" pitchFamily="34" charset="-122"/>
                <a:cs typeface="Roboto Mono Medium" pitchFamily="34" charset="-120"/>
              </a:rPr>
              <a:t>Observation</a:t>
            </a:r>
            <a:endParaRPr lang="en-US" sz="1700" dirty="0"/>
          </a:p>
        </p:txBody>
      </p:sp>
      <p:sp>
        <p:nvSpPr>
          <p:cNvPr id="10" name="Text 7"/>
          <p:cNvSpPr/>
          <p:nvPr/>
        </p:nvSpPr>
        <p:spPr>
          <a:xfrm>
            <a:off x="3632110" y="4928968"/>
            <a:ext cx="1428100" cy="275112"/>
          </a:xfrm>
          <a:prstGeom prst="rect">
            <a:avLst/>
          </a:prstGeom>
          <a:noFill/>
          <a:ln/>
        </p:spPr>
        <p:txBody>
          <a:bodyPr wrap="none" lIns="0" tIns="0" rIns="0" bIns="0" rtlCol="0" anchor="t"/>
          <a:lstStyle/>
          <a:p>
            <a:pPr algn="ctr" indent="0" marL="0">
              <a:lnSpc>
                <a:spcPct val="104000"/>
              </a:lnSpc>
              <a:buNone/>
            </a:pPr>
            <a:r>
              <a:rPr lang="en-US" sz="1700" dirty="0">
                <a:solidFill>
                  <a:srgbClr val="3B3535"/>
                </a:solidFill>
                <a:latin typeface="Roboto Mono Medium" pitchFamily="34" charset="0"/>
                <a:ea typeface="Roboto Mono Medium" pitchFamily="34" charset="-122"/>
                <a:cs typeface="Roboto Mono Medium" pitchFamily="34" charset="-120"/>
              </a:rPr>
              <a:t>Action</a:t>
            </a:r>
            <a:endParaRPr lang="en-US" sz="1700" dirty="0"/>
          </a:p>
        </p:txBody>
      </p:sp>
      <p:sp>
        <p:nvSpPr>
          <p:cNvPr id="11" name="Text 8"/>
          <p:cNvSpPr/>
          <p:nvPr/>
        </p:nvSpPr>
        <p:spPr>
          <a:xfrm>
            <a:off x="1802968" y="4928968"/>
            <a:ext cx="1428100" cy="275112"/>
          </a:xfrm>
          <a:prstGeom prst="rect">
            <a:avLst/>
          </a:prstGeom>
          <a:noFill/>
          <a:ln/>
        </p:spPr>
        <p:txBody>
          <a:bodyPr wrap="none" lIns="0" tIns="0" rIns="0" bIns="0" rtlCol="0" anchor="t"/>
          <a:lstStyle/>
          <a:p>
            <a:pPr algn="ctr" indent="0" marL="0">
              <a:lnSpc>
                <a:spcPct val="104000"/>
              </a:lnSpc>
              <a:buNone/>
            </a:pPr>
            <a:r>
              <a:rPr lang="en-US" sz="1700" dirty="0">
                <a:solidFill>
                  <a:srgbClr val="3B3535"/>
                </a:solidFill>
                <a:latin typeface="Roboto Mono Medium" pitchFamily="34" charset="0"/>
                <a:ea typeface="Roboto Mono Medium" pitchFamily="34" charset="-122"/>
                <a:cs typeface="Roboto Mono Medium" pitchFamily="34" charset="-120"/>
              </a:rPr>
              <a:t>Thought</a:t>
            </a:r>
            <a:endParaRPr lang="en-US" sz="1700" dirty="0"/>
          </a:p>
        </p:txBody>
      </p:sp>
      <p:sp>
        <p:nvSpPr>
          <p:cNvPr id="12" name="Text 9"/>
          <p:cNvSpPr/>
          <p:nvPr/>
        </p:nvSpPr>
        <p:spPr>
          <a:xfrm>
            <a:off x="661475" y="5942211"/>
            <a:ext cx="11478330" cy="226219"/>
          </a:xfrm>
          <a:prstGeom prst="rect">
            <a:avLst/>
          </a:prstGeom>
          <a:noFill/>
          <a:ln/>
        </p:spPr>
        <p:txBody>
          <a:bodyPr wrap="none" lIns="0" tIns="0" rIns="0" bIns="0" rtlCol="0" anchor="t"/>
          <a:lstStyle/>
          <a:p>
            <a:pPr algn="l" indent="0" marL="0">
              <a:lnSpc>
                <a:spcPct val="127000"/>
              </a:lnSpc>
              <a:buNone/>
            </a:pPr>
            <a:r>
              <a:rPr lang="en-US" sz="1150" dirty="0">
                <a:solidFill>
                  <a:srgbClr val="3B3535"/>
                </a:solidFill>
                <a:latin typeface="Roboto" pitchFamily="34" charset="0"/>
                <a:ea typeface="Roboto" pitchFamily="34" charset="-122"/>
                <a:cs typeface="Roboto" pitchFamily="34" charset="-120"/>
              </a:rPr>
              <a:t>El ciclo </a:t>
            </a:r>
            <a:pPr algn="l" indent="0" marL="0">
              <a:lnSpc>
                <a:spcPct val="127000"/>
              </a:lnSpc>
              <a:buNone/>
            </a:pPr>
            <a:r>
              <a:rPr lang="en-US" sz="1150" b="1" dirty="0">
                <a:solidFill>
                  <a:srgbClr val="3B3535"/>
                </a:solidFill>
                <a:latin typeface="Roboto Bold" pitchFamily="34" charset="0"/>
                <a:ea typeface="Roboto Bold" pitchFamily="34" charset="-122"/>
                <a:cs typeface="Roboto Bold" pitchFamily="34" charset="-120"/>
              </a:rPr>
              <a:t>Thought → Action → Observation</a:t>
            </a:r>
            <a:pPr algn="l" indent="0" marL="0">
              <a:lnSpc>
                <a:spcPct val="127000"/>
              </a:lnSpc>
              <a:buNone/>
            </a:pPr>
            <a:r>
              <a:rPr lang="en-US" sz="1150" dirty="0">
                <a:solidFill>
                  <a:srgbClr val="3B3535"/>
                </a:solidFill>
                <a:latin typeface="Roboto" pitchFamily="34" charset="0"/>
                <a:ea typeface="Roboto" pitchFamily="34" charset="-122"/>
                <a:cs typeface="Roboto" pitchFamily="34" charset="-120"/>
              </a:rPr>
              <a:t> se repite hasta que el agente determina que tiene suficiente información para producir una respuesta final de calidad.</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661475" y="2595662"/>
            <a:ext cx="10868745" cy="1666577"/>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661475" y="1796752"/>
            <a:ext cx="1968550" cy="251420"/>
          </a:xfrm>
          <a:prstGeom prst="roundRect">
            <a:avLst>
              <a:gd name="adj" fmla="val 3031"/>
            </a:avLst>
          </a:prstGeom>
          <a:solidFill>
            <a:srgbClr val="F9D2D6"/>
          </a:solidFill>
          <a:ln/>
        </p:spPr>
      </p:sp>
      <p:sp>
        <p:nvSpPr>
          <p:cNvPr id="3" name="Text 1"/>
          <p:cNvSpPr/>
          <p:nvPr/>
        </p:nvSpPr>
        <p:spPr>
          <a:xfrm>
            <a:off x="760691" y="1846362"/>
            <a:ext cx="2379702"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AGENTES BASADOS EN LLMS</a:t>
            </a:r>
            <a:endParaRPr lang="en-US" sz="1000" dirty="0"/>
          </a:p>
        </p:txBody>
      </p:sp>
      <p:sp>
        <p:nvSpPr>
          <p:cNvPr id="4" name="Text 2"/>
          <p:cNvSpPr/>
          <p:nvPr/>
        </p:nvSpPr>
        <p:spPr>
          <a:xfrm>
            <a:off x="661475" y="2114252"/>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Componentes de un Agente basado en LLM</a:t>
            </a:r>
            <a:endParaRPr lang="en-US" sz="3250" dirty="0"/>
          </a:p>
        </p:txBody>
      </p:sp>
      <p:sp>
        <p:nvSpPr>
          <p:cNvPr id="5" name="Text 3"/>
          <p:cNvSpPr/>
          <p:nvPr/>
        </p:nvSpPr>
        <p:spPr>
          <a:xfrm>
            <a:off x="661475" y="2879030"/>
            <a:ext cx="11478330" cy="264616"/>
          </a:xfrm>
          <a:prstGeom prst="rect">
            <a:avLst/>
          </a:prstGeom>
          <a:noFill/>
          <a:ln/>
        </p:spPr>
        <p:txBody>
          <a:bodyPr wrap="none" lIns="0" tIns="0" rIns="0" bIns="0" rtlCol="0" anchor="t"/>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Todo agente basado en LLM se construye sobre tres componentes esenciales que definen qué sabe, qué puede hacer y de qué contexto dispone:</a:t>
            </a:r>
            <a:endParaRPr lang="en-US" sz="130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3329682"/>
            <a:ext cx="330688" cy="330696"/>
          </a:xfrm>
          <a:prstGeom prst="rect">
            <a:avLst/>
          </a:prstGeom>
        </p:spPr>
      </p:pic>
      <p:sp>
        <p:nvSpPr>
          <p:cNvPr id="7" name="Text 4"/>
          <p:cNvSpPr/>
          <p:nvPr/>
        </p:nvSpPr>
        <p:spPr>
          <a:xfrm>
            <a:off x="1198830" y="3386534"/>
            <a:ext cx="2947715"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1. Memoria y Contexto</a:t>
            </a:r>
            <a:endParaRPr lang="en-US" sz="1600" dirty="0"/>
          </a:p>
        </p:txBody>
      </p:sp>
      <p:sp>
        <p:nvSpPr>
          <p:cNvPr id="8" name="Text 5"/>
          <p:cNvSpPr/>
          <p:nvPr/>
        </p:nvSpPr>
        <p:spPr>
          <a:xfrm>
            <a:off x="1198830" y="3744218"/>
            <a:ext cx="2947715"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Historial de conversación, último prompt y contexto activo. Es la "conciencia" inmediata del agente sobre la situación actual.</a:t>
            </a:r>
            <a:endParaRPr lang="en-US" sz="130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53213" y="3329682"/>
            <a:ext cx="330688" cy="330696"/>
          </a:xfrm>
          <a:prstGeom prst="rect">
            <a:avLst/>
          </a:prstGeom>
        </p:spPr>
      </p:pic>
      <p:sp>
        <p:nvSpPr>
          <p:cNvPr id="10" name="Text 6"/>
          <p:cNvSpPr/>
          <p:nvPr/>
        </p:nvSpPr>
        <p:spPr>
          <a:xfrm>
            <a:off x="4890568" y="3386534"/>
            <a:ext cx="2947815"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2. Tools (Herramientas)</a:t>
            </a:r>
            <a:endParaRPr lang="en-US" sz="1600" dirty="0"/>
          </a:p>
        </p:txBody>
      </p:sp>
      <p:sp>
        <p:nvSpPr>
          <p:cNvPr id="11" name="Text 7"/>
          <p:cNvSpPr/>
          <p:nvPr/>
        </p:nvSpPr>
        <p:spPr>
          <a:xfrm>
            <a:off x="4890568" y="3744218"/>
            <a:ext cx="2947815"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Conjunto de herramientas a las que puede llamar, descriptas en el contexto. El agente decide cuándo y cómo invocarlas.</a:t>
            </a:r>
            <a:endParaRPr lang="en-US" sz="130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45050" y="3329682"/>
            <a:ext cx="330688" cy="330696"/>
          </a:xfrm>
          <a:prstGeom prst="rect">
            <a:avLst/>
          </a:prstGeom>
        </p:spPr>
      </p:pic>
      <p:sp>
        <p:nvSpPr>
          <p:cNvPr id="13" name="Text 8"/>
          <p:cNvSpPr/>
          <p:nvPr/>
        </p:nvSpPr>
        <p:spPr>
          <a:xfrm>
            <a:off x="8582406" y="3386534"/>
            <a:ext cx="2947815" cy="516930"/>
          </a:xfrm>
          <a:prstGeom prst="rect">
            <a:avLst/>
          </a:prstGeom>
          <a:noFill/>
          <a:ln/>
        </p:spPr>
        <p:txBody>
          <a:bodyPr wrap="square" lIns="0" tIns="0" rIns="0" bIns="0" rtlCol="0" anchor="t">
            <a:normAutofit/>
          </a:bodyPr>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3. Información Contextual (RAG)</a:t>
            </a:r>
            <a:endParaRPr lang="en-US" sz="1600" dirty="0"/>
          </a:p>
        </p:txBody>
      </p:sp>
      <p:sp>
        <p:nvSpPr>
          <p:cNvPr id="14" name="Text 9"/>
          <p:cNvSpPr/>
          <p:nvPr/>
        </p:nvSpPr>
        <p:spPr>
          <a:xfrm>
            <a:off x="8582406" y="4002683"/>
            <a:ext cx="2947815"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Información asociada al historial mediante recuperación semántica. Puede incrustarse en el prompt o invocarse como herramienta.</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661475" y="590054"/>
            <a:ext cx="607997" cy="213717"/>
          </a:xfrm>
          <a:prstGeom prst="roundRect">
            <a:avLst>
              <a:gd name="adj" fmla="val 3565"/>
            </a:avLst>
          </a:prstGeom>
          <a:solidFill>
            <a:srgbClr val="F9D2D6"/>
          </a:solidFill>
          <a:ln/>
        </p:spPr>
      </p:sp>
      <p:sp>
        <p:nvSpPr>
          <p:cNvPr id="3" name="Text 1"/>
          <p:cNvSpPr/>
          <p:nvPr/>
        </p:nvSpPr>
        <p:spPr>
          <a:xfrm>
            <a:off x="745809" y="632222"/>
            <a:ext cx="1048914" cy="129381"/>
          </a:xfrm>
          <a:prstGeom prst="rect">
            <a:avLst/>
          </a:prstGeom>
          <a:noFill/>
          <a:ln/>
        </p:spPr>
        <p:txBody>
          <a:bodyPr wrap="none" lIns="0" tIns="0" rIns="0" bIns="0" rtlCol="0" anchor="t"/>
          <a:lstStyle/>
          <a:p>
            <a:pPr algn="l" indent="0" marL="0">
              <a:lnSpc>
                <a:spcPct val="96000"/>
              </a:lnSpc>
              <a:buNone/>
            </a:pPr>
            <a:r>
              <a:rPr lang="en-US" sz="850" dirty="0">
                <a:solidFill>
                  <a:srgbClr val="3B3535"/>
                </a:solidFill>
                <a:latin typeface="Roboto" pitchFamily="34" charset="0"/>
                <a:ea typeface="Roboto" pitchFamily="34" charset="-122"/>
                <a:cs typeface="Roboto" pitchFamily="34" charset="-120"/>
              </a:rPr>
              <a:t>AGENDA</a:t>
            </a:r>
            <a:endParaRPr lang="en-US" sz="850" dirty="0"/>
          </a:p>
        </p:txBody>
      </p:sp>
      <p:sp>
        <p:nvSpPr>
          <p:cNvPr id="4" name="Text 2"/>
          <p:cNvSpPr/>
          <p:nvPr/>
        </p:nvSpPr>
        <p:spPr>
          <a:xfrm>
            <a:off x="661475" y="851495"/>
            <a:ext cx="10868745" cy="439241"/>
          </a:xfrm>
          <a:prstGeom prst="rect">
            <a:avLst/>
          </a:prstGeom>
          <a:noFill/>
          <a:ln/>
        </p:spPr>
        <p:txBody>
          <a:bodyPr wrap="none" lIns="0" tIns="0" rIns="0" bIns="0" rtlCol="0" anchor="t"/>
          <a:lstStyle/>
          <a:p>
            <a:pPr algn="l" indent="0" marL="0">
              <a:lnSpc>
                <a:spcPct val="104000"/>
              </a:lnSpc>
              <a:buNone/>
            </a:pPr>
            <a:r>
              <a:rPr lang="en-US" sz="2750" dirty="0">
                <a:solidFill>
                  <a:srgbClr val="1F1E1E"/>
                </a:solidFill>
                <a:latin typeface="Roboto Mono Medium" pitchFamily="34" charset="0"/>
                <a:ea typeface="Roboto Mono Medium" pitchFamily="34" charset="-122"/>
                <a:cs typeface="Roboto Mono Medium" pitchFamily="34" charset="-120"/>
              </a:rPr>
              <a:t>Agenda</a:t>
            </a:r>
            <a:endParaRPr lang="en-US" sz="2750" dirty="0"/>
          </a:p>
        </p:txBody>
      </p:sp>
      <p:sp>
        <p:nvSpPr>
          <p:cNvPr id="5" name="Shape 3"/>
          <p:cNvSpPr/>
          <p:nvPr/>
        </p:nvSpPr>
        <p:spPr>
          <a:xfrm>
            <a:off x="6086323" y="1469926"/>
            <a:ext cx="19050" cy="4797921"/>
          </a:xfrm>
          <a:prstGeom prst="roundRect">
            <a:avLst>
              <a:gd name="adj" fmla="val 39999"/>
            </a:avLst>
          </a:prstGeom>
          <a:solidFill>
            <a:srgbClr val="D8D4D4"/>
          </a:solidFill>
          <a:ln/>
        </p:spPr>
      </p:sp>
      <p:sp>
        <p:nvSpPr>
          <p:cNvPr id="6" name="Shape 4"/>
          <p:cNvSpPr/>
          <p:nvPr/>
        </p:nvSpPr>
        <p:spPr>
          <a:xfrm>
            <a:off x="5535077" y="1618555"/>
            <a:ext cx="421669" cy="19050"/>
          </a:xfrm>
          <a:prstGeom prst="roundRect">
            <a:avLst>
              <a:gd name="adj" fmla="val 39999"/>
            </a:avLst>
          </a:prstGeom>
          <a:solidFill>
            <a:srgbClr val="D8D4D4"/>
          </a:solidFill>
          <a:ln/>
        </p:spPr>
      </p:sp>
      <p:sp>
        <p:nvSpPr>
          <p:cNvPr id="7" name="Shape 5"/>
          <p:cNvSpPr/>
          <p:nvPr/>
        </p:nvSpPr>
        <p:spPr>
          <a:xfrm>
            <a:off x="5937697" y="1469926"/>
            <a:ext cx="316301" cy="316309"/>
          </a:xfrm>
          <a:prstGeom prst="roundRect">
            <a:avLst>
              <a:gd name="adj" fmla="val 2409"/>
            </a:avLst>
          </a:prstGeom>
          <a:solidFill>
            <a:srgbClr val="F2EEEE"/>
          </a:solidFill>
          <a:ln w="6350">
            <a:solidFill>
              <a:srgbClr val="D8D4D4"/>
            </a:solidFill>
            <a:prstDash val="solid"/>
          </a:ln>
        </p:spPr>
      </p:sp>
      <p:sp>
        <p:nvSpPr>
          <p:cNvPr id="8" name="Text 6"/>
          <p:cNvSpPr/>
          <p:nvPr/>
        </p:nvSpPr>
        <p:spPr>
          <a:xfrm>
            <a:off x="5990430" y="1496318"/>
            <a:ext cx="210835" cy="263525"/>
          </a:xfrm>
          <a:prstGeom prst="rect">
            <a:avLst/>
          </a:prstGeom>
          <a:noFill/>
          <a:ln/>
        </p:spPr>
        <p:txBody>
          <a:bodyPr wrap="none" lIns="0" tIns="0" rIns="0" bIns="0" rtlCol="0" anchor="ctr"/>
          <a:lstStyle/>
          <a:p>
            <a:pPr algn="ctr" indent="0" marL="0">
              <a:lnSpc>
                <a:spcPct val="100000"/>
              </a:lnSpc>
              <a:buNone/>
            </a:pPr>
            <a:r>
              <a:rPr lang="en-US" sz="1650" dirty="0">
                <a:solidFill>
                  <a:srgbClr val="3B3535"/>
                </a:solidFill>
                <a:latin typeface="Roboto Mono Medium" pitchFamily="34" charset="0"/>
                <a:ea typeface="Roboto Mono Medium" pitchFamily="34" charset="-122"/>
                <a:cs typeface="Roboto Mono Medium" pitchFamily="34" charset="-120"/>
              </a:rPr>
              <a:t>1</a:t>
            </a:r>
            <a:endParaRPr lang="en-US" sz="1650" dirty="0"/>
          </a:p>
        </p:txBody>
      </p:sp>
      <p:sp>
        <p:nvSpPr>
          <p:cNvPr id="9" name="Text 7"/>
          <p:cNvSpPr/>
          <p:nvPr/>
        </p:nvSpPr>
        <p:spPr>
          <a:xfrm>
            <a:off x="661475" y="1518245"/>
            <a:ext cx="4731525" cy="219571"/>
          </a:xfrm>
          <a:prstGeom prst="rect">
            <a:avLst/>
          </a:prstGeom>
          <a:noFill/>
          <a:ln/>
        </p:spPr>
        <p:txBody>
          <a:bodyPr wrap="none" lIns="0" tIns="0" rIns="0" bIns="0" rtlCol="0" anchor="t"/>
          <a:lstStyle/>
          <a:p>
            <a:pPr algn="r" indent="0" marL="0">
              <a:lnSpc>
                <a:spcPct val="104000"/>
              </a:lnSpc>
              <a:buNone/>
            </a:pPr>
            <a:r>
              <a:rPr lang="en-US" sz="1350" dirty="0">
                <a:solidFill>
                  <a:srgbClr val="3B3535"/>
                </a:solidFill>
                <a:latin typeface="Roboto Mono Medium" pitchFamily="34" charset="0"/>
                <a:ea typeface="Roboto Mono Medium" pitchFamily="34" charset="-122"/>
                <a:cs typeface="Roboto Mono Medium" pitchFamily="34" charset="-120"/>
              </a:rPr>
              <a:t>¿Qué es un Agente?</a:t>
            </a:r>
            <a:endParaRPr lang="en-US" sz="1350" dirty="0"/>
          </a:p>
        </p:txBody>
      </p:sp>
      <p:sp>
        <p:nvSpPr>
          <p:cNvPr id="10" name="Text 8"/>
          <p:cNvSpPr/>
          <p:nvPr/>
        </p:nvSpPr>
        <p:spPr>
          <a:xfrm>
            <a:off x="661475" y="1809452"/>
            <a:ext cx="4731525" cy="208062"/>
          </a:xfrm>
          <a:prstGeom prst="rect">
            <a:avLst/>
          </a:prstGeom>
          <a:noFill/>
          <a:ln/>
        </p:spPr>
        <p:txBody>
          <a:bodyPr wrap="none" lIns="0" tIns="0" rIns="0" bIns="0" rtlCol="0" anchor="t"/>
          <a:lstStyle/>
          <a:p>
            <a:pPr algn="r" indent="0" marL="0">
              <a:lnSpc>
                <a:spcPct val="123000"/>
              </a:lnSpc>
              <a:buNone/>
            </a:pPr>
            <a:r>
              <a:rPr lang="en-US" sz="1100" dirty="0">
                <a:solidFill>
                  <a:srgbClr val="3B3535"/>
                </a:solidFill>
                <a:latin typeface="Roboto" pitchFamily="34" charset="0"/>
                <a:ea typeface="Roboto" pitchFamily="34" charset="-122"/>
                <a:cs typeface="Roboto" pitchFamily="34" charset="-120"/>
              </a:rPr>
              <a:t>Definición formal, racionalidad, ejemplos y tipos de ambientes</a:t>
            </a:r>
            <a:endParaRPr lang="en-US" sz="1100" dirty="0"/>
          </a:p>
        </p:txBody>
      </p:sp>
      <p:sp>
        <p:nvSpPr>
          <p:cNvPr id="11" name="Shape 9"/>
          <p:cNvSpPr/>
          <p:nvPr/>
        </p:nvSpPr>
        <p:spPr>
          <a:xfrm>
            <a:off x="6234949" y="2419747"/>
            <a:ext cx="421669" cy="19050"/>
          </a:xfrm>
          <a:prstGeom prst="roundRect">
            <a:avLst>
              <a:gd name="adj" fmla="val 39999"/>
            </a:avLst>
          </a:prstGeom>
          <a:solidFill>
            <a:srgbClr val="D8D4D4"/>
          </a:solidFill>
          <a:ln/>
        </p:spPr>
      </p:sp>
      <p:sp>
        <p:nvSpPr>
          <p:cNvPr id="12" name="Shape 10"/>
          <p:cNvSpPr/>
          <p:nvPr/>
        </p:nvSpPr>
        <p:spPr>
          <a:xfrm>
            <a:off x="5937697" y="2271117"/>
            <a:ext cx="316301" cy="316309"/>
          </a:xfrm>
          <a:prstGeom prst="roundRect">
            <a:avLst>
              <a:gd name="adj" fmla="val 2409"/>
            </a:avLst>
          </a:prstGeom>
          <a:solidFill>
            <a:srgbClr val="F2EEEE"/>
          </a:solidFill>
          <a:ln w="6350">
            <a:solidFill>
              <a:srgbClr val="D8D4D4"/>
            </a:solidFill>
            <a:prstDash val="solid"/>
          </a:ln>
        </p:spPr>
      </p:sp>
      <p:sp>
        <p:nvSpPr>
          <p:cNvPr id="13" name="Text 11"/>
          <p:cNvSpPr/>
          <p:nvPr/>
        </p:nvSpPr>
        <p:spPr>
          <a:xfrm>
            <a:off x="5990430" y="2297509"/>
            <a:ext cx="210835" cy="263525"/>
          </a:xfrm>
          <a:prstGeom prst="rect">
            <a:avLst/>
          </a:prstGeom>
          <a:noFill/>
          <a:ln/>
        </p:spPr>
        <p:txBody>
          <a:bodyPr wrap="none" lIns="0" tIns="0" rIns="0" bIns="0" rtlCol="0" anchor="ctr"/>
          <a:lstStyle/>
          <a:p>
            <a:pPr algn="ctr" indent="0" marL="0">
              <a:lnSpc>
                <a:spcPct val="100000"/>
              </a:lnSpc>
              <a:buNone/>
            </a:pPr>
            <a:r>
              <a:rPr lang="en-US" sz="1650" dirty="0">
                <a:solidFill>
                  <a:srgbClr val="3B3535"/>
                </a:solidFill>
                <a:latin typeface="Roboto Mono Medium" pitchFamily="34" charset="0"/>
                <a:ea typeface="Roboto Mono Medium" pitchFamily="34" charset="-122"/>
                <a:cs typeface="Roboto Mono Medium" pitchFamily="34" charset="-120"/>
              </a:rPr>
              <a:t>2</a:t>
            </a:r>
            <a:endParaRPr lang="en-US" sz="1650" dirty="0"/>
          </a:p>
        </p:txBody>
      </p:sp>
      <p:sp>
        <p:nvSpPr>
          <p:cNvPr id="14" name="Text 12"/>
          <p:cNvSpPr/>
          <p:nvPr/>
        </p:nvSpPr>
        <p:spPr>
          <a:xfrm>
            <a:off x="6798696" y="2319437"/>
            <a:ext cx="4731525" cy="219571"/>
          </a:xfrm>
          <a:prstGeom prst="rect">
            <a:avLst/>
          </a:prstGeom>
          <a:noFill/>
          <a:ln/>
        </p:spPr>
        <p:txBody>
          <a:bodyPr wrap="none" lIns="0" tIns="0" rIns="0" bIns="0" rtlCol="0" anchor="t"/>
          <a:lstStyle/>
          <a:p>
            <a:pPr algn="l" indent="0" marL="0">
              <a:lnSpc>
                <a:spcPct val="104000"/>
              </a:lnSpc>
              <a:buNone/>
            </a:pPr>
            <a:r>
              <a:rPr lang="en-US" sz="1350" dirty="0">
                <a:solidFill>
                  <a:srgbClr val="3B3535"/>
                </a:solidFill>
                <a:latin typeface="Roboto Mono Medium" pitchFamily="34" charset="0"/>
                <a:ea typeface="Roboto Mono Medium" pitchFamily="34" charset="-122"/>
                <a:cs typeface="Roboto Mono Medium" pitchFamily="34" charset="-120"/>
              </a:rPr>
              <a:t>Agentes basados en LLMs</a:t>
            </a:r>
            <a:endParaRPr lang="en-US" sz="1350" dirty="0"/>
          </a:p>
        </p:txBody>
      </p:sp>
      <p:sp>
        <p:nvSpPr>
          <p:cNvPr id="15" name="Text 13"/>
          <p:cNvSpPr/>
          <p:nvPr/>
        </p:nvSpPr>
        <p:spPr>
          <a:xfrm>
            <a:off x="6798696" y="2610644"/>
            <a:ext cx="4731525" cy="208062"/>
          </a:xfrm>
          <a:prstGeom prst="rect">
            <a:avLst/>
          </a:prstGeom>
          <a:noFill/>
          <a:ln/>
        </p:spPr>
        <p:txBody>
          <a:bodyPr wrap="none" lIns="0" tIns="0" rIns="0" bIns="0" rtlCol="0" anchor="t"/>
          <a:lstStyle/>
          <a:p>
            <a:pPr algn="l" indent="0" marL="0">
              <a:lnSpc>
                <a:spcPct val="123000"/>
              </a:lnSpc>
              <a:buNone/>
            </a:pPr>
            <a:r>
              <a:rPr lang="en-US" sz="1100" dirty="0">
                <a:solidFill>
                  <a:srgbClr val="3B3535"/>
                </a:solidFill>
                <a:latin typeface="Roboto" pitchFamily="34" charset="0"/>
                <a:ea typeface="Roboto" pitchFamily="34" charset="-122"/>
                <a:cs typeface="Roboto" pitchFamily="34" charset="-120"/>
              </a:rPr>
              <a:t>Formulación, valor del LLM, arquitectura ReAct y componentes</a:t>
            </a:r>
            <a:endParaRPr lang="en-US" sz="1100" dirty="0"/>
          </a:p>
        </p:txBody>
      </p:sp>
      <p:sp>
        <p:nvSpPr>
          <p:cNvPr id="16" name="Shape 14"/>
          <p:cNvSpPr/>
          <p:nvPr/>
        </p:nvSpPr>
        <p:spPr>
          <a:xfrm>
            <a:off x="5535077" y="3125688"/>
            <a:ext cx="421669" cy="19050"/>
          </a:xfrm>
          <a:prstGeom prst="roundRect">
            <a:avLst>
              <a:gd name="adj" fmla="val 39999"/>
            </a:avLst>
          </a:prstGeom>
          <a:solidFill>
            <a:srgbClr val="D8D4D4"/>
          </a:solidFill>
          <a:ln/>
        </p:spPr>
      </p:sp>
      <p:sp>
        <p:nvSpPr>
          <p:cNvPr id="17" name="Shape 15"/>
          <p:cNvSpPr/>
          <p:nvPr/>
        </p:nvSpPr>
        <p:spPr>
          <a:xfrm>
            <a:off x="5937697" y="2977059"/>
            <a:ext cx="316301" cy="316309"/>
          </a:xfrm>
          <a:prstGeom prst="roundRect">
            <a:avLst>
              <a:gd name="adj" fmla="val 2409"/>
            </a:avLst>
          </a:prstGeom>
          <a:solidFill>
            <a:srgbClr val="F2EEEE"/>
          </a:solidFill>
          <a:ln w="6350">
            <a:solidFill>
              <a:srgbClr val="D8D4D4"/>
            </a:solidFill>
            <a:prstDash val="solid"/>
          </a:ln>
        </p:spPr>
      </p:sp>
      <p:sp>
        <p:nvSpPr>
          <p:cNvPr id="18" name="Text 16"/>
          <p:cNvSpPr/>
          <p:nvPr/>
        </p:nvSpPr>
        <p:spPr>
          <a:xfrm>
            <a:off x="5990430" y="3003451"/>
            <a:ext cx="210835" cy="263525"/>
          </a:xfrm>
          <a:prstGeom prst="rect">
            <a:avLst/>
          </a:prstGeom>
          <a:noFill/>
          <a:ln/>
        </p:spPr>
        <p:txBody>
          <a:bodyPr wrap="none" lIns="0" tIns="0" rIns="0" bIns="0" rtlCol="0" anchor="ctr"/>
          <a:lstStyle/>
          <a:p>
            <a:pPr algn="ctr" indent="0" marL="0">
              <a:lnSpc>
                <a:spcPct val="100000"/>
              </a:lnSpc>
              <a:buNone/>
            </a:pPr>
            <a:r>
              <a:rPr lang="en-US" sz="1650" dirty="0">
                <a:solidFill>
                  <a:srgbClr val="3B3535"/>
                </a:solidFill>
                <a:latin typeface="Roboto Mono Medium" pitchFamily="34" charset="0"/>
                <a:ea typeface="Roboto Mono Medium" pitchFamily="34" charset="-122"/>
                <a:cs typeface="Roboto Mono Medium" pitchFamily="34" charset="-120"/>
              </a:rPr>
              <a:t>3</a:t>
            </a:r>
            <a:endParaRPr lang="en-US" sz="1650" dirty="0"/>
          </a:p>
        </p:txBody>
      </p:sp>
      <p:sp>
        <p:nvSpPr>
          <p:cNvPr id="19" name="Text 17"/>
          <p:cNvSpPr/>
          <p:nvPr/>
        </p:nvSpPr>
        <p:spPr>
          <a:xfrm>
            <a:off x="661475" y="3025378"/>
            <a:ext cx="4731525" cy="219571"/>
          </a:xfrm>
          <a:prstGeom prst="rect">
            <a:avLst/>
          </a:prstGeom>
          <a:noFill/>
          <a:ln/>
        </p:spPr>
        <p:txBody>
          <a:bodyPr wrap="none" lIns="0" tIns="0" rIns="0" bIns="0" rtlCol="0" anchor="t"/>
          <a:lstStyle/>
          <a:p>
            <a:pPr algn="r" indent="0" marL="0">
              <a:lnSpc>
                <a:spcPct val="104000"/>
              </a:lnSpc>
              <a:buNone/>
            </a:pPr>
            <a:r>
              <a:rPr lang="en-US" sz="1350" dirty="0">
                <a:solidFill>
                  <a:srgbClr val="3B3535"/>
                </a:solidFill>
                <a:latin typeface="Roboto Mono Medium" pitchFamily="34" charset="0"/>
                <a:ea typeface="Roboto Mono Medium" pitchFamily="34" charset="-122"/>
                <a:cs typeface="Roboto Mono Medium" pitchFamily="34" charset="-120"/>
              </a:rPr>
              <a:t>Desafíos de Producción</a:t>
            </a:r>
            <a:endParaRPr lang="en-US" sz="1350" dirty="0"/>
          </a:p>
        </p:txBody>
      </p:sp>
      <p:sp>
        <p:nvSpPr>
          <p:cNvPr id="20" name="Text 18"/>
          <p:cNvSpPr/>
          <p:nvPr/>
        </p:nvSpPr>
        <p:spPr>
          <a:xfrm>
            <a:off x="661475" y="3316585"/>
            <a:ext cx="4731525" cy="208062"/>
          </a:xfrm>
          <a:prstGeom prst="rect">
            <a:avLst/>
          </a:prstGeom>
          <a:noFill/>
          <a:ln/>
        </p:spPr>
        <p:txBody>
          <a:bodyPr wrap="none" lIns="0" tIns="0" rIns="0" bIns="0" rtlCol="0" anchor="t"/>
          <a:lstStyle/>
          <a:p>
            <a:pPr algn="r" indent="0" marL="0">
              <a:lnSpc>
                <a:spcPct val="123000"/>
              </a:lnSpc>
              <a:buNone/>
            </a:pPr>
            <a:r>
              <a:rPr lang="en-US" sz="1100" dirty="0">
                <a:solidFill>
                  <a:srgbClr val="3B3535"/>
                </a:solidFill>
                <a:latin typeface="Roboto" pitchFamily="34" charset="0"/>
                <a:ea typeface="Roboto" pitchFamily="34" charset="-122"/>
                <a:cs typeface="Roboto" pitchFamily="34" charset="-120"/>
              </a:rPr>
              <a:t>Brecha prototipo-producción y Model Context Protocol</a:t>
            </a:r>
            <a:endParaRPr lang="en-US" sz="1100" dirty="0"/>
          </a:p>
        </p:txBody>
      </p:sp>
      <p:sp>
        <p:nvSpPr>
          <p:cNvPr id="21" name="Shape 19"/>
          <p:cNvSpPr/>
          <p:nvPr/>
        </p:nvSpPr>
        <p:spPr>
          <a:xfrm>
            <a:off x="6234949" y="3831630"/>
            <a:ext cx="421669" cy="19050"/>
          </a:xfrm>
          <a:prstGeom prst="roundRect">
            <a:avLst>
              <a:gd name="adj" fmla="val 39999"/>
            </a:avLst>
          </a:prstGeom>
          <a:solidFill>
            <a:srgbClr val="D8D4D4"/>
          </a:solidFill>
          <a:ln/>
        </p:spPr>
      </p:sp>
      <p:sp>
        <p:nvSpPr>
          <p:cNvPr id="22" name="Shape 20"/>
          <p:cNvSpPr/>
          <p:nvPr/>
        </p:nvSpPr>
        <p:spPr>
          <a:xfrm>
            <a:off x="5937697" y="3683000"/>
            <a:ext cx="316301" cy="316309"/>
          </a:xfrm>
          <a:prstGeom prst="roundRect">
            <a:avLst>
              <a:gd name="adj" fmla="val 2409"/>
            </a:avLst>
          </a:prstGeom>
          <a:solidFill>
            <a:srgbClr val="F2EEEE"/>
          </a:solidFill>
          <a:ln w="6350">
            <a:solidFill>
              <a:srgbClr val="D8D4D4"/>
            </a:solidFill>
            <a:prstDash val="solid"/>
          </a:ln>
        </p:spPr>
      </p:sp>
      <p:sp>
        <p:nvSpPr>
          <p:cNvPr id="23" name="Text 21"/>
          <p:cNvSpPr/>
          <p:nvPr/>
        </p:nvSpPr>
        <p:spPr>
          <a:xfrm>
            <a:off x="5990430" y="3709392"/>
            <a:ext cx="210835" cy="263525"/>
          </a:xfrm>
          <a:prstGeom prst="rect">
            <a:avLst/>
          </a:prstGeom>
          <a:noFill/>
          <a:ln/>
        </p:spPr>
        <p:txBody>
          <a:bodyPr wrap="none" lIns="0" tIns="0" rIns="0" bIns="0" rtlCol="0" anchor="ctr"/>
          <a:lstStyle/>
          <a:p>
            <a:pPr algn="ctr" indent="0" marL="0">
              <a:lnSpc>
                <a:spcPct val="100000"/>
              </a:lnSpc>
              <a:buNone/>
            </a:pPr>
            <a:r>
              <a:rPr lang="en-US" sz="1650" dirty="0">
                <a:solidFill>
                  <a:srgbClr val="3B3535"/>
                </a:solidFill>
                <a:latin typeface="Roboto Mono Medium" pitchFamily="34" charset="0"/>
                <a:ea typeface="Roboto Mono Medium" pitchFamily="34" charset="-122"/>
                <a:cs typeface="Roboto Mono Medium" pitchFamily="34" charset="-120"/>
              </a:rPr>
              <a:t>4</a:t>
            </a:r>
            <a:endParaRPr lang="en-US" sz="1650" dirty="0"/>
          </a:p>
        </p:txBody>
      </p:sp>
      <p:sp>
        <p:nvSpPr>
          <p:cNvPr id="24" name="Text 22"/>
          <p:cNvSpPr/>
          <p:nvPr/>
        </p:nvSpPr>
        <p:spPr>
          <a:xfrm>
            <a:off x="6798696" y="3731320"/>
            <a:ext cx="4731525" cy="219571"/>
          </a:xfrm>
          <a:prstGeom prst="rect">
            <a:avLst/>
          </a:prstGeom>
          <a:noFill/>
          <a:ln/>
        </p:spPr>
        <p:txBody>
          <a:bodyPr wrap="none" lIns="0" tIns="0" rIns="0" bIns="0" rtlCol="0" anchor="t"/>
          <a:lstStyle/>
          <a:p>
            <a:pPr algn="l" indent="0" marL="0">
              <a:lnSpc>
                <a:spcPct val="104000"/>
              </a:lnSpc>
              <a:buNone/>
            </a:pPr>
            <a:r>
              <a:rPr lang="en-US" sz="1350" dirty="0">
                <a:solidFill>
                  <a:srgbClr val="3B3535"/>
                </a:solidFill>
                <a:latin typeface="Roboto Mono Medium" pitchFamily="34" charset="0"/>
                <a:ea typeface="Roboto Mono Medium" pitchFamily="34" charset="-122"/>
                <a:cs typeface="Roboto Mono Medium" pitchFamily="34" charset="-120"/>
              </a:rPr>
              <a:t>Sistemas Multiagente</a:t>
            </a:r>
            <a:endParaRPr lang="en-US" sz="1350" dirty="0"/>
          </a:p>
        </p:txBody>
      </p:sp>
      <p:sp>
        <p:nvSpPr>
          <p:cNvPr id="25" name="Text 23"/>
          <p:cNvSpPr/>
          <p:nvPr/>
        </p:nvSpPr>
        <p:spPr>
          <a:xfrm>
            <a:off x="6798696" y="4022527"/>
            <a:ext cx="4731525" cy="416123"/>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3B3535"/>
                </a:solidFill>
                <a:latin typeface="Roboto" pitchFamily="34" charset="0"/>
                <a:ea typeface="Roboto" pitchFamily="34" charset="-122"/>
                <a:cs typeface="Roboto" pitchFamily="34" charset="-120"/>
              </a:rPr>
              <a:t>Limitaciones de un agente, arquitecturas multiagente y el espectro workflows-agentes</a:t>
            </a:r>
            <a:endParaRPr lang="en-US" sz="1100" dirty="0"/>
          </a:p>
        </p:txBody>
      </p:sp>
      <p:sp>
        <p:nvSpPr>
          <p:cNvPr id="26" name="Shape 24"/>
          <p:cNvSpPr/>
          <p:nvPr/>
        </p:nvSpPr>
        <p:spPr>
          <a:xfrm>
            <a:off x="5535077" y="4537571"/>
            <a:ext cx="421669" cy="19050"/>
          </a:xfrm>
          <a:prstGeom prst="roundRect">
            <a:avLst>
              <a:gd name="adj" fmla="val 39999"/>
            </a:avLst>
          </a:prstGeom>
          <a:solidFill>
            <a:srgbClr val="D8D4D4"/>
          </a:solidFill>
          <a:ln/>
        </p:spPr>
      </p:sp>
      <p:sp>
        <p:nvSpPr>
          <p:cNvPr id="27" name="Shape 25"/>
          <p:cNvSpPr/>
          <p:nvPr/>
        </p:nvSpPr>
        <p:spPr>
          <a:xfrm>
            <a:off x="5937697" y="4388941"/>
            <a:ext cx="316301" cy="316309"/>
          </a:xfrm>
          <a:prstGeom prst="roundRect">
            <a:avLst>
              <a:gd name="adj" fmla="val 2409"/>
            </a:avLst>
          </a:prstGeom>
          <a:solidFill>
            <a:srgbClr val="F2EEEE"/>
          </a:solidFill>
          <a:ln w="6350">
            <a:solidFill>
              <a:srgbClr val="D8D4D4"/>
            </a:solidFill>
            <a:prstDash val="solid"/>
          </a:ln>
        </p:spPr>
      </p:sp>
      <p:sp>
        <p:nvSpPr>
          <p:cNvPr id="28" name="Text 26"/>
          <p:cNvSpPr/>
          <p:nvPr/>
        </p:nvSpPr>
        <p:spPr>
          <a:xfrm>
            <a:off x="5990430" y="4415334"/>
            <a:ext cx="210835" cy="263525"/>
          </a:xfrm>
          <a:prstGeom prst="rect">
            <a:avLst/>
          </a:prstGeom>
          <a:noFill/>
          <a:ln/>
        </p:spPr>
        <p:txBody>
          <a:bodyPr wrap="none" lIns="0" tIns="0" rIns="0" bIns="0" rtlCol="0" anchor="ctr"/>
          <a:lstStyle/>
          <a:p>
            <a:pPr algn="ctr" indent="0" marL="0">
              <a:lnSpc>
                <a:spcPct val="100000"/>
              </a:lnSpc>
              <a:buNone/>
            </a:pPr>
            <a:r>
              <a:rPr lang="en-US" sz="1650" dirty="0">
                <a:solidFill>
                  <a:srgbClr val="3B3535"/>
                </a:solidFill>
                <a:latin typeface="Roboto Mono Medium" pitchFamily="34" charset="0"/>
                <a:ea typeface="Roboto Mono Medium" pitchFamily="34" charset="-122"/>
                <a:cs typeface="Roboto Mono Medium" pitchFamily="34" charset="-120"/>
              </a:rPr>
              <a:t>5</a:t>
            </a:r>
            <a:endParaRPr lang="en-US" sz="1650" dirty="0"/>
          </a:p>
        </p:txBody>
      </p:sp>
      <p:sp>
        <p:nvSpPr>
          <p:cNvPr id="29" name="Text 27"/>
          <p:cNvSpPr/>
          <p:nvPr/>
        </p:nvSpPr>
        <p:spPr>
          <a:xfrm>
            <a:off x="661475" y="4437261"/>
            <a:ext cx="4731525" cy="219571"/>
          </a:xfrm>
          <a:prstGeom prst="rect">
            <a:avLst/>
          </a:prstGeom>
          <a:noFill/>
          <a:ln/>
        </p:spPr>
        <p:txBody>
          <a:bodyPr wrap="none" lIns="0" tIns="0" rIns="0" bIns="0" rtlCol="0" anchor="t"/>
          <a:lstStyle/>
          <a:p>
            <a:pPr algn="r" indent="0" marL="0">
              <a:lnSpc>
                <a:spcPct val="104000"/>
              </a:lnSpc>
              <a:buNone/>
            </a:pPr>
            <a:r>
              <a:rPr lang="en-US" sz="1350" dirty="0">
                <a:solidFill>
                  <a:srgbClr val="3B3535"/>
                </a:solidFill>
                <a:latin typeface="Roboto Mono Medium" pitchFamily="34" charset="0"/>
                <a:ea typeface="Roboto Mono Medium" pitchFamily="34" charset="-122"/>
                <a:cs typeface="Roboto Mono Medium" pitchFamily="34" charset="-120"/>
              </a:rPr>
              <a:t>Memoria de Agentes</a:t>
            </a:r>
            <a:endParaRPr lang="en-US" sz="1350" dirty="0"/>
          </a:p>
        </p:txBody>
      </p:sp>
      <p:sp>
        <p:nvSpPr>
          <p:cNvPr id="30" name="Text 28"/>
          <p:cNvSpPr/>
          <p:nvPr/>
        </p:nvSpPr>
        <p:spPr>
          <a:xfrm>
            <a:off x="661475" y="4728468"/>
            <a:ext cx="4731525" cy="208062"/>
          </a:xfrm>
          <a:prstGeom prst="rect">
            <a:avLst/>
          </a:prstGeom>
          <a:noFill/>
          <a:ln/>
        </p:spPr>
        <p:txBody>
          <a:bodyPr wrap="none" lIns="0" tIns="0" rIns="0" bIns="0" rtlCol="0" anchor="t"/>
          <a:lstStyle/>
          <a:p>
            <a:pPr algn="r" indent="0" marL="0">
              <a:lnSpc>
                <a:spcPct val="123000"/>
              </a:lnSpc>
              <a:buNone/>
            </a:pPr>
            <a:r>
              <a:rPr lang="en-US" sz="1100" dirty="0">
                <a:solidFill>
                  <a:srgbClr val="3B3535"/>
                </a:solidFill>
                <a:latin typeface="Roboto" pitchFamily="34" charset="0"/>
                <a:ea typeface="Roboto" pitchFamily="34" charset="-122"/>
                <a:cs typeface="Roboto" pitchFamily="34" charset="-120"/>
              </a:rPr>
              <a:t>Arquitectura de dos niveles, patrones de integración y soluciones</a:t>
            </a:r>
            <a:endParaRPr lang="en-US" sz="1100" dirty="0"/>
          </a:p>
        </p:txBody>
      </p:sp>
      <p:sp>
        <p:nvSpPr>
          <p:cNvPr id="31" name="Shape 29"/>
          <p:cNvSpPr/>
          <p:nvPr/>
        </p:nvSpPr>
        <p:spPr>
          <a:xfrm>
            <a:off x="6234949" y="5243513"/>
            <a:ext cx="421669" cy="19050"/>
          </a:xfrm>
          <a:prstGeom prst="roundRect">
            <a:avLst>
              <a:gd name="adj" fmla="val 39999"/>
            </a:avLst>
          </a:prstGeom>
          <a:solidFill>
            <a:srgbClr val="D8D4D4"/>
          </a:solidFill>
          <a:ln/>
        </p:spPr>
      </p:sp>
      <p:sp>
        <p:nvSpPr>
          <p:cNvPr id="32" name="Shape 30"/>
          <p:cNvSpPr/>
          <p:nvPr/>
        </p:nvSpPr>
        <p:spPr>
          <a:xfrm>
            <a:off x="5937697" y="5094883"/>
            <a:ext cx="316301" cy="316309"/>
          </a:xfrm>
          <a:prstGeom prst="roundRect">
            <a:avLst>
              <a:gd name="adj" fmla="val 2409"/>
            </a:avLst>
          </a:prstGeom>
          <a:solidFill>
            <a:srgbClr val="F2EEEE"/>
          </a:solidFill>
          <a:ln w="6350">
            <a:solidFill>
              <a:srgbClr val="D8D4D4"/>
            </a:solidFill>
            <a:prstDash val="solid"/>
          </a:ln>
        </p:spPr>
      </p:sp>
      <p:sp>
        <p:nvSpPr>
          <p:cNvPr id="33" name="Text 31"/>
          <p:cNvSpPr/>
          <p:nvPr/>
        </p:nvSpPr>
        <p:spPr>
          <a:xfrm>
            <a:off x="5990430" y="5121275"/>
            <a:ext cx="210835" cy="263525"/>
          </a:xfrm>
          <a:prstGeom prst="rect">
            <a:avLst/>
          </a:prstGeom>
          <a:noFill/>
          <a:ln/>
        </p:spPr>
        <p:txBody>
          <a:bodyPr wrap="none" lIns="0" tIns="0" rIns="0" bIns="0" rtlCol="0" anchor="ctr"/>
          <a:lstStyle/>
          <a:p>
            <a:pPr algn="ctr" indent="0" marL="0">
              <a:lnSpc>
                <a:spcPct val="100000"/>
              </a:lnSpc>
              <a:buNone/>
            </a:pPr>
            <a:r>
              <a:rPr lang="en-US" sz="1650" dirty="0">
                <a:solidFill>
                  <a:srgbClr val="3B3535"/>
                </a:solidFill>
                <a:latin typeface="Roboto Mono Medium" pitchFamily="34" charset="0"/>
                <a:ea typeface="Roboto Mono Medium" pitchFamily="34" charset="-122"/>
                <a:cs typeface="Roboto Mono Medium" pitchFamily="34" charset="-120"/>
              </a:rPr>
              <a:t>6</a:t>
            </a:r>
            <a:endParaRPr lang="en-US" sz="1650" dirty="0"/>
          </a:p>
        </p:txBody>
      </p:sp>
      <p:sp>
        <p:nvSpPr>
          <p:cNvPr id="34" name="Text 32"/>
          <p:cNvSpPr/>
          <p:nvPr/>
        </p:nvSpPr>
        <p:spPr>
          <a:xfrm>
            <a:off x="6798696" y="5143202"/>
            <a:ext cx="4731525" cy="219571"/>
          </a:xfrm>
          <a:prstGeom prst="rect">
            <a:avLst/>
          </a:prstGeom>
          <a:noFill/>
          <a:ln/>
        </p:spPr>
        <p:txBody>
          <a:bodyPr wrap="none" lIns="0" tIns="0" rIns="0" bIns="0" rtlCol="0" anchor="t"/>
          <a:lstStyle/>
          <a:p>
            <a:pPr algn="l" indent="0" marL="0">
              <a:lnSpc>
                <a:spcPct val="104000"/>
              </a:lnSpc>
              <a:buNone/>
            </a:pPr>
            <a:r>
              <a:rPr lang="en-US" sz="1350" dirty="0">
                <a:solidFill>
                  <a:srgbClr val="3B3535"/>
                </a:solidFill>
                <a:latin typeface="Roboto Mono Medium" pitchFamily="34" charset="0"/>
                <a:ea typeface="Roboto Mono Medium" pitchFamily="34" charset="-122"/>
                <a:cs typeface="Roboto Mono Medium" pitchFamily="34" charset="-120"/>
              </a:rPr>
              <a:t>Objetivos y Práctica</a:t>
            </a:r>
            <a:endParaRPr lang="en-US" sz="1350" dirty="0"/>
          </a:p>
        </p:txBody>
      </p:sp>
      <p:sp>
        <p:nvSpPr>
          <p:cNvPr id="35" name="Text 33"/>
          <p:cNvSpPr/>
          <p:nvPr/>
        </p:nvSpPr>
        <p:spPr>
          <a:xfrm>
            <a:off x="6798696" y="5434409"/>
            <a:ext cx="4731525" cy="208062"/>
          </a:xfrm>
          <a:prstGeom prst="rect">
            <a:avLst/>
          </a:prstGeom>
          <a:noFill/>
          <a:ln/>
        </p:spPr>
        <p:txBody>
          <a:bodyPr wrap="none" lIns="0" tIns="0" rIns="0" bIns="0" rtlCol="0" anchor="t"/>
          <a:lstStyle/>
          <a:p>
            <a:pPr algn="l" indent="0" marL="0">
              <a:lnSpc>
                <a:spcPct val="123000"/>
              </a:lnSpc>
              <a:buNone/>
            </a:pPr>
            <a:r>
              <a:rPr lang="en-US" sz="1100" dirty="0">
                <a:solidFill>
                  <a:srgbClr val="3B3535"/>
                </a:solidFill>
                <a:latin typeface="Roboto" pitchFamily="34" charset="0"/>
                <a:ea typeface="Roboto" pitchFamily="34" charset="-122"/>
                <a:cs typeface="Roboto" pitchFamily="34" charset="-120"/>
              </a:rPr>
              <a:t>Objetivos de aprendizaje, proyectos prácticos y ejercicio final</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661475" y="2755503"/>
            <a:ext cx="1853360" cy="251420"/>
          </a:xfrm>
          <a:prstGeom prst="roundRect">
            <a:avLst>
              <a:gd name="adj" fmla="val 3031"/>
            </a:avLst>
          </a:prstGeom>
          <a:solidFill>
            <a:srgbClr val="F9D2D6"/>
          </a:solidFill>
          <a:ln/>
        </p:spPr>
      </p:sp>
      <p:sp>
        <p:nvSpPr>
          <p:cNvPr id="3" name="Text 1"/>
          <p:cNvSpPr/>
          <p:nvPr/>
        </p:nvSpPr>
        <p:spPr>
          <a:xfrm>
            <a:off x="760691" y="2805113"/>
            <a:ext cx="2264512"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DESAFÍOS DE PRODUCCIÓN</a:t>
            </a:r>
            <a:endParaRPr lang="en-US" sz="1000" dirty="0"/>
          </a:p>
        </p:txBody>
      </p:sp>
      <p:sp>
        <p:nvSpPr>
          <p:cNvPr id="4" name="Text 2"/>
          <p:cNvSpPr/>
          <p:nvPr/>
        </p:nvSpPr>
        <p:spPr>
          <a:xfrm>
            <a:off x="661475" y="3073003"/>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Desafíos de </a:t>
            </a:r>
            <a:pPr algn="l" indent="0" marL="0">
              <a:lnSpc>
                <a:spcPct val="104000"/>
              </a:lnSpc>
              <a:buNone/>
            </a:pPr>
            <a:r>
              <a:rPr lang="en-US" sz="3250" dirty="0">
                <a:solidFill>
                  <a:srgbClr val="DA1B2E"/>
                </a:solidFill>
                <a:latin typeface="Roboto Mono Medium" pitchFamily="34" charset="0"/>
                <a:ea typeface="Roboto Mono Medium" pitchFamily="34" charset="-122"/>
                <a:cs typeface="Roboto Mono Medium" pitchFamily="34" charset="-120"/>
              </a:rPr>
              <a:t>Producción</a:t>
            </a:r>
            <a:endParaRPr lang="en-US" sz="3250" dirty="0"/>
          </a:p>
        </p:txBody>
      </p:sp>
      <p:sp>
        <p:nvSpPr>
          <p:cNvPr id="5" name="Text 3"/>
          <p:cNvSpPr/>
          <p:nvPr/>
        </p:nvSpPr>
        <p:spPr>
          <a:xfrm>
            <a:off x="661475" y="3837781"/>
            <a:ext cx="11478330" cy="264616"/>
          </a:xfrm>
          <a:prstGeom prst="rect">
            <a:avLst/>
          </a:prstGeom>
          <a:noFill/>
          <a:ln/>
        </p:spPr>
        <p:txBody>
          <a:bodyPr wrap="none" lIns="0" tIns="0" rIns="0" bIns="0" rtlCol="0" anchor="t"/>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Llevar agentes del prototipo funcional a un sistema de producción confiable es uno de los mayores retos de la ingeniería de IA actual.</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661475" y="1245493"/>
            <a:ext cx="1853360" cy="251420"/>
          </a:xfrm>
          <a:prstGeom prst="roundRect">
            <a:avLst>
              <a:gd name="adj" fmla="val 3031"/>
            </a:avLst>
          </a:prstGeom>
          <a:solidFill>
            <a:srgbClr val="F9D2D6"/>
          </a:solidFill>
          <a:ln/>
        </p:spPr>
      </p:sp>
      <p:sp>
        <p:nvSpPr>
          <p:cNvPr id="3" name="Text 1"/>
          <p:cNvSpPr/>
          <p:nvPr/>
        </p:nvSpPr>
        <p:spPr>
          <a:xfrm>
            <a:off x="760691" y="1295102"/>
            <a:ext cx="2264512"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DESAFÍOS DE PRODUCCIÓN</a:t>
            </a:r>
            <a:endParaRPr lang="en-US" sz="1000" dirty="0"/>
          </a:p>
        </p:txBody>
      </p:sp>
      <p:sp>
        <p:nvSpPr>
          <p:cNvPr id="4" name="Text 2"/>
          <p:cNvSpPr/>
          <p:nvPr/>
        </p:nvSpPr>
        <p:spPr>
          <a:xfrm>
            <a:off x="661475" y="1562993"/>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¿Por qué importa en producción?</a:t>
            </a:r>
            <a:endParaRPr lang="en-US" sz="3250" dirty="0"/>
          </a:p>
        </p:txBody>
      </p:sp>
      <p:sp>
        <p:nvSpPr>
          <p:cNvPr id="5" name="Text 3"/>
          <p:cNvSpPr/>
          <p:nvPr/>
        </p:nvSpPr>
        <p:spPr>
          <a:xfrm>
            <a:off x="661475" y="2327771"/>
            <a:ext cx="11478330" cy="264616"/>
          </a:xfrm>
          <a:prstGeom prst="rect">
            <a:avLst/>
          </a:prstGeom>
          <a:noFill/>
          <a:ln/>
        </p:spPr>
        <p:txBody>
          <a:bodyPr wrap="none" lIns="0" tIns="0" rIns="0" bIns="0" rtlCol="0" anchor="t"/>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Existe una brecha significativa entre un demo que funciona y un sistema de producción confiable. Los datos son reveladores:</a:t>
            </a:r>
            <a:endParaRPr lang="en-US" sz="1300" dirty="0"/>
          </a:p>
        </p:txBody>
      </p:sp>
      <p:sp>
        <p:nvSpPr>
          <p:cNvPr id="6" name="Text 4"/>
          <p:cNvSpPr/>
          <p:nvPr/>
        </p:nvSpPr>
        <p:spPr>
          <a:xfrm>
            <a:off x="661475" y="2861072"/>
            <a:ext cx="3485071" cy="545802"/>
          </a:xfrm>
          <a:prstGeom prst="rect">
            <a:avLst/>
          </a:prstGeom>
          <a:noFill/>
          <a:ln/>
        </p:spPr>
        <p:txBody>
          <a:bodyPr wrap="none" lIns="0" tIns="0" rIns="0" bIns="0" rtlCol="0" anchor="t"/>
          <a:lstStyle/>
          <a:p>
            <a:pPr algn="ctr" indent="0" marL="0">
              <a:lnSpc>
                <a:spcPct val="83000"/>
              </a:lnSpc>
              <a:buNone/>
            </a:pPr>
            <a:r>
              <a:rPr lang="en-US" sz="4250" dirty="0">
                <a:solidFill>
                  <a:srgbClr val="3B3535"/>
                </a:solidFill>
                <a:latin typeface="Roboto Mono Medium" pitchFamily="34" charset="0"/>
                <a:ea typeface="Roboto Mono Medium" pitchFamily="34" charset="-122"/>
                <a:cs typeface="Roboto Mono Medium" pitchFamily="34" charset="-120"/>
              </a:rPr>
              <a:t>95%+</a:t>
            </a:r>
            <a:endParaRPr lang="en-US" sz="4250" dirty="0"/>
          </a:p>
        </p:txBody>
      </p:sp>
      <p:sp>
        <p:nvSpPr>
          <p:cNvPr id="7" name="Text 5"/>
          <p:cNvSpPr/>
          <p:nvPr/>
        </p:nvSpPr>
        <p:spPr>
          <a:xfrm>
            <a:off x="661425" y="3613547"/>
            <a:ext cx="3485071" cy="258465"/>
          </a:xfrm>
          <a:prstGeom prst="rect">
            <a:avLst/>
          </a:prstGeom>
          <a:noFill/>
          <a:ln/>
        </p:spPr>
        <p:txBody>
          <a:bodyPr wrap="none" lIns="0" tIns="0" rIns="0" bIns="0" rtlCol="0" anchor="t"/>
          <a:lstStyle/>
          <a:p>
            <a:pPr algn="ctr"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Accuracy requerida</a:t>
            </a:r>
            <a:endParaRPr lang="en-US" sz="1600" dirty="0"/>
          </a:p>
        </p:txBody>
      </p:sp>
      <p:sp>
        <p:nvSpPr>
          <p:cNvPr id="8" name="Text 6"/>
          <p:cNvSpPr/>
          <p:nvPr/>
        </p:nvSpPr>
        <p:spPr>
          <a:xfrm>
            <a:off x="661475" y="3971230"/>
            <a:ext cx="3485071" cy="793849"/>
          </a:xfrm>
          <a:prstGeom prst="rect">
            <a:avLst/>
          </a:prstGeom>
          <a:noFill/>
          <a:ln/>
        </p:spPr>
        <p:txBody>
          <a:bodyPr wrap="square" lIns="0" tIns="0" rIns="0" bIns="0" rtlCol="0" anchor="t">
            <a:normAutofit/>
          </a:bodyPr>
          <a:lstStyle/>
          <a:p>
            <a:pPr algn="ctr" indent="0" marL="0">
              <a:lnSpc>
                <a:spcPct val="133000"/>
              </a:lnSpc>
              <a:buNone/>
            </a:pPr>
            <a:r>
              <a:rPr lang="en-US" sz="1300" dirty="0">
                <a:solidFill>
                  <a:srgbClr val="3B3535"/>
                </a:solidFill>
                <a:latin typeface="Roboto" pitchFamily="34" charset="0"/>
                <a:ea typeface="Roboto" pitchFamily="34" charset="-122"/>
                <a:cs typeface="Roboto" pitchFamily="34" charset="-120"/>
              </a:rPr>
              <a:t>El umbral mínimo para sistemas de producción confiables. Los demos funcionales no llegan a este nivel.</a:t>
            </a:r>
            <a:endParaRPr lang="en-US" sz="1300" dirty="0"/>
          </a:p>
        </p:txBody>
      </p:sp>
      <p:sp>
        <p:nvSpPr>
          <p:cNvPr id="9" name="Text 7"/>
          <p:cNvSpPr/>
          <p:nvPr/>
        </p:nvSpPr>
        <p:spPr>
          <a:xfrm>
            <a:off x="4353213" y="2861072"/>
            <a:ext cx="3485170" cy="545802"/>
          </a:xfrm>
          <a:prstGeom prst="rect">
            <a:avLst/>
          </a:prstGeom>
          <a:noFill/>
          <a:ln/>
        </p:spPr>
        <p:txBody>
          <a:bodyPr wrap="none" lIns="0" tIns="0" rIns="0" bIns="0" rtlCol="0" anchor="t"/>
          <a:lstStyle/>
          <a:p>
            <a:pPr algn="ctr" indent="0" marL="0">
              <a:lnSpc>
                <a:spcPct val="83000"/>
              </a:lnSpc>
              <a:buNone/>
            </a:pPr>
            <a:r>
              <a:rPr lang="en-US" sz="4250" dirty="0">
                <a:solidFill>
                  <a:srgbClr val="3B3535"/>
                </a:solidFill>
                <a:latin typeface="Roboto Mono Medium" pitchFamily="34" charset="0"/>
                <a:ea typeface="Roboto Mono Medium" pitchFamily="34" charset="-122"/>
                <a:cs typeface="Roboto Mono Medium" pitchFamily="34" charset="-120"/>
              </a:rPr>
              <a:t>58%</a:t>
            </a:r>
            <a:endParaRPr lang="en-US" sz="4250" dirty="0"/>
          </a:p>
        </p:txBody>
      </p:sp>
      <p:sp>
        <p:nvSpPr>
          <p:cNvPr id="10" name="Text 8"/>
          <p:cNvSpPr/>
          <p:nvPr/>
        </p:nvSpPr>
        <p:spPr>
          <a:xfrm>
            <a:off x="4353213" y="3613547"/>
            <a:ext cx="3485170" cy="258465"/>
          </a:xfrm>
          <a:prstGeom prst="rect">
            <a:avLst/>
          </a:prstGeom>
          <a:noFill/>
          <a:ln/>
        </p:spPr>
        <p:txBody>
          <a:bodyPr wrap="none" lIns="0" tIns="0" rIns="0" bIns="0" rtlCol="0" anchor="t"/>
          <a:lstStyle/>
          <a:p>
            <a:pPr algn="ctr"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Tool selection con 20+ tools</a:t>
            </a:r>
            <a:endParaRPr lang="en-US" sz="1600" dirty="0"/>
          </a:p>
        </p:txBody>
      </p:sp>
      <p:sp>
        <p:nvSpPr>
          <p:cNvPr id="11" name="Text 9"/>
          <p:cNvSpPr/>
          <p:nvPr/>
        </p:nvSpPr>
        <p:spPr>
          <a:xfrm>
            <a:off x="4353213" y="3971230"/>
            <a:ext cx="3485170" cy="793849"/>
          </a:xfrm>
          <a:prstGeom prst="rect">
            <a:avLst/>
          </a:prstGeom>
          <a:noFill/>
          <a:ln/>
        </p:spPr>
        <p:txBody>
          <a:bodyPr wrap="square" lIns="0" tIns="0" rIns="0" bIns="0" rtlCol="0" anchor="t">
            <a:normAutofit/>
          </a:bodyPr>
          <a:lstStyle/>
          <a:p>
            <a:pPr algn="ctr" indent="0" marL="0">
              <a:lnSpc>
                <a:spcPct val="133000"/>
              </a:lnSpc>
              <a:buNone/>
            </a:pPr>
            <a:r>
              <a:rPr lang="en-US" sz="1300" dirty="0">
                <a:solidFill>
                  <a:srgbClr val="3B3535"/>
                </a:solidFill>
                <a:latin typeface="Roboto" pitchFamily="34" charset="0"/>
                <a:ea typeface="Roboto" pitchFamily="34" charset="-122"/>
                <a:cs typeface="Roboto" pitchFamily="34" charset="-120"/>
              </a:rPr>
              <a:t>La accuracy de selección de herramientas cae de 92% (5 tools) a solo 58% con más de 20 herramientas disponibles.</a:t>
            </a:r>
            <a:endParaRPr lang="en-US" sz="1300" dirty="0"/>
          </a:p>
        </p:txBody>
      </p:sp>
      <p:sp>
        <p:nvSpPr>
          <p:cNvPr id="12" name="Text 10"/>
          <p:cNvSpPr/>
          <p:nvPr/>
        </p:nvSpPr>
        <p:spPr>
          <a:xfrm>
            <a:off x="8045050" y="2861072"/>
            <a:ext cx="3485170" cy="545802"/>
          </a:xfrm>
          <a:prstGeom prst="rect">
            <a:avLst/>
          </a:prstGeom>
          <a:noFill/>
          <a:ln/>
        </p:spPr>
        <p:txBody>
          <a:bodyPr wrap="none" lIns="0" tIns="0" rIns="0" bIns="0" rtlCol="0" anchor="t"/>
          <a:lstStyle/>
          <a:p>
            <a:pPr algn="ctr" indent="0" marL="0">
              <a:lnSpc>
                <a:spcPct val="83000"/>
              </a:lnSpc>
              <a:buNone/>
            </a:pPr>
            <a:r>
              <a:rPr lang="en-US" sz="4250" dirty="0">
                <a:solidFill>
                  <a:srgbClr val="3B3535"/>
                </a:solidFill>
                <a:latin typeface="Roboto Mono Medium" pitchFamily="34" charset="0"/>
                <a:ea typeface="Roboto Mono Medium" pitchFamily="34" charset="-122"/>
                <a:cs typeface="Roboto Mono Medium" pitchFamily="34" charset="-120"/>
              </a:rPr>
              <a:t>~85%</a:t>
            </a:r>
            <a:endParaRPr lang="en-US" sz="4250" dirty="0"/>
          </a:p>
        </p:txBody>
      </p:sp>
      <p:sp>
        <p:nvSpPr>
          <p:cNvPr id="13" name="Text 11"/>
          <p:cNvSpPr/>
          <p:nvPr/>
        </p:nvSpPr>
        <p:spPr>
          <a:xfrm>
            <a:off x="8045050" y="3613547"/>
            <a:ext cx="3485170" cy="258465"/>
          </a:xfrm>
          <a:prstGeom prst="rect">
            <a:avLst/>
          </a:prstGeom>
          <a:noFill/>
          <a:ln/>
        </p:spPr>
        <p:txBody>
          <a:bodyPr wrap="none" lIns="0" tIns="0" rIns="0" bIns="0" rtlCol="0" anchor="t"/>
          <a:lstStyle/>
          <a:p>
            <a:pPr algn="ctr"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Rule enforcement</a:t>
            </a:r>
            <a:endParaRPr lang="en-US" sz="1600" dirty="0"/>
          </a:p>
        </p:txBody>
      </p:sp>
      <p:sp>
        <p:nvSpPr>
          <p:cNvPr id="14" name="Text 12"/>
          <p:cNvSpPr/>
          <p:nvPr/>
        </p:nvSpPr>
        <p:spPr>
          <a:xfrm>
            <a:off x="8045050" y="3971230"/>
            <a:ext cx="3485170" cy="793849"/>
          </a:xfrm>
          <a:prstGeom prst="rect">
            <a:avLst/>
          </a:prstGeom>
          <a:noFill/>
          <a:ln/>
        </p:spPr>
        <p:txBody>
          <a:bodyPr wrap="square" lIns="0" tIns="0" rIns="0" bIns="0" rtlCol="0" anchor="t">
            <a:normAutofit/>
          </a:bodyPr>
          <a:lstStyle/>
          <a:p>
            <a:pPr algn="ctr" indent="0" marL="0">
              <a:lnSpc>
                <a:spcPct val="133000"/>
              </a:lnSpc>
              <a:buNone/>
            </a:pPr>
            <a:r>
              <a:rPr lang="en-US" sz="1300" dirty="0">
                <a:solidFill>
                  <a:srgbClr val="3B3535"/>
                </a:solidFill>
                <a:latin typeface="Roboto" pitchFamily="34" charset="0"/>
                <a:ea typeface="Roboto" pitchFamily="34" charset="-122"/>
                <a:cs typeface="Roboto" pitchFamily="34" charset="-120"/>
              </a:rPr>
              <a:t>Los LLMs cumplen reglas basadas en prompt el 85% del tiempo. Insuficiente para sectores regulados.</a:t>
            </a:r>
            <a:endParaRPr lang="en-US" sz="1300" dirty="0"/>
          </a:p>
        </p:txBody>
      </p:sp>
      <p:sp>
        <p:nvSpPr>
          <p:cNvPr id="15" name="Shape 13"/>
          <p:cNvSpPr/>
          <p:nvPr/>
        </p:nvSpPr>
        <p:spPr>
          <a:xfrm>
            <a:off x="661475" y="4951115"/>
            <a:ext cx="10868745" cy="661293"/>
          </a:xfrm>
          <a:prstGeom prst="roundRect">
            <a:avLst>
              <a:gd name="adj" fmla="val 1152"/>
            </a:avLst>
          </a:prstGeom>
          <a:solidFill>
            <a:srgbClr val="F9D2D6"/>
          </a:solidFill>
          <a:ln/>
        </p:spPr>
      </p:sp>
      <p:pic>
        <p:nvPicPr>
          <p:cNvPr id="16" name="Image 0" descr="preencoded.png">    </p:cNvPr>
          <p:cNvPicPr>
            <a:picLocks noChangeAspect="1"/>
          </p:cNvPicPr>
          <p:nvPr/>
        </p:nvPicPr>
        <p:blipFill>
          <a:blip r:embed="rId1"/>
          <a:stretch>
            <a:fillRect/>
          </a:stretch>
        </p:blipFill>
        <p:spPr>
          <a:xfrm>
            <a:off x="826769" y="5190827"/>
            <a:ext cx="206667" cy="165298"/>
          </a:xfrm>
          <a:prstGeom prst="rect">
            <a:avLst/>
          </a:prstGeom>
        </p:spPr>
      </p:pic>
      <p:sp>
        <p:nvSpPr>
          <p:cNvPr id="17" name="Text 14"/>
          <p:cNvSpPr/>
          <p:nvPr/>
        </p:nvSpPr>
        <p:spPr>
          <a:xfrm>
            <a:off x="1198731" y="5157688"/>
            <a:ext cx="10775780" cy="264616"/>
          </a:xfrm>
          <a:prstGeom prst="rect">
            <a:avLst/>
          </a:prstGeom>
          <a:noFill/>
          <a:ln/>
        </p:spPr>
        <p:txBody>
          <a:bodyPr wrap="none" lIns="0" tIns="0" rIns="0" bIns="0" rtlCol="0" anchor="t"/>
          <a:lstStyle/>
          <a:p>
            <a:pPr algn="l" indent="0" marL="0">
              <a:lnSpc>
                <a:spcPct val="133000"/>
              </a:lnSpc>
              <a:buNone/>
            </a:pPr>
            <a:r>
              <a:rPr lang="en-US" sz="1300" dirty="0">
                <a:solidFill>
                  <a:srgbClr val="000000"/>
                </a:solidFill>
                <a:latin typeface="Roboto" pitchFamily="34" charset="0"/>
                <a:ea typeface="Roboto" pitchFamily="34" charset="-122"/>
                <a:cs typeface="Roboto" pitchFamily="34" charset="-120"/>
              </a:rPr>
              <a:t>Las fallas en producción vienen de tool design inadecuado, estructuras de memoria y mecanismos de validación — no del modelo en sí.</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661475" y="1188740"/>
            <a:ext cx="1853360" cy="251420"/>
          </a:xfrm>
          <a:prstGeom prst="roundRect">
            <a:avLst>
              <a:gd name="adj" fmla="val 3031"/>
            </a:avLst>
          </a:prstGeom>
          <a:solidFill>
            <a:srgbClr val="F9D2D6"/>
          </a:solidFill>
          <a:ln/>
        </p:spPr>
      </p:sp>
      <p:sp>
        <p:nvSpPr>
          <p:cNvPr id="3" name="Text 1"/>
          <p:cNvSpPr/>
          <p:nvPr/>
        </p:nvSpPr>
        <p:spPr>
          <a:xfrm>
            <a:off x="760691" y="1238349"/>
            <a:ext cx="2264512"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DESAFÍOS DE PRODUCCIÓN</a:t>
            </a:r>
            <a:endParaRPr lang="en-US" sz="1000" dirty="0"/>
          </a:p>
        </p:txBody>
      </p:sp>
      <p:sp>
        <p:nvSpPr>
          <p:cNvPr id="4" name="Text 2"/>
          <p:cNvSpPr/>
          <p:nvPr/>
        </p:nvSpPr>
        <p:spPr>
          <a:xfrm>
            <a:off x="661475" y="1506240"/>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MCP: Model Context Protocol</a:t>
            </a:r>
            <a:endParaRPr lang="en-US" sz="3250" dirty="0"/>
          </a:p>
        </p:txBody>
      </p:sp>
      <p:sp>
        <p:nvSpPr>
          <p:cNvPr id="5" name="Text 3"/>
          <p:cNvSpPr/>
          <p:nvPr/>
        </p:nvSpPr>
        <p:spPr>
          <a:xfrm>
            <a:off x="661475" y="2271018"/>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El </a:t>
            </a:r>
            <a:pPr algn="l" indent="0" marL="0">
              <a:lnSpc>
                <a:spcPct val="133000"/>
              </a:lnSpc>
              <a:buNone/>
            </a:pPr>
            <a:r>
              <a:rPr lang="en-US" sz="1300" b="1" dirty="0">
                <a:solidFill>
                  <a:srgbClr val="3B3535"/>
                </a:solidFill>
                <a:latin typeface="Roboto Bold" pitchFamily="34" charset="0"/>
                <a:ea typeface="Roboto Bold" pitchFamily="34" charset="-122"/>
                <a:cs typeface="Roboto Bold" pitchFamily="34" charset="-120"/>
              </a:rPr>
              <a:t>Model Context Protocol</a:t>
            </a:r>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 es el estándar emergente de integración para agentes, diseñado para resolver la fragmentación del ecosistema y garantizar interoperabilidad a largo plazo.</a:t>
            </a:r>
            <a:endParaRPr lang="en-US" sz="130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986286"/>
            <a:ext cx="5351725" cy="1255613"/>
          </a:xfrm>
          <a:prstGeom prst="rect">
            <a:avLst/>
          </a:prstGeom>
        </p:spPr>
      </p:pic>
      <p:sp>
        <p:nvSpPr>
          <p:cNvPr id="7" name="Text 4"/>
          <p:cNvSpPr/>
          <p:nvPr/>
        </p:nvSpPr>
        <p:spPr>
          <a:xfrm>
            <a:off x="922017" y="3170634"/>
            <a:ext cx="4906840"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Estándar universal</a:t>
            </a:r>
            <a:endParaRPr lang="en-US" sz="1600" dirty="0"/>
          </a:p>
        </p:txBody>
      </p:sp>
      <p:sp>
        <p:nvSpPr>
          <p:cNvPr id="8" name="Text 5"/>
          <p:cNvSpPr/>
          <p:nvPr/>
        </p:nvSpPr>
        <p:spPr>
          <a:xfrm>
            <a:off x="922017" y="3528318"/>
            <a:ext cx="4906840"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Asegura compatibilidad entre Claude, ChatGPT, Cursor y futuras plataformas. Diseña una vez, integra en todas partes.</a:t>
            </a:r>
            <a:endParaRPr lang="en-US" sz="130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78495" y="2986286"/>
            <a:ext cx="5351725" cy="1255613"/>
          </a:xfrm>
          <a:prstGeom prst="rect">
            <a:avLst/>
          </a:prstGeom>
        </p:spPr>
      </p:pic>
      <p:sp>
        <p:nvSpPr>
          <p:cNvPr id="10" name="Text 6"/>
          <p:cNvSpPr/>
          <p:nvPr/>
        </p:nvSpPr>
        <p:spPr>
          <a:xfrm>
            <a:off x="6439037" y="3170634"/>
            <a:ext cx="4906840"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Servidores MCP</a:t>
            </a:r>
            <a:endParaRPr lang="en-US" sz="1600" dirty="0"/>
          </a:p>
        </p:txBody>
      </p:sp>
      <p:sp>
        <p:nvSpPr>
          <p:cNvPr id="11" name="Text 7"/>
          <p:cNvSpPr/>
          <p:nvPr/>
        </p:nvSpPr>
        <p:spPr>
          <a:xfrm>
            <a:off x="6439037" y="3528318"/>
            <a:ext cx="4906840"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Permite diseñar y operar servidores MCP con especificaciones completas de herramientas, recursos y capacidades.</a:t>
            </a:r>
            <a:endParaRPr lang="en-US" sz="130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4407198"/>
            <a:ext cx="5351725" cy="1261963"/>
          </a:xfrm>
          <a:prstGeom prst="rect">
            <a:avLst/>
          </a:prstGeom>
        </p:spPr>
      </p:pic>
      <p:sp>
        <p:nvSpPr>
          <p:cNvPr id="13" name="Text 8"/>
          <p:cNvSpPr/>
          <p:nvPr/>
        </p:nvSpPr>
        <p:spPr>
          <a:xfrm>
            <a:off x="922017" y="4591546"/>
            <a:ext cx="4906840"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Multi-servidor</a:t>
            </a:r>
            <a:endParaRPr lang="en-US" sz="1600" dirty="0"/>
          </a:p>
        </p:txBody>
      </p:sp>
      <p:sp>
        <p:nvSpPr>
          <p:cNvPr id="14" name="Text 9"/>
          <p:cNvSpPr/>
          <p:nvPr/>
        </p:nvSpPr>
        <p:spPr>
          <a:xfrm>
            <a:off x="922017" y="4949230"/>
            <a:ext cx="4906840" cy="53558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Los agentes pueden integrarse con múltiples servidores MCP simultáneamente via </a:t>
            </a:r>
            <a:pPr algn="l" indent="0" marL="0">
              <a:lnSpc>
                <a:spcPct val="133000"/>
              </a:lnSpc>
              <a:buNone/>
            </a:pPr>
            <a:r>
              <a:rPr lang="en-US" sz="1300" dirty="0">
                <a:solidFill>
                  <a:srgbClr val="3B3535"/>
                </a:solidFill>
                <a:highlight>
                  <a:srgbClr val="F2F2F2"/>
                </a:highlight>
                <a:latin typeface="Consolas" pitchFamily="34" charset="0"/>
                <a:ea typeface="Consolas" pitchFamily="34" charset="-122"/>
                <a:cs typeface="Consolas" pitchFamily="34" charset="-120"/>
              </a:rPr>
              <a:t>MultiServerMCPClient</a:t>
            </a:r>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a:t>
            </a:r>
            <a:endParaRPr lang="en-US" sz="130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78495" y="4407198"/>
            <a:ext cx="5351725" cy="1261963"/>
          </a:xfrm>
          <a:prstGeom prst="rect">
            <a:avLst/>
          </a:prstGeom>
        </p:spPr>
      </p:pic>
      <p:sp>
        <p:nvSpPr>
          <p:cNvPr id="16" name="Text 10"/>
          <p:cNvSpPr/>
          <p:nvPr/>
        </p:nvSpPr>
        <p:spPr>
          <a:xfrm>
            <a:off x="6439037" y="4591546"/>
            <a:ext cx="4906840"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Ciclo estandarizado</a:t>
            </a:r>
            <a:endParaRPr lang="en-US" sz="1600" dirty="0"/>
          </a:p>
        </p:txBody>
      </p:sp>
      <p:sp>
        <p:nvSpPr>
          <p:cNvPr id="17" name="Text 11"/>
          <p:cNvSpPr/>
          <p:nvPr/>
        </p:nvSpPr>
        <p:spPr>
          <a:xfrm>
            <a:off x="6439037" y="4949230"/>
            <a:ext cx="4906840"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Define cómo los agentes descubren, llaman y reciben resultados de herramientas de manera consistente.</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661475" y="492224"/>
            <a:ext cx="625757" cy="219869"/>
          </a:xfrm>
          <a:prstGeom prst="roundRect">
            <a:avLst>
              <a:gd name="adj" fmla="val 3466"/>
            </a:avLst>
          </a:prstGeom>
          <a:solidFill>
            <a:srgbClr val="F9D2D6"/>
          </a:solidFill>
          <a:ln/>
        </p:spPr>
      </p:sp>
      <p:sp>
        <p:nvSpPr>
          <p:cNvPr id="3" name="Text 1"/>
          <p:cNvSpPr/>
          <p:nvPr/>
        </p:nvSpPr>
        <p:spPr>
          <a:xfrm>
            <a:off x="748289" y="535583"/>
            <a:ext cx="1061713" cy="133152"/>
          </a:xfrm>
          <a:prstGeom prst="rect">
            <a:avLst/>
          </a:prstGeom>
          <a:noFill/>
          <a:ln/>
        </p:spPr>
        <p:txBody>
          <a:bodyPr wrap="none" lIns="0" tIns="0" rIns="0" bIns="0" rtlCol="0" anchor="t"/>
          <a:lstStyle/>
          <a:p>
            <a:pPr algn="l" indent="0" marL="0">
              <a:lnSpc>
                <a:spcPct val="96000"/>
              </a:lnSpc>
              <a:buNone/>
            </a:pPr>
            <a:r>
              <a:rPr lang="en-US" sz="900" dirty="0">
                <a:solidFill>
                  <a:srgbClr val="3B3535"/>
                </a:solidFill>
                <a:latin typeface="Roboto" pitchFamily="34" charset="0"/>
                <a:ea typeface="Roboto" pitchFamily="34" charset="-122"/>
                <a:cs typeface="Roboto" pitchFamily="34" charset="-120"/>
              </a:rPr>
              <a:t>AGENDA</a:t>
            </a:r>
            <a:endParaRPr lang="en-US" sz="900" dirty="0"/>
          </a:p>
        </p:txBody>
      </p:sp>
      <p:sp>
        <p:nvSpPr>
          <p:cNvPr id="4" name="Text 2"/>
          <p:cNvSpPr/>
          <p:nvPr/>
        </p:nvSpPr>
        <p:spPr>
          <a:xfrm>
            <a:off x="661475" y="762695"/>
            <a:ext cx="10868745" cy="452239"/>
          </a:xfrm>
          <a:prstGeom prst="rect">
            <a:avLst/>
          </a:prstGeom>
          <a:noFill/>
          <a:ln/>
        </p:spPr>
        <p:txBody>
          <a:bodyPr wrap="none" lIns="0" tIns="0" rIns="0" bIns="0" rtlCol="0" anchor="t"/>
          <a:lstStyle/>
          <a:p>
            <a:pPr algn="l" indent="0" marL="0">
              <a:lnSpc>
                <a:spcPct val="104000"/>
              </a:lnSpc>
              <a:buNone/>
            </a:pPr>
            <a:r>
              <a:rPr lang="en-US" sz="2800" dirty="0">
                <a:solidFill>
                  <a:srgbClr val="1F1E1E"/>
                </a:solidFill>
                <a:latin typeface="Roboto Mono Medium" pitchFamily="34" charset="0"/>
                <a:ea typeface="Roboto Mono Medium" pitchFamily="34" charset="-122"/>
                <a:cs typeface="Roboto Mono Medium" pitchFamily="34" charset="-120"/>
              </a:rPr>
              <a:t>Agenda</a:t>
            </a:r>
            <a:endParaRPr lang="en-US" sz="2800" dirty="0"/>
          </a:p>
        </p:txBody>
      </p:sp>
      <p:sp>
        <p:nvSpPr>
          <p:cNvPr id="5" name="Shape 3"/>
          <p:cNvSpPr/>
          <p:nvPr/>
        </p:nvSpPr>
        <p:spPr>
          <a:xfrm>
            <a:off x="6086323" y="1404838"/>
            <a:ext cx="19050" cy="4960838"/>
          </a:xfrm>
          <a:prstGeom prst="roundRect">
            <a:avLst>
              <a:gd name="adj" fmla="val 39999"/>
            </a:avLst>
          </a:prstGeom>
          <a:solidFill>
            <a:srgbClr val="D8D4D4"/>
          </a:solidFill>
          <a:ln/>
        </p:spPr>
      </p:sp>
      <p:sp>
        <p:nvSpPr>
          <p:cNvPr id="6" name="Shape 4"/>
          <p:cNvSpPr/>
          <p:nvPr/>
        </p:nvSpPr>
        <p:spPr>
          <a:xfrm>
            <a:off x="5518062" y="1558032"/>
            <a:ext cx="434071" cy="19050"/>
          </a:xfrm>
          <a:prstGeom prst="roundRect">
            <a:avLst>
              <a:gd name="adj" fmla="val 39999"/>
            </a:avLst>
          </a:prstGeom>
          <a:solidFill>
            <a:srgbClr val="D8D4D4"/>
          </a:solidFill>
          <a:ln/>
        </p:spPr>
      </p:sp>
      <p:sp>
        <p:nvSpPr>
          <p:cNvPr id="7" name="Shape 5"/>
          <p:cNvSpPr/>
          <p:nvPr/>
        </p:nvSpPr>
        <p:spPr>
          <a:xfrm>
            <a:off x="5933083" y="1404838"/>
            <a:ext cx="325529" cy="325537"/>
          </a:xfrm>
          <a:prstGeom prst="roundRect">
            <a:avLst>
              <a:gd name="adj" fmla="val 2341"/>
            </a:avLst>
          </a:prstGeom>
          <a:solidFill>
            <a:srgbClr val="F2EEEE"/>
          </a:solidFill>
          <a:ln w="6350">
            <a:solidFill>
              <a:srgbClr val="D8D4D4"/>
            </a:solidFill>
            <a:prstDash val="solid"/>
          </a:ln>
        </p:spPr>
      </p:sp>
      <p:sp>
        <p:nvSpPr>
          <p:cNvPr id="8" name="Text 6"/>
          <p:cNvSpPr/>
          <p:nvPr/>
        </p:nvSpPr>
        <p:spPr>
          <a:xfrm>
            <a:off x="5987305" y="1431925"/>
            <a:ext cx="216986" cy="271264"/>
          </a:xfrm>
          <a:prstGeom prst="rect">
            <a:avLst/>
          </a:prstGeom>
          <a:noFill/>
          <a:ln/>
        </p:spPr>
        <p:txBody>
          <a:bodyPr wrap="none" lIns="0" tIns="0" rIns="0" bIns="0" rtlCol="0" anchor="ctr"/>
          <a:lstStyle/>
          <a:p>
            <a:pPr algn="ctr" indent="0" marL="0">
              <a:lnSpc>
                <a:spcPct val="100000"/>
              </a:lnSpc>
              <a:buNone/>
            </a:pPr>
            <a:r>
              <a:rPr lang="en-US" sz="1700" dirty="0">
                <a:solidFill>
                  <a:srgbClr val="3B3535"/>
                </a:solidFill>
                <a:latin typeface="Roboto Mono Medium" pitchFamily="34" charset="0"/>
                <a:ea typeface="Roboto Mono Medium" pitchFamily="34" charset="-122"/>
                <a:cs typeface="Roboto Mono Medium" pitchFamily="34" charset="-120"/>
              </a:rPr>
              <a:t>1</a:t>
            </a:r>
            <a:endParaRPr lang="en-US" sz="1700" dirty="0"/>
          </a:p>
        </p:txBody>
      </p:sp>
      <p:sp>
        <p:nvSpPr>
          <p:cNvPr id="9" name="Text 7"/>
          <p:cNvSpPr/>
          <p:nvPr/>
        </p:nvSpPr>
        <p:spPr>
          <a:xfrm>
            <a:off x="661475" y="1454547"/>
            <a:ext cx="4710788" cy="226020"/>
          </a:xfrm>
          <a:prstGeom prst="rect">
            <a:avLst/>
          </a:prstGeom>
          <a:noFill/>
          <a:ln/>
        </p:spPr>
        <p:txBody>
          <a:bodyPr wrap="none" lIns="0" tIns="0" rIns="0" bIns="0" rtlCol="0" anchor="t"/>
          <a:lstStyle/>
          <a:p>
            <a:pPr algn="r" indent="0" marL="0">
              <a:lnSpc>
                <a:spcPct val="104000"/>
              </a:lnSpc>
              <a:buNone/>
            </a:pPr>
            <a:r>
              <a:rPr lang="en-US" sz="1400" dirty="0">
                <a:solidFill>
                  <a:srgbClr val="3B3535"/>
                </a:solidFill>
                <a:latin typeface="Roboto Mono Medium" pitchFamily="34" charset="0"/>
                <a:ea typeface="Roboto Mono Medium" pitchFamily="34" charset="-122"/>
                <a:cs typeface="Roboto Mono Medium" pitchFamily="34" charset="-120"/>
              </a:rPr>
              <a:t>¿Qué es un Agente?</a:t>
            </a:r>
            <a:endParaRPr lang="en-US" sz="1400" dirty="0"/>
          </a:p>
        </p:txBody>
      </p:sp>
      <p:sp>
        <p:nvSpPr>
          <p:cNvPr id="10" name="Text 8"/>
          <p:cNvSpPr/>
          <p:nvPr/>
        </p:nvSpPr>
        <p:spPr>
          <a:xfrm>
            <a:off x="661475" y="1756470"/>
            <a:ext cx="4710788" cy="217091"/>
          </a:xfrm>
          <a:prstGeom prst="rect">
            <a:avLst/>
          </a:prstGeom>
          <a:noFill/>
          <a:ln/>
        </p:spPr>
        <p:txBody>
          <a:bodyPr wrap="none" lIns="0" tIns="0" rIns="0" bIns="0" rtlCol="0" anchor="t"/>
          <a:lstStyle/>
          <a:p>
            <a:pPr algn="r" indent="0" marL="0">
              <a:lnSpc>
                <a:spcPct val="125000"/>
              </a:lnSpc>
              <a:buNone/>
            </a:pPr>
            <a:r>
              <a:rPr lang="en-US" sz="1100" dirty="0">
                <a:solidFill>
                  <a:srgbClr val="3B3535"/>
                </a:solidFill>
                <a:latin typeface="Roboto" pitchFamily="34" charset="0"/>
                <a:ea typeface="Roboto" pitchFamily="34" charset="-122"/>
                <a:cs typeface="Roboto" pitchFamily="34" charset="-120"/>
              </a:rPr>
              <a:t>Definición formal, racionalidad, ejemplos y tipos de ambientes</a:t>
            </a:r>
            <a:endParaRPr lang="en-US" sz="1100" dirty="0"/>
          </a:p>
        </p:txBody>
      </p:sp>
      <p:sp>
        <p:nvSpPr>
          <p:cNvPr id="11" name="Shape 9"/>
          <p:cNvSpPr/>
          <p:nvPr/>
        </p:nvSpPr>
        <p:spPr>
          <a:xfrm>
            <a:off x="6239562" y="2390080"/>
            <a:ext cx="434071" cy="19050"/>
          </a:xfrm>
          <a:prstGeom prst="roundRect">
            <a:avLst>
              <a:gd name="adj" fmla="val 39999"/>
            </a:avLst>
          </a:prstGeom>
          <a:solidFill>
            <a:srgbClr val="D8D4D4"/>
          </a:solidFill>
          <a:ln/>
        </p:spPr>
      </p:sp>
      <p:sp>
        <p:nvSpPr>
          <p:cNvPr id="12" name="Shape 10"/>
          <p:cNvSpPr/>
          <p:nvPr/>
        </p:nvSpPr>
        <p:spPr>
          <a:xfrm>
            <a:off x="5933083" y="2236887"/>
            <a:ext cx="325529" cy="325537"/>
          </a:xfrm>
          <a:prstGeom prst="roundRect">
            <a:avLst>
              <a:gd name="adj" fmla="val 2341"/>
            </a:avLst>
          </a:prstGeom>
          <a:solidFill>
            <a:srgbClr val="F2EEEE"/>
          </a:solidFill>
          <a:ln w="6350">
            <a:solidFill>
              <a:srgbClr val="D8D4D4"/>
            </a:solidFill>
            <a:prstDash val="solid"/>
          </a:ln>
        </p:spPr>
      </p:sp>
      <p:sp>
        <p:nvSpPr>
          <p:cNvPr id="13" name="Text 11"/>
          <p:cNvSpPr/>
          <p:nvPr/>
        </p:nvSpPr>
        <p:spPr>
          <a:xfrm>
            <a:off x="5987305" y="2263973"/>
            <a:ext cx="216986" cy="271264"/>
          </a:xfrm>
          <a:prstGeom prst="rect">
            <a:avLst/>
          </a:prstGeom>
          <a:noFill/>
          <a:ln/>
        </p:spPr>
        <p:txBody>
          <a:bodyPr wrap="none" lIns="0" tIns="0" rIns="0" bIns="0" rtlCol="0" anchor="ctr"/>
          <a:lstStyle/>
          <a:p>
            <a:pPr algn="ctr" indent="0" marL="0">
              <a:lnSpc>
                <a:spcPct val="100000"/>
              </a:lnSpc>
              <a:buNone/>
            </a:pPr>
            <a:r>
              <a:rPr lang="en-US" sz="1700" dirty="0">
                <a:solidFill>
                  <a:srgbClr val="3B3535"/>
                </a:solidFill>
                <a:latin typeface="Roboto Mono Medium" pitchFamily="34" charset="0"/>
                <a:ea typeface="Roboto Mono Medium" pitchFamily="34" charset="-122"/>
                <a:cs typeface="Roboto Mono Medium" pitchFamily="34" charset="-120"/>
              </a:rPr>
              <a:t>2</a:t>
            </a:r>
            <a:endParaRPr lang="en-US" sz="1700" dirty="0"/>
          </a:p>
        </p:txBody>
      </p:sp>
      <p:sp>
        <p:nvSpPr>
          <p:cNvPr id="14" name="Text 12"/>
          <p:cNvSpPr/>
          <p:nvPr/>
        </p:nvSpPr>
        <p:spPr>
          <a:xfrm>
            <a:off x="6819432" y="2286595"/>
            <a:ext cx="4710788" cy="226020"/>
          </a:xfrm>
          <a:prstGeom prst="rect">
            <a:avLst/>
          </a:prstGeom>
          <a:noFill/>
          <a:ln/>
        </p:spPr>
        <p:txBody>
          <a:bodyPr wrap="none" lIns="0" tIns="0" rIns="0" bIns="0" rtlCol="0" anchor="t"/>
          <a:lstStyle/>
          <a:p>
            <a:pPr algn="l" indent="0" marL="0">
              <a:lnSpc>
                <a:spcPct val="104000"/>
              </a:lnSpc>
              <a:buNone/>
            </a:pPr>
            <a:r>
              <a:rPr lang="en-US" sz="1400" dirty="0">
                <a:solidFill>
                  <a:srgbClr val="3B3535"/>
                </a:solidFill>
                <a:latin typeface="Roboto Mono Medium" pitchFamily="34" charset="0"/>
                <a:ea typeface="Roboto Mono Medium" pitchFamily="34" charset="-122"/>
                <a:cs typeface="Roboto Mono Medium" pitchFamily="34" charset="-120"/>
              </a:rPr>
              <a:t>Agentes basados en LLMs</a:t>
            </a:r>
            <a:endParaRPr lang="en-US" sz="1400" dirty="0"/>
          </a:p>
        </p:txBody>
      </p:sp>
      <p:sp>
        <p:nvSpPr>
          <p:cNvPr id="15" name="Text 13"/>
          <p:cNvSpPr/>
          <p:nvPr/>
        </p:nvSpPr>
        <p:spPr>
          <a:xfrm>
            <a:off x="6819432" y="2588518"/>
            <a:ext cx="4710788" cy="217091"/>
          </a:xfrm>
          <a:prstGeom prst="rect">
            <a:avLst/>
          </a:prstGeom>
          <a:noFill/>
          <a:ln/>
        </p:spPr>
        <p:txBody>
          <a:bodyPr wrap="none" lIns="0" tIns="0" rIns="0" bIns="0" rtlCol="0" anchor="t"/>
          <a:lstStyle/>
          <a:p>
            <a:pPr algn="l" indent="0" marL="0">
              <a:lnSpc>
                <a:spcPct val="125000"/>
              </a:lnSpc>
              <a:buNone/>
            </a:pPr>
            <a:r>
              <a:rPr lang="en-US" sz="1100" dirty="0">
                <a:solidFill>
                  <a:srgbClr val="3B3535"/>
                </a:solidFill>
                <a:latin typeface="Roboto" pitchFamily="34" charset="0"/>
                <a:ea typeface="Roboto" pitchFamily="34" charset="-122"/>
                <a:cs typeface="Roboto" pitchFamily="34" charset="-120"/>
              </a:rPr>
              <a:t>Formulación, valor del LLM, arquitectura ReAct y componentes</a:t>
            </a:r>
            <a:endParaRPr lang="en-US" sz="1100" dirty="0"/>
          </a:p>
        </p:txBody>
      </p:sp>
      <p:sp>
        <p:nvSpPr>
          <p:cNvPr id="16" name="Shape 14"/>
          <p:cNvSpPr/>
          <p:nvPr/>
        </p:nvSpPr>
        <p:spPr>
          <a:xfrm>
            <a:off x="5518062" y="3120330"/>
            <a:ext cx="434071" cy="19050"/>
          </a:xfrm>
          <a:prstGeom prst="roundRect">
            <a:avLst>
              <a:gd name="adj" fmla="val 39999"/>
            </a:avLst>
          </a:prstGeom>
          <a:solidFill>
            <a:srgbClr val="D8D4D4"/>
          </a:solidFill>
          <a:ln/>
        </p:spPr>
      </p:sp>
      <p:sp>
        <p:nvSpPr>
          <p:cNvPr id="17" name="Shape 15"/>
          <p:cNvSpPr/>
          <p:nvPr/>
        </p:nvSpPr>
        <p:spPr>
          <a:xfrm>
            <a:off x="5933083" y="2967137"/>
            <a:ext cx="325529" cy="325537"/>
          </a:xfrm>
          <a:prstGeom prst="roundRect">
            <a:avLst>
              <a:gd name="adj" fmla="val 2341"/>
            </a:avLst>
          </a:prstGeom>
          <a:solidFill>
            <a:srgbClr val="F2EEEE"/>
          </a:solidFill>
          <a:ln w="6350">
            <a:solidFill>
              <a:srgbClr val="D8D4D4"/>
            </a:solidFill>
            <a:prstDash val="solid"/>
          </a:ln>
        </p:spPr>
      </p:sp>
      <p:sp>
        <p:nvSpPr>
          <p:cNvPr id="18" name="Text 16"/>
          <p:cNvSpPr/>
          <p:nvPr/>
        </p:nvSpPr>
        <p:spPr>
          <a:xfrm>
            <a:off x="5987305" y="2994223"/>
            <a:ext cx="216986" cy="271264"/>
          </a:xfrm>
          <a:prstGeom prst="rect">
            <a:avLst/>
          </a:prstGeom>
          <a:noFill/>
          <a:ln/>
        </p:spPr>
        <p:txBody>
          <a:bodyPr wrap="none" lIns="0" tIns="0" rIns="0" bIns="0" rtlCol="0" anchor="ctr"/>
          <a:lstStyle/>
          <a:p>
            <a:pPr algn="ctr" indent="0" marL="0">
              <a:lnSpc>
                <a:spcPct val="100000"/>
              </a:lnSpc>
              <a:buNone/>
            </a:pPr>
            <a:r>
              <a:rPr lang="en-US" sz="1700" dirty="0">
                <a:solidFill>
                  <a:srgbClr val="3B3535"/>
                </a:solidFill>
                <a:latin typeface="Roboto Mono Medium" pitchFamily="34" charset="0"/>
                <a:ea typeface="Roboto Mono Medium" pitchFamily="34" charset="-122"/>
                <a:cs typeface="Roboto Mono Medium" pitchFamily="34" charset="-120"/>
              </a:rPr>
              <a:t>3</a:t>
            </a:r>
            <a:endParaRPr lang="en-US" sz="1700" dirty="0"/>
          </a:p>
        </p:txBody>
      </p:sp>
      <p:sp>
        <p:nvSpPr>
          <p:cNvPr id="19" name="Text 17"/>
          <p:cNvSpPr/>
          <p:nvPr/>
        </p:nvSpPr>
        <p:spPr>
          <a:xfrm>
            <a:off x="661475" y="3016845"/>
            <a:ext cx="4710788" cy="226020"/>
          </a:xfrm>
          <a:prstGeom prst="rect">
            <a:avLst/>
          </a:prstGeom>
          <a:noFill/>
          <a:ln/>
        </p:spPr>
        <p:txBody>
          <a:bodyPr wrap="none" lIns="0" tIns="0" rIns="0" bIns="0" rtlCol="0" anchor="t"/>
          <a:lstStyle/>
          <a:p>
            <a:pPr algn="r" indent="0" marL="0">
              <a:lnSpc>
                <a:spcPct val="104000"/>
              </a:lnSpc>
              <a:buNone/>
            </a:pPr>
            <a:r>
              <a:rPr lang="en-US" sz="1400" dirty="0">
                <a:solidFill>
                  <a:srgbClr val="3B3535"/>
                </a:solidFill>
                <a:latin typeface="Roboto Mono Medium" pitchFamily="34" charset="0"/>
                <a:ea typeface="Roboto Mono Medium" pitchFamily="34" charset="-122"/>
                <a:cs typeface="Roboto Mono Medium" pitchFamily="34" charset="-120"/>
              </a:rPr>
              <a:t>Desafíos de Producción</a:t>
            </a:r>
            <a:endParaRPr lang="en-US" sz="1400" dirty="0"/>
          </a:p>
        </p:txBody>
      </p:sp>
      <p:sp>
        <p:nvSpPr>
          <p:cNvPr id="20" name="Text 18"/>
          <p:cNvSpPr/>
          <p:nvPr/>
        </p:nvSpPr>
        <p:spPr>
          <a:xfrm>
            <a:off x="661475" y="3318768"/>
            <a:ext cx="4710788" cy="217091"/>
          </a:xfrm>
          <a:prstGeom prst="rect">
            <a:avLst/>
          </a:prstGeom>
          <a:noFill/>
          <a:ln/>
        </p:spPr>
        <p:txBody>
          <a:bodyPr wrap="none" lIns="0" tIns="0" rIns="0" bIns="0" rtlCol="0" anchor="t"/>
          <a:lstStyle/>
          <a:p>
            <a:pPr algn="r" indent="0" marL="0">
              <a:lnSpc>
                <a:spcPct val="125000"/>
              </a:lnSpc>
              <a:buNone/>
            </a:pPr>
            <a:r>
              <a:rPr lang="en-US" sz="1100" dirty="0">
                <a:solidFill>
                  <a:srgbClr val="3B3535"/>
                </a:solidFill>
                <a:latin typeface="Roboto" pitchFamily="34" charset="0"/>
                <a:ea typeface="Roboto" pitchFamily="34" charset="-122"/>
                <a:cs typeface="Roboto" pitchFamily="34" charset="-120"/>
              </a:rPr>
              <a:t>Brecha prototipo-producción y Model Context Protocol</a:t>
            </a:r>
            <a:endParaRPr lang="en-US" sz="1100" dirty="0"/>
          </a:p>
        </p:txBody>
      </p:sp>
      <p:sp>
        <p:nvSpPr>
          <p:cNvPr id="21" name="Shape 19"/>
          <p:cNvSpPr/>
          <p:nvPr/>
        </p:nvSpPr>
        <p:spPr>
          <a:xfrm>
            <a:off x="6239562" y="3850680"/>
            <a:ext cx="434071" cy="19050"/>
          </a:xfrm>
          <a:prstGeom prst="roundRect">
            <a:avLst>
              <a:gd name="adj" fmla="val 39999"/>
            </a:avLst>
          </a:prstGeom>
          <a:solidFill>
            <a:srgbClr val="D8D4D4"/>
          </a:solidFill>
          <a:ln/>
        </p:spPr>
      </p:sp>
      <p:sp>
        <p:nvSpPr>
          <p:cNvPr id="22" name="Shape 20"/>
          <p:cNvSpPr/>
          <p:nvPr/>
        </p:nvSpPr>
        <p:spPr>
          <a:xfrm>
            <a:off x="5933083" y="3697486"/>
            <a:ext cx="325529" cy="325537"/>
          </a:xfrm>
          <a:prstGeom prst="roundRect">
            <a:avLst>
              <a:gd name="adj" fmla="val 2341"/>
            </a:avLst>
          </a:prstGeom>
          <a:solidFill>
            <a:srgbClr val="F2EEEE"/>
          </a:solidFill>
          <a:ln w="6350">
            <a:solidFill>
              <a:srgbClr val="D8D4D4"/>
            </a:solidFill>
            <a:prstDash val="solid"/>
          </a:ln>
        </p:spPr>
      </p:sp>
      <p:sp>
        <p:nvSpPr>
          <p:cNvPr id="23" name="Text 21"/>
          <p:cNvSpPr/>
          <p:nvPr/>
        </p:nvSpPr>
        <p:spPr>
          <a:xfrm>
            <a:off x="5987305" y="3724573"/>
            <a:ext cx="216986" cy="271264"/>
          </a:xfrm>
          <a:prstGeom prst="rect">
            <a:avLst/>
          </a:prstGeom>
          <a:noFill/>
          <a:ln/>
        </p:spPr>
        <p:txBody>
          <a:bodyPr wrap="none" lIns="0" tIns="0" rIns="0" bIns="0" rtlCol="0" anchor="ctr"/>
          <a:lstStyle/>
          <a:p>
            <a:pPr algn="ctr" indent="0" marL="0">
              <a:lnSpc>
                <a:spcPct val="100000"/>
              </a:lnSpc>
              <a:buNone/>
            </a:pPr>
            <a:r>
              <a:rPr lang="en-US" sz="1700" dirty="0">
                <a:solidFill>
                  <a:srgbClr val="3B3535"/>
                </a:solidFill>
                <a:latin typeface="Roboto Mono Medium" pitchFamily="34" charset="0"/>
                <a:ea typeface="Roboto Mono Medium" pitchFamily="34" charset="-122"/>
                <a:cs typeface="Roboto Mono Medium" pitchFamily="34" charset="-120"/>
              </a:rPr>
              <a:t>4</a:t>
            </a:r>
            <a:endParaRPr lang="en-US" sz="1700" dirty="0"/>
          </a:p>
        </p:txBody>
      </p:sp>
      <p:sp>
        <p:nvSpPr>
          <p:cNvPr id="24" name="Text 22"/>
          <p:cNvSpPr/>
          <p:nvPr/>
        </p:nvSpPr>
        <p:spPr>
          <a:xfrm>
            <a:off x="6819432" y="3747195"/>
            <a:ext cx="4710788" cy="226020"/>
          </a:xfrm>
          <a:prstGeom prst="rect">
            <a:avLst/>
          </a:prstGeom>
          <a:noFill/>
          <a:ln/>
        </p:spPr>
        <p:txBody>
          <a:bodyPr wrap="none" lIns="0" tIns="0" rIns="0" bIns="0" rtlCol="0" anchor="t"/>
          <a:lstStyle/>
          <a:p>
            <a:pPr algn="l" indent="0" marL="0">
              <a:lnSpc>
                <a:spcPct val="104000"/>
              </a:lnSpc>
              <a:buNone/>
            </a:pPr>
            <a:r>
              <a:rPr lang="en-US" sz="1400" dirty="0">
                <a:solidFill>
                  <a:srgbClr val="3B3535"/>
                </a:solidFill>
                <a:latin typeface="Roboto Mono Medium" pitchFamily="34" charset="0"/>
                <a:ea typeface="Roboto Mono Medium" pitchFamily="34" charset="-122"/>
                <a:cs typeface="Roboto Mono Medium" pitchFamily="34" charset="-120"/>
              </a:rPr>
              <a:t>Sistemas Multiagente</a:t>
            </a:r>
            <a:endParaRPr lang="en-US" sz="1400" dirty="0"/>
          </a:p>
        </p:txBody>
      </p:sp>
      <p:sp>
        <p:nvSpPr>
          <p:cNvPr id="25" name="Text 23"/>
          <p:cNvSpPr/>
          <p:nvPr/>
        </p:nvSpPr>
        <p:spPr>
          <a:xfrm>
            <a:off x="6819432" y="4049117"/>
            <a:ext cx="4710788" cy="434181"/>
          </a:xfrm>
          <a:prstGeom prst="rect">
            <a:avLst/>
          </a:prstGeom>
          <a:noFill/>
          <a:ln/>
        </p:spPr>
        <p:txBody>
          <a:bodyPr wrap="square" lIns="0" tIns="0" rIns="0" bIns="0" rtlCol="0" anchor="t">
            <a:normAutofit/>
          </a:bodyPr>
          <a:lstStyle/>
          <a:p>
            <a:pPr algn="l" indent="0" marL="0">
              <a:lnSpc>
                <a:spcPct val="125000"/>
              </a:lnSpc>
              <a:buNone/>
            </a:pPr>
            <a:r>
              <a:rPr lang="en-US" sz="1100" dirty="0">
                <a:solidFill>
                  <a:srgbClr val="3B3535"/>
                </a:solidFill>
                <a:latin typeface="Roboto" pitchFamily="34" charset="0"/>
                <a:ea typeface="Roboto" pitchFamily="34" charset="-122"/>
                <a:cs typeface="Roboto" pitchFamily="34" charset="-120"/>
              </a:rPr>
              <a:t>Limitaciones de un agente, arquitecturas multiagente y el espectro workflows-agentes</a:t>
            </a:r>
            <a:endParaRPr lang="en-US" sz="1100" dirty="0"/>
          </a:p>
        </p:txBody>
      </p:sp>
      <p:sp>
        <p:nvSpPr>
          <p:cNvPr id="26" name="Shape 24"/>
          <p:cNvSpPr/>
          <p:nvPr/>
        </p:nvSpPr>
        <p:spPr>
          <a:xfrm>
            <a:off x="5518062" y="4581029"/>
            <a:ext cx="434071" cy="19050"/>
          </a:xfrm>
          <a:prstGeom prst="roundRect">
            <a:avLst>
              <a:gd name="adj" fmla="val 39999"/>
            </a:avLst>
          </a:prstGeom>
          <a:solidFill>
            <a:srgbClr val="D8D4D4"/>
          </a:solidFill>
          <a:ln/>
        </p:spPr>
      </p:sp>
      <p:sp>
        <p:nvSpPr>
          <p:cNvPr id="27" name="Shape 25"/>
          <p:cNvSpPr/>
          <p:nvPr/>
        </p:nvSpPr>
        <p:spPr>
          <a:xfrm>
            <a:off x="5933083" y="4427835"/>
            <a:ext cx="325529" cy="325537"/>
          </a:xfrm>
          <a:prstGeom prst="roundRect">
            <a:avLst>
              <a:gd name="adj" fmla="val 2341"/>
            </a:avLst>
          </a:prstGeom>
          <a:solidFill>
            <a:srgbClr val="F2EEEE"/>
          </a:solidFill>
          <a:ln w="6350">
            <a:solidFill>
              <a:srgbClr val="D8D4D4"/>
            </a:solidFill>
            <a:prstDash val="solid"/>
          </a:ln>
        </p:spPr>
      </p:sp>
      <p:sp>
        <p:nvSpPr>
          <p:cNvPr id="28" name="Text 26"/>
          <p:cNvSpPr/>
          <p:nvPr/>
        </p:nvSpPr>
        <p:spPr>
          <a:xfrm>
            <a:off x="5987305" y="4454922"/>
            <a:ext cx="216986" cy="271264"/>
          </a:xfrm>
          <a:prstGeom prst="rect">
            <a:avLst/>
          </a:prstGeom>
          <a:noFill/>
          <a:ln/>
        </p:spPr>
        <p:txBody>
          <a:bodyPr wrap="none" lIns="0" tIns="0" rIns="0" bIns="0" rtlCol="0" anchor="ctr"/>
          <a:lstStyle/>
          <a:p>
            <a:pPr algn="ctr" indent="0" marL="0">
              <a:lnSpc>
                <a:spcPct val="100000"/>
              </a:lnSpc>
              <a:buNone/>
            </a:pPr>
            <a:r>
              <a:rPr lang="en-US" sz="1700" dirty="0">
                <a:solidFill>
                  <a:srgbClr val="3B3535"/>
                </a:solidFill>
                <a:latin typeface="Roboto Mono Medium" pitchFamily="34" charset="0"/>
                <a:ea typeface="Roboto Mono Medium" pitchFamily="34" charset="-122"/>
                <a:cs typeface="Roboto Mono Medium" pitchFamily="34" charset="-120"/>
              </a:rPr>
              <a:t>5</a:t>
            </a:r>
            <a:endParaRPr lang="en-US" sz="1700" dirty="0"/>
          </a:p>
        </p:txBody>
      </p:sp>
      <p:sp>
        <p:nvSpPr>
          <p:cNvPr id="29" name="Text 27"/>
          <p:cNvSpPr/>
          <p:nvPr/>
        </p:nvSpPr>
        <p:spPr>
          <a:xfrm>
            <a:off x="661475" y="4477544"/>
            <a:ext cx="4710788" cy="226020"/>
          </a:xfrm>
          <a:prstGeom prst="rect">
            <a:avLst/>
          </a:prstGeom>
          <a:noFill/>
          <a:ln/>
        </p:spPr>
        <p:txBody>
          <a:bodyPr wrap="none" lIns="0" tIns="0" rIns="0" bIns="0" rtlCol="0" anchor="t"/>
          <a:lstStyle/>
          <a:p>
            <a:pPr algn="r" indent="0" marL="0">
              <a:lnSpc>
                <a:spcPct val="104000"/>
              </a:lnSpc>
              <a:buNone/>
            </a:pPr>
            <a:r>
              <a:rPr lang="en-US" sz="1400" dirty="0">
                <a:solidFill>
                  <a:srgbClr val="3B3535"/>
                </a:solidFill>
                <a:latin typeface="Roboto Mono Medium" pitchFamily="34" charset="0"/>
                <a:ea typeface="Roboto Mono Medium" pitchFamily="34" charset="-122"/>
                <a:cs typeface="Roboto Mono Medium" pitchFamily="34" charset="-120"/>
              </a:rPr>
              <a:t>Memoria de Agentes</a:t>
            </a:r>
            <a:endParaRPr lang="en-US" sz="1400" dirty="0"/>
          </a:p>
        </p:txBody>
      </p:sp>
      <p:sp>
        <p:nvSpPr>
          <p:cNvPr id="30" name="Text 28"/>
          <p:cNvSpPr/>
          <p:nvPr/>
        </p:nvSpPr>
        <p:spPr>
          <a:xfrm>
            <a:off x="661475" y="4779466"/>
            <a:ext cx="4710788" cy="217091"/>
          </a:xfrm>
          <a:prstGeom prst="rect">
            <a:avLst/>
          </a:prstGeom>
          <a:noFill/>
          <a:ln/>
        </p:spPr>
        <p:txBody>
          <a:bodyPr wrap="none" lIns="0" tIns="0" rIns="0" bIns="0" rtlCol="0" anchor="t"/>
          <a:lstStyle/>
          <a:p>
            <a:pPr algn="r" indent="0" marL="0">
              <a:lnSpc>
                <a:spcPct val="125000"/>
              </a:lnSpc>
              <a:buNone/>
            </a:pPr>
            <a:r>
              <a:rPr lang="en-US" sz="1100" dirty="0">
                <a:solidFill>
                  <a:srgbClr val="3B3535"/>
                </a:solidFill>
                <a:latin typeface="Roboto" pitchFamily="34" charset="0"/>
                <a:ea typeface="Roboto" pitchFamily="34" charset="-122"/>
                <a:cs typeface="Roboto" pitchFamily="34" charset="-120"/>
              </a:rPr>
              <a:t>Arquitectura de dos niveles, patrones de integración y soluciones</a:t>
            </a:r>
            <a:endParaRPr lang="en-US" sz="1100" dirty="0"/>
          </a:p>
        </p:txBody>
      </p:sp>
      <p:sp>
        <p:nvSpPr>
          <p:cNvPr id="31" name="Shape 29"/>
          <p:cNvSpPr/>
          <p:nvPr/>
        </p:nvSpPr>
        <p:spPr>
          <a:xfrm>
            <a:off x="6239562" y="5311378"/>
            <a:ext cx="434071" cy="19050"/>
          </a:xfrm>
          <a:prstGeom prst="roundRect">
            <a:avLst>
              <a:gd name="adj" fmla="val 39999"/>
            </a:avLst>
          </a:prstGeom>
          <a:solidFill>
            <a:srgbClr val="D8D4D4"/>
          </a:solidFill>
          <a:ln/>
        </p:spPr>
      </p:sp>
      <p:sp>
        <p:nvSpPr>
          <p:cNvPr id="32" name="Shape 30"/>
          <p:cNvSpPr/>
          <p:nvPr/>
        </p:nvSpPr>
        <p:spPr>
          <a:xfrm>
            <a:off x="5933083" y="5158184"/>
            <a:ext cx="325529" cy="325537"/>
          </a:xfrm>
          <a:prstGeom prst="roundRect">
            <a:avLst>
              <a:gd name="adj" fmla="val 2341"/>
            </a:avLst>
          </a:prstGeom>
          <a:solidFill>
            <a:srgbClr val="F2EEEE"/>
          </a:solidFill>
          <a:ln w="6350">
            <a:solidFill>
              <a:srgbClr val="D8D4D4"/>
            </a:solidFill>
            <a:prstDash val="solid"/>
          </a:ln>
        </p:spPr>
      </p:sp>
      <p:sp>
        <p:nvSpPr>
          <p:cNvPr id="33" name="Text 31"/>
          <p:cNvSpPr/>
          <p:nvPr/>
        </p:nvSpPr>
        <p:spPr>
          <a:xfrm>
            <a:off x="5987305" y="5185271"/>
            <a:ext cx="216986" cy="271264"/>
          </a:xfrm>
          <a:prstGeom prst="rect">
            <a:avLst/>
          </a:prstGeom>
          <a:noFill/>
          <a:ln/>
        </p:spPr>
        <p:txBody>
          <a:bodyPr wrap="none" lIns="0" tIns="0" rIns="0" bIns="0" rtlCol="0" anchor="ctr"/>
          <a:lstStyle/>
          <a:p>
            <a:pPr algn="ctr" indent="0" marL="0">
              <a:lnSpc>
                <a:spcPct val="100000"/>
              </a:lnSpc>
              <a:buNone/>
            </a:pPr>
            <a:r>
              <a:rPr lang="en-US" sz="1700" dirty="0">
                <a:solidFill>
                  <a:srgbClr val="3B3535"/>
                </a:solidFill>
                <a:latin typeface="Roboto Mono Medium" pitchFamily="34" charset="0"/>
                <a:ea typeface="Roboto Mono Medium" pitchFamily="34" charset="-122"/>
                <a:cs typeface="Roboto Mono Medium" pitchFamily="34" charset="-120"/>
              </a:rPr>
              <a:t>6</a:t>
            </a:r>
            <a:endParaRPr lang="en-US" sz="1700" dirty="0"/>
          </a:p>
        </p:txBody>
      </p:sp>
      <p:sp>
        <p:nvSpPr>
          <p:cNvPr id="34" name="Text 32"/>
          <p:cNvSpPr/>
          <p:nvPr/>
        </p:nvSpPr>
        <p:spPr>
          <a:xfrm>
            <a:off x="6819432" y="5207893"/>
            <a:ext cx="4710788" cy="226020"/>
          </a:xfrm>
          <a:prstGeom prst="rect">
            <a:avLst/>
          </a:prstGeom>
          <a:noFill/>
          <a:ln/>
        </p:spPr>
        <p:txBody>
          <a:bodyPr wrap="none" lIns="0" tIns="0" rIns="0" bIns="0" rtlCol="0" anchor="t"/>
          <a:lstStyle/>
          <a:p>
            <a:pPr algn="l" indent="0" marL="0">
              <a:lnSpc>
                <a:spcPct val="104000"/>
              </a:lnSpc>
              <a:buNone/>
            </a:pPr>
            <a:r>
              <a:rPr lang="en-US" sz="1400" dirty="0">
                <a:solidFill>
                  <a:srgbClr val="3B3535"/>
                </a:solidFill>
                <a:latin typeface="Roboto Mono Medium" pitchFamily="34" charset="0"/>
                <a:ea typeface="Roboto Mono Medium" pitchFamily="34" charset="-122"/>
                <a:cs typeface="Roboto Mono Medium" pitchFamily="34" charset="-120"/>
              </a:rPr>
              <a:t>Objetivos y Práctica</a:t>
            </a:r>
            <a:endParaRPr lang="en-US" sz="1400" dirty="0"/>
          </a:p>
        </p:txBody>
      </p:sp>
      <p:sp>
        <p:nvSpPr>
          <p:cNvPr id="35" name="Text 33"/>
          <p:cNvSpPr/>
          <p:nvPr/>
        </p:nvSpPr>
        <p:spPr>
          <a:xfrm>
            <a:off x="6819432" y="5509816"/>
            <a:ext cx="4710788" cy="217091"/>
          </a:xfrm>
          <a:prstGeom prst="rect">
            <a:avLst/>
          </a:prstGeom>
          <a:noFill/>
          <a:ln/>
        </p:spPr>
        <p:txBody>
          <a:bodyPr wrap="none" lIns="0" tIns="0" rIns="0" bIns="0" rtlCol="0" anchor="t"/>
          <a:lstStyle/>
          <a:p>
            <a:pPr algn="l" indent="0" marL="0">
              <a:lnSpc>
                <a:spcPct val="125000"/>
              </a:lnSpc>
              <a:buNone/>
            </a:pPr>
            <a:r>
              <a:rPr lang="en-US" sz="1100" dirty="0">
                <a:solidFill>
                  <a:srgbClr val="3B3535"/>
                </a:solidFill>
                <a:latin typeface="Roboto" pitchFamily="34" charset="0"/>
                <a:ea typeface="Roboto" pitchFamily="34" charset="-122"/>
                <a:cs typeface="Roboto" pitchFamily="34" charset="-120"/>
              </a:rPr>
              <a:t>Objetivos de aprendizaje, proyectos prácticos y ejercicio final</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661475" y="2755503"/>
            <a:ext cx="1727951" cy="251420"/>
          </a:xfrm>
          <a:prstGeom prst="roundRect">
            <a:avLst>
              <a:gd name="adj" fmla="val 3031"/>
            </a:avLst>
          </a:prstGeom>
          <a:solidFill>
            <a:srgbClr val="F9D2D6"/>
          </a:solidFill>
          <a:ln/>
        </p:spPr>
      </p:sp>
      <p:sp>
        <p:nvSpPr>
          <p:cNvPr id="3" name="Text 1"/>
          <p:cNvSpPr/>
          <p:nvPr/>
        </p:nvSpPr>
        <p:spPr>
          <a:xfrm>
            <a:off x="760691" y="2805113"/>
            <a:ext cx="2139103"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SISTEMAS MULTIAGENTE</a:t>
            </a:r>
            <a:endParaRPr lang="en-US" sz="1000" dirty="0"/>
          </a:p>
        </p:txBody>
      </p:sp>
      <p:sp>
        <p:nvSpPr>
          <p:cNvPr id="4" name="Text 2"/>
          <p:cNvSpPr/>
          <p:nvPr/>
        </p:nvSpPr>
        <p:spPr>
          <a:xfrm>
            <a:off x="661475" y="3073003"/>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Sistemas </a:t>
            </a:r>
            <a:pPr algn="l" indent="0" marL="0">
              <a:lnSpc>
                <a:spcPct val="104000"/>
              </a:lnSpc>
              <a:buNone/>
            </a:pPr>
            <a:r>
              <a:rPr lang="en-US" sz="3250" dirty="0">
                <a:solidFill>
                  <a:srgbClr val="3B3535"/>
                </a:solidFill>
                <a:latin typeface="Roboto Mono Medium" pitchFamily="34" charset="0"/>
                <a:ea typeface="Roboto Mono Medium" pitchFamily="34" charset="-122"/>
                <a:cs typeface="Roboto Mono Medium" pitchFamily="34" charset="-120"/>
              </a:rPr>
              <a:t>Multiagente</a:t>
            </a:r>
            <a:endParaRPr lang="en-US" sz="3250" dirty="0"/>
          </a:p>
        </p:txBody>
      </p:sp>
      <p:sp>
        <p:nvSpPr>
          <p:cNvPr id="5" name="Text 3"/>
          <p:cNvSpPr/>
          <p:nvPr/>
        </p:nvSpPr>
        <p:spPr>
          <a:xfrm>
            <a:off x="661475" y="3837781"/>
            <a:ext cx="11478330" cy="264616"/>
          </a:xfrm>
          <a:prstGeom prst="rect">
            <a:avLst/>
          </a:prstGeom>
          <a:noFill/>
          <a:ln/>
        </p:spPr>
        <p:txBody>
          <a:bodyPr wrap="none" lIns="0" tIns="0" rIns="0" bIns="0" rtlCol="0" anchor="t"/>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Cuando un solo agente no alcanza: motivación, arquitecturas y aplicación en biomedicina.</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661475" y="1187450"/>
            <a:ext cx="1727951" cy="251420"/>
          </a:xfrm>
          <a:prstGeom prst="roundRect">
            <a:avLst>
              <a:gd name="adj" fmla="val 3031"/>
            </a:avLst>
          </a:prstGeom>
          <a:solidFill>
            <a:srgbClr val="F9D2D6"/>
          </a:solidFill>
          <a:ln/>
        </p:spPr>
      </p:sp>
      <p:sp>
        <p:nvSpPr>
          <p:cNvPr id="3" name="Text 1"/>
          <p:cNvSpPr/>
          <p:nvPr/>
        </p:nvSpPr>
        <p:spPr>
          <a:xfrm>
            <a:off x="760691" y="1237059"/>
            <a:ext cx="2139103"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SISTEMAS MULTIAGENTE</a:t>
            </a:r>
            <a:endParaRPr lang="en-US" sz="1000" dirty="0"/>
          </a:p>
        </p:txBody>
      </p:sp>
      <p:sp>
        <p:nvSpPr>
          <p:cNvPr id="4" name="Text 2"/>
          <p:cNvSpPr/>
          <p:nvPr/>
        </p:nvSpPr>
        <p:spPr>
          <a:xfrm>
            <a:off x="661475" y="1504950"/>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Limitaciones de un solo agente</a:t>
            </a:r>
            <a:endParaRPr lang="en-US" sz="3250" dirty="0"/>
          </a:p>
        </p:txBody>
      </p:sp>
      <p:sp>
        <p:nvSpPr>
          <p:cNvPr id="5" name="Text 3"/>
          <p:cNvSpPr/>
          <p:nvPr/>
        </p:nvSpPr>
        <p:spPr>
          <a:xfrm>
            <a:off x="661475" y="2269728"/>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Ya vimos que un agente con tools puede resolver problemas complejos. Pero a medida que crece el número de herramientas y dominios, aparecen problemas concretos:</a:t>
            </a:r>
            <a:endParaRPr lang="en-US" sz="1300" dirty="0"/>
          </a:p>
        </p:txBody>
      </p:sp>
      <p:sp>
        <p:nvSpPr>
          <p:cNvPr id="6" name="Shape 4"/>
          <p:cNvSpPr/>
          <p:nvPr/>
        </p:nvSpPr>
        <p:spPr>
          <a:xfrm>
            <a:off x="661475" y="2984996"/>
            <a:ext cx="3512653" cy="2685455"/>
          </a:xfrm>
          <a:prstGeom prst="roundRect">
            <a:avLst>
              <a:gd name="adj" fmla="val 284"/>
            </a:avLst>
          </a:prstGeom>
          <a:solidFill>
            <a:srgbClr val="F2EEEE"/>
          </a:solidFill>
          <a:ln w="6350">
            <a:solidFill>
              <a:srgbClr val="D8D4D4"/>
            </a:solidFill>
            <a:prstDash val="solid"/>
          </a:ln>
        </p:spPr>
      </p:sp>
      <p:sp>
        <p:nvSpPr>
          <p:cNvPr id="7" name="Shape 5"/>
          <p:cNvSpPr/>
          <p:nvPr/>
        </p:nvSpPr>
        <p:spPr>
          <a:xfrm>
            <a:off x="833119" y="3156645"/>
            <a:ext cx="496081" cy="496094"/>
          </a:xfrm>
          <a:prstGeom prst="ellipse">
            <a:avLst/>
          </a:prstGeom>
          <a:solidFill>
            <a:srgbClr val="DA1B2E"/>
          </a:solidFill>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69541" y="3292971"/>
            <a:ext cx="223237" cy="223242"/>
          </a:xfrm>
          <a:prstGeom prst="rect">
            <a:avLst/>
          </a:prstGeom>
        </p:spPr>
      </p:pic>
      <p:sp>
        <p:nvSpPr>
          <p:cNvPr id="9" name="Text 6"/>
          <p:cNvSpPr/>
          <p:nvPr/>
        </p:nvSpPr>
        <p:spPr>
          <a:xfrm>
            <a:off x="833119" y="3818037"/>
            <a:ext cx="3169364"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Sobrecarga de tools</a:t>
            </a:r>
            <a:endParaRPr lang="en-US" sz="1600" dirty="0"/>
          </a:p>
        </p:txBody>
      </p:sp>
      <p:sp>
        <p:nvSpPr>
          <p:cNvPr id="10" name="Text 7"/>
          <p:cNvSpPr/>
          <p:nvPr/>
        </p:nvSpPr>
        <p:spPr>
          <a:xfrm>
            <a:off x="833119" y="4175720"/>
            <a:ext cx="3169364" cy="1323082"/>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La accuracy de selección de herramientas cae drásticamente cuando el agente tiene demasiadas opciones (de ~92% con 5 tools a ~58% con 20+). Un agente generalista pierde precisión.</a:t>
            </a:r>
            <a:endParaRPr lang="en-US" sz="1300" dirty="0"/>
          </a:p>
        </p:txBody>
      </p:sp>
      <p:sp>
        <p:nvSpPr>
          <p:cNvPr id="11" name="Shape 8"/>
          <p:cNvSpPr/>
          <p:nvPr/>
        </p:nvSpPr>
        <p:spPr>
          <a:xfrm>
            <a:off x="4339422" y="2984996"/>
            <a:ext cx="3512752" cy="2685455"/>
          </a:xfrm>
          <a:prstGeom prst="roundRect">
            <a:avLst>
              <a:gd name="adj" fmla="val 284"/>
            </a:avLst>
          </a:prstGeom>
          <a:solidFill>
            <a:srgbClr val="F2EEEE"/>
          </a:solidFill>
          <a:ln w="6350">
            <a:solidFill>
              <a:srgbClr val="D8D4D4"/>
            </a:solidFill>
            <a:prstDash val="solid"/>
          </a:ln>
        </p:spPr>
      </p:sp>
      <p:sp>
        <p:nvSpPr>
          <p:cNvPr id="12" name="Shape 9"/>
          <p:cNvSpPr/>
          <p:nvPr/>
        </p:nvSpPr>
        <p:spPr>
          <a:xfrm>
            <a:off x="4511066" y="3156645"/>
            <a:ext cx="496081" cy="496094"/>
          </a:xfrm>
          <a:prstGeom prst="ellipse">
            <a:avLst/>
          </a:prstGeom>
          <a:solidFill>
            <a:srgbClr val="DA1B2E"/>
          </a:solidFill>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47488" y="3292971"/>
            <a:ext cx="223237" cy="223242"/>
          </a:xfrm>
          <a:prstGeom prst="rect">
            <a:avLst/>
          </a:prstGeom>
        </p:spPr>
      </p:pic>
      <p:sp>
        <p:nvSpPr>
          <p:cNvPr id="14" name="Text 10"/>
          <p:cNvSpPr/>
          <p:nvPr/>
        </p:nvSpPr>
        <p:spPr>
          <a:xfrm>
            <a:off x="4511066" y="3818037"/>
            <a:ext cx="3169464"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Contexto desbordado</a:t>
            </a:r>
            <a:endParaRPr lang="en-US" sz="1600" dirty="0"/>
          </a:p>
        </p:txBody>
      </p:sp>
      <p:sp>
        <p:nvSpPr>
          <p:cNvPr id="15" name="Text 11"/>
          <p:cNvSpPr/>
          <p:nvPr/>
        </p:nvSpPr>
        <p:spPr>
          <a:xfrm>
            <a:off x="4511066" y="4175720"/>
            <a:ext cx="3169464"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Si el agente debe manejar información clínica, farmacológica, radiológica y administrativa en un solo contexto, la calidad de razonamiento se degrada.</a:t>
            </a:r>
            <a:endParaRPr lang="en-US" sz="1300" dirty="0"/>
          </a:p>
        </p:txBody>
      </p:sp>
      <p:sp>
        <p:nvSpPr>
          <p:cNvPr id="16" name="Shape 12"/>
          <p:cNvSpPr/>
          <p:nvPr/>
        </p:nvSpPr>
        <p:spPr>
          <a:xfrm>
            <a:off x="8017468" y="2984996"/>
            <a:ext cx="3512653" cy="2685455"/>
          </a:xfrm>
          <a:prstGeom prst="roundRect">
            <a:avLst>
              <a:gd name="adj" fmla="val 284"/>
            </a:avLst>
          </a:prstGeom>
          <a:solidFill>
            <a:srgbClr val="F2EEEE"/>
          </a:solidFill>
          <a:ln w="6350">
            <a:solidFill>
              <a:srgbClr val="D8D4D4"/>
            </a:solidFill>
            <a:prstDash val="solid"/>
          </a:ln>
        </p:spPr>
      </p:sp>
      <p:sp>
        <p:nvSpPr>
          <p:cNvPr id="17" name="Shape 13"/>
          <p:cNvSpPr/>
          <p:nvPr/>
        </p:nvSpPr>
        <p:spPr>
          <a:xfrm>
            <a:off x="8189112" y="3156645"/>
            <a:ext cx="496081" cy="496094"/>
          </a:xfrm>
          <a:prstGeom prst="ellipse">
            <a:avLst/>
          </a:prstGeom>
          <a:solidFill>
            <a:srgbClr val="DA1B2E"/>
          </a:solidFill>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325535" y="3292971"/>
            <a:ext cx="223237" cy="223242"/>
          </a:xfrm>
          <a:prstGeom prst="rect">
            <a:avLst/>
          </a:prstGeom>
        </p:spPr>
      </p:pic>
      <p:sp>
        <p:nvSpPr>
          <p:cNvPr id="19" name="Text 14"/>
          <p:cNvSpPr/>
          <p:nvPr/>
        </p:nvSpPr>
        <p:spPr>
          <a:xfrm>
            <a:off x="8189112" y="3818037"/>
            <a:ext cx="3169364"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Falta de especialización</a:t>
            </a:r>
            <a:endParaRPr lang="en-US" sz="1600" dirty="0"/>
          </a:p>
        </p:txBody>
      </p:sp>
      <p:sp>
        <p:nvSpPr>
          <p:cNvPr id="20" name="Text 15"/>
          <p:cNvSpPr/>
          <p:nvPr/>
        </p:nvSpPr>
        <p:spPr>
          <a:xfrm>
            <a:off x="8189112" y="4175720"/>
            <a:ext cx="3169364" cy="1323082"/>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Un único system prompt no puede ser simultáneamente experto en interacciones farmacológicas Y en interpretación de ensayos clínicos Y en análisis de imágenes.</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661475" y="1570732"/>
            <a:ext cx="1727951" cy="251420"/>
          </a:xfrm>
          <a:prstGeom prst="roundRect">
            <a:avLst>
              <a:gd name="adj" fmla="val 3031"/>
            </a:avLst>
          </a:prstGeom>
          <a:solidFill>
            <a:srgbClr val="F9D2D6"/>
          </a:solidFill>
          <a:ln/>
        </p:spPr>
      </p:sp>
      <p:sp>
        <p:nvSpPr>
          <p:cNvPr id="3" name="Text 1"/>
          <p:cNvSpPr/>
          <p:nvPr/>
        </p:nvSpPr>
        <p:spPr>
          <a:xfrm>
            <a:off x="760691" y="1620341"/>
            <a:ext cx="2139103"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SISTEMAS MULTIAGENTE</a:t>
            </a:r>
            <a:endParaRPr lang="en-US" sz="1000" dirty="0"/>
          </a:p>
        </p:txBody>
      </p:sp>
      <p:sp>
        <p:nvSpPr>
          <p:cNvPr id="4" name="Text 2"/>
          <p:cNvSpPr/>
          <p:nvPr/>
        </p:nvSpPr>
        <p:spPr>
          <a:xfrm>
            <a:off x="661475" y="1888232"/>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Ejemplo: Soporte a </a:t>
            </a:r>
            <a:pPr algn="l" indent="0" marL="0">
              <a:lnSpc>
                <a:spcPct val="104000"/>
              </a:lnSpc>
              <a:buNone/>
            </a:pPr>
            <a:r>
              <a:rPr lang="en-US" sz="3250" dirty="0">
                <a:solidFill>
                  <a:srgbClr val="3B3535"/>
                </a:solidFill>
                <a:latin typeface="Roboto Mono Medium" pitchFamily="34" charset="0"/>
                <a:ea typeface="Roboto Mono Medium" pitchFamily="34" charset="-122"/>
                <a:cs typeface="Roboto Mono Medium" pitchFamily="34" charset="-120"/>
              </a:rPr>
              <a:t>Decisiones</a:t>
            </a:r>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 Clínicas</a:t>
            </a:r>
            <a:endParaRPr lang="en-US" sz="3250" dirty="0"/>
          </a:p>
        </p:txBody>
      </p:sp>
      <p:sp>
        <p:nvSpPr>
          <p:cNvPr id="5" name="Text 3"/>
          <p:cNvSpPr/>
          <p:nvPr/>
        </p:nvSpPr>
        <p:spPr>
          <a:xfrm>
            <a:off x="661475" y="2653010"/>
            <a:ext cx="10868745" cy="1509117"/>
          </a:xfrm>
          <a:prstGeom prst="rect">
            <a:avLst/>
          </a:prstGeom>
          <a:noFill/>
          <a:ln/>
        </p:spPr>
        <p:txBody>
          <a:bodyPr wrap="square" lIns="0" tIns="0" rIns="0" bIns="0" rtlCol="0" anchor="t">
            <a:normAutofit/>
          </a:bodyPr>
          <a:lstStyle/>
          <a:p>
            <a:pPr algn="l" indent="0" marL="0">
              <a:lnSpc>
                <a:spcPct val="133000"/>
              </a:lnSpc>
              <a:spcAft>
                <a:spcPts val="1450"/>
              </a:spcAft>
              <a:buNone/>
            </a:pPr>
            <a:r>
              <a:rPr lang="en-US" sz="1300" dirty="0">
                <a:solidFill>
                  <a:srgbClr val="3B3535"/>
                </a:solidFill>
                <a:latin typeface="Roboto" pitchFamily="34" charset="0"/>
                <a:ea typeface="Roboto" pitchFamily="34" charset="-122"/>
                <a:cs typeface="Roboto" pitchFamily="34" charset="-120"/>
              </a:rPr>
              <a:t>Queremos asistir a un equipo médico en la toma de decisiones para un paciente con cáncer de pulmón (NSCLC), integrando datos clínicos, farmacológicos y de evidencia.</a:t>
            </a:r>
            <a:endParaRPr lang="en-US" sz="1300" dirty="0"/>
          </a:p>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Tools 15+ tools mezcladas de todos los dominios 3–5 tools por agente, especializadas System prompt Genérico, intenta cubrir todo Cada agente tiene instrucciones de su dominio Contexto Se llena rápidamente con info de todos los dominios Cada agente mantiene solo su contexto relevante Precisión Se degrada con la complejidad Cada agente es experto en lo suyo</a:t>
            </a:r>
            <a:endParaRPr lang="en-US" sz="13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661475" y="4348163"/>
          <a:ext cx="10868745" cy="914400"/>
        </p:xfrm>
        <a:graphic>
          <a:graphicData uri="http://schemas.openxmlformats.org/drawingml/2006/table">
            <a:tbl>
              <a:tblPr/>
              <a:tblGrid>
                <a:gridCol w="10868745"/>
              </a:tblGrid>
              <a:tr h="475742">
                <a:tc>
                  <a:txBody>
                    <a:bodyPr/>
                    <a:lstStyle/>
                    <a:p>
                      <a:pPr indent="0" marL="0">
                        <a:buNone/>
                      </a:pPr>
                      <a:endParaRPr lang="en-US" sz="1300" dirty="0">
                        <a:latin typeface="Roboto" charset="0"/>
                        <a:ea typeface="Roboto" charset="0"/>
                        <a:cs typeface="Roboto" charset="0"/>
                      </a:endParaRPr>
                    </a:p>
                  </a:txBody>
                  <a:tcPr marL="165391" marR="165391" marT="6350" marB="6350" anchor="ctr">
                    <a:lnL w="12700" cap="flat" cmpd="sng" algn="ctr">
                      <a:solidFill>
                        <a:srgbClr val="D8D4D4"/>
                      </a:solidFill>
                      <a:prstDash val="solid"/>
                      <a:round/>
                      <a:headEnd type="none" w="med" len="med"/>
                      <a:tailEnd type="none" w="med" len="med"/>
                    </a:lnL>
                    <a:lnR w="12700" cap="flat" cmpd="sng" algn="ctr">
                      <a:solidFill>
                        <a:srgbClr val="D8D4D4"/>
                      </a:solidFill>
                      <a:prstDash val="solid"/>
                      <a:round/>
                      <a:headEnd type="none" w="med" len="med"/>
                      <a:tailEnd type="none" w="med" len="med"/>
                    </a:lnR>
                    <a:lnT w="12700" cap="flat" cmpd="sng" algn="ctr">
                      <a:solidFill>
                        <a:srgbClr val="D8D4D4"/>
                      </a:solidFill>
                      <a:prstDash val="solid"/>
                      <a:round/>
                      <a:headEnd type="none" w="med" len="med"/>
                      <a:tailEnd type="none" w="med" len="med"/>
                    </a:lnT>
                    <a:lnB w="12700" cap="flat" cmpd="sng" algn="ctr">
                      <a:solidFill>
                        <a:srgbClr val="D8D4D4"/>
                      </a:solidFill>
                      <a:prstDash val="solid"/>
                      <a:round/>
                      <a:headEnd type="none" w="med" len="med"/>
                      <a:tailEnd type="none" w="med" len="med"/>
                    </a:lnB>
                  </a:tcPr>
                </a:tc>
              </a:tr>
            </a:tbl>
          </a:graphicData>
        </a:graphic>
      </p:graphicFrame>
      <p:sp>
        <p:nvSpPr>
          <p:cNvPr id="7" name="Text 4"/>
          <p:cNvSpPr/>
          <p:nvPr/>
        </p:nvSpPr>
        <p:spPr>
          <a:xfrm>
            <a:off x="661475" y="5022652"/>
            <a:ext cx="11478330" cy="264616"/>
          </a:xfrm>
          <a:prstGeom prst="rect">
            <a:avLst/>
          </a:prstGeom>
          <a:noFill/>
          <a:ln/>
        </p:spPr>
        <p:txBody>
          <a:bodyPr wrap="none" lIns="0" tIns="0" rIns="0" bIns="0" rtlCol="0" anchor="t"/>
          <a:lstStyle/>
          <a:p>
            <a:pPr algn="l" indent="0" marL="0">
              <a:lnSpc>
                <a:spcPct val="133000"/>
              </a:lnSpc>
              <a:buNone/>
            </a:pPr>
            <a:r>
              <a:rPr lang="en-US" sz="1300" i="1" dirty="0">
                <a:solidFill>
                  <a:srgbClr val="3B3535"/>
                </a:solidFill>
                <a:latin typeface="Roboto" pitchFamily="34" charset="0"/>
                <a:ea typeface="Roboto" pitchFamily="34" charset="-122"/>
                <a:cs typeface="Roboto" pitchFamily="34" charset="-120"/>
              </a:rPr>
              <a:t>El problema no es la capacidad del LLM, sino la arquitectura. Dividir en agentes especializados es una decisión de ingeniería, no de modelo.</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661475" y="962124"/>
            <a:ext cx="1727951" cy="251420"/>
          </a:xfrm>
          <a:prstGeom prst="roundRect">
            <a:avLst>
              <a:gd name="adj" fmla="val 3031"/>
            </a:avLst>
          </a:prstGeom>
          <a:solidFill>
            <a:srgbClr val="F9D2D6"/>
          </a:solidFill>
          <a:ln/>
        </p:spPr>
      </p:sp>
      <p:sp>
        <p:nvSpPr>
          <p:cNvPr id="3" name="Text 1"/>
          <p:cNvSpPr/>
          <p:nvPr/>
        </p:nvSpPr>
        <p:spPr>
          <a:xfrm>
            <a:off x="760691" y="1011734"/>
            <a:ext cx="2139103"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SISTEMAS MULTIAGENTE</a:t>
            </a:r>
            <a:endParaRPr lang="en-US" sz="1000" dirty="0"/>
          </a:p>
        </p:txBody>
      </p:sp>
      <p:sp>
        <p:nvSpPr>
          <p:cNvPr id="4" name="Text 2"/>
          <p:cNvSpPr/>
          <p:nvPr/>
        </p:nvSpPr>
        <p:spPr>
          <a:xfrm>
            <a:off x="661475" y="1279624"/>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¿Qué es un Sistema Multiagente?</a:t>
            </a:r>
            <a:endParaRPr lang="en-US" sz="3250" dirty="0"/>
          </a:p>
        </p:txBody>
      </p:sp>
      <p:sp>
        <p:nvSpPr>
          <p:cNvPr id="5" name="Text 3"/>
          <p:cNvSpPr/>
          <p:nvPr/>
        </p:nvSpPr>
        <p:spPr>
          <a:xfrm>
            <a:off x="661475" y="2044402"/>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Un sistema multiagente consta de múltiples agentes que interactúan entre sí — de forma colaborativa, competitiva, o ambas — para resolver un problema que excede las capacidades de un agente individual.</a:t>
            </a:r>
            <a:endParaRPr lang="en-US" sz="1300" dirty="0"/>
          </a:p>
        </p:txBody>
      </p:sp>
      <p:sp>
        <p:nvSpPr>
          <p:cNvPr id="6" name="Shape 4"/>
          <p:cNvSpPr/>
          <p:nvPr/>
        </p:nvSpPr>
        <p:spPr>
          <a:xfrm>
            <a:off x="661475" y="2759670"/>
            <a:ext cx="3512653" cy="2420838"/>
          </a:xfrm>
          <a:prstGeom prst="roundRect">
            <a:avLst>
              <a:gd name="adj" fmla="val 315"/>
            </a:avLst>
          </a:prstGeom>
          <a:solidFill>
            <a:srgbClr val="F2EEEE"/>
          </a:solidFill>
          <a:ln w="6350">
            <a:solidFill>
              <a:srgbClr val="D8D4D4"/>
            </a:solidFill>
            <a:prstDash val="solid"/>
          </a:ln>
        </p:spPr>
      </p:sp>
      <p:sp>
        <p:nvSpPr>
          <p:cNvPr id="7" name="Shape 5"/>
          <p:cNvSpPr/>
          <p:nvPr/>
        </p:nvSpPr>
        <p:spPr>
          <a:xfrm>
            <a:off x="833119" y="2931319"/>
            <a:ext cx="496081" cy="496094"/>
          </a:xfrm>
          <a:prstGeom prst="ellipse">
            <a:avLst/>
          </a:prstGeom>
          <a:solidFill>
            <a:srgbClr val="DA1B2E"/>
          </a:solidFill>
          <a:ln/>
        </p:spPr>
      </p:sp>
      <p:pic>
        <p:nvPicPr>
          <p:cNvPr id="8"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69541" y="3067645"/>
            <a:ext cx="223237" cy="223242"/>
          </a:xfrm>
          <a:prstGeom prst="rect">
            <a:avLst/>
          </a:prstGeom>
        </p:spPr>
      </p:pic>
      <p:sp>
        <p:nvSpPr>
          <p:cNvPr id="9" name="Text 6"/>
          <p:cNvSpPr/>
          <p:nvPr/>
        </p:nvSpPr>
        <p:spPr>
          <a:xfrm>
            <a:off x="833119" y="3592711"/>
            <a:ext cx="3169364"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Modularidad</a:t>
            </a:r>
            <a:endParaRPr lang="en-US" sz="1600" dirty="0"/>
          </a:p>
        </p:txBody>
      </p:sp>
      <p:sp>
        <p:nvSpPr>
          <p:cNvPr id="10" name="Text 7"/>
          <p:cNvSpPr/>
          <p:nvPr/>
        </p:nvSpPr>
        <p:spPr>
          <a:xfrm>
            <a:off x="833119" y="3950395"/>
            <a:ext cx="3169364"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Agentes independientes facilitan el desarrollo, testing y mantenimiento. Se puede mejorar un agente sin tocar los demás.</a:t>
            </a:r>
            <a:endParaRPr lang="en-US" sz="1300" dirty="0"/>
          </a:p>
        </p:txBody>
      </p:sp>
      <p:sp>
        <p:nvSpPr>
          <p:cNvPr id="11" name="Shape 8"/>
          <p:cNvSpPr/>
          <p:nvPr/>
        </p:nvSpPr>
        <p:spPr>
          <a:xfrm>
            <a:off x="4339422" y="2759670"/>
            <a:ext cx="3512752" cy="2420838"/>
          </a:xfrm>
          <a:prstGeom prst="roundRect">
            <a:avLst>
              <a:gd name="adj" fmla="val 315"/>
            </a:avLst>
          </a:prstGeom>
          <a:solidFill>
            <a:srgbClr val="F2EEEE"/>
          </a:solidFill>
          <a:ln w="6350">
            <a:solidFill>
              <a:srgbClr val="D8D4D4"/>
            </a:solidFill>
            <a:prstDash val="solid"/>
          </a:ln>
        </p:spPr>
      </p:sp>
      <p:sp>
        <p:nvSpPr>
          <p:cNvPr id="12" name="Shape 9"/>
          <p:cNvSpPr/>
          <p:nvPr/>
        </p:nvSpPr>
        <p:spPr>
          <a:xfrm>
            <a:off x="4511066" y="2931319"/>
            <a:ext cx="496081" cy="496094"/>
          </a:xfrm>
          <a:prstGeom prst="ellipse">
            <a:avLst/>
          </a:prstGeom>
          <a:solidFill>
            <a:srgbClr val="DA1B2E"/>
          </a:solidFill>
          <a:ln/>
        </p:spPr>
      </p:sp>
      <p:pic>
        <p:nvPicPr>
          <p:cNvPr id="13"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47488" y="3067645"/>
            <a:ext cx="223237" cy="223242"/>
          </a:xfrm>
          <a:prstGeom prst="rect">
            <a:avLst/>
          </a:prstGeom>
        </p:spPr>
      </p:pic>
      <p:sp>
        <p:nvSpPr>
          <p:cNvPr id="14" name="Text 10"/>
          <p:cNvSpPr/>
          <p:nvPr/>
        </p:nvSpPr>
        <p:spPr>
          <a:xfrm>
            <a:off x="4511066" y="3592711"/>
            <a:ext cx="3169464"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Especialización</a:t>
            </a:r>
            <a:endParaRPr lang="en-US" sz="1600" dirty="0"/>
          </a:p>
        </p:txBody>
      </p:sp>
      <p:sp>
        <p:nvSpPr>
          <p:cNvPr id="15" name="Text 11"/>
          <p:cNvSpPr/>
          <p:nvPr/>
        </p:nvSpPr>
        <p:spPr>
          <a:xfrm>
            <a:off x="4511066" y="3950395"/>
            <a:ext cx="3169464"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Cada agente tiene su propio dominio de expertise, sus tools y su system prompt optimizado para una tarea concreta.</a:t>
            </a:r>
            <a:endParaRPr lang="en-US" sz="1300" dirty="0"/>
          </a:p>
        </p:txBody>
      </p:sp>
      <p:sp>
        <p:nvSpPr>
          <p:cNvPr id="16" name="Shape 12"/>
          <p:cNvSpPr/>
          <p:nvPr/>
        </p:nvSpPr>
        <p:spPr>
          <a:xfrm>
            <a:off x="8017468" y="2759670"/>
            <a:ext cx="3512653" cy="2420838"/>
          </a:xfrm>
          <a:prstGeom prst="roundRect">
            <a:avLst>
              <a:gd name="adj" fmla="val 315"/>
            </a:avLst>
          </a:prstGeom>
          <a:solidFill>
            <a:srgbClr val="F2EEEE"/>
          </a:solidFill>
          <a:ln w="6350">
            <a:solidFill>
              <a:srgbClr val="D8D4D4"/>
            </a:solidFill>
            <a:prstDash val="solid"/>
          </a:ln>
        </p:spPr>
      </p:sp>
      <p:sp>
        <p:nvSpPr>
          <p:cNvPr id="17" name="Shape 13"/>
          <p:cNvSpPr/>
          <p:nvPr/>
        </p:nvSpPr>
        <p:spPr>
          <a:xfrm>
            <a:off x="8189112" y="2931319"/>
            <a:ext cx="496081" cy="496094"/>
          </a:xfrm>
          <a:prstGeom prst="ellipse">
            <a:avLst/>
          </a:prstGeom>
          <a:solidFill>
            <a:srgbClr val="DA1B2E"/>
          </a:solidFill>
          <a:ln/>
        </p:spPr>
      </p:sp>
      <p:pic>
        <p:nvPicPr>
          <p:cNvPr id="18"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325535" y="3067645"/>
            <a:ext cx="223237" cy="223242"/>
          </a:xfrm>
          <a:prstGeom prst="rect">
            <a:avLst/>
          </a:prstGeom>
        </p:spPr>
      </p:pic>
      <p:sp>
        <p:nvSpPr>
          <p:cNvPr id="19" name="Text 14"/>
          <p:cNvSpPr/>
          <p:nvPr/>
        </p:nvSpPr>
        <p:spPr>
          <a:xfrm>
            <a:off x="8189112" y="3592711"/>
            <a:ext cx="3169364"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Control</a:t>
            </a:r>
            <a:endParaRPr lang="en-US" sz="1600" dirty="0"/>
          </a:p>
        </p:txBody>
      </p:sp>
      <p:sp>
        <p:nvSpPr>
          <p:cNvPr id="20" name="Text 15"/>
          <p:cNvSpPr/>
          <p:nvPr/>
        </p:nvSpPr>
        <p:spPr>
          <a:xfrm>
            <a:off x="8189112" y="3950395"/>
            <a:ext cx="3169364"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Se define explícitamente cómo se comunican los agentes y quién decide el flujo, en vez de depender de un único LLM para todo.</a:t>
            </a:r>
            <a:endParaRPr lang="en-US" sz="1300" dirty="0"/>
          </a:p>
        </p:txBody>
      </p:sp>
      <p:sp>
        <p:nvSpPr>
          <p:cNvPr id="21" name="Text 16"/>
          <p:cNvSpPr/>
          <p:nvPr/>
        </p:nvSpPr>
        <p:spPr>
          <a:xfrm>
            <a:off x="661475" y="5366544"/>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i="1" dirty="0">
                <a:solidFill>
                  <a:srgbClr val="3B3535"/>
                </a:solidFill>
                <a:latin typeface="Roboto" pitchFamily="34" charset="0"/>
                <a:ea typeface="Roboto" pitchFamily="34" charset="-122"/>
                <a:cs typeface="Roboto" pitchFamily="34" charset="-120"/>
              </a:rPr>
              <a:t>Ya vimos ejemplos multiagente: AlphaGo (competitivo), Taxi Autónomo (competitivo + colaborativo). En biomedicina, el patrón típico es colaborativo.</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Shape 0"/>
          <p:cNvSpPr/>
          <p:nvPr/>
        </p:nvSpPr>
        <p:spPr>
          <a:xfrm>
            <a:off x="661475" y="514449"/>
            <a:ext cx="1381884" cy="201116"/>
          </a:xfrm>
          <a:prstGeom prst="roundRect">
            <a:avLst>
              <a:gd name="adj" fmla="val 3789"/>
            </a:avLst>
          </a:prstGeom>
          <a:solidFill>
            <a:srgbClr val="F9D2D6"/>
          </a:solidFill>
          <a:ln/>
        </p:spPr>
      </p:sp>
      <p:sp>
        <p:nvSpPr>
          <p:cNvPr id="4" name="Text 1"/>
          <p:cNvSpPr/>
          <p:nvPr/>
        </p:nvSpPr>
        <p:spPr>
          <a:xfrm>
            <a:off x="740848" y="554137"/>
            <a:ext cx="1832723" cy="121741"/>
          </a:xfrm>
          <a:prstGeom prst="rect">
            <a:avLst/>
          </a:prstGeom>
          <a:noFill/>
          <a:ln/>
        </p:spPr>
        <p:txBody>
          <a:bodyPr wrap="none" lIns="0" tIns="0" rIns="0" bIns="0" rtlCol="0" anchor="t"/>
          <a:lstStyle/>
          <a:p>
            <a:pPr algn="l" indent="0" marL="0">
              <a:lnSpc>
                <a:spcPct val="96000"/>
              </a:lnSpc>
              <a:buNone/>
            </a:pPr>
            <a:r>
              <a:rPr lang="en-US" sz="800" dirty="0">
                <a:solidFill>
                  <a:srgbClr val="3B3535"/>
                </a:solidFill>
                <a:latin typeface="Roboto" pitchFamily="34" charset="0"/>
                <a:ea typeface="Roboto" pitchFamily="34" charset="-122"/>
                <a:cs typeface="Roboto" pitchFamily="34" charset="-120"/>
              </a:rPr>
              <a:t>SISTEMAS MULTIAGENTE</a:t>
            </a:r>
            <a:endParaRPr lang="en-US" sz="800" dirty="0"/>
          </a:p>
        </p:txBody>
      </p:sp>
      <p:sp>
        <p:nvSpPr>
          <p:cNvPr id="5" name="Text 2"/>
          <p:cNvSpPr/>
          <p:nvPr/>
        </p:nvSpPr>
        <p:spPr>
          <a:xfrm>
            <a:off x="661475" y="757833"/>
            <a:ext cx="6296860" cy="413445"/>
          </a:xfrm>
          <a:prstGeom prst="rect">
            <a:avLst/>
          </a:prstGeom>
          <a:noFill/>
          <a:ln/>
        </p:spPr>
        <p:txBody>
          <a:bodyPr wrap="none" lIns="0" tIns="0" rIns="0" bIns="0" rtlCol="0" anchor="t"/>
          <a:lstStyle/>
          <a:p>
            <a:pPr algn="l" indent="0" marL="0">
              <a:lnSpc>
                <a:spcPct val="104000"/>
              </a:lnSpc>
              <a:buNone/>
            </a:pPr>
            <a:r>
              <a:rPr lang="en-US" sz="2600" dirty="0">
                <a:solidFill>
                  <a:srgbClr val="1F1E1E"/>
                </a:solidFill>
                <a:latin typeface="Roboto Mono Medium" pitchFamily="34" charset="0"/>
                <a:ea typeface="Roboto Mono Medium" pitchFamily="34" charset="-122"/>
                <a:cs typeface="Roboto Mono Medium" pitchFamily="34" charset="-120"/>
              </a:rPr>
              <a:t>Arquitecturas </a:t>
            </a:r>
            <a:pPr algn="l" indent="0" marL="0">
              <a:lnSpc>
                <a:spcPct val="104000"/>
              </a:lnSpc>
              <a:buNone/>
            </a:pPr>
            <a:r>
              <a:rPr lang="en-US" sz="2600" dirty="0">
                <a:solidFill>
                  <a:srgbClr val="3B3535"/>
                </a:solidFill>
                <a:latin typeface="Roboto Mono Medium" pitchFamily="34" charset="0"/>
                <a:ea typeface="Roboto Mono Medium" pitchFamily="34" charset="-122"/>
                <a:cs typeface="Roboto Mono Medium" pitchFamily="34" charset="-120"/>
              </a:rPr>
              <a:t>Multiagente</a:t>
            </a:r>
            <a:endParaRPr lang="en-US" sz="2600" dirty="0"/>
          </a:p>
        </p:txBody>
      </p:sp>
      <p:sp>
        <p:nvSpPr>
          <p:cNvPr id="6" name="Text 3"/>
          <p:cNvSpPr/>
          <p:nvPr/>
        </p:nvSpPr>
        <p:spPr>
          <a:xfrm>
            <a:off x="661475" y="1330027"/>
            <a:ext cx="6296860" cy="3810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Hay varias formas de conectar agentes. La elección depende del nivel de control, complejidad y autonomía que necesite el sistema.</a:t>
            </a:r>
            <a:endParaRPr lang="en-US" sz="1000" dirty="0"/>
          </a:p>
        </p:txBody>
      </p:sp>
      <p:pic>
        <p:nvPicPr>
          <p:cNvPr id="7"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61475" y="1830090"/>
            <a:ext cx="6296860" cy="1144290"/>
          </a:xfrm>
          <a:prstGeom prst="rect">
            <a:avLst/>
          </a:prstGeom>
        </p:spPr>
      </p:pic>
      <p:pic>
        <p:nvPicPr>
          <p:cNvPr id="8"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42743" y="2302966"/>
            <a:ext cx="198433" cy="198438"/>
          </a:xfrm>
          <a:prstGeom prst="rect">
            <a:avLst/>
          </a:prstGeom>
        </p:spPr>
      </p:pic>
      <p:sp>
        <p:nvSpPr>
          <p:cNvPr id="9" name="Text 4"/>
          <p:cNvSpPr/>
          <p:nvPr/>
        </p:nvSpPr>
        <p:spPr>
          <a:xfrm>
            <a:off x="1315508" y="1981398"/>
            <a:ext cx="5491521" cy="206673"/>
          </a:xfrm>
          <a:prstGeom prst="rect">
            <a:avLst/>
          </a:prstGeom>
          <a:noFill/>
          <a:ln/>
        </p:spPr>
        <p:txBody>
          <a:bodyPr wrap="none" lIns="0" tIns="0" rIns="0" bIns="0" rtlCol="0" anchor="t"/>
          <a:lstStyle/>
          <a:p>
            <a:pPr algn="l" indent="0" marL="0">
              <a:lnSpc>
                <a:spcPct val="104000"/>
              </a:lnSpc>
              <a:buNone/>
            </a:pPr>
            <a:r>
              <a:rPr lang="en-US" sz="1300" dirty="0">
                <a:solidFill>
                  <a:srgbClr val="3B3535"/>
                </a:solidFill>
                <a:latin typeface="Roboto Mono Medium" pitchFamily="34" charset="0"/>
                <a:ea typeface="Roboto Mono Medium" pitchFamily="34" charset="-122"/>
                <a:cs typeface="Roboto Mono Medium" pitchFamily="34" charset="-120"/>
              </a:rPr>
              <a:t>Supervisor</a:t>
            </a:r>
            <a:endParaRPr lang="en-US" sz="1300" dirty="0"/>
          </a:p>
        </p:txBody>
      </p:sp>
      <p:sp>
        <p:nvSpPr>
          <p:cNvPr id="10" name="Text 5"/>
          <p:cNvSpPr/>
          <p:nvPr/>
        </p:nvSpPr>
        <p:spPr>
          <a:xfrm>
            <a:off x="1315508" y="2251571"/>
            <a:ext cx="5491521" cy="5715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Un agente central decide a qué agente especializado derivar cada consulta. Patrón más común y predecible. Ejemplo: un agente coordinador recibe la pregunta del médico y la deriva al agente clínico o al farmacológico según corresponda.</a:t>
            </a:r>
            <a:endParaRPr lang="en-US" sz="1000" dirty="0"/>
          </a:p>
        </p:txBody>
      </p:sp>
      <p:pic>
        <p:nvPicPr>
          <p:cNvPr id="11"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1475" y="3080147"/>
            <a:ext cx="6296860" cy="1144290"/>
          </a:xfrm>
          <a:prstGeom prst="rect">
            <a:avLst/>
          </a:prstGeom>
        </p:spPr>
      </p:pic>
      <p:pic>
        <p:nvPicPr>
          <p:cNvPr id="12" name="Image 4"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42743" y="3553023"/>
            <a:ext cx="198433" cy="198438"/>
          </a:xfrm>
          <a:prstGeom prst="rect">
            <a:avLst/>
          </a:prstGeom>
        </p:spPr>
      </p:pic>
      <p:sp>
        <p:nvSpPr>
          <p:cNvPr id="13" name="Text 6"/>
          <p:cNvSpPr/>
          <p:nvPr/>
        </p:nvSpPr>
        <p:spPr>
          <a:xfrm>
            <a:off x="1315508" y="3231455"/>
            <a:ext cx="5491521" cy="206673"/>
          </a:xfrm>
          <a:prstGeom prst="rect">
            <a:avLst/>
          </a:prstGeom>
          <a:noFill/>
          <a:ln/>
        </p:spPr>
        <p:txBody>
          <a:bodyPr wrap="none" lIns="0" tIns="0" rIns="0" bIns="0" rtlCol="0" anchor="t"/>
          <a:lstStyle/>
          <a:p>
            <a:pPr algn="l" indent="0" marL="0">
              <a:lnSpc>
                <a:spcPct val="104000"/>
              </a:lnSpc>
              <a:buNone/>
            </a:pPr>
            <a:r>
              <a:rPr lang="en-US" sz="1300" dirty="0">
                <a:solidFill>
                  <a:srgbClr val="3B3535"/>
                </a:solidFill>
                <a:latin typeface="Roboto Mono Medium" pitchFamily="34" charset="0"/>
                <a:ea typeface="Roboto Mono Medium" pitchFamily="34" charset="-122"/>
                <a:cs typeface="Roboto Mono Medium" pitchFamily="34" charset="-120"/>
              </a:rPr>
              <a:t>Supervisor (tool-calling)</a:t>
            </a:r>
            <a:endParaRPr lang="en-US" sz="1300" dirty="0"/>
          </a:p>
        </p:txBody>
      </p:sp>
      <p:sp>
        <p:nvSpPr>
          <p:cNvPr id="14" name="Text 7"/>
          <p:cNvSpPr/>
          <p:nvPr/>
        </p:nvSpPr>
        <p:spPr>
          <a:xfrm>
            <a:off x="1315508" y="3501628"/>
            <a:ext cx="5491521" cy="5715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Los agentes especializados se exponen como tools del supervisor. El LLM supervisor usa function calling para invocarlos. Ejemplo: es lo que los alumnos van a implementar en la Parte 3 del proyecto.</a:t>
            </a:r>
            <a:endParaRPr lang="en-US" sz="1000" dirty="0"/>
          </a:p>
        </p:txBody>
      </p:sp>
      <p:pic>
        <p:nvPicPr>
          <p:cNvPr id="15" name="Image 5" descr="preencoded.png">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61475" y="4330204"/>
            <a:ext cx="6296860" cy="953790"/>
          </a:xfrm>
          <a:prstGeom prst="rect">
            <a:avLst/>
          </a:prstGeom>
        </p:spPr>
      </p:pic>
      <p:pic>
        <p:nvPicPr>
          <p:cNvPr id="16" name="Image 6" descr="preencoded.png">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842743" y="4707830"/>
            <a:ext cx="198433" cy="198438"/>
          </a:xfrm>
          <a:prstGeom prst="rect">
            <a:avLst/>
          </a:prstGeom>
        </p:spPr>
      </p:pic>
      <p:sp>
        <p:nvSpPr>
          <p:cNvPr id="17" name="Text 8"/>
          <p:cNvSpPr/>
          <p:nvPr/>
        </p:nvSpPr>
        <p:spPr>
          <a:xfrm>
            <a:off x="1315508" y="4481513"/>
            <a:ext cx="5491521" cy="206673"/>
          </a:xfrm>
          <a:prstGeom prst="rect">
            <a:avLst/>
          </a:prstGeom>
          <a:noFill/>
          <a:ln/>
        </p:spPr>
        <p:txBody>
          <a:bodyPr wrap="none" lIns="0" tIns="0" rIns="0" bIns="0" rtlCol="0" anchor="t"/>
          <a:lstStyle/>
          <a:p>
            <a:pPr algn="l" indent="0" marL="0">
              <a:lnSpc>
                <a:spcPct val="104000"/>
              </a:lnSpc>
              <a:buNone/>
            </a:pPr>
            <a:r>
              <a:rPr lang="en-US" sz="1300" dirty="0">
                <a:solidFill>
                  <a:srgbClr val="3B3535"/>
                </a:solidFill>
                <a:latin typeface="Roboto Mono Medium" pitchFamily="34" charset="0"/>
                <a:ea typeface="Roboto Mono Medium" pitchFamily="34" charset="-122"/>
                <a:cs typeface="Roboto Mono Medium" pitchFamily="34" charset="-120"/>
              </a:rPr>
              <a:t>Network</a:t>
            </a:r>
            <a:endParaRPr lang="en-US" sz="1300" dirty="0"/>
          </a:p>
        </p:txBody>
      </p:sp>
      <p:sp>
        <p:nvSpPr>
          <p:cNvPr id="18" name="Text 9"/>
          <p:cNvSpPr/>
          <p:nvPr/>
        </p:nvSpPr>
        <p:spPr>
          <a:xfrm>
            <a:off x="1315508" y="4751685"/>
            <a:ext cx="5491521" cy="3810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Todos los agentes se comunican entre sí. Más flexible pero menos predecible. Ejemplo: agente clínico y farmacológico dialogan directamente para resolver una interacción.</a:t>
            </a:r>
            <a:endParaRPr lang="en-US" sz="1000" dirty="0"/>
          </a:p>
        </p:txBody>
      </p:sp>
      <p:pic>
        <p:nvPicPr>
          <p:cNvPr id="19" name="Image 7" descr="preencoded.png">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661475" y="5389761"/>
            <a:ext cx="6296860" cy="953790"/>
          </a:xfrm>
          <a:prstGeom prst="rect">
            <a:avLst/>
          </a:prstGeom>
        </p:spPr>
      </p:pic>
      <p:pic>
        <p:nvPicPr>
          <p:cNvPr id="20" name="Image 8" descr="preencoded.png">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842743" y="5767388"/>
            <a:ext cx="198433" cy="198438"/>
          </a:xfrm>
          <a:prstGeom prst="rect">
            <a:avLst/>
          </a:prstGeom>
        </p:spPr>
      </p:pic>
      <p:sp>
        <p:nvSpPr>
          <p:cNvPr id="21" name="Text 10"/>
          <p:cNvSpPr/>
          <p:nvPr/>
        </p:nvSpPr>
        <p:spPr>
          <a:xfrm>
            <a:off x="1315508" y="5541070"/>
            <a:ext cx="5491521" cy="206673"/>
          </a:xfrm>
          <a:prstGeom prst="rect">
            <a:avLst/>
          </a:prstGeom>
          <a:noFill/>
          <a:ln/>
        </p:spPr>
        <p:txBody>
          <a:bodyPr wrap="none" lIns="0" tIns="0" rIns="0" bIns="0" rtlCol="0" anchor="t"/>
          <a:lstStyle/>
          <a:p>
            <a:pPr algn="l" indent="0" marL="0">
              <a:lnSpc>
                <a:spcPct val="104000"/>
              </a:lnSpc>
              <a:buNone/>
            </a:pPr>
            <a:r>
              <a:rPr lang="en-US" sz="1300" dirty="0">
                <a:solidFill>
                  <a:srgbClr val="3B3535"/>
                </a:solidFill>
                <a:latin typeface="Roboto Mono Medium" pitchFamily="34" charset="0"/>
                <a:ea typeface="Roboto Mono Medium" pitchFamily="34" charset="-122"/>
                <a:cs typeface="Roboto Mono Medium" pitchFamily="34" charset="-120"/>
              </a:rPr>
              <a:t>Hierarchical</a:t>
            </a:r>
            <a:endParaRPr lang="en-US" sz="1300" dirty="0"/>
          </a:p>
        </p:txBody>
      </p:sp>
      <p:sp>
        <p:nvSpPr>
          <p:cNvPr id="22" name="Text 11"/>
          <p:cNvSpPr/>
          <p:nvPr/>
        </p:nvSpPr>
        <p:spPr>
          <a:xfrm>
            <a:off x="1315508" y="5811242"/>
            <a:ext cx="5491521" cy="381000"/>
          </a:xfrm>
          <a:prstGeom prst="rect">
            <a:avLst/>
          </a:prstGeom>
          <a:noFill/>
          <a:ln/>
        </p:spPr>
        <p:txBody>
          <a:bodyPr wrap="square" lIns="0" tIns="0" rIns="0" bIns="0" rtlCol="0" anchor="t">
            <a:normAutofit/>
          </a:bodyPr>
          <a:lstStyle/>
          <a:p>
            <a:pPr algn="l" indent="0" marL="0">
              <a:lnSpc>
                <a:spcPct val="120000"/>
              </a:lnSpc>
              <a:buNone/>
            </a:pPr>
            <a:r>
              <a:rPr lang="en-US" sz="1000" dirty="0">
                <a:solidFill>
                  <a:srgbClr val="3B3535"/>
                </a:solidFill>
                <a:latin typeface="Roboto" pitchFamily="34" charset="0"/>
                <a:ea typeface="Roboto" pitchFamily="34" charset="-122"/>
                <a:cs typeface="Roboto" pitchFamily="34" charset="-120"/>
              </a:rPr>
              <a:t>Supervisor de supervisores. Para sistemas muy complejos. Ejemplo: hospital con departamentos, cada uno con su coordinador interno.</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661475" y="1064419"/>
            <a:ext cx="1727951" cy="251420"/>
          </a:xfrm>
          <a:prstGeom prst="roundRect">
            <a:avLst>
              <a:gd name="adj" fmla="val 3031"/>
            </a:avLst>
          </a:prstGeom>
          <a:solidFill>
            <a:srgbClr val="F9D2D6"/>
          </a:solidFill>
          <a:ln/>
        </p:spPr>
      </p:sp>
      <p:sp>
        <p:nvSpPr>
          <p:cNvPr id="3" name="Text 1"/>
          <p:cNvSpPr/>
          <p:nvPr/>
        </p:nvSpPr>
        <p:spPr>
          <a:xfrm>
            <a:off x="760691" y="1114028"/>
            <a:ext cx="2139103"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SISTEMAS MULTIAGENTE</a:t>
            </a:r>
            <a:endParaRPr lang="en-US" sz="1000" dirty="0"/>
          </a:p>
        </p:txBody>
      </p:sp>
      <p:sp>
        <p:nvSpPr>
          <p:cNvPr id="4" name="Text 2"/>
          <p:cNvSpPr/>
          <p:nvPr/>
        </p:nvSpPr>
        <p:spPr>
          <a:xfrm>
            <a:off x="661475" y="1381919"/>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Workflows vs Agentes — El espectro</a:t>
            </a:r>
            <a:endParaRPr lang="en-US" sz="3250" dirty="0"/>
          </a:p>
        </p:txBody>
      </p:sp>
      <p:sp>
        <p:nvSpPr>
          <p:cNvPr id="5" name="Text 3"/>
          <p:cNvSpPr/>
          <p:nvPr/>
        </p:nvSpPr>
        <p:spPr>
          <a:xfrm>
            <a:off x="661475" y="2146697"/>
            <a:ext cx="11478330" cy="264616"/>
          </a:xfrm>
          <a:prstGeom prst="rect">
            <a:avLst/>
          </a:prstGeom>
          <a:noFill/>
          <a:ln/>
        </p:spPr>
        <p:txBody>
          <a:bodyPr wrap="none" lIns="0" tIns="0" rIns="0" bIns="0" rtlCol="0" anchor="t"/>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No todo sistema con múltiples LLMs es un 'agente'. Existe un espectro entre flujos deterministas y agentes autónomos.</a:t>
            </a:r>
            <a:endParaRPr lang="en-US" sz="1300" dirty="0"/>
          </a:p>
        </p:txBody>
      </p:sp>
      <p:sp>
        <p:nvSpPr>
          <p:cNvPr id="6" name="Shape 4"/>
          <p:cNvSpPr/>
          <p:nvPr/>
        </p:nvSpPr>
        <p:spPr>
          <a:xfrm>
            <a:off x="661475" y="2597348"/>
            <a:ext cx="3512653" cy="2745581"/>
          </a:xfrm>
          <a:prstGeom prst="roundRect">
            <a:avLst>
              <a:gd name="adj" fmla="val 278"/>
            </a:avLst>
          </a:prstGeom>
          <a:solidFill>
            <a:srgbClr val="F2EEEE"/>
          </a:solidFill>
          <a:ln w="6350">
            <a:solidFill>
              <a:srgbClr val="D8D4D4"/>
            </a:solidFill>
            <a:prstDash val="solid"/>
          </a:ln>
        </p:spPr>
      </p:sp>
      <p:sp>
        <p:nvSpPr>
          <p:cNvPr id="7" name="Text 5"/>
          <p:cNvSpPr/>
          <p:nvPr/>
        </p:nvSpPr>
        <p:spPr>
          <a:xfrm>
            <a:off x="833119" y="2768997"/>
            <a:ext cx="3169364"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Workflows (deterministas)</a:t>
            </a:r>
            <a:endParaRPr lang="en-US" sz="1600" dirty="0"/>
          </a:p>
        </p:txBody>
      </p:sp>
      <p:sp>
        <p:nvSpPr>
          <p:cNvPr id="8" name="Text 6"/>
          <p:cNvSpPr/>
          <p:nvPr/>
        </p:nvSpPr>
        <p:spPr>
          <a:xfrm>
            <a:off x="833119" y="3126680"/>
            <a:ext cx="3169364" cy="1786136"/>
          </a:xfrm>
          <a:prstGeom prst="rect">
            <a:avLst/>
          </a:prstGeom>
          <a:noFill/>
          <a:ln/>
        </p:spPr>
        <p:txBody>
          <a:bodyPr wrap="square" lIns="0" tIns="0" rIns="0" bIns="0" rtlCol="0" anchor="t">
            <a:normAutofit/>
          </a:bodyPr>
          <a:lstStyle/>
          <a:p>
            <a:pPr algn="l" indent="0" marL="0">
              <a:lnSpc>
                <a:spcPct val="133000"/>
              </a:lnSpc>
              <a:spcAft>
                <a:spcPts val="750"/>
              </a:spcAft>
              <a:buNone/>
            </a:pPr>
            <a:r>
              <a:rPr lang="en-US" sz="1300" dirty="0">
                <a:solidFill>
                  <a:srgbClr val="3B3535"/>
                </a:solidFill>
                <a:latin typeface="Roboto" pitchFamily="34" charset="0"/>
                <a:ea typeface="Roboto" pitchFamily="34" charset="-122"/>
                <a:cs typeface="Roboto" pitchFamily="34" charset="-120"/>
              </a:rPr>
              <a:t>Rutas de código predefinidas. El LLM se embebe en pasos fijos.</a:t>
            </a:r>
            <a:endParaRPr lang="en-US" sz="1300" dirty="0"/>
          </a:p>
          <a:p>
            <a:pPr algn="l" indent="0" marL="0">
              <a:lnSpc>
                <a:spcPct val="133000"/>
              </a:lnSpc>
              <a:spcAft>
                <a:spcPts val="750"/>
              </a:spcAft>
              <a:buNone/>
            </a:pPr>
            <a:r>
              <a:rPr lang="en-US" sz="1300" dirty="0">
                <a:solidFill>
                  <a:srgbClr val="3B3535"/>
                </a:solidFill>
                <a:latin typeface="Roboto" pitchFamily="34" charset="0"/>
                <a:ea typeface="Roboto" pitchFamily="34" charset="-122"/>
                <a:cs typeface="Roboto" pitchFamily="34" charset="-120"/>
              </a:rPr>
              <a:t>Patrones: prompt chaining, paralelización.</a:t>
            </a:r>
            <a:endParaRPr lang="en-US" sz="1300" dirty="0"/>
          </a:p>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Ejemplo: Pipeline que siempre ejecuta análisis clínico → verificación farmacológica → informe.</a:t>
            </a:r>
            <a:endParaRPr lang="en-US" sz="1300" dirty="0"/>
          </a:p>
        </p:txBody>
      </p:sp>
      <p:sp>
        <p:nvSpPr>
          <p:cNvPr id="9" name="Shape 7"/>
          <p:cNvSpPr/>
          <p:nvPr/>
        </p:nvSpPr>
        <p:spPr>
          <a:xfrm>
            <a:off x="4339422" y="2597348"/>
            <a:ext cx="3512752" cy="2745581"/>
          </a:xfrm>
          <a:prstGeom prst="roundRect">
            <a:avLst>
              <a:gd name="adj" fmla="val 278"/>
            </a:avLst>
          </a:prstGeom>
          <a:solidFill>
            <a:srgbClr val="F2EEEE"/>
          </a:solidFill>
          <a:ln w="6350">
            <a:solidFill>
              <a:srgbClr val="D8D4D4"/>
            </a:solidFill>
            <a:prstDash val="solid"/>
          </a:ln>
        </p:spPr>
      </p:sp>
      <p:sp>
        <p:nvSpPr>
          <p:cNvPr id="10" name="Text 8"/>
          <p:cNvSpPr/>
          <p:nvPr/>
        </p:nvSpPr>
        <p:spPr>
          <a:xfrm>
            <a:off x="4511066" y="2768997"/>
            <a:ext cx="3169464" cy="516930"/>
          </a:xfrm>
          <a:prstGeom prst="rect">
            <a:avLst/>
          </a:prstGeom>
          <a:noFill/>
          <a:ln/>
        </p:spPr>
        <p:txBody>
          <a:bodyPr wrap="square" lIns="0" tIns="0" rIns="0" bIns="0" rtlCol="0" anchor="t">
            <a:normAutofit/>
          </a:bodyPr>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Workflows (dirigidos por LLM)</a:t>
            </a:r>
            <a:endParaRPr lang="en-US" sz="1600" dirty="0"/>
          </a:p>
        </p:txBody>
      </p:sp>
      <p:sp>
        <p:nvSpPr>
          <p:cNvPr id="11" name="Text 9"/>
          <p:cNvSpPr/>
          <p:nvPr/>
        </p:nvSpPr>
        <p:spPr>
          <a:xfrm>
            <a:off x="4511066" y="3385145"/>
            <a:ext cx="3169464" cy="1786136"/>
          </a:xfrm>
          <a:prstGeom prst="rect">
            <a:avLst/>
          </a:prstGeom>
          <a:noFill/>
          <a:ln/>
        </p:spPr>
        <p:txBody>
          <a:bodyPr wrap="square" lIns="0" tIns="0" rIns="0" bIns="0" rtlCol="0" anchor="t">
            <a:normAutofit/>
          </a:bodyPr>
          <a:lstStyle/>
          <a:p>
            <a:pPr algn="l" indent="0" marL="0">
              <a:lnSpc>
                <a:spcPct val="133000"/>
              </a:lnSpc>
              <a:spcAft>
                <a:spcPts val="750"/>
              </a:spcAft>
              <a:buNone/>
            </a:pPr>
            <a:r>
              <a:rPr lang="en-US" sz="1300" dirty="0">
                <a:solidFill>
                  <a:srgbClr val="3B3535"/>
                </a:solidFill>
                <a:latin typeface="Roboto" pitchFamily="34" charset="0"/>
                <a:ea typeface="Roboto" pitchFamily="34" charset="-122"/>
                <a:cs typeface="Roboto" pitchFamily="34" charset="-120"/>
              </a:rPr>
              <a:t>El LLM dirige el flujo entre rutas predefinidas.</a:t>
            </a:r>
            <a:endParaRPr lang="en-US" sz="1300" dirty="0"/>
          </a:p>
          <a:p>
            <a:pPr algn="l" indent="0" marL="0">
              <a:lnSpc>
                <a:spcPct val="133000"/>
              </a:lnSpc>
              <a:spcAft>
                <a:spcPts val="750"/>
              </a:spcAft>
              <a:buNone/>
            </a:pPr>
            <a:r>
              <a:rPr lang="en-US" sz="1300" dirty="0">
                <a:solidFill>
                  <a:srgbClr val="3B3535"/>
                </a:solidFill>
                <a:latin typeface="Roboto" pitchFamily="34" charset="0"/>
                <a:ea typeface="Roboto" pitchFamily="34" charset="-122"/>
                <a:cs typeface="Roboto" pitchFamily="34" charset="-120"/>
              </a:rPr>
              <a:t>Patrones: routing, orchestrator-worker, evaluator-optimizer.</a:t>
            </a:r>
            <a:endParaRPr lang="en-US" sz="1300" dirty="0"/>
          </a:p>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Ejemplo: Un router decide si la pregunta va al agente clínico o al farmacológico.</a:t>
            </a:r>
            <a:endParaRPr lang="en-US" sz="1300" dirty="0"/>
          </a:p>
        </p:txBody>
      </p:sp>
      <p:sp>
        <p:nvSpPr>
          <p:cNvPr id="12" name="Shape 10"/>
          <p:cNvSpPr/>
          <p:nvPr/>
        </p:nvSpPr>
        <p:spPr>
          <a:xfrm>
            <a:off x="8017468" y="2597348"/>
            <a:ext cx="3512653" cy="2745581"/>
          </a:xfrm>
          <a:prstGeom prst="roundRect">
            <a:avLst>
              <a:gd name="adj" fmla="val 278"/>
            </a:avLst>
          </a:prstGeom>
          <a:solidFill>
            <a:srgbClr val="F2EEEE"/>
          </a:solidFill>
          <a:ln w="6350">
            <a:solidFill>
              <a:srgbClr val="D8D4D4"/>
            </a:solidFill>
            <a:prstDash val="solid"/>
          </a:ln>
        </p:spPr>
      </p:sp>
      <p:sp>
        <p:nvSpPr>
          <p:cNvPr id="13" name="Text 11"/>
          <p:cNvSpPr/>
          <p:nvPr/>
        </p:nvSpPr>
        <p:spPr>
          <a:xfrm>
            <a:off x="8189112" y="2768997"/>
            <a:ext cx="3169364"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Agentes (autónomos)</a:t>
            </a:r>
            <a:endParaRPr lang="en-US" sz="1600" dirty="0"/>
          </a:p>
        </p:txBody>
      </p:sp>
      <p:sp>
        <p:nvSpPr>
          <p:cNvPr id="14" name="Text 12"/>
          <p:cNvSpPr/>
          <p:nvPr/>
        </p:nvSpPr>
        <p:spPr>
          <a:xfrm>
            <a:off x="8189112" y="3126680"/>
            <a:ext cx="3169364" cy="1786136"/>
          </a:xfrm>
          <a:prstGeom prst="rect">
            <a:avLst/>
          </a:prstGeom>
          <a:noFill/>
          <a:ln/>
        </p:spPr>
        <p:txBody>
          <a:bodyPr wrap="square" lIns="0" tIns="0" rIns="0" bIns="0" rtlCol="0" anchor="t">
            <a:normAutofit/>
          </a:bodyPr>
          <a:lstStyle/>
          <a:p>
            <a:pPr algn="l" indent="0" marL="0">
              <a:lnSpc>
                <a:spcPct val="133000"/>
              </a:lnSpc>
              <a:spcAft>
                <a:spcPts val="750"/>
              </a:spcAft>
              <a:buNone/>
            </a:pPr>
            <a:r>
              <a:rPr lang="en-US" sz="1300" dirty="0">
                <a:solidFill>
                  <a:srgbClr val="3B3535"/>
                </a:solidFill>
                <a:latin typeface="Roboto" pitchFamily="34" charset="0"/>
                <a:ea typeface="Roboto" pitchFamily="34" charset="-122"/>
                <a:cs typeface="Roboto" pitchFamily="34" charset="-120"/>
              </a:rPr>
              <a:t>El LLM decide sus propias acciones basado en feedback del ambiente.</a:t>
            </a:r>
            <a:endParaRPr lang="en-US" sz="1300" dirty="0"/>
          </a:p>
          <a:p>
            <a:pPr algn="l" indent="0" marL="0">
              <a:lnSpc>
                <a:spcPct val="133000"/>
              </a:lnSpc>
              <a:spcAft>
                <a:spcPts val="750"/>
              </a:spcAft>
              <a:buNone/>
            </a:pPr>
            <a:r>
              <a:rPr lang="en-US" sz="1300" dirty="0">
                <a:solidFill>
                  <a:srgbClr val="3B3535"/>
                </a:solidFill>
                <a:latin typeface="Roboto" pitchFamily="34" charset="0"/>
                <a:ea typeface="Roboto" pitchFamily="34" charset="-122"/>
                <a:cs typeface="Roboto" pitchFamily="34" charset="-120"/>
              </a:rPr>
              <a:t>Patrón: ReAct con tool-calling.</a:t>
            </a:r>
            <a:endParaRPr lang="en-US" sz="1300" dirty="0"/>
          </a:p>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Ejemplo: El agente decide qué tools usar, en qué orden, y cuándo tiene suficiente información para responder.</a:t>
            </a:r>
            <a:endParaRPr lang="en-US" sz="1300" dirty="0"/>
          </a:p>
        </p:txBody>
      </p:sp>
      <p:sp>
        <p:nvSpPr>
          <p:cNvPr id="15" name="Text 13"/>
          <p:cNvSpPr/>
          <p:nvPr/>
        </p:nvSpPr>
        <p:spPr>
          <a:xfrm>
            <a:off x="661475" y="5528965"/>
            <a:ext cx="11478330" cy="264616"/>
          </a:xfrm>
          <a:prstGeom prst="rect">
            <a:avLst/>
          </a:prstGeom>
          <a:noFill/>
          <a:ln/>
        </p:spPr>
        <p:txBody>
          <a:bodyPr wrap="none" lIns="0" tIns="0" rIns="0" bIns="0" rtlCol="0" anchor="t"/>
          <a:lstStyle/>
          <a:p>
            <a:pPr algn="l" indent="0" marL="0">
              <a:lnSpc>
                <a:spcPct val="133000"/>
              </a:lnSpc>
              <a:buNone/>
            </a:pPr>
            <a:r>
              <a:rPr lang="en-US" sz="1300" i="1" dirty="0">
                <a:solidFill>
                  <a:srgbClr val="3B3535"/>
                </a:solidFill>
                <a:latin typeface="Roboto" pitchFamily="34" charset="0"/>
                <a:ea typeface="Roboto" pitchFamily="34" charset="-122"/>
                <a:cs typeface="Roboto" pitchFamily="34" charset="-120"/>
              </a:rPr>
              <a:t>La magia está en mezclarlos. Un sistema real puede tener routing determinista entre agentes que internamente son autónomos.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661475" y="590054"/>
            <a:ext cx="607997" cy="213717"/>
          </a:xfrm>
          <a:prstGeom prst="roundRect">
            <a:avLst>
              <a:gd name="adj" fmla="val 3565"/>
            </a:avLst>
          </a:prstGeom>
          <a:solidFill>
            <a:srgbClr val="F9D2D6"/>
          </a:solidFill>
          <a:ln/>
        </p:spPr>
      </p:sp>
      <p:sp>
        <p:nvSpPr>
          <p:cNvPr id="3" name="Text 1"/>
          <p:cNvSpPr/>
          <p:nvPr/>
        </p:nvSpPr>
        <p:spPr>
          <a:xfrm>
            <a:off x="745809" y="632222"/>
            <a:ext cx="1048914" cy="129381"/>
          </a:xfrm>
          <a:prstGeom prst="rect">
            <a:avLst/>
          </a:prstGeom>
          <a:noFill/>
          <a:ln/>
        </p:spPr>
        <p:txBody>
          <a:bodyPr wrap="none" lIns="0" tIns="0" rIns="0" bIns="0" rtlCol="0" anchor="t"/>
          <a:lstStyle/>
          <a:p>
            <a:pPr algn="l" indent="0" marL="0">
              <a:lnSpc>
                <a:spcPct val="96000"/>
              </a:lnSpc>
              <a:buNone/>
            </a:pPr>
            <a:r>
              <a:rPr lang="en-US" sz="850" dirty="0">
                <a:solidFill>
                  <a:srgbClr val="3B3535"/>
                </a:solidFill>
                <a:latin typeface="Roboto" pitchFamily="34" charset="0"/>
                <a:ea typeface="Roboto" pitchFamily="34" charset="-122"/>
                <a:cs typeface="Roboto" pitchFamily="34" charset="-120"/>
              </a:rPr>
              <a:t>AGENDA</a:t>
            </a:r>
            <a:endParaRPr lang="en-US" sz="850" dirty="0"/>
          </a:p>
        </p:txBody>
      </p:sp>
      <p:sp>
        <p:nvSpPr>
          <p:cNvPr id="4" name="Text 2"/>
          <p:cNvSpPr/>
          <p:nvPr/>
        </p:nvSpPr>
        <p:spPr>
          <a:xfrm>
            <a:off x="661475" y="851495"/>
            <a:ext cx="10868745" cy="439241"/>
          </a:xfrm>
          <a:prstGeom prst="rect">
            <a:avLst/>
          </a:prstGeom>
          <a:noFill/>
          <a:ln/>
        </p:spPr>
        <p:txBody>
          <a:bodyPr wrap="none" lIns="0" tIns="0" rIns="0" bIns="0" rtlCol="0" anchor="t"/>
          <a:lstStyle/>
          <a:p>
            <a:pPr algn="l" indent="0" marL="0">
              <a:lnSpc>
                <a:spcPct val="104000"/>
              </a:lnSpc>
              <a:buNone/>
            </a:pPr>
            <a:r>
              <a:rPr lang="en-US" sz="2750" dirty="0">
                <a:solidFill>
                  <a:srgbClr val="1F1E1E"/>
                </a:solidFill>
                <a:latin typeface="Roboto Mono Medium" pitchFamily="34" charset="0"/>
                <a:ea typeface="Roboto Mono Medium" pitchFamily="34" charset="-122"/>
                <a:cs typeface="Roboto Mono Medium" pitchFamily="34" charset="-120"/>
              </a:rPr>
              <a:t>Agenda</a:t>
            </a:r>
            <a:endParaRPr lang="en-US" sz="2750" dirty="0"/>
          </a:p>
        </p:txBody>
      </p:sp>
      <p:sp>
        <p:nvSpPr>
          <p:cNvPr id="5" name="Shape 3"/>
          <p:cNvSpPr/>
          <p:nvPr/>
        </p:nvSpPr>
        <p:spPr>
          <a:xfrm>
            <a:off x="6086323" y="1469926"/>
            <a:ext cx="19050" cy="4797921"/>
          </a:xfrm>
          <a:prstGeom prst="roundRect">
            <a:avLst>
              <a:gd name="adj" fmla="val 39999"/>
            </a:avLst>
          </a:prstGeom>
          <a:solidFill>
            <a:srgbClr val="D8D4D4"/>
          </a:solidFill>
          <a:ln/>
        </p:spPr>
      </p:sp>
      <p:sp>
        <p:nvSpPr>
          <p:cNvPr id="6" name="Shape 4"/>
          <p:cNvSpPr/>
          <p:nvPr/>
        </p:nvSpPr>
        <p:spPr>
          <a:xfrm>
            <a:off x="5535077" y="1618555"/>
            <a:ext cx="421669" cy="19050"/>
          </a:xfrm>
          <a:prstGeom prst="roundRect">
            <a:avLst>
              <a:gd name="adj" fmla="val 39999"/>
            </a:avLst>
          </a:prstGeom>
          <a:solidFill>
            <a:srgbClr val="D8D4D4"/>
          </a:solidFill>
          <a:ln/>
        </p:spPr>
      </p:sp>
      <p:sp>
        <p:nvSpPr>
          <p:cNvPr id="7" name="Shape 5"/>
          <p:cNvSpPr/>
          <p:nvPr/>
        </p:nvSpPr>
        <p:spPr>
          <a:xfrm>
            <a:off x="5937697" y="1469926"/>
            <a:ext cx="316301" cy="316309"/>
          </a:xfrm>
          <a:prstGeom prst="roundRect">
            <a:avLst>
              <a:gd name="adj" fmla="val 2409"/>
            </a:avLst>
          </a:prstGeom>
          <a:solidFill>
            <a:srgbClr val="F2EEEE"/>
          </a:solidFill>
          <a:ln w="6350">
            <a:solidFill>
              <a:srgbClr val="D8D4D4"/>
            </a:solidFill>
            <a:prstDash val="solid"/>
          </a:ln>
        </p:spPr>
      </p:sp>
      <p:sp>
        <p:nvSpPr>
          <p:cNvPr id="8" name="Text 6"/>
          <p:cNvSpPr/>
          <p:nvPr/>
        </p:nvSpPr>
        <p:spPr>
          <a:xfrm>
            <a:off x="5990430" y="1496318"/>
            <a:ext cx="210835" cy="263525"/>
          </a:xfrm>
          <a:prstGeom prst="rect">
            <a:avLst/>
          </a:prstGeom>
          <a:noFill/>
          <a:ln/>
        </p:spPr>
        <p:txBody>
          <a:bodyPr wrap="none" lIns="0" tIns="0" rIns="0" bIns="0" rtlCol="0" anchor="ctr"/>
          <a:lstStyle/>
          <a:p>
            <a:pPr algn="ctr" indent="0" marL="0">
              <a:lnSpc>
                <a:spcPct val="100000"/>
              </a:lnSpc>
              <a:buNone/>
            </a:pPr>
            <a:r>
              <a:rPr lang="en-US" sz="1650" dirty="0">
                <a:solidFill>
                  <a:srgbClr val="3B3535"/>
                </a:solidFill>
                <a:latin typeface="Roboto Mono Medium" pitchFamily="34" charset="0"/>
                <a:ea typeface="Roboto Mono Medium" pitchFamily="34" charset="-122"/>
                <a:cs typeface="Roboto Mono Medium" pitchFamily="34" charset="-120"/>
              </a:rPr>
              <a:t>1</a:t>
            </a:r>
            <a:endParaRPr lang="en-US" sz="1650" dirty="0"/>
          </a:p>
        </p:txBody>
      </p:sp>
      <p:sp>
        <p:nvSpPr>
          <p:cNvPr id="9" name="Text 7"/>
          <p:cNvSpPr/>
          <p:nvPr/>
        </p:nvSpPr>
        <p:spPr>
          <a:xfrm>
            <a:off x="661475" y="1518245"/>
            <a:ext cx="4731525" cy="219571"/>
          </a:xfrm>
          <a:prstGeom prst="rect">
            <a:avLst/>
          </a:prstGeom>
          <a:noFill/>
          <a:ln/>
        </p:spPr>
        <p:txBody>
          <a:bodyPr wrap="none" lIns="0" tIns="0" rIns="0" bIns="0" rtlCol="0" anchor="t"/>
          <a:lstStyle/>
          <a:p>
            <a:pPr algn="r" indent="0" marL="0">
              <a:lnSpc>
                <a:spcPct val="104000"/>
              </a:lnSpc>
              <a:buNone/>
            </a:pPr>
            <a:r>
              <a:rPr lang="en-US" sz="1350" dirty="0">
                <a:solidFill>
                  <a:srgbClr val="3B3535"/>
                </a:solidFill>
                <a:latin typeface="Roboto Mono Medium" pitchFamily="34" charset="0"/>
                <a:ea typeface="Roboto Mono Medium" pitchFamily="34" charset="-122"/>
                <a:cs typeface="Roboto Mono Medium" pitchFamily="34" charset="-120"/>
              </a:rPr>
              <a:t>¿Qué es un Agente?</a:t>
            </a:r>
            <a:endParaRPr lang="en-US" sz="1350" dirty="0"/>
          </a:p>
        </p:txBody>
      </p:sp>
      <p:sp>
        <p:nvSpPr>
          <p:cNvPr id="10" name="Text 8"/>
          <p:cNvSpPr/>
          <p:nvPr/>
        </p:nvSpPr>
        <p:spPr>
          <a:xfrm>
            <a:off x="661475" y="1809452"/>
            <a:ext cx="4731525" cy="208062"/>
          </a:xfrm>
          <a:prstGeom prst="rect">
            <a:avLst/>
          </a:prstGeom>
          <a:noFill/>
          <a:ln/>
        </p:spPr>
        <p:txBody>
          <a:bodyPr wrap="none" lIns="0" tIns="0" rIns="0" bIns="0" rtlCol="0" anchor="t"/>
          <a:lstStyle/>
          <a:p>
            <a:pPr algn="r" indent="0" marL="0">
              <a:lnSpc>
                <a:spcPct val="123000"/>
              </a:lnSpc>
              <a:buNone/>
            </a:pPr>
            <a:r>
              <a:rPr lang="en-US" sz="1100" dirty="0">
                <a:solidFill>
                  <a:srgbClr val="3B3535"/>
                </a:solidFill>
                <a:latin typeface="Roboto" pitchFamily="34" charset="0"/>
                <a:ea typeface="Roboto" pitchFamily="34" charset="-122"/>
                <a:cs typeface="Roboto" pitchFamily="34" charset="-120"/>
              </a:rPr>
              <a:t>Definición formal, racionalidad, ejemplos y tipos de ambientes</a:t>
            </a:r>
            <a:endParaRPr lang="en-US" sz="1100" dirty="0"/>
          </a:p>
        </p:txBody>
      </p:sp>
      <p:sp>
        <p:nvSpPr>
          <p:cNvPr id="11" name="Shape 9"/>
          <p:cNvSpPr/>
          <p:nvPr/>
        </p:nvSpPr>
        <p:spPr>
          <a:xfrm>
            <a:off x="6234949" y="2419747"/>
            <a:ext cx="421669" cy="19050"/>
          </a:xfrm>
          <a:prstGeom prst="roundRect">
            <a:avLst>
              <a:gd name="adj" fmla="val 39999"/>
            </a:avLst>
          </a:prstGeom>
          <a:solidFill>
            <a:srgbClr val="D8D4D4"/>
          </a:solidFill>
          <a:ln/>
        </p:spPr>
      </p:sp>
      <p:sp>
        <p:nvSpPr>
          <p:cNvPr id="12" name="Shape 10"/>
          <p:cNvSpPr/>
          <p:nvPr/>
        </p:nvSpPr>
        <p:spPr>
          <a:xfrm>
            <a:off x="5937697" y="2271117"/>
            <a:ext cx="316301" cy="316309"/>
          </a:xfrm>
          <a:prstGeom prst="roundRect">
            <a:avLst>
              <a:gd name="adj" fmla="val 2409"/>
            </a:avLst>
          </a:prstGeom>
          <a:solidFill>
            <a:srgbClr val="F2EEEE"/>
          </a:solidFill>
          <a:ln w="6350">
            <a:solidFill>
              <a:srgbClr val="D8D4D4"/>
            </a:solidFill>
            <a:prstDash val="solid"/>
          </a:ln>
        </p:spPr>
      </p:sp>
      <p:sp>
        <p:nvSpPr>
          <p:cNvPr id="13" name="Text 11"/>
          <p:cNvSpPr/>
          <p:nvPr/>
        </p:nvSpPr>
        <p:spPr>
          <a:xfrm>
            <a:off x="5990430" y="2297509"/>
            <a:ext cx="210835" cy="263525"/>
          </a:xfrm>
          <a:prstGeom prst="rect">
            <a:avLst/>
          </a:prstGeom>
          <a:noFill/>
          <a:ln/>
        </p:spPr>
        <p:txBody>
          <a:bodyPr wrap="none" lIns="0" tIns="0" rIns="0" bIns="0" rtlCol="0" anchor="ctr"/>
          <a:lstStyle/>
          <a:p>
            <a:pPr algn="ctr" indent="0" marL="0">
              <a:lnSpc>
                <a:spcPct val="100000"/>
              </a:lnSpc>
              <a:buNone/>
            </a:pPr>
            <a:r>
              <a:rPr lang="en-US" sz="1650" dirty="0">
                <a:solidFill>
                  <a:srgbClr val="3B3535"/>
                </a:solidFill>
                <a:latin typeface="Roboto Mono Medium" pitchFamily="34" charset="0"/>
                <a:ea typeface="Roboto Mono Medium" pitchFamily="34" charset="-122"/>
                <a:cs typeface="Roboto Mono Medium" pitchFamily="34" charset="-120"/>
              </a:rPr>
              <a:t>2</a:t>
            </a:r>
            <a:endParaRPr lang="en-US" sz="1650" dirty="0"/>
          </a:p>
        </p:txBody>
      </p:sp>
      <p:sp>
        <p:nvSpPr>
          <p:cNvPr id="14" name="Text 12"/>
          <p:cNvSpPr/>
          <p:nvPr/>
        </p:nvSpPr>
        <p:spPr>
          <a:xfrm>
            <a:off x="6798696" y="2319437"/>
            <a:ext cx="4731525" cy="219571"/>
          </a:xfrm>
          <a:prstGeom prst="rect">
            <a:avLst/>
          </a:prstGeom>
          <a:noFill/>
          <a:ln/>
        </p:spPr>
        <p:txBody>
          <a:bodyPr wrap="none" lIns="0" tIns="0" rIns="0" bIns="0" rtlCol="0" anchor="t"/>
          <a:lstStyle/>
          <a:p>
            <a:pPr algn="l" indent="0" marL="0">
              <a:lnSpc>
                <a:spcPct val="104000"/>
              </a:lnSpc>
              <a:buNone/>
            </a:pPr>
            <a:r>
              <a:rPr lang="en-US" sz="1350" dirty="0">
                <a:solidFill>
                  <a:srgbClr val="3B3535"/>
                </a:solidFill>
                <a:latin typeface="Roboto Mono Medium" pitchFamily="34" charset="0"/>
                <a:ea typeface="Roboto Mono Medium" pitchFamily="34" charset="-122"/>
                <a:cs typeface="Roboto Mono Medium" pitchFamily="34" charset="-120"/>
              </a:rPr>
              <a:t>Agentes basados en LLMs</a:t>
            </a:r>
            <a:endParaRPr lang="en-US" sz="1350" dirty="0"/>
          </a:p>
        </p:txBody>
      </p:sp>
      <p:sp>
        <p:nvSpPr>
          <p:cNvPr id="15" name="Text 13"/>
          <p:cNvSpPr/>
          <p:nvPr/>
        </p:nvSpPr>
        <p:spPr>
          <a:xfrm>
            <a:off x="6798696" y="2610644"/>
            <a:ext cx="4731525" cy="208062"/>
          </a:xfrm>
          <a:prstGeom prst="rect">
            <a:avLst/>
          </a:prstGeom>
          <a:noFill/>
          <a:ln/>
        </p:spPr>
        <p:txBody>
          <a:bodyPr wrap="none" lIns="0" tIns="0" rIns="0" bIns="0" rtlCol="0" anchor="t"/>
          <a:lstStyle/>
          <a:p>
            <a:pPr algn="l" indent="0" marL="0">
              <a:lnSpc>
                <a:spcPct val="123000"/>
              </a:lnSpc>
              <a:buNone/>
            </a:pPr>
            <a:r>
              <a:rPr lang="en-US" sz="1100" dirty="0">
                <a:solidFill>
                  <a:srgbClr val="3B3535"/>
                </a:solidFill>
                <a:latin typeface="Roboto" pitchFamily="34" charset="0"/>
                <a:ea typeface="Roboto" pitchFamily="34" charset="-122"/>
                <a:cs typeface="Roboto" pitchFamily="34" charset="-120"/>
              </a:rPr>
              <a:t>Formulación, valor del LLM, arquitectura ReAct y componentes</a:t>
            </a:r>
            <a:endParaRPr lang="en-US" sz="1100" dirty="0"/>
          </a:p>
        </p:txBody>
      </p:sp>
      <p:sp>
        <p:nvSpPr>
          <p:cNvPr id="16" name="Shape 14"/>
          <p:cNvSpPr/>
          <p:nvPr/>
        </p:nvSpPr>
        <p:spPr>
          <a:xfrm>
            <a:off x="5535077" y="3125688"/>
            <a:ext cx="421669" cy="19050"/>
          </a:xfrm>
          <a:prstGeom prst="roundRect">
            <a:avLst>
              <a:gd name="adj" fmla="val 39999"/>
            </a:avLst>
          </a:prstGeom>
          <a:solidFill>
            <a:srgbClr val="D8D4D4"/>
          </a:solidFill>
          <a:ln/>
        </p:spPr>
      </p:sp>
      <p:sp>
        <p:nvSpPr>
          <p:cNvPr id="17" name="Shape 15"/>
          <p:cNvSpPr/>
          <p:nvPr/>
        </p:nvSpPr>
        <p:spPr>
          <a:xfrm>
            <a:off x="5937697" y="2977059"/>
            <a:ext cx="316301" cy="316309"/>
          </a:xfrm>
          <a:prstGeom prst="roundRect">
            <a:avLst>
              <a:gd name="adj" fmla="val 2409"/>
            </a:avLst>
          </a:prstGeom>
          <a:solidFill>
            <a:srgbClr val="F2EEEE"/>
          </a:solidFill>
          <a:ln w="6350">
            <a:solidFill>
              <a:srgbClr val="D8D4D4"/>
            </a:solidFill>
            <a:prstDash val="solid"/>
          </a:ln>
        </p:spPr>
      </p:sp>
      <p:sp>
        <p:nvSpPr>
          <p:cNvPr id="18" name="Text 16"/>
          <p:cNvSpPr/>
          <p:nvPr/>
        </p:nvSpPr>
        <p:spPr>
          <a:xfrm>
            <a:off x="5990430" y="3003451"/>
            <a:ext cx="210835" cy="263525"/>
          </a:xfrm>
          <a:prstGeom prst="rect">
            <a:avLst/>
          </a:prstGeom>
          <a:noFill/>
          <a:ln/>
        </p:spPr>
        <p:txBody>
          <a:bodyPr wrap="none" lIns="0" tIns="0" rIns="0" bIns="0" rtlCol="0" anchor="ctr"/>
          <a:lstStyle/>
          <a:p>
            <a:pPr algn="ctr" indent="0" marL="0">
              <a:lnSpc>
                <a:spcPct val="100000"/>
              </a:lnSpc>
              <a:buNone/>
            </a:pPr>
            <a:r>
              <a:rPr lang="en-US" sz="1650" dirty="0">
                <a:solidFill>
                  <a:srgbClr val="3B3535"/>
                </a:solidFill>
                <a:latin typeface="Roboto Mono Medium" pitchFamily="34" charset="0"/>
                <a:ea typeface="Roboto Mono Medium" pitchFamily="34" charset="-122"/>
                <a:cs typeface="Roboto Mono Medium" pitchFamily="34" charset="-120"/>
              </a:rPr>
              <a:t>3</a:t>
            </a:r>
            <a:endParaRPr lang="en-US" sz="1650" dirty="0"/>
          </a:p>
        </p:txBody>
      </p:sp>
      <p:sp>
        <p:nvSpPr>
          <p:cNvPr id="19" name="Text 17"/>
          <p:cNvSpPr/>
          <p:nvPr/>
        </p:nvSpPr>
        <p:spPr>
          <a:xfrm>
            <a:off x="661475" y="3025378"/>
            <a:ext cx="4731525" cy="219571"/>
          </a:xfrm>
          <a:prstGeom prst="rect">
            <a:avLst/>
          </a:prstGeom>
          <a:noFill/>
          <a:ln/>
        </p:spPr>
        <p:txBody>
          <a:bodyPr wrap="none" lIns="0" tIns="0" rIns="0" bIns="0" rtlCol="0" anchor="t"/>
          <a:lstStyle/>
          <a:p>
            <a:pPr algn="r" indent="0" marL="0">
              <a:lnSpc>
                <a:spcPct val="104000"/>
              </a:lnSpc>
              <a:buNone/>
            </a:pPr>
            <a:r>
              <a:rPr lang="en-US" sz="1350" dirty="0">
                <a:solidFill>
                  <a:srgbClr val="3B3535"/>
                </a:solidFill>
                <a:latin typeface="Roboto Mono Medium" pitchFamily="34" charset="0"/>
                <a:ea typeface="Roboto Mono Medium" pitchFamily="34" charset="-122"/>
                <a:cs typeface="Roboto Mono Medium" pitchFamily="34" charset="-120"/>
              </a:rPr>
              <a:t>Desafíos de Producción</a:t>
            </a:r>
            <a:endParaRPr lang="en-US" sz="1350" dirty="0"/>
          </a:p>
        </p:txBody>
      </p:sp>
      <p:sp>
        <p:nvSpPr>
          <p:cNvPr id="20" name="Text 18"/>
          <p:cNvSpPr/>
          <p:nvPr/>
        </p:nvSpPr>
        <p:spPr>
          <a:xfrm>
            <a:off x="661475" y="3316585"/>
            <a:ext cx="4731525" cy="208062"/>
          </a:xfrm>
          <a:prstGeom prst="rect">
            <a:avLst/>
          </a:prstGeom>
          <a:noFill/>
          <a:ln/>
        </p:spPr>
        <p:txBody>
          <a:bodyPr wrap="none" lIns="0" tIns="0" rIns="0" bIns="0" rtlCol="0" anchor="t"/>
          <a:lstStyle/>
          <a:p>
            <a:pPr algn="r" indent="0" marL="0">
              <a:lnSpc>
                <a:spcPct val="123000"/>
              </a:lnSpc>
              <a:buNone/>
            </a:pPr>
            <a:r>
              <a:rPr lang="en-US" sz="1100" dirty="0">
                <a:solidFill>
                  <a:srgbClr val="3B3535"/>
                </a:solidFill>
                <a:latin typeface="Roboto" pitchFamily="34" charset="0"/>
                <a:ea typeface="Roboto" pitchFamily="34" charset="-122"/>
                <a:cs typeface="Roboto" pitchFamily="34" charset="-120"/>
              </a:rPr>
              <a:t>Brecha prototipo-producción y Model Context Protocol</a:t>
            </a:r>
            <a:endParaRPr lang="en-US" sz="1100" dirty="0"/>
          </a:p>
        </p:txBody>
      </p:sp>
      <p:sp>
        <p:nvSpPr>
          <p:cNvPr id="21" name="Shape 19"/>
          <p:cNvSpPr/>
          <p:nvPr/>
        </p:nvSpPr>
        <p:spPr>
          <a:xfrm>
            <a:off x="6234949" y="3831630"/>
            <a:ext cx="421669" cy="19050"/>
          </a:xfrm>
          <a:prstGeom prst="roundRect">
            <a:avLst>
              <a:gd name="adj" fmla="val 39999"/>
            </a:avLst>
          </a:prstGeom>
          <a:solidFill>
            <a:srgbClr val="D8D4D4"/>
          </a:solidFill>
          <a:ln/>
        </p:spPr>
      </p:sp>
      <p:sp>
        <p:nvSpPr>
          <p:cNvPr id="22" name="Shape 20"/>
          <p:cNvSpPr/>
          <p:nvPr/>
        </p:nvSpPr>
        <p:spPr>
          <a:xfrm>
            <a:off x="5937697" y="3683000"/>
            <a:ext cx="316301" cy="316309"/>
          </a:xfrm>
          <a:prstGeom prst="roundRect">
            <a:avLst>
              <a:gd name="adj" fmla="val 2409"/>
            </a:avLst>
          </a:prstGeom>
          <a:solidFill>
            <a:srgbClr val="F2EEEE"/>
          </a:solidFill>
          <a:ln w="6350">
            <a:solidFill>
              <a:srgbClr val="D8D4D4"/>
            </a:solidFill>
            <a:prstDash val="solid"/>
          </a:ln>
        </p:spPr>
      </p:sp>
      <p:sp>
        <p:nvSpPr>
          <p:cNvPr id="23" name="Text 21"/>
          <p:cNvSpPr/>
          <p:nvPr/>
        </p:nvSpPr>
        <p:spPr>
          <a:xfrm>
            <a:off x="5990430" y="3709392"/>
            <a:ext cx="210835" cy="263525"/>
          </a:xfrm>
          <a:prstGeom prst="rect">
            <a:avLst/>
          </a:prstGeom>
          <a:noFill/>
          <a:ln/>
        </p:spPr>
        <p:txBody>
          <a:bodyPr wrap="none" lIns="0" tIns="0" rIns="0" bIns="0" rtlCol="0" anchor="ctr"/>
          <a:lstStyle/>
          <a:p>
            <a:pPr algn="ctr" indent="0" marL="0">
              <a:lnSpc>
                <a:spcPct val="100000"/>
              </a:lnSpc>
              <a:buNone/>
            </a:pPr>
            <a:r>
              <a:rPr lang="en-US" sz="1650" dirty="0">
                <a:solidFill>
                  <a:srgbClr val="3B3535"/>
                </a:solidFill>
                <a:latin typeface="Roboto Mono Medium" pitchFamily="34" charset="0"/>
                <a:ea typeface="Roboto Mono Medium" pitchFamily="34" charset="-122"/>
                <a:cs typeface="Roboto Mono Medium" pitchFamily="34" charset="-120"/>
              </a:rPr>
              <a:t>4</a:t>
            </a:r>
            <a:endParaRPr lang="en-US" sz="1650" dirty="0"/>
          </a:p>
        </p:txBody>
      </p:sp>
      <p:sp>
        <p:nvSpPr>
          <p:cNvPr id="24" name="Text 22"/>
          <p:cNvSpPr/>
          <p:nvPr/>
        </p:nvSpPr>
        <p:spPr>
          <a:xfrm>
            <a:off x="6798696" y="3731320"/>
            <a:ext cx="4731525" cy="219571"/>
          </a:xfrm>
          <a:prstGeom prst="rect">
            <a:avLst/>
          </a:prstGeom>
          <a:noFill/>
          <a:ln/>
        </p:spPr>
        <p:txBody>
          <a:bodyPr wrap="none" lIns="0" tIns="0" rIns="0" bIns="0" rtlCol="0" anchor="t"/>
          <a:lstStyle/>
          <a:p>
            <a:pPr algn="l" indent="0" marL="0">
              <a:lnSpc>
                <a:spcPct val="104000"/>
              </a:lnSpc>
              <a:buNone/>
            </a:pPr>
            <a:r>
              <a:rPr lang="en-US" sz="1350" dirty="0">
                <a:solidFill>
                  <a:srgbClr val="3B3535"/>
                </a:solidFill>
                <a:latin typeface="Roboto Mono Medium" pitchFamily="34" charset="0"/>
                <a:ea typeface="Roboto Mono Medium" pitchFamily="34" charset="-122"/>
                <a:cs typeface="Roboto Mono Medium" pitchFamily="34" charset="-120"/>
              </a:rPr>
              <a:t>Sistemas Multiagente</a:t>
            </a:r>
            <a:endParaRPr lang="en-US" sz="1350" dirty="0"/>
          </a:p>
        </p:txBody>
      </p:sp>
      <p:sp>
        <p:nvSpPr>
          <p:cNvPr id="25" name="Text 23"/>
          <p:cNvSpPr/>
          <p:nvPr/>
        </p:nvSpPr>
        <p:spPr>
          <a:xfrm>
            <a:off x="6798696" y="4022527"/>
            <a:ext cx="4731525" cy="416123"/>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3B3535"/>
                </a:solidFill>
                <a:latin typeface="Roboto" pitchFamily="34" charset="0"/>
                <a:ea typeface="Roboto" pitchFamily="34" charset="-122"/>
                <a:cs typeface="Roboto" pitchFamily="34" charset="-120"/>
              </a:rPr>
              <a:t>Limitaciones de un agente, arquitecturas multiagente y el espectro workflows-agentes</a:t>
            </a:r>
            <a:endParaRPr lang="en-US" sz="1100" dirty="0"/>
          </a:p>
        </p:txBody>
      </p:sp>
      <p:sp>
        <p:nvSpPr>
          <p:cNvPr id="26" name="Shape 24"/>
          <p:cNvSpPr/>
          <p:nvPr/>
        </p:nvSpPr>
        <p:spPr>
          <a:xfrm>
            <a:off x="5535077" y="4537571"/>
            <a:ext cx="421669" cy="19050"/>
          </a:xfrm>
          <a:prstGeom prst="roundRect">
            <a:avLst>
              <a:gd name="adj" fmla="val 39999"/>
            </a:avLst>
          </a:prstGeom>
          <a:solidFill>
            <a:srgbClr val="D8D4D4"/>
          </a:solidFill>
          <a:ln/>
        </p:spPr>
      </p:sp>
      <p:sp>
        <p:nvSpPr>
          <p:cNvPr id="27" name="Shape 25"/>
          <p:cNvSpPr/>
          <p:nvPr/>
        </p:nvSpPr>
        <p:spPr>
          <a:xfrm>
            <a:off x="5937697" y="4388941"/>
            <a:ext cx="316301" cy="316309"/>
          </a:xfrm>
          <a:prstGeom prst="roundRect">
            <a:avLst>
              <a:gd name="adj" fmla="val 2409"/>
            </a:avLst>
          </a:prstGeom>
          <a:solidFill>
            <a:srgbClr val="F2EEEE"/>
          </a:solidFill>
          <a:ln w="6350">
            <a:solidFill>
              <a:srgbClr val="D8D4D4"/>
            </a:solidFill>
            <a:prstDash val="solid"/>
          </a:ln>
        </p:spPr>
      </p:sp>
      <p:sp>
        <p:nvSpPr>
          <p:cNvPr id="28" name="Text 26"/>
          <p:cNvSpPr/>
          <p:nvPr/>
        </p:nvSpPr>
        <p:spPr>
          <a:xfrm>
            <a:off x="5990430" y="4415334"/>
            <a:ext cx="210835" cy="263525"/>
          </a:xfrm>
          <a:prstGeom prst="rect">
            <a:avLst/>
          </a:prstGeom>
          <a:noFill/>
          <a:ln/>
        </p:spPr>
        <p:txBody>
          <a:bodyPr wrap="none" lIns="0" tIns="0" rIns="0" bIns="0" rtlCol="0" anchor="ctr"/>
          <a:lstStyle/>
          <a:p>
            <a:pPr algn="ctr" indent="0" marL="0">
              <a:lnSpc>
                <a:spcPct val="100000"/>
              </a:lnSpc>
              <a:buNone/>
            </a:pPr>
            <a:r>
              <a:rPr lang="en-US" sz="1650" dirty="0">
                <a:solidFill>
                  <a:srgbClr val="3B3535"/>
                </a:solidFill>
                <a:latin typeface="Roboto Mono Medium" pitchFamily="34" charset="0"/>
                <a:ea typeface="Roboto Mono Medium" pitchFamily="34" charset="-122"/>
                <a:cs typeface="Roboto Mono Medium" pitchFamily="34" charset="-120"/>
              </a:rPr>
              <a:t>5</a:t>
            </a:r>
            <a:endParaRPr lang="en-US" sz="1650" dirty="0"/>
          </a:p>
        </p:txBody>
      </p:sp>
      <p:sp>
        <p:nvSpPr>
          <p:cNvPr id="29" name="Text 27"/>
          <p:cNvSpPr/>
          <p:nvPr/>
        </p:nvSpPr>
        <p:spPr>
          <a:xfrm>
            <a:off x="661475" y="4437261"/>
            <a:ext cx="4731525" cy="219571"/>
          </a:xfrm>
          <a:prstGeom prst="rect">
            <a:avLst/>
          </a:prstGeom>
          <a:noFill/>
          <a:ln/>
        </p:spPr>
        <p:txBody>
          <a:bodyPr wrap="none" lIns="0" tIns="0" rIns="0" bIns="0" rtlCol="0" anchor="t"/>
          <a:lstStyle/>
          <a:p>
            <a:pPr algn="r" indent="0" marL="0">
              <a:lnSpc>
                <a:spcPct val="104000"/>
              </a:lnSpc>
              <a:buNone/>
            </a:pPr>
            <a:r>
              <a:rPr lang="en-US" sz="1350" dirty="0">
                <a:solidFill>
                  <a:srgbClr val="3B3535"/>
                </a:solidFill>
                <a:latin typeface="Roboto Mono Medium" pitchFamily="34" charset="0"/>
                <a:ea typeface="Roboto Mono Medium" pitchFamily="34" charset="-122"/>
                <a:cs typeface="Roboto Mono Medium" pitchFamily="34" charset="-120"/>
              </a:rPr>
              <a:t>Memoria de Agentes</a:t>
            </a:r>
            <a:endParaRPr lang="en-US" sz="1350" dirty="0"/>
          </a:p>
        </p:txBody>
      </p:sp>
      <p:sp>
        <p:nvSpPr>
          <p:cNvPr id="30" name="Text 28"/>
          <p:cNvSpPr/>
          <p:nvPr/>
        </p:nvSpPr>
        <p:spPr>
          <a:xfrm>
            <a:off x="661475" y="4728468"/>
            <a:ext cx="4731525" cy="208062"/>
          </a:xfrm>
          <a:prstGeom prst="rect">
            <a:avLst/>
          </a:prstGeom>
          <a:noFill/>
          <a:ln/>
        </p:spPr>
        <p:txBody>
          <a:bodyPr wrap="none" lIns="0" tIns="0" rIns="0" bIns="0" rtlCol="0" anchor="t"/>
          <a:lstStyle/>
          <a:p>
            <a:pPr algn="r" indent="0" marL="0">
              <a:lnSpc>
                <a:spcPct val="123000"/>
              </a:lnSpc>
              <a:buNone/>
            </a:pPr>
            <a:r>
              <a:rPr lang="en-US" sz="1100" dirty="0">
                <a:solidFill>
                  <a:srgbClr val="3B3535"/>
                </a:solidFill>
                <a:latin typeface="Roboto" pitchFamily="34" charset="0"/>
                <a:ea typeface="Roboto" pitchFamily="34" charset="-122"/>
                <a:cs typeface="Roboto" pitchFamily="34" charset="-120"/>
              </a:rPr>
              <a:t>Arquitectura de dos niveles, patrones de integración y soluciones</a:t>
            </a:r>
            <a:endParaRPr lang="en-US" sz="1100" dirty="0"/>
          </a:p>
        </p:txBody>
      </p:sp>
      <p:sp>
        <p:nvSpPr>
          <p:cNvPr id="31" name="Shape 29"/>
          <p:cNvSpPr/>
          <p:nvPr/>
        </p:nvSpPr>
        <p:spPr>
          <a:xfrm>
            <a:off x="6234949" y="5243513"/>
            <a:ext cx="421669" cy="19050"/>
          </a:xfrm>
          <a:prstGeom prst="roundRect">
            <a:avLst>
              <a:gd name="adj" fmla="val 39999"/>
            </a:avLst>
          </a:prstGeom>
          <a:solidFill>
            <a:srgbClr val="D8D4D4"/>
          </a:solidFill>
          <a:ln/>
        </p:spPr>
      </p:sp>
      <p:sp>
        <p:nvSpPr>
          <p:cNvPr id="32" name="Shape 30"/>
          <p:cNvSpPr/>
          <p:nvPr/>
        </p:nvSpPr>
        <p:spPr>
          <a:xfrm>
            <a:off x="5937697" y="5094883"/>
            <a:ext cx="316301" cy="316309"/>
          </a:xfrm>
          <a:prstGeom prst="roundRect">
            <a:avLst>
              <a:gd name="adj" fmla="val 2409"/>
            </a:avLst>
          </a:prstGeom>
          <a:solidFill>
            <a:srgbClr val="F2EEEE"/>
          </a:solidFill>
          <a:ln w="6350">
            <a:solidFill>
              <a:srgbClr val="D8D4D4"/>
            </a:solidFill>
            <a:prstDash val="solid"/>
          </a:ln>
        </p:spPr>
      </p:sp>
      <p:sp>
        <p:nvSpPr>
          <p:cNvPr id="33" name="Text 31"/>
          <p:cNvSpPr/>
          <p:nvPr/>
        </p:nvSpPr>
        <p:spPr>
          <a:xfrm>
            <a:off x="5990430" y="5121275"/>
            <a:ext cx="210835" cy="263525"/>
          </a:xfrm>
          <a:prstGeom prst="rect">
            <a:avLst/>
          </a:prstGeom>
          <a:noFill/>
          <a:ln/>
        </p:spPr>
        <p:txBody>
          <a:bodyPr wrap="none" lIns="0" tIns="0" rIns="0" bIns="0" rtlCol="0" anchor="ctr"/>
          <a:lstStyle/>
          <a:p>
            <a:pPr algn="ctr" indent="0" marL="0">
              <a:lnSpc>
                <a:spcPct val="100000"/>
              </a:lnSpc>
              <a:buNone/>
            </a:pPr>
            <a:r>
              <a:rPr lang="en-US" sz="1650" dirty="0">
                <a:solidFill>
                  <a:srgbClr val="3B3535"/>
                </a:solidFill>
                <a:latin typeface="Roboto Mono Medium" pitchFamily="34" charset="0"/>
                <a:ea typeface="Roboto Mono Medium" pitchFamily="34" charset="-122"/>
                <a:cs typeface="Roboto Mono Medium" pitchFamily="34" charset="-120"/>
              </a:rPr>
              <a:t>6</a:t>
            </a:r>
            <a:endParaRPr lang="en-US" sz="1650" dirty="0"/>
          </a:p>
        </p:txBody>
      </p:sp>
      <p:sp>
        <p:nvSpPr>
          <p:cNvPr id="34" name="Text 32"/>
          <p:cNvSpPr/>
          <p:nvPr/>
        </p:nvSpPr>
        <p:spPr>
          <a:xfrm>
            <a:off x="6798696" y="5143202"/>
            <a:ext cx="4731525" cy="219571"/>
          </a:xfrm>
          <a:prstGeom prst="rect">
            <a:avLst/>
          </a:prstGeom>
          <a:noFill/>
          <a:ln/>
        </p:spPr>
        <p:txBody>
          <a:bodyPr wrap="none" lIns="0" tIns="0" rIns="0" bIns="0" rtlCol="0" anchor="t"/>
          <a:lstStyle/>
          <a:p>
            <a:pPr algn="l" indent="0" marL="0">
              <a:lnSpc>
                <a:spcPct val="104000"/>
              </a:lnSpc>
              <a:buNone/>
            </a:pPr>
            <a:r>
              <a:rPr lang="en-US" sz="1350" dirty="0">
                <a:solidFill>
                  <a:srgbClr val="3B3535"/>
                </a:solidFill>
                <a:latin typeface="Roboto Mono Medium" pitchFamily="34" charset="0"/>
                <a:ea typeface="Roboto Mono Medium" pitchFamily="34" charset="-122"/>
                <a:cs typeface="Roboto Mono Medium" pitchFamily="34" charset="-120"/>
              </a:rPr>
              <a:t>Objetivos y Práctica</a:t>
            </a:r>
            <a:endParaRPr lang="en-US" sz="1350" dirty="0"/>
          </a:p>
        </p:txBody>
      </p:sp>
      <p:sp>
        <p:nvSpPr>
          <p:cNvPr id="35" name="Text 33"/>
          <p:cNvSpPr/>
          <p:nvPr/>
        </p:nvSpPr>
        <p:spPr>
          <a:xfrm>
            <a:off x="6798696" y="5434409"/>
            <a:ext cx="4731525" cy="208062"/>
          </a:xfrm>
          <a:prstGeom prst="rect">
            <a:avLst/>
          </a:prstGeom>
          <a:noFill/>
          <a:ln/>
        </p:spPr>
        <p:txBody>
          <a:bodyPr wrap="none" lIns="0" tIns="0" rIns="0" bIns="0" rtlCol="0" anchor="t"/>
          <a:lstStyle/>
          <a:p>
            <a:pPr algn="l" indent="0" marL="0">
              <a:lnSpc>
                <a:spcPct val="123000"/>
              </a:lnSpc>
              <a:buNone/>
            </a:pPr>
            <a:r>
              <a:rPr lang="en-US" sz="1100" dirty="0">
                <a:solidFill>
                  <a:srgbClr val="3B3535"/>
                </a:solidFill>
                <a:latin typeface="Roboto" pitchFamily="34" charset="0"/>
                <a:ea typeface="Roboto" pitchFamily="34" charset="-122"/>
                <a:cs typeface="Roboto" pitchFamily="34" charset="-120"/>
              </a:rPr>
              <a:t>Objetivos de aprendizaje, proyectos prácticos y ejercicio final</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661475" y="2623245"/>
            <a:ext cx="1603930" cy="251420"/>
          </a:xfrm>
          <a:prstGeom prst="roundRect">
            <a:avLst>
              <a:gd name="adj" fmla="val 3031"/>
            </a:avLst>
          </a:prstGeom>
          <a:solidFill>
            <a:srgbClr val="F9D2D6"/>
          </a:solidFill>
          <a:ln/>
        </p:spPr>
      </p:sp>
      <p:sp>
        <p:nvSpPr>
          <p:cNvPr id="3" name="Text 1"/>
          <p:cNvSpPr/>
          <p:nvPr/>
        </p:nvSpPr>
        <p:spPr>
          <a:xfrm>
            <a:off x="760691" y="2672854"/>
            <a:ext cx="2015082"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MEMORIA DE AGENTES</a:t>
            </a:r>
            <a:endParaRPr lang="en-US" sz="1000" dirty="0"/>
          </a:p>
        </p:txBody>
      </p:sp>
      <p:sp>
        <p:nvSpPr>
          <p:cNvPr id="4" name="Text 2"/>
          <p:cNvSpPr/>
          <p:nvPr/>
        </p:nvSpPr>
        <p:spPr>
          <a:xfrm>
            <a:off x="661475" y="2940745"/>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Memoria de </a:t>
            </a:r>
            <a:pPr algn="l" indent="0" marL="0">
              <a:lnSpc>
                <a:spcPct val="104000"/>
              </a:lnSpc>
              <a:buNone/>
            </a:pPr>
            <a:r>
              <a:rPr lang="en-US" sz="3250" dirty="0">
                <a:solidFill>
                  <a:srgbClr val="DA1B2E"/>
                </a:solidFill>
                <a:latin typeface="Roboto Mono Medium" pitchFamily="34" charset="0"/>
                <a:ea typeface="Roboto Mono Medium" pitchFamily="34" charset="-122"/>
                <a:cs typeface="Roboto Mono Medium" pitchFamily="34" charset="-120"/>
              </a:rPr>
              <a:t>Agentes</a:t>
            </a:r>
            <a:endParaRPr lang="en-US" sz="3250" dirty="0"/>
          </a:p>
        </p:txBody>
      </p:sp>
      <p:sp>
        <p:nvSpPr>
          <p:cNvPr id="5" name="Text 3"/>
          <p:cNvSpPr/>
          <p:nvPr/>
        </p:nvSpPr>
        <p:spPr>
          <a:xfrm>
            <a:off x="661475" y="3705523"/>
            <a:ext cx="10868745"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La memoria es uno de los componentes más críticos y menos intuitivos de los agentes en producción. Sin una estrategia adecuada, los agentes son caros, incoherentes y frustrantes.</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661475" y="1647329"/>
            <a:ext cx="1603930" cy="251420"/>
          </a:xfrm>
          <a:prstGeom prst="roundRect">
            <a:avLst>
              <a:gd name="adj" fmla="val 3031"/>
            </a:avLst>
          </a:prstGeom>
          <a:solidFill>
            <a:srgbClr val="F9D2D6"/>
          </a:solidFill>
          <a:ln/>
        </p:spPr>
      </p:sp>
      <p:sp>
        <p:nvSpPr>
          <p:cNvPr id="3" name="Text 1"/>
          <p:cNvSpPr/>
          <p:nvPr/>
        </p:nvSpPr>
        <p:spPr>
          <a:xfrm>
            <a:off x="760691" y="1696938"/>
            <a:ext cx="2015082"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MEMORIA DE AGENTES</a:t>
            </a:r>
            <a:endParaRPr lang="en-US" sz="1000" dirty="0"/>
          </a:p>
        </p:txBody>
      </p:sp>
      <p:sp>
        <p:nvSpPr>
          <p:cNvPr id="4" name="Text 2"/>
          <p:cNvSpPr/>
          <p:nvPr/>
        </p:nvSpPr>
        <p:spPr>
          <a:xfrm>
            <a:off x="661475" y="1964829"/>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Arquitectura de Memoria: Dos Niveles</a:t>
            </a:r>
            <a:endParaRPr lang="en-US" sz="3250" dirty="0"/>
          </a:p>
        </p:txBody>
      </p:sp>
      <p:sp>
        <p:nvSpPr>
          <p:cNvPr id="5" name="Text 3"/>
          <p:cNvSpPr/>
          <p:nvPr/>
        </p:nvSpPr>
        <p:spPr>
          <a:xfrm>
            <a:off x="661475" y="2729607"/>
            <a:ext cx="11478330" cy="264616"/>
          </a:xfrm>
          <a:prstGeom prst="rect">
            <a:avLst/>
          </a:prstGeom>
          <a:noFill/>
          <a:ln/>
        </p:spPr>
        <p:txBody>
          <a:bodyPr wrap="none" lIns="0" tIns="0" rIns="0" bIns="0" rtlCol="0" anchor="t"/>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La solución al problema de memoria es una arquitectura que combina velocidad con persistencia, inspirada en los sistemas de caché de hardware:</a:t>
            </a:r>
            <a:endParaRPr lang="en-US" sz="1300" dirty="0"/>
          </a:p>
        </p:txBody>
      </p:sp>
      <p:sp>
        <p:nvSpPr>
          <p:cNvPr id="6" name="Shape 4"/>
          <p:cNvSpPr/>
          <p:nvPr/>
        </p:nvSpPr>
        <p:spPr>
          <a:xfrm>
            <a:off x="661475" y="3180259"/>
            <a:ext cx="10868745" cy="2030413"/>
          </a:xfrm>
          <a:prstGeom prst="roundRect">
            <a:avLst>
              <a:gd name="adj" fmla="val 375"/>
            </a:avLst>
          </a:prstGeom>
          <a:solidFill>
            <a:srgbClr val="F2EEEE"/>
          </a:solidFill>
          <a:ln w="6350">
            <a:solidFill>
              <a:srgbClr val="D8D4D4"/>
            </a:solidFill>
            <a:prstDash val="solid"/>
          </a:ln>
        </p:spPr>
      </p:sp>
      <p:sp>
        <p:nvSpPr>
          <p:cNvPr id="7" name="Shape 5"/>
          <p:cNvSpPr/>
          <p:nvPr/>
        </p:nvSpPr>
        <p:spPr>
          <a:xfrm>
            <a:off x="667825" y="3186609"/>
            <a:ext cx="5428023" cy="2017713"/>
          </a:xfrm>
          <a:custGeom>
            <a:avLst/>
            <a:gdLst/>
            <a:ahLst/>
            <a:cxnLst/>
            <a:rect l="l" t="t" r="r" b="b"/>
            <a:pathLst>
              <a:path w="5428023" h="2017713">
                <a:moveTo>
                  <a:pt x="6350" y="0"/>
                </a:moveTo>
                <a:lnTo>
                  <a:pt x="5428023" y="0"/>
                </a:lnTo>
                <a:lnTo>
                  <a:pt x="5428023" y="2017713"/>
                </a:lnTo>
                <a:lnTo>
                  <a:pt x="6350" y="2017713"/>
                </a:lnTo>
                <a:arcTo hR="6350" wR="6350" stAng="5400000" swAng="5400000"/>
                <a:lnTo>
                  <a:pt x="0" y="6350"/>
                </a:lnTo>
                <a:arcTo hR="6350" wR="6350" stAng="10800000" swAng="5400000"/>
                <a:close/>
              </a:path>
            </a:pathLst>
          </a:custGeom>
          <a:solidFill>
            <a:srgbClr val="F2EEEE"/>
          </a:solidFill>
          <a:ln/>
        </p:spPr>
      </p:sp>
      <p:sp>
        <p:nvSpPr>
          <p:cNvPr id="8" name="Text 6"/>
          <p:cNvSpPr/>
          <p:nvPr/>
        </p:nvSpPr>
        <p:spPr>
          <a:xfrm>
            <a:off x="833119" y="3351907"/>
            <a:ext cx="5097434"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Working Memory (Sesión)</a:t>
            </a:r>
            <a:endParaRPr lang="en-US" sz="1600" dirty="0"/>
          </a:p>
        </p:txBody>
      </p:sp>
      <p:sp>
        <p:nvSpPr>
          <p:cNvPr id="9" name="Text 7"/>
          <p:cNvSpPr/>
          <p:nvPr/>
        </p:nvSpPr>
        <p:spPr>
          <a:xfrm>
            <a:off x="833119" y="3709591"/>
            <a:ext cx="5097434" cy="1329432"/>
          </a:xfrm>
          <a:prstGeom prst="rect">
            <a:avLst/>
          </a:prstGeom>
          <a:noFill/>
          <a:ln/>
        </p:spPr>
        <p:txBody>
          <a:bodyPr wrap="square" lIns="0" tIns="0" rIns="0" bIns="0" rtlCol="0" anchor="t">
            <a:normAutofit/>
          </a:bodyPr>
          <a:lstStyle/>
          <a:p>
            <a:pPr algn="l" indent="0" marL="0">
              <a:lnSpc>
                <a:spcPct val="133000"/>
              </a:lnSpc>
              <a:buNone/>
            </a:pPr>
            <a:r>
              <a:rPr lang="en-US" sz="1300" b="1" dirty="0">
                <a:solidFill>
                  <a:srgbClr val="3B3535"/>
                </a:solidFill>
                <a:latin typeface="Roboto Bold" pitchFamily="34" charset="0"/>
                <a:ea typeface="Roboto Bold" pitchFamily="34" charset="-122"/>
                <a:cs typeface="Roboto Bold" pitchFamily="34" charset="-120"/>
              </a:rPr>
              <a:t>Duración:</a:t>
            </a:r>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 Una sola sesión activa</a:t>
            </a:r>
            <a:endParaRPr lang="en-US" sz="1300" dirty="0"/>
          </a:p>
          <a:p>
            <a:pPr algn="l" indent="0" marL="0">
              <a:lnSpc>
                <a:spcPct val="133000"/>
              </a:lnSpc>
              <a:buNone/>
            </a:pPr>
            <a:r>
              <a:rPr lang="en-US" sz="1300" b="1" dirty="0">
                <a:solidFill>
                  <a:srgbClr val="3B3535"/>
                </a:solidFill>
                <a:latin typeface="Roboto Bold" pitchFamily="34" charset="0"/>
                <a:ea typeface="Roboto Bold" pitchFamily="34" charset="-122"/>
                <a:cs typeface="Roboto Bold" pitchFamily="34" charset="-120"/>
              </a:rPr>
              <a:t>Propósito:</a:t>
            </a:r>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 Estado activo de conversación</a:t>
            </a:r>
            <a:endParaRPr lang="en-US" sz="1300" dirty="0"/>
          </a:p>
          <a:p>
            <a:pPr algn="l" indent="0" marL="0">
              <a:lnSpc>
                <a:spcPct val="133000"/>
              </a:lnSpc>
              <a:buNone/>
            </a:pPr>
            <a:r>
              <a:rPr lang="en-US" sz="1300" b="1" dirty="0">
                <a:solidFill>
                  <a:srgbClr val="3B3535"/>
                </a:solidFill>
                <a:latin typeface="Roboto Bold" pitchFamily="34" charset="0"/>
                <a:ea typeface="Roboto Bold" pitchFamily="34" charset="-122"/>
                <a:cs typeface="Roboto Bold" pitchFamily="34" charset="-120"/>
              </a:rPr>
              <a:t>Ejemplo:</a:t>
            </a:r>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 Detalles del pedido en el chat actual</a:t>
            </a:r>
            <a:endParaRPr lang="en-US" sz="1300" dirty="0"/>
          </a:p>
          <a:p>
            <a:pPr algn="l" indent="0" marL="0">
              <a:lnSpc>
                <a:spcPct val="133000"/>
              </a:lnSpc>
              <a:buNone/>
            </a:pPr>
            <a:r>
              <a:rPr lang="en-US" sz="1300" b="1" dirty="0">
                <a:solidFill>
                  <a:srgbClr val="3B3535"/>
                </a:solidFill>
                <a:latin typeface="Roboto Bold" pitchFamily="34" charset="0"/>
                <a:ea typeface="Roboto Bold" pitchFamily="34" charset="-122"/>
                <a:cs typeface="Roboto Bold" pitchFamily="34" charset="-120"/>
              </a:rPr>
              <a:t>Implementación:</a:t>
            </a:r>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 </a:t>
            </a:r>
            <a:pPr algn="l" indent="0" marL="0">
              <a:lnSpc>
                <a:spcPct val="133000"/>
              </a:lnSpc>
              <a:buNone/>
            </a:pPr>
            <a:r>
              <a:rPr lang="en-US" sz="1300" dirty="0">
                <a:solidFill>
                  <a:srgbClr val="3B3535"/>
                </a:solidFill>
                <a:highlight>
                  <a:srgbClr val="F2F2F2"/>
                </a:highlight>
                <a:latin typeface="Consolas" pitchFamily="34" charset="0"/>
                <a:ea typeface="Consolas" pitchFamily="34" charset="-122"/>
                <a:cs typeface="Consolas" pitchFamily="34" charset="-120"/>
              </a:rPr>
              <a:t>MemorySaver</a:t>
            </a:r>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 + </a:t>
            </a:r>
            <a:pPr algn="l" indent="0" marL="0">
              <a:lnSpc>
                <a:spcPct val="133000"/>
              </a:lnSpc>
              <a:buNone/>
            </a:pPr>
            <a:r>
              <a:rPr lang="en-US" sz="1300" dirty="0">
                <a:solidFill>
                  <a:srgbClr val="3B3535"/>
                </a:solidFill>
                <a:highlight>
                  <a:srgbClr val="F2F2F2"/>
                </a:highlight>
                <a:latin typeface="Consolas" pitchFamily="34" charset="0"/>
                <a:ea typeface="Consolas" pitchFamily="34" charset="-122"/>
                <a:cs typeface="Consolas" pitchFamily="34" charset="-120"/>
              </a:rPr>
              <a:t>thread_id</a:t>
            </a:r>
            <a:endParaRPr lang="en-US" sz="1300" dirty="0"/>
          </a:p>
          <a:p>
            <a:pPr algn="l" indent="0" marL="0">
              <a:lnSpc>
                <a:spcPct val="133000"/>
              </a:lnSpc>
              <a:buNone/>
            </a:pPr>
            <a:r>
              <a:rPr lang="en-US" sz="1300" b="1" dirty="0">
                <a:solidFill>
                  <a:srgbClr val="3B3535"/>
                </a:solidFill>
                <a:latin typeface="Roboto Bold" pitchFamily="34" charset="0"/>
                <a:ea typeface="Roboto Bold" pitchFamily="34" charset="-122"/>
                <a:cs typeface="Roboto Bold" pitchFamily="34" charset="-120"/>
              </a:rPr>
              <a:t>Analogía:</a:t>
            </a:r>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 Caché L1 — rápida y temporal</a:t>
            </a:r>
            <a:endParaRPr lang="en-US" sz="1300" dirty="0"/>
          </a:p>
        </p:txBody>
      </p:sp>
      <p:sp>
        <p:nvSpPr>
          <p:cNvPr id="10" name="Shape 8"/>
          <p:cNvSpPr/>
          <p:nvPr/>
        </p:nvSpPr>
        <p:spPr>
          <a:xfrm>
            <a:off x="6095848" y="3186609"/>
            <a:ext cx="5428023" cy="2017713"/>
          </a:xfrm>
          <a:custGeom>
            <a:avLst/>
            <a:gdLst/>
            <a:ahLst/>
            <a:cxnLst/>
            <a:rect l="l" t="t" r="r" b="b"/>
            <a:pathLst>
              <a:path w="5428023" h="2017713">
                <a:moveTo>
                  <a:pt x="0" y="0"/>
                </a:moveTo>
                <a:lnTo>
                  <a:pt x="5421673" y="0"/>
                </a:lnTo>
                <a:arcTo hR="6350" wR="6350" stAng="16200000" swAng="5400000"/>
                <a:lnTo>
                  <a:pt x="5428023" y="2011362"/>
                </a:lnTo>
                <a:arcTo hR="6350" wR="6350" stAng="0" swAng="5400000"/>
                <a:lnTo>
                  <a:pt x="0" y="2017713"/>
                </a:lnTo>
                <a:lnTo>
                  <a:pt x="0" y="0"/>
                </a:lnTo>
                <a:close/>
              </a:path>
            </a:pathLst>
          </a:custGeom>
          <a:solidFill>
            <a:srgbClr val="F2EEEE"/>
          </a:solidFill>
          <a:ln/>
        </p:spPr>
      </p:sp>
      <p:sp>
        <p:nvSpPr>
          <p:cNvPr id="11" name="Shape 9"/>
          <p:cNvSpPr/>
          <p:nvPr/>
        </p:nvSpPr>
        <p:spPr>
          <a:xfrm>
            <a:off x="6095848" y="3186609"/>
            <a:ext cx="19050" cy="2017713"/>
          </a:xfrm>
          <a:prstGeom prst="roundRect">
            <a:avLst>
              <a:gd name="adj" fmla="val 39999"/>
            </a:avLst>
          </a:prstGeom>
          <a:solidFill>
            <a:srgbClr val="D8D4D4"/>
          </a:solidFill>
          <a:ln/>
        </p:spPr>
      </p:sp>
      <p:sp>
        <p:nvSpPr>
          <p:cNvPr id="12" name="Text 10"/>
          <p:cNvSpPr/>
          <p:nvPr/>
        </p:nvSpPr>
        <p:spPr>
          <a:xfrm>
            <a:off x="6261142" y="3351907"/>
            <a:ext cx="5097434"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Long-Term Memory (Persistente)</a:t>
            </a:r>
            <a:endParaRPr lang="en-US" sz="1600" dirty="0"/>
          </a:p>
        </p:txBody>
      </p:sp>
      <p:sp>
        <p:nvSpPr>
          <p:cNvPr id="13" name="Text 11"/>
          <p:cNvSpPr/>
          <p:nvPr/>
        </p:nvSpPr>
        <p:spPr>
          <a:xfrm>
            <a:off x="6261142" y="3709591"/>
            <a:ext cx="5097434" cy="1323082"/>
          </a:xfrm>
          <a:prstGeom prst="rect">
            <a:avLst/>
          </a:prstGeom>
          <a:noFill/>
          <a:ln/>
        </p:spPr>
        <p:txBody>
          <a:bodyPr wrap="square" lIns="0" tIns="0" rIns="0" bIns="0" rtlCol="0" anchor="t">
            <a:normAutofit/>
          </a:bodyPr>
          <a:lstStyle/>
          <a:p>
            <a:pPr algn="l" indent="0" marL="0">
              <a:lnSpc>
                <a:spcPct val="133000"/>
              </a:lnSpc>
              <a:buNone/>
            </a:pPr>
            <a:r>
              <a:rPr lang="en-US" sz="1300" b="1" dirty="0">
                <a:solidFill>
                  <a:srgbClr val="3B3535"/>
                </a:solidFill>
                <a:latin typeface="Roboto Bold" pitchFamily="34" charset="0"/>
                <a:ea typeface="Roboto Bold" pitchFamily="34" charset="-122"/>
                <a:cs typeface="Roboto Bold" pitchFamily="34" charset="-120"/>
              </a:rPr>
              <a:t>Duración:</a:t>
            </a:r>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 Entre sesiones, indefinidamente</a:t>
            </a:r>
            <a:endParaRPr lang="en-US" sz="1300" dirty="0"/>
          </a:p>
          <a:p>
            <a:pPr algn="l" indent="0" marL="0">
              <a:lnSpc>
                <a:spcPct val="133000"/>
              </a:lnSpc>
              <a:buNone/>
            </a:pPr>
            <a:r>
              <a:rPr lang="en-US" sz="1300" b="1" dirty="0">
                <a:solidFill>
                  <a:srgbClr val="3B3535"/>
                </a:solidFill>
                <a:latin typeface="Roboto Bold" pitchFamily="34" charset="0"/>
                <a:ea typeface="Roboto Bold" pitchFamily="34" charset="-122"/>
                <a:cs typeface="Roboto Bold" pitchFamily="34" charset="-120"/>
              </a:rPr>
              <a:t>Propósito:</a:t>
            </a:r>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 Conocimiento persistente del usuario</a:t>
            </a:r>
            <a:endParaRPr lang="en-US" sz="1300" dirty="0"/>
          </a:p>
          <a:p>
            <a:pPr algn="l" indent="0" marL="0">
              <a:lnSpc>
                <a:spcPct val="133000"/>
              </a:lnSpc>
              <a:buNone/>
            </a:pPr>
            <a:r>
              <a:rPr lang="en-US" sz="1300" b="1" dirty="0">
                <a:solidFill>
                  <a:srgbClr val="3B3535"/>
                </a:solidFill>
                <a:latin typeface="Roboto Bold" pitchFamily="34" charset="0"/>
                <a:ea typeface="Roboto Bold" pitchFamily="34" charset="-122"/>
                <a:cs typeface="Roboto Bold" pitchFamily="34" charset="-120"/>
              </a:rPr>
              <a:t>Ejemplo:</a:t>
            </a:r>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 Preferencias de usuario a lo largo de meses</a:t>
            </a:r>
            <a:endParaRPr lang="en-US" sz="1300" dirty="0"/>
          </a:p>
          <a:p>
            <a:pPr algn="l" indent="0" marL="0">
              <a:lnSpc>
                <a:spcPct val="133000"/>
              </a:lnSpc>
              <a:buNone/>
            </a:pPr>
            <a:r>
              <a:rPr lang="en-US" sz="1300" b="1" dirty="0">
                <a:solidFill>
                  <a:srgbClr val="3B3535"/>
                </a:solidFill>
                <a:latin typeface="Roboto Bold" pitchFamily="34" charset="0"/>
                <a:ea typeface="Roboto Bold" pitchFamily="34" charset="-122"/>
                <a:cs typeface="Roboto Bold" pitchFamily="34" charset="-120"/>
              </a:rPr>
              <a:t>Implementación:</a:t>
            </a:r>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 Vector DB o servicio gestionado</a:t>
            </a:r>
            <a:endParaRPr lang="en-US" sz="1300" dirty="0"/>
          </a:p>
          <a:p>
            <a:pPr algn="l" indent="0" marL="0">
              <a:lnSpc>
                <a:spcPct val="133000"/>
              </a:lnSpc>
              <a:buNone/>
            </a:pPr>
            <a:r>
              <a:rPr lang="en-US" sz="1300" b="1" dirty="0">
                <a:solidFill>
                  <a:srgbClr val="3B3535"/>
                </a:solidFill>
                <a:latin typeface="Roboto Bold" pitchFamily="34" charset="0"/>
                <a:ea typeface="Roboto Bold" pitchFamily="34" charset="-122"/>
                <a:cs typeface="Roboto Bold" pitchFamily="34" charset="-120"/>
              </a:rPr>
              <a:t>Analogía:</a:t>
            </a:r>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 Base de datos — persistente y buscable</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661475" y="1145084"/>
            <a:ext cx="1603930" cy="251420"/>
          </a:xfrm>
          <a:prstGeom prst="roundRect">
            <a:avLst>
              <a:gd name="adj" fmla="val 3031"/>
            </a:avLst>
          </a:prstGeom>
          <a:solidFill>
            <a:srgbClr val="F9D2D6"/>
          </a:solidFill>
          <a:ln/>
        </p:spPr>
      </p:sp>
      <p:sp>
        <p:nvSpPr>
          <p:cNvPr id="3" name="Text 1"/>
          <p:cNvSpPr/>
          <p:nvPr/>
        </p:nvSpPr>
        <p:spPr>
          <a:xfrm>
            <a:off x="760691" y="1194693"/>
            <a:ext cx="2015082"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MEMORIA DE AGENTES</a:t>
            </a:r>
            <a:endParaRPr lang="en-US" sz="1000" dirty="0"/>
          </a:p>
        </p:txBody>
      </p:sp>
      <p:sp>
        <p:nvSpPr>
          <p:cNvPr id="4" name="Text 2"/>
          <p:cNvSpPr/>
          <p:nvPr/>
        </p:nvSpPr>
        <p:spPr>
          <a:xfrm>
            <a:off x="661475" y="1462584"/>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Patrones de Integración de Memoria</a:t>
            </a:r>
            <a:endParaRPr lang="en-US" sz="3250" dirty="0"/>
          </a:p>
        </p:txBody>
      </p:sp>
      <p:sp>
        <p:nvSpPr>
          <p:cNvPr id="5" name="Text 3"/>
          <p:cNvSpPr/>
          <p:nvPr/>
        </p:nvSpPr>
        <p:spPr>
          <a:xfrm>
            <a:off x="661475" y="2227362"/>
            <a:ext cx="11478330" cy="264616"/>
          </a:xfrm>
          <a:prstGeom prst="rect">
            <a:avLst/>
          </a:prstGeom>
          <a:noFill/>
          <a:ln/>
        </p:spPr>
        <p:txBody>
          <a:bodyPr wrap="none" lIns="0" tIns="0" rIns="0" bIns="0" rtlCol="0" anchor="t"/>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Existen tres patrones principales para integrar la memoria en un agente, con distintos niveles de control y autonomía:</a:t>
            </a:r>
            <a:endParaRPr lang="en-US" sz="1300" dirty="0"/>
          </a:p>
        </p:txBody>
      </p:sp>
      <p:sp>
        <p:nvSpPr>
          <p:cNvPr id="6" name="Text 4"/>
          <p:cNvSpPr/>
          <p:nvPr/>
        </p:nvSpPr>
        <p:spPr>
          <a:xfrm>
            <a:off x="661475" y="2678013"/>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3B3535"/>
                </a:solidFill>
                <a:latin typeface="Roboto Mono Light" pitchFamily="34" charset="0"/>
                <a:ea typeface="Roboto Mono Light" pitchFamily="34" charset="-122"/>
                <a:cs typeface="Roboto Mono Light" pitchFamily="34" charset="-120"/>
              </a:rPr>
              <a:t>01</a:t>
            </a:r>
            <a:endParaRPr lang="en-US" sz="1300" dirty="0"/>
          </a:p>
        </p:txBody>
      </p:sp>
      <p:sp>
        <p:nvSpPr>
          <p:cNvPr id="7" name="Shape 5"/>
          <p:cNvSpPr/>
          <p:nvPr/>
        </p:nvSpPr>
        <p:spPr>
          <a:xfrm>
            <a:off x="661475" y="2939951"/>
            <a:ext cx="3512653" cy="19050"/>
          </a:xfrm>
          <a:prstGeom prst="rect">
            <a:avLst/>
          </a:prstGeom>
          <a:solidFill>
            <a:srgbClr val="DA1B2E"/>
          </a:solidFill>
          <a:ln/>
        </p:spPr>
      </p:sp>
      <p:sp>
        <p:nvSpPr>
          <p:cNvPr id="8" name="Text 6"/>
          <p:cNvSpPr/>
          <p:nvPr/>
        </p:nvSpPr>
        <p:spPr>
          <a:xfrm>
            <a:off x="661475" y="3060700"/>
            <a:ext cx="3512653"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Code-Driven (Programático)</a:t>
            </a:r>
            <a:endParaRPr lang="en-US" sz="1600" dirty="0"/>
          </a:p>
        </p:txBody>
      </p:sp>
      <p:sp>
        <p:nvSpPr>
          <p:cNvPr id="9" name="Text 7"/>
          <p:cNvSpPr/>
          <p:nvPr/>
        </p:nvSpPr>
        <p:spPr>
          <a:xfrm>
            <a:off x="661475" y="3418384"/>
            <a:ext cx="3512653" cy="1058466"/>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Tu código decide explícitamente cuándo guardar y recuperar. Comportamiento predecible y eficiente. Punto de partida recomendado.</a:t>
            </a:r>
            <a:endParaRPr lang="en-US" sz="1300" dirty="0"/>
          </a:p>
        </p:txBody>
      </p:sp>
      <p:sp>
        <p:nvSpPr>
          <p:cNvPr id="10" name="Text 8"/>
          <p:cNvSpPr/>
          <p:nvPr/>
        </p:nvSpPr>
        <p:spPr>
          <a:xfrm>
            <a:off x="4339422" y="2678013"/>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3B3535"/>
                </a:solidFill>
                <a:latin typeface="Roboto Mono Light" pitchFamily="34" charset="0"/>
                <a:ea typeface="Roboto Mono Light" pitchFamily="34" charset="-122"/>
                <a:cs typeface="Roboto Mono Light" pitchFamily="34" charset="-120"/>
              </a:rPr>
              <a:t>02</a:t>
            </a:r>
            <a:endParaRPr lang="en-US" sz="1300" dirty="0"/>
          </a:p>
        </p:txBody>
      </p:sp>
      <p:sp>
        <p:nvSpPr>
          <p:cNvPr id="11" name="Shape 9"/>
          <p:cNvSpPr/>
          <p:nvPr/>
        </p:nvSpPr>
        <p:spPr>
          <a:xfrm>
            <a:off x="4339422" y="2939951"/>
            <a:ext cx="3512752" cy="19050"/>
          </a:xfrm>
          <a:prstGeom prst="rect">
            <a:avLst/>
          </a:prstGeom>
          <a:solidFill>
            <a:srgbClr val="DA1B2E"/>
          </a:solidFill>
          <a:ln/>
        </p:spPr>
      </p:sp>
      <p:sp>
        <p:nvSpPr>
          <p:cNvPr id="12" name="Text 10"/>
          <p:cNvSpPr/>
          <p:nvPr/>
        </p:nvSpPr>
        <p:spPr>
          <a:xfrm>
            <a:off x="4339422" y="3060700"/>
            <a:ext cx="3512752"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LLM-Driven (Tool-Based)</a:t>
            </a:r>
            <a:endParaRPr lang="en-US" sz="1600" dirty="0"/>
          </a:p>
        </p:txBody>
      </p:sp>
      <p:sp>
        <p:nvSpPr>
          <p:cNvPr id="13" name="Text 11"/>
          <p:cNvSpPr/>
          <p:nvPr/>
        </p:nvSpPr>
        <p:spPr>
          <a:xfrm>
            <a:off x="4339422" y="3418384"/>
            <a:ext cx="3512752"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El agente recibe tools de memoria y decide autónomamente qué recordar. Más natural y flexible, pero menos predecible.</a:t>
            </a:r>
            <a:endParaRPr lang="en-US" sz="1300" dirty="0"/>
          </a:p>
        </p:txBody>
      </p:sp>
      <p:sp>
        <p:nvSpPr>
          <p:cNvPr id="14" name="Text 12"/>
          <p:cNvSpPr/>
          <p:nvPr/>
        </p:nvSpPr>
        <p:spPr>
          <a:xfrm>
            <a:off x="8017468" y="2678013"/>
            <a:ext cx="330688" cy="206673"/>
          </a:xfrm>
          <a:prstGeom prst="rect">
            <a:avLst/>
          </a:prstGeom>
          <a:noFill/>
          <a:ln/>
        </p:spPr>
        <p:txBody>
          <a:bodyPr wrap="none" lIns="0" tIns="0" rIns="0" bIns="0" rtlCol="0" anchor="ctr"/>
          <a:lstStyle/>
          <a:p>
            <a:pPr algn="l" indent="0" marL="0">
              <a:lnSpc>
                <a:spcPct val="100000"/>
              </a:lnSpc>
              <a:buNone/>
            </a:pPr>
            <a:r>
              <a:rPr lang="en-US" sz="1300" dirty="0">
                <a:solidFill>
                  <a:srgbClr val="3B3535"/>
                </a:solidFill>
                <a:latin typeface="Roboto Mono Light" pitchFamily="34" charset="0"/>
                <a:ea typeface="Roboto Mono Light" pitchFamily="34" charset="-122"/>
                <a:cs typeface="Roboto Mono Light" pitchFamily="34" charset="-120"/>
              </a:rPr>
              <a:t>03</a:t>
            </a:r>
            <a:endParaRPr lang="en-US" sz="1300" dirty="0"/>
          </a:p>
        </p:txBody>
      </p:sp>
      <p:sp>
        <p:nvSpPr>
          <p:cNvPr id="15" name="Shape 13"/>
          <p:cNvSpPr/>
          <p:nvPr/>
        </p:nvSpPr>
        <p:spPr>
          <a:xfrm>
            <a:off x="8017468" y="2939951"/>
            <a:ext cx="3512653" cy="19050"/>
          </a:xfrm>
          <a:prstGeom prst="rect">
            <a:avLst/>
          </a:prstGeom>
          <a:solidFill>
            <a:srgbClr val="DA1B2E"/>
          </a:solidFill>
          <a:ln/>
        </p:spPr>
      </p:sp>
      <p:sp>
        <p:nvSpPr>
          <p:cNvPr id="16" name="Text 14"/>
          <p:cNvSpPr/>
          <p:nvPr/>
        </p:nvSpPr>
        <p:spPr>
          <a:xfrm>
            <a:off x="8017468" y="3060700"/>
            <a:ext cx="3512653" cy="516930"/>
          </a:xfrm>
          <a:prstGeom prst="rect">
            <a:avLst/>
          </a:prstGeom>
          <a:noFill/>
          <a:ln/>
        </p:spPr>
        <p:txBody>
          <a:bodyPr wrap="square" lIns="0" tIns="0" rIns="0" bIns="0" rtlCol="0" anchor="t">
            <a:normAutofit/>
          </a:bodyPr>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Background Extraction (Automático)</a:t>
            </a:r>
            <a:endParaRPr lang="en-US" sz="1600" dirty="0"/>
          </a:p>
        </p:txBody>
      </p:sp>
      <p:sp>
        <p:nvSpPr>
          <p:cNvPr id="17" name="Text 15"/>
          <p:cNvSpPr/>
          <p:nvPr/>
        </p:nvSpPr>
        <p:spPr>
          <a:xfrm>
            <a:off x="8017468" y="3676848"/>
            <a:ext cx="3512653" cy="79384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Almacena toda la conversación; procesos en segundo plano extraen hechos importantes de forma asíncrona.</a:t>
            </a:r>
            <a:endParaRPr lang="en-US" sz="1300" dirty="0"/>
          </a:p>
        </p:txBody>
      </p:sp>
      <p:sp>
        <p:nvSpPr>
          <p:cNvPr id="18" name="Shape 16"/>
          <p:cNvSpPr/>
          <p:nvPr/>
        </p:nvSpPr>
        <p:spPr>
          <a:xfrm>
            <a:off x="661475" y="4786908"/>
            <a:ext cx="10868745" cy="925909"/>
          </a:xfrm>
          <a:prstGeom prst="roundRect">
            <a:avLst>
              <a:gd name="adj" fmla="val 823"/>
            </a:avLst>
          </a:prstGeom>
          <a:solidFill>
            <a:srgbClr val="F9D2D6"/>
          </a:solidFill>
          <a:ln/>
        </p:spPr>
      </p:sp>
      <p:pic>
        <p:nvPicPr>
          <p:cNvPr id="19" name="Image 0" descr="preencoded.png">    </p:cNvPr>
          <p:cNvPicPr>
            <a:picLocks noChangeAspect="1"/>
          </p:cNvPicPr>
          <p:nvPr/>
        </p:nvPicPr>
        <p:blipFill>
          <a:blip r:embed="rId1"/>
          <a:stretch>
            <a:fillRect/>
          </a:stretch>
        </p:blipFill>
        <p:spPr>
          <a:xfrm>
            <a:off x="826769" y="5026620"/>
            <a:ext cx="206667" cy="165298"/>
          </a:xfrm>
          <a:prstGeom prst="rect">
            <a:avLst/>
          </a:prstGeom>
        </p:spPr>
      </p:pic>
      <p:sp>
        <p:nvSpPr>
          <p:cNvPr id="20" name="Text 17"/>
          <p:cNvSpPr/>
          <p:nvPr/>
        </p:nvSpPr>
        <p:spPr>
          <a:xfrm>
            <a:off x="1198731" y="4993481"/>
            <a:ext cx="10166195" cy="529233"/>
          </a:xfrm>
          <a:prstGeom prst="rect">
            <a:avLst/>
          </a:prstGeom>
          <a:noFill/>
          <a:ln/>
        </p:spPr>
        <p:txBody>
          <a:bodyPr wrap="square" lIns="0" tIns="0" rIns="0" bIns="0" rtlCol="0" anchor="t">
            <a:normAutofit/>
          </a:bodyPr>
          <a:lstStyle/>
          <a:p>
            <a:pPr algn="l" indent="0" marL="0">
              <a:lnSpc>
                <a:spcPct val="133000"/>
              </a:lnSpc>
              <a:buNone/>
            </a:pPr>
            <a:r>
              <a:rPr lang="en-US" sz="1300" b="1" dirty="0">
                <a:solidFill>
                  <a:srgbClr val="000000"/>
                </a:solidFill>
                <a:latin typeface="Roboto Bold" pitchFamily="34" charset="0"/>
                <a:ea typeface="Roboto Bold" pitchFamily="34" charset="-122"/>
                <a:cs typeface="Roboto Bold" pitchFamily="34" charset="-120"/>
              </a:rPr>
              <a:t>Recomendación:</a:t>
            </a:r>
            <a:pPr algn="l" indent="0" marL="0">
              <a:lnSpc>
                <a:spcPct val="133000"/>
              </a:lnSpc>
              <a:buNone/>
            </a:pPr>
            <a:r>
              <a:rPr lang="en-US" sz="1300" dirty="0">
                <a:solidFill>
                  <a:srgbClr val="000000"/>
                </a:solidFill>
                <a:latin typeface="Roboto" pitchFamily="34" charset="0"/>
                <a:ea typeface="Roboto" pitchFamily="34" charset="-122"/>
                <a:cs typeface="Roboto" pitchFamily="34" charset="-120"/>
              </a:rPr>
              <a:t> Empezar con code-driven, agregar background extraction para enriquecimiento, y usar LLM-driven cuando la autonomía sea un requisito funcional.</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661475" y="2595662"/>
            <a:ext cx="10868745" cy="1666577"/>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661475" y="609501"/>
            <a:ext cx="1523367" cy="238820"/>
          </a:xfrm>
          <a:prstGeom prst="roundRect">
            <a:avLst>
              <a:gd name="adj" fmla="val 3191"/>
            </a:avLst>
          </a:prstGeom>
          <a:solidFill>
            <a:srgbClr val="F9D2D6"/>
          </a:solidFill>
          <a:ln/>
        </p:spPr>
      </p:sp>
      <p:sp>
        <p:nvSpPr>
          <p:cNvPr id="3" name="Text 1"/>
          <p:cNvSpPr/>
          <p:nvPr/>
        </p:nvSpPr>
        <p:spPr>
          <a:xfrm>
            <a:off x="755730" y="656630"/>
            <a:ext cx="1944440" cy="144562"/>
          </a:xfrm>
          <a:prstGeom prst="rect">
            <a:avLst/>
          </a:prstGeom>
          <a:noFill/>
          <a:ln/>
        </p:spPr>
        <p:txBody>
          <a:bodyPr wrap="none" lIns="0" tIns="0" rIns="0" bIns="0" rtlCol="0" anchor="t"/>
          <a:lstStyle/>
          <a:p>
            <a:pPr algn="l" indent="0" marL="0">
              <a:lnSpc>
                <a:spcPct val="96000"/>
              </a:lnSpc>
              <a:buNone/>
            </a:pPr>
            <a:r>
              <a:rPr lang="en-US" sz="950" dirty="0">
                <a:solidFill>
                  <a:srgbClr val="3B3535"/>
                </a:solidFill>
                <a:latin typeface="Roboto" pitchFamily="34" charset="0"/>
                <a:ea typeface="Roboto" pitchFamily="34" charset="-122"/>
                <a:cs typeface="Roboto" pitchFamily="34" charset="-120"/>
              </a:rPr>
              <a:t>MEMORIA DE AGENTES</a:t>
            </a:r>
            <a:endParaRPr lang="en-US" sz="950" dirty="0"/>
          </a:p>
        </p:txBody>
      </p:sp>
      <p:sp>
        <p:nvSpPr>
          <p:cNvPr id="4" name="Text 2"/>
          <p:cNvSpPr/>
          <p:nvPr/>
        </p:nvSpPr>
        <p:spPr>
          <a:xfrm>
            <a:off x="661475" y="907951"/>
            <a:ext cx="10868745" cy="490934"/>
          </a:xfrm>
          <a:prstGeom prst="rect">
            <a:avLst/>
          </a:prstGeom>
          <a:noFill/>
          <a:ln/>
        </p:spPr>
        <p:txBody>
          <a:bodyPr wrap="none" lIns="0" tIns="0" rIns="0" bIns="0" rtlCol="0" anchor="t"/>
          <a:lstStyle/>
          <a:p>
            <a:pPr algn="l" indent="0" marL="0">
              <a:lnSpc>
                <a:spcPct val="104000"/>
              </a:lnSpc>
              <a:buNone/>
            </a:pPr>
            <a:r>
              <a:rPr lang="en-US" sz="3050" dirty="0">
                <a:solidFill>
                  <a:srgbClr val="1F1E1E"/>
                </a:solidFill>
                <a:latin typeface="Roboto Mono Medium" pitchFamily="34" charset="0"/>
                <a:ea typeface="Roboto Mono Medium" pitchFamily="34" charset="-122"/>
                <a:cs typeface="Roboto Mono Medium" pitchFamily="34" charset="-120"/>
              </a:rPr>
              <a:t>Soluciones de Memoria en Producción</a:t>
            </a:r>
            <a:endParaRPr lang="en-US" sz="3050" dirty="0"/>
          </a:p>
        </p:txBody>
      </p:sp>
      <p:sp>
        <p:nvSpPr>
          <p:cNvPr id="5" name="Text 3"/>
          <p:cNvSpPr/>
          <p:nvPr/>
        </p:nvSpPr>
        <p:spPr>
          <a:xfrm>
            <a:off x="661475" y="1622723"/>
            <a:ext cx="11478330" cy="245170"/>
          </a:xfrm>
          <a:prstGeom prst="rect">
            <a:avLst/>
          </a:prstGeom>
          <a:noFill/>
          <a:ln/>
        </p:spPr>
        <p:txBody>
          <a:bodyPr wrap="none" lIns="0" tIns="0" rIns="0" bIns="0" rtlCol="0" anchor="t"/>
          <a:lstStyle/>
          <a:p>
            <a:pPr algn="l" indent="0" marL="0">
              <a:lnSpc>
                <a:spcPct val="130000"/>
              </a:lnSpc>
              <a:buNone/>
            </a:pPr>
            <a:r>
              <a:rPr lang="en-US" sz="1200" dirty="0">
                <a:solidFill>
                  <a:srgbClr val="3B3535"/>
                </a:solidFill>
                <a:latin typeface="Roboto" pitchFamily="34" charset="0"/>
                <a:ea typeface="Roboto" pitchFamily="34" charset="-122"/>
                <a:cs typeface="Roboto" pitchFamily="34" charset="-120"/>
              </a:rPr>
              <a:t>El ecosistema de memoria para agentes ha madurado rápidamente. Estas son las soluciones más relevantes y el patrón universal que todas implementan:</a:t>
            </a:r>
            <a:endParaRPr lang="en-US" sz="120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035770"/>
            <a:ext cx="5359762" cy="1641078"/>
          </a:xfrm>
          <a:prstGeom prst="rect">
            <a:avLst/>
          </a:prstGeom>
        </p:spPr>
      </p:pic>
      <p:sp>
        <p:nvSpPr>
          <p:cNvPr id="7" name="Text 4"/>
          <p:cNvSpPr/>
          <p:nvPr/>
        </p:nvSpPr>
        <p:spPr>
          <a:xfrm>
            <a:off x="837584" y="2675334"/>
            <a:ext cx="5007544" cy="245566"/>
          </a:xfrm>
          <a:prstGeom prst="rect">
            <a:avLst/>
          </a:prstGeom>
          <a:noFill/>
          <a:ln/>
        </p:spPr>
        <p:txBody>
          <a:bodyPr wrap="none" lIns="0" tIns="0" rIns="0" bIns="0" rtlCol="0" anchor="t"/>
          <a:lstStyle/>
          <a:p>
            <a:pPr algn="l" indent="0" marL="0">
              <a:lnSpc>
                <a:spcPct val="104000"/>
              </a:lnSpc>
              <a:buNone/>
            </a:pPr>
            <a:r>
              <a:rPr lang="en-US" sz="1500" dirty="0">
                <a:solidFill>
                  <a:srgbClr val="3B3535"/>
                </a:solidFill>
                <a:latin typeface="Roboto Mono Medium" pitchFamily="34" charset="0"/>
                <a:ea typeface="Roboto Mono Medium" pitchFamily="34" charset="-122"/>
                <a:cs typeface="Roboto Mono Medium" pitchFamily="34" charset="-120"/>
              </a:rPr>
              <a:t>Redis Agent Memory Server</a:t>
            </a:r>
            <a:endParaRPr lang="en-US" sz="1500" dirty="0"/>
          </a:p>
        </p:txBody>
      </p:sp>
      <p:sp>
        <p:nvSpPr>
          <p:cNvPr id="8" name="Text 5"/>
          <p:cNvSpPr/>
          <p:nvPr/>
        </p:nvSpPr>
        <p:spPr>
          <a:xfrm>
            <a:off x="837584" y="3010396"/>
            <a:ext cx="5007544" cy="49033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3B3535"/>
                </a:solidFill>
                <a:latin typeface="Roboto" pitchFamily="34" charset="0"/>
                <a:ea typeface="Roboto" pitchFamily="34" charset="-122"/>
                <a:cs typeface="Roboto" pitchFamily="34" charset="-120"/>
              </a:rPr>
              <a:t>Working + long-term con búsqueda semántica integrada. Alta performance para producción.</a:t>
            </a:r>
            <a:endParaRPr lang="en-US" sz="120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70458" y="2035770"/>
            <a:ext cx="5359762" cy="1641078"/>
          </a:xfrm>
          <a:prstGeom prst="rect">
            <a:avLst/>
          </a:prstGeom>
        </p:spPr>
      </p:pic>
      <p:sp>
        <p:nvSpPr>
          <p:cNvPr id="10" name="Text 6"/>
          <p:cNvSpPr/>
          <p:nvPr/>
        </p:nvSpPr>
        <p:spPr>
          <a:xfrm>
            <a:off x="6346567" y="2675334"/>
            <a:ext cx="5007544" cy="245566"/>
          </a:xfrm>
          <a:prstGeom prst="rect">
            <a:avLst/>
          </a:prstGeom>
          <a:noFill/>
          <a:ln/>
        </p:spPr>
        <p:txBody>
          <a:bodyPr wrap="none" lIns="0" tIns="0" rIns="0" bIns="0" rtlCol="0" anchor="t"/>
          <a:lstStyle/>
          <a:p>
            <a:pPr algn="l" indent="0" marL="0">
              <a:lnSpc>
                <a:spcPct val="104000"/>
              </a:lnSpc>
              <a:buNone/>
            </a:pPr>
            <a:r>
              <a:rPr lang="en-US" sz="1500" dirty="0">
                <a:solidFill>
                  <a:srgbClr val="3B3535"/>
                </a:solidFill>
                <a:latin typeface="Roboto Mono Medium" pitchFamily="34" charset="0"/>
                <a:ea typeface="Roboto Mono Medium" pitchFamily="34" charset="-122"/>
                <a:cs typeface="Roboto Mono Medium" pitchFamily="34" charset="-120"/>
              </a:rPr>
              <a:t>Mem0</a:t>
            </a:r>
            <a:endParaRPr lang="en-US" sz="1500" dirty="0"/>
          </a:p>
        </p:txBody>
      </p:sp>
      <p:sp>
        <p:nvSpPr>
          <p:cNvPr id="11" name="Text 7"/>
          <p:cNvSpPr/>
          <p:nvPr/>
        </p:nvSpPr>
        <p:spPr>
          <a:xfrm>
            <a:off x="6346567" y="3010396"/>
            <a:ext cx="5007544" cy="49033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3B3535"/>
                </a:solidFill>
                <a:latin typeface="Roboto" pitchFamily="34" charset="0"/>
                <a:ea typeface="Roboto" pitchFamily="34" charset="-122"/>
                <a:cs typeface="Roboto" pitchFamily="34" charset="-120"/>
              </a:rPr>
              <a:t>Capa de memoria gestionada para agentes. API simple, ideal para integración rápida.</a:t>
            </a:r>
            <a:endParaRPr lang="en-US" sz="120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826073"/>
            <a:ext cx="5359762" cy="1641078"/>
          </a:xfrm>
          <a:prstGeom prst="rect">
            <a:avLst/>
          </a:prstGeom>
        </p:spPr>
      </p:pic>
      <p:sp>
        <p:nvSpPr>
          <p:cNvPr id="13" name="Text 8"/>
          <p:cNvSpPr/>
          <p:nvPr/>
        </p:nvSpPr>
        <p:spPr>
          <a:xfrm>
            <a:off x="837584" y="4465638"/>
            <a:ext cx="5007544" cy="245566"/>
          </a:xfrm>
          <a:prstGeom prst="rect">
            <a:avLst/>
          </a:prstGeom>
          <a:noFill/>
          <a:ln/>
        </p:spPr>
        <p:txBody>
          <a:bodyPr wrap="none" lIns="0" tIns="0" rIns="0" bIns="0" rtlCol="0" anchor="t"/>
          <a:lstStyle/>
          <a:p>
            <a:pPr algn="l" indent="0" marL="0">
              <a:lnSpc>
                <a:spcPct val="104000"/>
              </a:lnSpc>
              <a:buNone/>
            </a:pPr>
            <a:r>
              <a:rPr lang="en-US" sz="1500" dirty="0">
                <a:solidFill>
                  <a:srgbClr val="3B3535"/>
                </a:solidFill>
                <a:latin typeface="Roboto Mono Medium" pitchFamily="34" charset="0"/>
                <a:ea typeface="Roboto Mono Medium" pitchFamily="34" charset="-122"/>
                <a:cs typeface="Roboto Mono Medium" pitchFamily="34" charset="-120"/>
              </a:rPr>
              <a:t>Zep</a:t>
            </a:r>
            <a:endParaRPr lang="en-US" sz="1500" dirty="0"/>
          </a:p>
        </p:txBody>
      </p:sp>
      <p:sp>
        <p:nvSpPr>
          <p:cNvPr id="14" name="Text 9"/>
          <p:cNvSpPr/>
          <p:nvPr/>
        </p:nvSpPr>
        <p:spPr>
          <a:xfrm>
            <a:off x="837584" y="4800699"/>
            <a:ext cx="5007544" cy="49033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3B3535"/>
                </a:solidFill>
                <a:latin typeface="Roboto" pitchFamily="34" charset="0"/>
                <a:ea typeface="Roboto" pitchFamily="34" charset="-122"/>
                <a:cs typeface="Roboto" pitchFamily="34" charset="-120"/>
              </a:rPr>
              <a:t>Long-term memory con extracción automática de hechos desde conversaciones.</a:t>
            </a:r>
            <a:endParaRPr lang="en-US" sz="120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70458" y="3826073"/>
            <a:ext cx="5359762" cy="1641078"/>
          </a:xfrm>
          <a:prstGeom prst="rect">
            <a:avLst/>
          </a:prstGeom>
        </p:spPr>
      </p:pic>
      <p:sp>
        <p:nvSpPr>
          <p:cNvPr id="16" name="Text 10"/>
          <p:cNvSpPr/>
          <p:nvPr/>
        </p:nvSpPr>
        <p:spPr>
          <a:xfrm>
            <a:off x="6346567" y="4465638"/>
            <a:ext cx="5007544" cy="245566"/>
          </a:xfrm>
          <a:prstGeom prst="rect">
            <a:avLst/>
          </a:prstGeom>
          <a:noFill/>
          <a:ln/>
        </p:spPr>
        <p:txBody>
          <a:bodyPr wrap="none" lIns="0" tIns="0" rIns="0" bIns="0" rtlCol="0" anchor="t"/>
          <a:lstStyle/>
          <a:p>
            <a:pPr algn="l" indent="0" marL="0">
              <a:lnSpc>
                <a:spcPct val="104000"/>
              </a:lnSpc>
              <a:buNone/>
            </a:pPr>
            <a:r>
              <a:rPr lang="en-US" sz="1500" dirty="0">
                <a:solidFill>
                  <a:srgbClr val="3B3535"/>
                </a:solidFill>
                <a:latin typeface="Roboto Mono Medium" pitchFamily="34" charset="0"/>
                <a:ea typeface="Roboto Mono Medium" pitchFamily="34" charset="-122"/>
                <a:cs typeface="Roboto Mono Medium" pitchFamily="34" charset="-120"/>
              </a:rPr>
              <a:t>LangChain Memory</a:t>
            </a:r>
            <a:endParaRPr lang="en-US" sz="1500" dirty="0"/>
          </a:p>
        </p:txBody>
      </p:sp>
      <p:sp>
        <p:nvSpPr>
          <p:cNvPr id="17" name="Text 11"/>
          <p:cNvSpPr/>
          <p:nvPr/>
        </p:nvSpPr>
        <p:spPr>
          <a:xfrm>
            <a:off x="6346567" y="4800699"/>
            <a:ext cx="5007544" cy="490339"/>
          </a:xfrm>
          <a:prstGeom prst="rect">
            <a:avLst/>
          </a:prstGeom>
          <a:noFill/>
          <a:ln/>
        </p:spPr>
        <p:txBody>
          <a:bodyPr wrap="square" lIns="0" tIns="0" rIns="0" bIns="0" rtlCol="0" anchor="t">
            <a:normAutofit/>
          </a:bodyPr>
          <a:lstStyle/>
          <a:p>
            <a:pPr algn="l" indent="0" marL="0">
              <a:lnSpc>
                <a:spcPct val="130000"/>
              </a:lnSpc>
              <a:buNone/>
            </a:pPr>
            <a:r>
              <a:rPr lang="en-US" sz="1200" dirty="0">
                <a:solidFill>
                  <a:srgbClr val="3B3535"/>
                </a:solidFill>
                <a:latin typeface="Roboto" pitchFamily="34" charset="0"/>
                <a:ea typeface="Roboto" pitchFamily="34" charset="-122"/>
                <a:cs typeface="Roboto" pitchFamily="34" charset="-120"/>
              </a:rPr>
              <a:t>Integración nativa con LangChain/LangSmith. La opción más directa si ya usás el stack de LangChain.</a:t>
            </a:r>
            <a:endParaRPr lang="en-US" sz="1200" dirty="0"/>
          </a:p>
        </p:txBody>
      </p:sp>
      <p:sp>
        <p:nvSpPr>
          <p:cNvPr id="18" name="Shape 12"/>
          <p:cNvSpPr/>
          <p:nvPr/>
        </p:nvSpPr>
        <p:spPr>
          <a:xfrm>
            <a:off x="661475" y="5635030"/>
            <a:ext cx="10868745" cy="613470"/>
          </a:xfrm>
          <a:prstGeom prst="roundRect">
            <a:avLst>
              <a:gd name="adj" fmla="val 1242"/>
            </a:avLst>
          </a:prstGeom>
          <a:solidFill>
            <a:srgbClr val="F9D2D6"/>
          </a:solidFill>
          <a:ln/>
        </p:spPr>
      </p:sp>
      <p:pic>
        <p:nvPicPr>
          <p:cNvPr id="19" name="Image 4" descr="preencoded.png">    </p:cNvPr>
          <p:cNvPicPr>
            <a:picLocks noChangeAspect="1"/>
          </p:cNvPicPr>
          <p:nvPr/>
        </p:nvPicPr>
        <p:blipFill>
          <a:blip r:embed="rId9"/>
          <a:stretch>
            <a:fillRect/>
          </a:stretch>
        </p:blipFill>
        <p:spPr>
          <a:xfrm>
            <a:off x="818534" y="5851029"/>
            <a:ext cx="196349" cy="157063"/>
          </a:xfrm>
          <a:prstGeom prst="rect">
            <a:avLst/>
          </a:prstGeom>
        </p:spPr>
      </p:pic>
      <p:sp>
        <p:nvSpPr>
          <p:cNvPr id="20" name="Text 13"/>
          <p:cNvSpPr/>
          <p:nvPr/>
        </p:nvSpPr>
        <p:spPr>
          <a:xfrm>
            <a:off x="1171943" y="5823446"/>
            <a:ext cx="10810803" cy="251520"/>
          </a:xfrm>
          <a:prstGeom prst="rect">
            <a:avLst/>
          </a:prstGeom>
          <a:noFill/>
          <a:ln/>
        </p:spPr>
        <p:txBody>
          <a:bodyPr wrap="none" lIns="0" tIns="0" rIns="0" bIns="0" rtlCol="0" anchor="t"/>
          <a:lstStyle/>
          <a:p>
            <a:pPr algn="l" indent="0" marL="0">
              <a:lnSpc>
                <a:spcPct val="130000"/>
              </a:lnSpc>
              <a:buNone/>
            </a:pPr>
            <a:r>
              <a:rPr lang="en-US" sz="1200" b="1" dirty="0">
                <a:solidFill>
                  <a:srgbClr val="000000"/>
                </a:solidFill>
                <a:latin typeface="Roboto Bold" pitchFamily="34" charset="0"/>
                <a:ea typeface="Roboto Bold" pitchFamily="34" charset="-122"/>
                <a:cs typeface="Roboto Bold" pitchFamily="34" charset="-120"/>
              </a:rPr>
              <a:t>Patrón universal:</a:t>
            </a:r>
            <a:pPr algn="l" indent="0" marL="0">
              <a:lnSpc>
                <a:spcPct val="130000"/>
              </a:lnSpc>
              <a:buNone/>
            </a:pPr>
            <a:r>
              <a:rPr lang="en-US" sz="1200" dirty="0">
                <a:solidFill>
                  <a:srgbClr val="000000"/>
                </a:solidFill>
                <a:latin typeface="Roboto" pitchFamily="34" charset="0"/>
                <a:ea typeface="Roboto" pitchFamily="34" charset="-122"/>
                <a:cs typeface="Roboto" pitchFamily="34" charset="-120"/>
              </a:rPr>
              <a:t> </a:t>
            </a:r>
            <a:pPr algn="l" indent="0" marL="0">
              <a:lnSpc>
                <a:spcPct val="130000"/>
              </a:lnSpc>
              <a:buNone/>
            </a:pPr>
            <a:r>
              <a:rPr lang="en-US" sz="1200" dirty="0">
                <a:solidFill>
                  <a:srgbClr val="000000"/>
                </a:solidFill>
                <a:highlight>
                  <a:srgbClr val="F2F2F2"/>
                </a:highlight>
                <a:latin typeface="Consolas" pitchFamily="34" charset="0"/>
                <a:ea typeface="Consolas" pitchFamily="34" charset="-122"/>
                <a:cs typeface="Consolas" pitchFamily="34" charset="-120"/>
              </a:rPr>
              <a:t>store → search → inject</a:t>
            </a:r>
            <a:pPr algn="l" indent="0" marL="0">
              <a:lnSpc>
                <a:spcPct val="130000"/>
              </a:lnSpc>
              <a:buNone/>
            </a:pPr>
            <a:r>
              <a:rPr lang="en-US" sz="1200" dirty="0">
                <a:solidFill>
                  <a:srgbClr val="000000"/>
                </a:solidFill>
                <a:latin typeface="Roboto" pitchFamily="34" charset="0"/>
                <a:ea typeface="Roboto" pitchFamily="34" charset="-122"/>
                <a:cs typeface="Roboto" pitchFamily="34" charset="-120"/>
              </a:rPr>
              <a:t> en prompt o tool results. Independientemente de la solución elegida, este flujo es constante.</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661475" y="590054"/>
            <a:ext cx="607997" cy="213717"/>
          </a:xfrm>
          <a:prstGeom prst="roundRect">
            <a:avLst>
              <a:gd name="adj" fmla="val 3565"/>
            </a:avLst>
          </a:prstGeom>
          <a:solidFill>
            <a:srgbClr val="F9D2D6"/>
          </a:solidFill>
          <a:ln/>
        </p:spPr>
      </p:sp>
      <p:sp>
        <p:nvSpPr>
          <p:cNvPr id="3" name="Text 1"/>
          <p:cNvSpPr/>
          <p:nvPr/>
        </p:nvSpPr>
        <p:spPr>
          <a:xfrm>
            <a:off x="745809" y="632222"/>
            <a:ext cx="1048914" cy="129381"/>
          </a:xfrm>
          <a:prstGeom prst="rect">
            <a:avLst/>
          </a:prstGeom>
          <a:noFill/>
          <a:ln/>
        </p:spPr>
        <p:txBody>
          <a:bodyPr wrap="none" lIns="0" tIns="0" rIns="0" bIns="0" rtlCol="0" anchor="t"/>
          <a:lstStyle/>
          <a:p>
            <a:pPr algn="l" indent="0" marL="0">
              <a:lnSpc>
                <a:spcPct val="96000"/>
              </a:lnSpc>
              <a:buNone/>
            </a:pPr>
            <a:r>
              <a:rPr lang="en-US" sz="850" dirty="0">
                <a:solidFill>
                  <a:srgbClr val="3B3535"/>
                </a:solidFill>
                <a:latin typeface="Roboto" pitchFamily="34" charset="0"/>
                <a:ea typeface="Roboto" pitchFamily="34" charset="-122"/>
                <a:cs typeface="Roboto" pitchFamily="34" charset="-120"/>
              </a:rPr>
              <a:t>AGENDA</a:t>
            </a:r>
            <a:endParaRPr lang="en-US" sz="850" dirty="0"/>
          </a:p>
        </p:txBody>
      </p:sp>
      <p:sp>
        <p:nvSpPr>
          <p:cNvPr id="4" name="Text 2"/>
          <p:cNvSpPr/>
          <p:nvPr/>
        </p:nvSpPr>
        <p:spPr>
          <a:xfrm>
            <a:off x="661475" y="851495"/>
            <a:ext cx="10868745" cy="439241"/>
          </a:xfrm>
          <a:prstGeom prst="rect">
            <a:avLst/>
          </a:prstGeom>
          <a:noFill/>
          <a:ln/>
        </p:spPr>
        <p:txBody>
          <a:bodyPr wrap="none" lIns="0" tIns="0" rIns="0" bIns="0" rtlCol="0" anchor="t"/>
          <a:lstStyle/>
          <a:p>
            <a:pPr algn="l" indent="0" marL="0">
              <a:lnSpc>
                <a:spcPct val="104000"/>
              </a:lnSpc>
              <a:buNone/>
            </a:pPr>
            <a:r>
              <a:rPr lang="en-US" sz="2750" dirty="0">
                <a:solidFill>
                  <a:srgbClr val="1F1E1E"/>
                </a:solidFill>
                <a:latin typeface="Roboto Mono Medium" pitchFamily="34" charset="0"/>
                <a:ea typeface="Roboto Mono Medium" pitchFamily="34" charset="-122"/>
                <a:cs typeface="Roboto Mono Medium" pitchFamily="34" charset="-120"/>
              </a:rPr>
              <a:t>Agenda</a:t>
            </a:r>
            <a:endParaRPr lang="en-US" sz="2750" dirty="0"/>
          </a:p>
        </p:txBody>
      </p:sp>
      <p:sp>
        <p:nvSpPr>
          <p:cNvPr id="5" name="Shape 3"/>
          <p:cNvSpPr/>
          <p:nvPr/>
        </p:nvSpPr>
        <p:spPr>
          <a:xfrm>
            <a:off x="6086323" y="1469926"/>
            <a:ext cx="19050" cy="4797921"/>
          </a:xfrm>
          <a:prstGeom prst="roundRect">
            <a:avLst>
              <a:gd name="adj" fmla="val 39999"/>
            </a:avLst>
          </a:prstGeom>
          <a:solidFill>
            <a:srgbClr val="D8D4D4"/>
          </a:solidFill>
          <a:ln/>
        </p:spPr>
      </p:sp>
      <p:sp>
        <p:nvSpPr>
          <p:cNvPr id="6" name="Shape 4"/>
          <p:cNvSpPr/>
          <p:nvPr/>
        </p:nvSpPr>
        <p:spPr>
          <a:xfrm>
            <a:off x="5535077" y="1618555"/>
            <a:ext cx="421669" cy="19050"/>
          </a:xfrm>
          <a:prstGeom prst="roundRect">
            <a:avLst>
              <a:gd name="adj" fmla="val 39999"/>
            </a:avLst>
          </a:prstGeom>
          <a:solidFill>
            <a:srgbClr val="D8D4D4"/>
          </a:solidFill>
          <a:ln/>
        </p:spPr>
      </p:sp>
      <p:sp>
        <p:nvSpPr>
          <p:cNvPr id="7" name="Shape 5"/>
          <p:cNvSpPr/>
          <p:nvPr/>
        </p:nvSpPr>
        <p:spPr>
          <a:xfrm>
            <a:off x="5937697" y="1469926"/>
            <a:ext cx="316301" cy="316309"/>
          </a:xfrm>
          <a:prstGeom prst="roundRect">
            <a:avLst>
              <a:gd name="adj" fmla="val 2409"/>
            </a:avLst>
          </a:prstGeom>
          <a:solidFill>
            <a:srgbClr val="F2EEEE"/>
          </a:solidFill>
          <a:ln w="6350">
            <a:solidFill>
              <a:srgbClr val="D8D4D4"/>
            </a:solidFill>
            <a:prstDash val="solid"/>
          </a:ln>
        </p:spPr>
      </p:sp>
      <p:sp>
        <p:nvSpPr>
          <p:cNvPr id="8" name="Text 6"/>
          <p:cNvSpPr/>
          <p:nvPr/>
        </p:nvSpPr>
        <p:spPr>
          <a:xfrm>
            <a:off x="5990430" y="1496318"/>
            <a:ext cx="210835" cy="263525"/>
          </a:xfrm>
          <a:prstGeom prst="rect">
            <a:avLst/>
          </a:prstGeom>
          <a:noFill/>
          <a:ln/>
        </p:spPr>
        <p:txBody>
          <a:bodyPr wrap="none" lIns="0" tIns="0" rIns="0" bIns="0" rtlCol="0" anchor="ctr"/>
          <a:lstStyle/>
          <a:p>
            <a:pPr algn="ctr" indent="0" marL="0">
              <a:lnSpc>
                <a:spcPct val="100000"/>
              </a:lnSpc>
              <a:buNone/>
            </a:pPr>
            <a:r>
              <a:rPr lang="en-US" sz="1650" dirty="0">
                <a:solidFill>
                  <a:srgbClr val="3B3535"/>
                </a:solidFill>
                <a:latin typeface="Roboto Mono Medium" pitchFamily="34" charset="0"/>
                <a:ea typeface="Roboto Mono Medium" pitchFamily="34" charset="-122"/>
                <a:cs typeface="Roboto Mono Medium" pitchFamily="34" charset="-120"/>
              </a:rPr>
              <a:t>1</a:t>
            </a:r>
            <a:endParaRPr lang="en-US" sz="1650" dirty="0"/>
          </a:p>
        </p:txBody>
      </p:sp>
      <p:sp>
        <p:nvSpPr>
          <p:cNvPr id="9" name="Text 7"/>
          <p:cNvSpPr/>
          <p:nvPr/>
        </p:nvSpPr>
        <p:spPr>
          <a:xfrm>
            <a:off x="661475" y="1518245"/>
            <a:ext cx="4731525" cy="219571"/>
          </a:xfrm>
          <a:prstGeom prst="rect">
            <a:avLst/>
          </a:prstGeom>
          <a:noFill/>
          <a:ln/>
        </p:spPr>
        <p:txBody>
          <a:bodyPr wrap="none" lIns="0" tIns="0" rIns="0" bIns="0" rtlCol="0" anchor="t"/>
          <a:lstStyle/>
          <a:p>
            <a:pPr algn="r" indent="0" marL="0">
              <a:lnSpc>
                <a:spcPct val="104000"/>
              </a:lnSpc>
              <a:buNone/>
            </a:pPr>
            <a:r>
              <a:rPr lang="en-US" sz="1350" dirty="0">
                <a:solidFill>
                  <a:srgbClr val="3B3535"/>
                </a:solidFill>
                <a:latin typeface="Roboto Mono Medium" pitchFamily="34" charset="0"/>
                <a:ea typeface="Roboto Mono Medium" pitchFamily="34" charset="-122"/>
                <a:cs typeface="Roboto Mono Medium" pitchFamily="34" charset="-120"/>
              </a:rPr>
              <a:t>¿Qué es un Agente?</a:t>
            </a:r>
            <a:endParaRPr lang="en-US" sz="1350" dirty="0"/>
          </a:p>
        </p:txBody>
      </p:sp>
      <p:sp>
        <p:nvSpPr>
          <p:cNvPr id="10" name="Text 8"/>
          <p:cNvSpPr/>
          <p:nvPr/>
        </p:nvSpPr>
        <p:spPr>
          <a:xfrm>
            <a:off x="661475" y="1809452"/>
            <a:ext cx="4731525" cy="208062"/>
          </a:xfrm>
          <a:prstGeom prst="rect">
            <a:avLst/>
          </a:prstGeom>
          <a:noFill/>
          <a:ln/>
        </p:spPr>
        <p:txBody>
          <a:bodyPr wrap="none" lIns="0" tIns="0" rIns="0" bIns="0" rtlCol="0" anchor="t"/>
          <a:lstStyle/>
          <a:p>
            <a:pPr algn="r" indent="0" marL="0">
              <a:lnSpc>
                <a:spcPct val="123000"/>
              </a:lnSpc>
              <a:buNone/>
            </a:pPr>
            <a:r>
              <a:rPr lang="en-US" sz="1100" dirty="0">
                <a:solidFill>
                  <a:srgbClr val="3B3535"/>
                </a:solidFill>
                <a:latin typeface="Roboto" pitchFamily="34" charset="0"/>
                <a:ea typeface="Roboto" pitchFamily="34" charset="-122"/>
                <a:cs typeface="Roboto" pitchFamily="34" charset="-120"/>
              </a:rPr>
              <a:t>Definición formal, racionalidad, ejemplos y tipos de ambientes</a:t>
            </a:r>
            <a:endParaRPr lang="en-US" sz="1100" dirty="0"/>
          </a:p>
        </p:txBody>
      </p:sp>
      <p:sp>
        <p:nvSpPr>
          <p:cNvPr id="11" name="Shape 9"/>
          <p:cNvSpPr/>
          <p:nvPr/>
        </p:nvSpPr>
        <p:spPr>
          <a:xfrm>
            <a:off x="6234949" y="2419747"/>
            <a:ext cx="421669" cy="19050"/>
          </a:xfrm>
          <a:prstGeom prst="roundRect">
            <a:avLst>
              <a:gd name="adj" fmla="val 39999"/>
            </a:avLst>
          </a:prstGeom>
          <a:solidFill>
            <a:srgbClr val="D8D4D4"/>
          </a:solidFill>
          <a:ln/>
        </p:spPr>
      </p:sp>
      <p:sp>
        <p:nvSpPr>
          <p:cNvPr id="12" name="Shape 10"/>
          <p:cNvSpPr/>
          <p:nvPr/>
        </p:nvSpPr>
        <p:spPr>
          <a:xfrm>
            <a:off x="5937697" y="2271117"/>
            <a:ext cx="316301" cy="316309"/>
          </a:xfrm>
          <a:prstGeom prst="roundRect">
            <a:avLst>
              <a:gd name="adj" fmla="val 2409"/>
            </a:avLst>
          </a:prstGeom>
          <a:solidFill>
            <a:srgbClr val="F2EEEE"/>
          </a:solidFill>
          <a:ln w="6350">
            <a:solidFill>
              <a:srgbClr val="D8D4D4"/>
            </a:solidFill>
            <a:prstDash val="solid"/>
          </a:ln>
        </p:spPr>
      </p:sp>
      <p:sp>
        <p:nvSpPr>
          <p:cNvPr id="13" name="Text 11"/>
          <p:cNvSpPr/>
          <p:nvPr/>
        </p:nvSpPr>
        <p:spPr>
          <a:xfrm>
            <a:off x="5990430" y="2297509"/>
            <a:ext cx="210835" cy="263525"/>
          </a:xfrm>
          <a:prstGeom prst="rect">
            <a:avLst/>
          </a:prstGeom>
          <a:noFill/>
          <a:ln/>
        </p:spPr>
        <p:txBody>
          <a:bodyPr wrap="none" lIns="0" tIns="0" rIns="0" bIns="0" rtlCol="0" anchor="ctr"/>
          <a:lstStyle/>
          <a:p>
            <a:pPr algn="ctr" indent="0" marL="0">
              <a:lnSpc>
                <a:spcPct val="100000"/>
              </a:lnSpc>
              <a:buNone/>
            </a:pPr>
            <a:r>
              <a:rPr lang="en-US" sz="1650" dirty="0">
                <a:solidFill>
                  <a:srgbClr val="3B3535"/>
                </a:solidFill>
                <a:latin typeface="Roboto Mono Medium" pitchFamily="34" charset="0"/>
                <a:ea typeface="Roboto Mono Medium" pitchFamily="34" charset="-122"/>
                <a:cs typeface="Roboto Mono Medium" pitchFamily="34" charset="-120"/>
              </a:rPr>
              <a:t>2</a:t>
            </a:r>
            <a:endParaRPr lang="en-US" sz="1650" dirty="0"/>
          </a:p>
        </p:txBody>
      </p:sp>
      <p:sp>
        <p:nvSpPr>
          <p:cNvPr id="14" name="Text 12"/>
          <p:cNvSpPr/>
          <p:nvPr/>
        </p:nvSpPr>
        <p:spPr>
          <a:xfrm>
            <a:off x="6798696" y="2319437"/>
            <a:ext cx="4731525" cy="219571"/>
          </a:xfrm>
          <a:prstGeom prst="rect">
            <a:avLst/>
          </a:prstGeom>
          <a:noFill/>
          <a:ln/>
        </p:spPr>
        <p:txBody>
          <a:bodyPr wrap="none" lIns="0" tIns="0" rIns="0" bIns="0" rtlCol="0" anchor="t"/>
          <a:lstStyle/>
          <a:p>
            <a:pPr algn="l" indent="0" marL="0">
              <a:lnSpc>
                <a:spcPct val="104000"/>
              </a:lnSpc>
              <a:buNone/>
            </a:pPr>
            <a:r>
              <a:rPr lang="en-US" sz="1350" dirty="0">
                <a:solidFill>
                  <a:srgbClr val="3B3535"/>
                </a:solidFill>
                <a:latin typeface="Roboto Mono Medium" pitchFamily="34" charset="0"/>
                <a:ea typeface="Roboto Mono Medium" pitchFamily="34" charset="-122"/>
                <a:cs typeface="Roboto Mono Medium" pitchFamily="34" charset="-120"/>
              </a:rPr>
              <a:t>Agentes basados en LLMs</a:t>
            </a:r>
            <a:endParaRPr lang="en-US" sz="1350" dirty="0"/>
          </a:p>
        </p:txBody>
      </p:sp>
      <p:sp>
        <p:nvSpPr>
          <p:cNvPr id="15" name="Text 13"/>
          <p:cNvSpPr/>
          <p:nvPr/>
        </p:nvSpPr>
        <p:spPr>
          <a:xfrm>
            <a:off x="6798696" y="2610644"/>
            <a:ext cx="4731525" cy="208062"/>
          </a:xfrm>
          <a:prstGeom prst="rect">
            <a:avLst/>
          </a:prstGeom>
          <a:noFill/>
          <a:ln/>
        </p:spPr>
        <p:txBody>
          <a:bodyPr wrap="none" lIns="0" tIns="0" rIns="0" bIns="0" rtlCol="0" anchor="t"/>
          <a:lstStyle/>
          <a:p>
            <a:pPr algn="l" indent="0" marL="0">
              <a:lnSpc>
                <a:spcPct val="123000"/>
              </a:lnSpc>
              <a:buNone/>
            </a:pPr>
            <a:r>
              <a:rPr lang="en-US" sz="1100" dirty="0">
                <a:solidFill>
                  <a:srgbClr val="3B3535"/>
                </a:solidFill>
                <a:latin typeface="Roboto" pitchFamily="34" charset="0"/>
                <a:ea typeface="Roboto" pitchFamily="34" charset="-122"/>
                <a:cs typeface="Roboto" pitchFamily="34" charset="-120"/>
              </a:rPr>
              <a:t>Formulación, valor del LLM, arquitectura ReAct y componentes</a:t>
            </a:r>
            <a:endParaRPr lang="en-US" sz="1100" dirty="0"/>
          </a:p>
        </p:txBody>
      </p:sp>
      <p:sp>
        <p:nvSpPr>
          <p:cNvPr id="16" name="Shape 14"/>
          <p:cNvSpPr/>
          <p:nvPr/>
        </p:nvSpPr>
        <p:spPr>
          <a:xfrm>
            <a:off x="5535077" y="3125688"/>
            <a:ext cx="421669" cy="19050"/>
          </a:xfrm>
          <a:prstGeom prst="roundRect">
            <a:avLst>
              <a:gd name="adj" fmla="val 39999"/>
            </a:avLst>
          </a:prstGeom>
          <a:solidFill>
            <a:srgbClr val="D8D4D4"/>
          </a:solidFill>
          <a:ln/>
        </p:spPr>
      </p:sp>
      <p:sp>
        <p:nvSpPr>
          <p:cNvPr id="17" name="Shape 15"/>
          <p:cNvSpPr/>
          <p:nvPr/>
        </p:nvSpPr>
        <p:spPr>
          <a:xfrm>
            <a:off x="5937697" y="2977059"/>
            <a:ext cx="316301" cy="316309"/>
          </a:xfrm>
          <a:prstGeom prst="roundRect">
            <a:avLst>
              <a:gd name="adj" fmla="val 2409"/>
            </a:avLst>
          </a:prstGeom>
          <a:solidFill>
            <a:srgbClr val="F2EEEE"/>
          </a:solidFill>
          <a:ln w="6350">
            <a:solidFill>
              <a:srgbClr val="D8D4D4"/>
            </a:solidFill>
            <a:prstDash val="solid"/>
          </a:ln>
        </p:spPr>
      </p:sp>
      <p:sp>
        <p:nvSpPr>
          <p:cNvPr id="18" name="Text 16"/>
          <p:cNvSpPr/>
          <p:nvPr/>
        </p:nvSpPr>
        <p:spPr>
          <a:xfrm>
            <a:off x="5990430" y="3003451"/>
            <a:ext cx="210835" cy="263525"/>
          </a:xfrm>
          <a:prstGeom prst="rect">
            <a:avLst/>
          </a:prstGeom>
          <a:noFill/>
          <a:ln/>
        </p:spPr>
        <p:txBody>
          <a:bodyPr wrap="none" lIns="0" tIns="0" rIns="0" bIns="0" rtlCol="0" anchor="ctr"/>
          <a:lstStyle/>
          <a:p>
            <a:pPr algn="ctr" indent="0" marL="0">
              <a:lnSpc>
                <a:spcPct val="100000"/>
              </a:lnSpc>
              <a:buNone/>
            </a:pPr>
            <a:r>
              <a:rPr lang="en-US" sz="1650" dirty="0">
                <a:solidFill>
                  <a:srgbClr val="3B3535"/>
                </a:solidFill>
                <a:latin typeface="Roboto Mono Medium" pitchFamily="34" charset="0"/>
                <a:ea typeface="Roboto Mono Medium" pitchFamily="34" charset="-122"/>
                <a:cs typeface="Roboto Mono Medium" pitchFamily="34" charset="-120"/>
              </a:rPr>
              <a:t>3</a:t>
            </a:r>
            <a:endParaRPr lang="en-US" sz="1650" dirty="0"/>
          </a:p>
        </p:txBody>
      </p:sp>
      <p:sp>
        <p:nvSpPr>
          <p:cNvPr id="19" name="Text 17"/>
          <p:cNvSpPr/>
          <p:nvPr/>
        </p:nvSpPr>
        <p:spPr>
          <a:xfrm>
            <a:off x="661475" y="3025378"/>
            <a:ext cx="4731525" cy="219571"/>
          </a:xfrm>
          <a:prstGeom prst="rect">
            <a:avLst/>
          </a:prstGeom>
          <a:noFill/>
          <a:ln/>
        </p:spPr>
        <p:txBody>
          <a:bodyPr wrap="none" lIns="0" tIns="0" rIns="0" bIns="0" rtlCol="0" anchor="t"/>
          <a:lstStyle/>
          <a:p>
            <a:pPr algn="r" indent="0" marL="0">
              <a:lnSpc>
                <a:spcPct val="104000"/>
              </a:lnSpc>
              <a:buNone/>
            </a:pPr>
            <a:r>
              <a:rPr lang="en-US" sz="1350" dirty="0">
                <a:solidFill>
                  <a:srgbClr val="3B3535"/>
                </a:solidFill>
                <a:latin typeface="Roboto Mono Medium" pitchFamily="34" charset="0"/>
                <a:ea typeface="Roboto Mono Medium" pitchFamily="34" charset="-122"/>
                <a:cs typeface="Roboto Mono Medium" pitchFamily="34" charset="-120"/>
              </a:rPr>
              <a:t>Desafíos de Producción</a:t>
            </a:r>
            <a:endParaRPr lang="en-US" sz="1350" dirty="0"/>
          </a:p>
        </p:txBody>
      </p:sp>
      <p:sp>
        <p:nvSpPr>
          <p:cNvPr id="20" name="Text 18"/>
          <p:cNvSpPr/>
          <p:nvPr/>
        </p:nvSpPr>
        <p:spPr>
          <a:xfrm>
            <a:off x="661475" y="3316585"/>
            <a:ext cx="4731525" cy="208062"/>
          </a:xfrm>
          <a:prstGeom prst="rect">
            <a:avLst/>
          </a:prstGeom>
          <a:noFill/>
          <a:ln/>
        </p:spPr>
        <p:txBody>
          <a:bodyPr wrap="none" lIns="0" tIns="0" rIns="0" bIns="0" rtlCol="0" anchor="t"/>
          <a:lstStyle/>
          <a:p>
            <a:pPr algn="r" indent="0" marL="0">
              <a:lnSpc>
                <a:spcPct val="123000"/>
              </a:lnSpc>
              <a:buNone/>
            </a:pPr>
            <a:r>
              <a:rPr lang="en-US" sz="1100" dirty="0">
                <a:solidFill>
                  <a:srgbClr val="3B3535"/>
                </a:solidFill>
                <a:latin typeface="Roboto" pitchFamily="34" charset="0"/>
                <a:ea typeface="Roboto" pitchFamily="34" charset="-122"/>
                <a:cs typeface="Roboto" pitchFamily="34" charset="-120"/>
              </a:rPr>
              <a:t>Brecha prototipo-producción y Model Context Protocol</a:t>
            </a:r>
            <a:endParaRPr lang="en-US" sz="1100" dirty="0"/>
          </a:p>
        </p:txBody>
      </p:sp>
      <p:sp>
        <p:nvSpPr>
          <p:cNvPr id="21" name="Shape 19"/>
          <p:cNvSpPr/>
          <p:nvPr/>
        </p:nvSpPr>
        <p:spPr>
          <a:xfrm>
            <a:off x="6234949" y="3831630"/>
            <a:ext cx="421669" cy="19050"/>
          </a:xfrm>
          <a:prstGeom prst="roundRect">
            <a:avLst>
              <a:gd name="adj" fmla="val 39999"/>
            </a:avLst>
          </a:prstGeom>
          <a:solidFill>
            <a:srgbClr val="D8D4D4"/>
          </a:solidFill>
          <a:ln/>
        </p:spPr>
      </p:sp>
      <p:sp>
        <p:nvSpPr>
          <p:cNvPr id="22" name="Shape 20"/>
          <p:cNvSpPr/>
          <p:nvPr/>
        </p:nvSpPr>
        <p:spPr>
          <a:xfrm>
            <a:off x="5937697" y="3683000"/>
            <a:ext cx="316301" cy="316309"/>
          </a:xfrm>
          <a:prstGeom prst="roundRect">
            <a:avLst>
              <a:gd name="adj" fmla="val 2409"/>
            </a:avLst>
          </a:prstGeom>
          <a:solidFill>
            <a:srgbClr val="F2EEEE"/>
          </a:solidFill>
          <a:ln w="6350">
            <a:solidFill>
              <a:srgbClr val="D8D4D4"/>
            </a:solidFill>
            <a:prstDash val="solid"/>
          </a:ln>
        </p:spPr>
      </p:sp>
      <p:sp>
        <p:nvSpPr>
          <p:cNvPr id="23" name="Text 21"/>
          <p:cNvSpPr/>
          <p:nvPr/>
        </p:nvSpPr>
        <p:spPr>
          <a:xfrm>
            <a:off x="5990430" y="3709392"/>
            <a:ext cx="210835" cy="263525"/>
          </a:xfrm>
          <a:prstGeom prst="rect">
            <a:avLst/>
          </a:prstGeom>
          <a:noFill/>
          <a:ln/>
        </p:spPr>
        <p:txBody>
          <a:bodyPr wrap="none" lIns="0" tIns="0" rIns="0" bIns="0" rtlCol="0" anchor="ctr"/>
          <a:lstStyle/>
          <a:p>
            <a:pPr algn="ctr" indent="0" marL="0">
              <a:lnSpc>
                <a:spcPct val="100000"/>
              </a:lnSpc>
              <a:buNone/>
            </a:pPr>
            <a:r>
              <a:rPr lang="en-US" sz="1650" dirty="0">
                <a:solidFill>
                  <a:srgbClr val="3B3535"/>
                </a:solidFill>
                <a:latin typeface="Roboto Mono Medium" pitchFamily="34" charset="0"/>
                <a:ea typeface="Roboto Mono Medium" pitchFamily="34" charset="-122"/>
                <a:cs typeface="Roboto Mono Medium" pitchFamily="34" charset="-120"/>
              </a:rPr>
              <a:t>4</a:t>
            </a:r>
            <a:endParaRPr lang="en-US" sz="1650" dirty="0"/>
          </a:p>
        </p:txBody>
      </p:sp>
      <p:sp>
        <p:nvSpPr>
          <p:cNvPr id="24" name="Text 22"/>
          <p:cNvSpPr/>
          <p:nvPr/>
        </p:nvSpPr>
        <p:spPr>
          <a:xfrm>
            <a:off x="6798696" y="3731320"/>
            <a:ext cx="4731525" cy="219571"/>
          </a:xfrm>
          <a:prstGeom prst="rect">
            <a:avLst/>
          </a:prstGeom>
          <a:noFill/>
          <a:ln/>
        </p:spPr>
        <p:txBody>
          <a:bodyPr wrap="none" lIns="0" tIns="0" rIns="0" bIns="0" rtlCol="0" anchor="t"/>
          <a:lstStyle/>
          <a:p>
            <a:pPr algn="l" indent="0" marL="0">
              <a:lnSpc>
                <a:spcPct val="104000"/>
              </a:lnSpc>
              <a:buNone/>
            </a:pPr>
            <a:r>
              <a:rPr lang="en-US" sz="1350" dirty="0">
                <a:solidFill>
                  <a:srgbClr val="3B3535"/>
                </a:solidFill>
                <a:latin typeface="Roboto Mono Medium" pitchFamily="34" charset="0"/>
                <a:ea typeface="Roboto Mono Medium" pitchFamily="34" charset="-122"/>
                <a:cs typeface="Roboto Mono Medium" pitchFamily="34" charset="-120"/>
              </a:rPr>
              <a:t>Sistemas Multiagente</a:t>
            </a:r>
            <a:endParaRPr lang="en-US" sz="1350" dirty="0"/>
          </a:p>
        </p:txBody>
      </p:sp>
      <p:sp>
        <p:nvSpPr>
          <p:cNvPr id="25" name="Text 23"/>
          <p:cNvSpPr/>
          <p:nvPr/>
        </p:nvSpPr>
        <p:spPr>
          <a:xfrm>
            <a:off x="6798696" y="4022527"/>
            <a:ext cx="4731525" cy="416123"/>
          </a:xfrm>
          <a:prstGeom prst="rect">
            <a:avLst/>
          </a:prstGeom>
          <a:noFill/>
          <a:ln/>
        </p:spPr>
        <p:txBody>
          <a:bodyPr wrap="square" lIns="0" tIns="0" rIns="0" bIns="0" rtlCol="0" anchor="t">
            <a:normAutofit/>
          </a:bodyPr>
          <a:lstStyle/>
          <a:p>
            <a:pPr algn="l" indent="0" marL="0">
              <a:lnSpc>
                <a:spcPct val="123000"/>
              </a:lnSpc>
              <a:buNone/>
            </a:pPr>
            <a:r>
              <a:rPr lang="en-US" sz="1100" dirty="0">
                <a:solidFill>
                  <a:srgbClr val="3B3535"/>
                </a:solidFill>
                <a:latin typeface="Roboto" pitchFamily="34" charset="0"/>
                <a:ea typeface="Roboto" pitchFamily="34" charset="-122"/>
                <a:cs typeface="Roboto" pitchFamily="34" charset="-120"/>
              </a:rPr>
              <a:t>Limitaciones de un agente, arquitecturas multiagente y el espectro workflows-agentes</a:t>
            </a:r>
            <a:endParaRPr lang="en-US" sz="1100" dirty="0"/>
          </a:p>
        </p:txBody>
      </p:sp>
      <p:sp>
        <p:nvSpPr>
          <p:cNvPr id="26" name="Shape 24"/>
          <p:cNvSpPr/>
          <p:nvPr/>
        </p:nvSpPr>
        <p:spPr>
          <a:xfrm>
            <a:off x="5535077" y="4537571"/>
            <a:ext cx="421669" cy="19050"/>
          </a:xfrm>
          <a:prstGeom prst="roundRect">
            <a:avLst>
              <a:gd name="adj" fmla="val 39999"/>
            </a:avLst>
          </a:prstGeom>
          <a:solidFill>
            <a:srgbClr val="D8D4D4"/>
          </a:solidFill>
          <a:ln/>
        </p:spPr>
      </p:sp>
      <p:sp>
        <p:nvSpPr>
          <p:cNvPr id="27" name="Shape 25"/>
          <p:cNvSpPr/>
          <p:nvPr/>
        </p:nvSpPr>
        <p:spPr>
          <a:xfrm>
            <a:off x="5937697" y="4388941"/>
            <a:ext cx="316301" cy="316309"/>
          </a:xfrm>
          <a:prstGeom prst="roundRect">
            <a:avLst>
              <a:gd name="adj" fmla="val 2409"/>
            </a:avLst>
          </a:prstGeom>
          <a:solidFill>
            <a:srgbClr val="F2EEEE"/>
          </a:solidFill>
          <a:ln w="6350">
            <a:solidFill>
              <a:srgbClr val="D8D4D4"/>
            </a:solidFill>
            <a:prstDash val="solid"/>
          </a:ln>
        </p:spPr>
      </p:sp>
      <p:sp>
        <p:nvSpPr>
          <p:cNvPr id="28" name="Text 26"/>
          <p:cNvSpPr/>
          <p:nvPr/>
        </p:nvSpPr>
        <p:spPr>
          <a:xfrm>
            <a:off x="5990430" y="4415334"/>
            <a:ext cx="210835" cy="263525"/>
          </a:xfrm>
          <a:prstGeom prst="rect">
            <a:avLst/>
          </a:prstGeom>
          <a:noFill/>
          <a:ln/>
        </p:spPr>
        <p:txBody>
          <a:bodyPr wrap="none" lIns="0" tIns="0" rIns="0" bIns="0" rtlCol="0" anchor="ctr"/>
          <a:lstStyle/>
          <a:p>
            <a:pPr algn="ctr" indent="0" marL="0">
              <a:lnSpc>
                <a:spcPct val="100000"/>
              </a:lnSpc>
              <a:buNone/>
            </a:pPr>
            <a:r>
              <a:rPr lang="en-US" sz="1650" dirty="0">
                <a:solidFill>
                  <a:srgbClr val="3B3535"/>
                </a:solidFill>
                <a:latin typeface="Roboto Mono Medium" pitchFamily="34" charset="0"/>
                <a:ea typeface="Roboto Mono Medium" pitchFamily="34" charset="-122"/>
                <a:cs typeface="Roboto Mono Medium" pitchFamily="34" charset="-120"/>
              </a:rPr>
              <a:t>5</a:t>
            </a:r>
            <a:endParaRPr lang="en-US" sz="1650" dirty="0"/>
          </a:p>
        </p:txBody>
      </p:sp>
      <p:sp>
        <p:nvSpPr>
          <p:cNvPr id="29" name="Text 27"/>
          <p:cNvSpPr/>
          <p:nvPr/>
        </p:nvSpPr>
        <p:spPr>
          <a:xfrm>
            <a:off x="661475" y="4437261"/>
            <a:ext cx="4731525" cy="219571"/>
          </a:xfrm>
          <a:prstGeom prst="rect">
            <a:avLst/>
          </a:prstGeom>
          <a:noFill/>
          <a:ln/>
        </p:spPr>
        <p:txBody>
          <a:bodyPr wrap="none" lIns="0" tIns="0" rIns="0" bIns="0" rtlCol="0" anchor="t"/>
          <a:lstStyle/>
          <a:p>
            <a:pPr algn="r" indent="0" marL="0">
              <a:lnSpc>
                <a:spcPct val="104000"/>
              </a:lnSpc>
              <a:buNone/>
            </a:pPr>
            <a:r>
              <a:rPr lang="en-US" sz="1350" dirty="0">
                <a:solidFill>
                  <a:srgbClr val="3B3535"/>
                </a:solidFill>
                <a:latin typeface="Roboto Mono Medium" pitchFamily="34" charset="0"/>
                <a:ea typeface="Roboto Mono Medium" pitchFamily="34" charset="-122"/>
                <a:cs typeface="Roboto Mono Medium" pitchFamily="34" charset="-120"/>
              </a:rPr>
              <a:t>Memoria de Agentes</a:t>
            </a:r>
            <a:endParaRPr lang="en-US" sz="1350" dirty="0"/>
          </a:p>
        </p:txBody>
      </p:sp>
      <p:sp>
        <p:nvSpPr>
          <p:cNvPr id="30" name="Text 28"/>
          <p:cNvSpPr/>
          <p:nvPr/>
        </p:nvSpPr>
        <p:spPr>
          <a:xfrm>
            <a:off x="661475" y="4728468"/>
            <a:ext cx="4731525" cy="208062"/>
          </a:xfrm>
          <a:prstGeom prst="rect">
            <a:avLst/>
          </a:prstGeom>
          <a:noFill/>
          <a:ln/>
        </p:spPr>
        <p:txBody>
          <a:bodyPr wrap="none" lIns="0" tIns="0" rIns="0" bIns="0" rtlCol="0" anchor="t"/>
          <a:lstStyle/>
          <a:p>
            <a:pPr algn="r" indent="0" marL="0">
              <a:lnSpc>
                <a:spcPct val="123000"/>
              </a:lnSpc>
              <a:buNone/>
            </a:pPr>
            <a:r>
              <a:rPr lang="en-US" sz="1100" dirty="0">
                <a:solidFill>
                  <a:srgbClr val="3B3535"/>
                </a:solidFill>
                <a:latin typeface="Roboto" pitchFamily="34" charset="0"/>
                <a:ea typeface="Roboto" pitchFamily="34" charset="-122"/>
                <a:cs typeface="Roboto" pitchFamily="34" charset="-120"/>
              </a:rPr>
              <a:t>Arquitectura de dos niveles, patrones de integración y soluciones</a:t>
            </a:r>
            <a:endParaRPr lang="en-US" sz="1100" dirty="0"/>
          </a:p>
        </p:txBody>
      </p:sp>
      <p:sp>
        <p:nvSpPr>
          <p:cNvPr id="31" name="Shape 29"/>
          <p:cNvSpPr/>
          <p:nvPr/>
        </p:nvSpPr>
        <p:spPr>
          <a:xfrm>
            <a:off x="6234949" y="5243513"/>
            <a:ext cx="421669" cy="19050"/>
          </a:xfrm>
          <a:prstGeom prst="roundRect">
            <a:avLst>
              <a:gd name="adj" fmla="val 39999"/>
            </a:avLst>
          </a:prstGeom>
          <a:solidFill>
            <a:srgbClr val="D8D4D4"/>
          </a:solidFill>
          <a:ln/>
        </p:spPr>
      </p:sp>
      <p:sp>
        <p:nvSpPr>
          <p:cNvPr id="32" name="Shape 30"/>
          <p:cNvSpPr/>
          <p:nvPr/>
        </p:nvSpPr>
        <p:spPr>
          <a:xfrm>
            <a:off x="5937697" y="5094883"/>
            <a:ext cx="316301" cy="316309"/>
          </a:xfrm>
          <a:prstGeom prst="roundRect">
            <a:avLst>
              <a:gd name="adj" fmla="val 2409"/>
            </a:avLst>
          </a:prstGeom>
          <a:solidFill>
            <a:srgbClr val="F2EEEE"/>
          </a:solidFill>
          <a:ln w="6350">
            <a:solidFill>
              <a:srgbClr val="D8D4D4"/>
            </a:solidFill>
            <a:prstDash val="solid"/>
          </a:ln>
        </p:spPr>
      </p:sp>
      <p:sp>
        <p:nvSpPr>
          <p:cNvPr id="33" name="Text 31"/>
          <p:cNvSpPr/>
          <p:nvPr/>
        </p:nvSpPr>
        <p:spPr>
          <a:xfrm>
            <a:off x="5990430" y="5121275"/>
            <a:ext cx="210835" cy="263525"/>
          </a:xfrm>
          <a:prstGeom prst="rect">
            <a:avLst/>
          </a:prstGeom>
          <a:noFill/>
          <a:ln/>
        </p:spPr>
        <p:txBody>
          <a:bodyPr wrap="none" lIns="0" tIns="0" rIns="0" bIns="0" rtlCol="0" anchor="ctr"/>
          <a:lstStyle/>
          <a:p>
            <a:pPr algn="ctr" indent="0" marL="0">
              <a:lnSpc>
                <a:spcPct val="100000"/>
              </a:lnSpc>
              <a:buNone/>
            </a:pPr>
            <a:r>
              <a:rPr lang="en-US" sz="1650" dirty="0">
                <a:solidFill>
                  <a:srgbClr val="3B3535"/>
                </a:solidFill>
                <a:latin typeface="Roboto Mono Medium" pitchFamily="34" charset="0"/>
                <a:ea typeface="Roboto Mono Medium" pitchFamily="34" charset="-122"/>
                <a:cs typeface="Roboto Mono Medium" pitchFamily="34" charset="-120"/>
              </a:rPr>
              <a:t>6</a:t>
            </a:r>
            <a:endParaRPr lang="en-US" sz="1650" dirty="0"/>
          </a:p>
        </p:txBody>
      </p:sp>
      <p:sp>
        <p:nvSpPr>
          <p:cNvPr id="34" name="Text 32"/>
          <p:cNvSpPr/>
          <p:nvPr/>
        </p:nvSpPr>
        <p:spPr>
          <a:xfrm>
            <a:off x="6798696" y="5143202"/>
            <a:ext cx="4731525" cy="219571"/>
          </a:xfrm>
          <a:prstGeom prst="rect">
            <a:avLst/>
          </a:prstGeom>
          <a:noFill/>
          <a:ln/>
        </p:spPr>
        <p:txBody>
          <a:bodyPr wrap="none" lIns="0" tIns="0" rIns="0" bIns="0" rtlCol="0" anchor="t"/>
          <a:lstStyle/>
          <a:p>
            <a:pPr algn="l" indent="0" marL="0">
              <a:lnSpc>
                <a:spcPct val="104000"/>
              </a:lnSpc>
              <a:buNone/>
            </a:pPr>
            <a:r>
              <a:rPr lang="en-US" sz="1350" dirty="0">
                <a:solidFill>
                  <a:srgbClr val="3B3535"/>
                </a:solidFill>
                <a:latin typeface="Roboto Mono Medium" pitchFamily="34" charset="0"/>
                <a:ea typeface="Roboto Mono Medium" pitchFamily="34" charset="-122"/>
                <a:cs typeface="Roboto Mono Medium" pitchFamily="34" charset="-120"/>
              </a:rPr>
              <a:t>Objetivos y Práctica</a:t>
            </a:r>
            <a:endParaRPr lang="en-US" sz="1350" dirty="0"/>
          </a:p>
        </p:txBody>
      </p:sp>
      <p:sp>
        <p:nvSpPr>
          <p:cNvPr id="35" name="Text 33"/>
          <p:cNvSpPr/>
          <p:nvPr/>
        </p:nvSpPr>
        <p:spPr>
          <a:xfrm>
            <a:off x="6798696" y="5434409"/>
            <a:ext cx="4731525" cy="208062"/>
          </a:xfrm>
          <a:prstGeom prst="rect">
            <a:avLst/>
          </a:prstGeom>
          <a:noFill/>
          <a:ln/>
        </p:spPr>
        <p:txBody>
          <a:bodyPr wrap="none" lIns="0" tIns="0" rIns="0" bIns="0" rtlCol="0" anchor="t"/>
          <a:lstStyle/>
          <a:p>
            <a:pPr algn="l" indent="0" marL="0">
              <a:lnSpc>
                <a:spcPct val="123000"/>
              </a:lnSpc>
              <a:buNone/>
            </a:pPr>
            <a:r>
              <a:rPr lang="en-US" sz="1100" dirty="0">
                <a:solidFill>
                  <a:srgbClr val="3B3535"/>
                </a:solidFill>
                <a:latin typeface="Roboto" pitchFamily="34" charset="0"/>
                <a:ea typeface="Roboto" pitchFamily="34" charset="-122"/>
                <a:cs typeface="Roboto" pitchFamily="34" charset="-120"/>
              </a:rPr>
              <a:t>Objetivos de aprendizaje, proyectos prácticos y ejercicio final</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661475" y="2755503"/>
            <a:ext cx="1656019" cy="251420"/>
          </a:xfrm>
          <a:prstGeom prst="roundRect">
            <a:avLst>
              <a:gd name="adj" fmla="val 3031"/>
            </a:avLst>
          </a:prstGeom>
          <a:solidFill>
            <a:srgbClr val="F9D2D6"/>
          </a:solidFill>
          <a:ln/>
        </p:spPr>
      </p:sp>
      <p:sp>
        <p:nvSpPr>
          <p:cNvPr id="3" name="Text 1"/>
          <p:cNvSpPr/>
          <p:nvPr/>
        </p:nvSpPr>
        <p:spPr>
          <a:xfrm>
            <a:off x="760691" y="2805113"/>
            <a:ext cx="2067171"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OBJETIVOS Y PRÁCTICA</a:t>
            </a:r>
            <a:endParaRPr lang="en-US" sz="1000" dirty="0"/>
          </a:p>
        </p:txBody>
      </p:sp>
      <p:sp>
        <p:nvSpPr>
          <p:cNvPr id="4" name="Text 2"/>
          <p:cNvSpPr/>
          <p:nvPr/>
        </p:nvSpPr>
        <p:spPr>
          <a:xfrm>
            <a:off x="661475" y="3073003"/>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Objetivos y </a:t>
            </a:r>
            <a:pPr algn="l" indent="0" marL="0">
              <a:lnSpc>
                <a:spcPct val="104000"/>
              </a:lnSpc>
              <a:buNone/>
            </a:pPr>
            <a:r>
              <a:rPr lang="en-US" sz="3250" dirty="0">
                <a:solidFill>
                  <a:srgbClr val="DA1B2E"/>
                </a:solidFill>
                <a:latin typeface="Roboto Mono Medium" pitchFamily="34" charset="0"/>
                <a:ea typeface="Roboto Mono Medium" pitchFamily="34" charset="-122"/>
                <a:cs typeface="Roboto Mono Medium" pitchFamily="34" charset="-120"/>
              </a:rPr>
              <a:t>Práctica</a:t>
            </a:r>
            <a:endParaRPr lang="en-US" sz="3250" dirty="0"/>
          </a:p>
        </p:txBody>
      </p:sp>
      <p:sp>
        <p:nvSpPr>
          <p:cNvPr id="5" name="Text 3"/>
          <p:cNvSpPr/>
          <p:nvPr/>
        </p:nvSpPr>
        <p:spPr>
          <a:xfrm>
            <a:off x="661475" y="3837781"/>
            <a:ext cx="11478330" cy="264616"/>
          </a:xfrm>
          <a:prstGeom prst="rect">
            <a:avLst/>
          </a:prstGeom>
          <a:noFill/>
          <a:ln/>
        </p:spPr>
        <p:txBody>
          <a:bodyPr wrap="none" lIns="0" tIns="0" rIns="0" bIns="0" rtlCol="0" anchor="t"/>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Esta parte del módulo traduce toda la teoría en competencias concretas y proyectos prácticos implementables.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661475" y="1925935"/>
            <a:ext cx="1656019" cy="251420"/>
          </a:xfrm>
          <a:prstGeom prst="roundRect">
            <a:avLst>
              <a:gd name="adj" fmla="val 3031"/>
            </a:avLst>
          </a:prstGeom>
          <a:solidFill>
            <a:srgbClr val="F9D2D6"/>
          </a:solidFill>
          <a:ln/>
        </p:spPr>
      </p:sp>
      <p:sp>
        <p:nvSpPr>
          <p:cNvPr id="3" name="Text 1"/>
          <p:cNvSpPr/>
          <p:nvPr/>
        </p:nvSpPr>
        <p:spPr>
          <a:xfrm>
            <a:off x="760691" y="1975545"/>
            <a:ext cx="2067171"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OBJETIVOS Y PRÁCTICA</a:t>
            </a:r>
            <a:endParaRPr lang="en-US" sz="1000" dirty="0"/>
          </a:p>
        </p:txBody>
      </p:sp>
      <p:sp>
        <p:nvSpPr>
          <p:cNvPr id="4" name="Text 2"/>
          <p:cNvSpPr/>
          <p:nvPr/>
        </p:nvSpPr>
        <p:spPr>
          <a:xfrm>
            <a:off x="661475" y="2243435"/>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Objetivos de Aprendizaje</a:t>
            </a:r>
            <a:endParaRPr lang="en-US" sz="3250" dirty="0"/>
          </a:p>
        </p:txBody>
      </p:sp>
      <p:sp>
        <p:nvSpPr>
          <p:cNvPr id="5" name="Text 3"/>
          <p:cNvSpPr/>
          <p:nvPr/>
        </p:nvSpPr>
        <p:spPr>
          <a:xfrm>
            <a:off x="661475" y="3008213"/>
            <a:ext cx="11478330" cy="264616"/>
          </a:xfrm>
          <a:prstGeom prst="rect">
            <a:avLst/>
          </a:prstGeom>
          <a:noFill/>
          <a:ln/>
        </p:spPr>
        <p:txBody>
          <a:bodyPr wrap="none" lIns="0" tIns="0" rIns="0" bIns="0" rtlCol="0" anchor="t"/>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Al finalizar este módulo, el estudiante será capaz de diseñar, implementar y operar agentes basados en LLMs en entornos de producción:</a:t>
            </a:r>
            <a:endParaRPr lang="en-US" sz="130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3458865"/>
            <a:ext cx="330688" cy="330696"/>
          </a:xfrm>
          <a:prstGeom prst="rect">
            <a:avLst/>
          </a:prstGeom>
        </p:spPr>
      </p:pic>
      <p:sp>
        <p:nvSpPr>
          <p:cNvPr id="7" name="Text 4"/>
          <p:cNvSpPr/>
          <p:nvPr/>
        </p:nvSpPr>
        <p:spPr>
          <a:xfrm>
            <a:off x="1198830" y="3515717"/>
            <a:ext cx="2947715" cy="516930"/>
          </a:xfrm>
          <a:prstGeom prst="rect">
            <a:avLst/>
          </a:prstGeom>
          <a:noFill/>
          <a:ln/>
        </p:spPr>
        <p:txBody>
          <a:bodyPr wrap="square" lIns="0" tIns="0" rIns="0" bIns="0" rtlCol="0" anchor="t">
            <a:normAutofit/>
          </a:bodyPr>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Construir agentes con tool capabilities</a:t>
            </a:r>
            <a:endParaRPr lang="en-US" sz="1600" dirty="0"/>
          </a:p>
        </p:txBody>
      </p:sp>
      <p:sp>
        <p:nvSpPr>
          <p:cNvPr id="8" name="Text 5"/>
          <p:cNvSpPr/>
          <p:nvPr/>
        </p:nvSpPr>
        <p:spPr>
          <a:xfrm>
            <a:off x="1198830" y="4131866"/>
            <a:ext cx="2947715" cy="53558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Usando </a:t>
            </a:r>
            <a:pPr algn="l" indent="0" marL="0">
              <a:lnSpc>
                <a:spcPct val="133000"/>
              </a:lnSpc>
              <a:buNone/>
            </a:pPr>
            <a:r>
              <a:rPr lang="en-US" sz="1300" dirty="0">
                <a:solidFill>
                  <a:srgbClr val="3B3535"/>
                </a:solidFill>
                <a:highlight>
                  <a:srgbClr val="F2F2F2"/>
                </a:highlight>
                <a:latin typeface="Consolas" pitchFamily="34" charset="0"/>
                <a:ea typeface="Consolas" pitchFamily="34" charset="-122"/>
                <a:cs typeface="Consolas" pitchFamily="34" charset="-120"/>
              </a:rPr>
              <a:t>createAgent</a:t>
            </a:r>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 de LangChain con patrones ReAct completos.</a:t>
            </a:r>
            <a:endParaRPr lang="en-US" sz="130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53213" y="3458865"/>
            <a:ext cx="330688" cy="330696"/>
          </a:xfrm>
          <a:prstGeom prst="rect">
            <a:avLst/>
          </a:prstGeom>
        </p:spPr>
      </p:pic>
      <p:sp>
        <p:nvSpPr>
          <p:cNvPr id="10" name="Text 6"/>
          <p:cNvSpPr/>
          <p:nvPr/>
        </p:nvSpPr>
        <p:spPr>
          <a:xfrm>
            <a:off x="4890568" y="3515717"/>
            <a:ext cx="2947815" cy="516930"/>
          </a:xfrm>
          <a:prstGeom prst="rect">
            <a:avLst/>
          </a:prstGeom>
          <a:noFill/>
          <a:ln/>
        </p:spPr>
        <p:txBody>
          <a:bodyPr wrap="square" lIns="0" tIns="0" rIns="0" bIns="0" rtlCol="0" anchor="t">
            <a:normAutofit/>
          </a:bodyPr>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Diseñar y operar servidores MCP</a:t>
            </a:r>
            <a:endParaRPr lang="en-US" sz="1600" dirty="0"/>
          </a:p>
        </p:txBody>
      </p:sp>
      <p:sp>
        <p:nvSpPr>
          <p:cNvPr id="11" name="Text 7"/>
          <p:cNvSpPr/>
          <p:nvPr/>
        </p:nvSpPr>
        <p:spPr>
          <a:xfrm>
            <a:off x="4890568" y="4131866"/>
            <a:ext cx="2947815" cy="80019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Con especificaciones completas e integración multi-servidor via </a:t>
            </a:r>
            <a:pPr algn="l" indent="0" marL="0">
              <a:lnSpc>
                <a:spcPct val="133000"/>
              </a:lnSpc>
              <a:buNone/>
            </a:pPr>
            <a:r>
              <a:rPr lang="en-US" sz="1300" dirty="0">
                <a:solidFill>
                  <a:srgbClr val="3B3535"/>
                </a:solidFill>
                <a:highlight>
                  <a:srgbClr val="F2F2F2"/>
                </a:highlight>
                <a:latin typeface="Consolas" pitchFamily="34" charset="0"/>
                <a:ea typeface="Consolas" pitchFamily="34" charset="-122"/>
                <a:cs typeface="Consolas" pitchFamily="34" charset="-120"/>
              </a:rPr>
              <a:t>MultiServerMCPClient</a:t>
            </a:r>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a:t>
            </a:r>
            <a:endParaRPr lang="en-US" sz="130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45050" y="3458865"/>
            <a:ext cx="330688" cy="330696"/>
          </a:xfrm>
          <a:prstGeom prst="rect">
            <a:avLst/>
          </a:prstGeom>
        </p:spPr>
      </p:pic>
      <p:sp>
        <p:nvSpPr>
          <p:cNvPr id="13" name="Text 8"/>
          <p:cNvSpPr/>
          <p:nvPr/>
        </p:nvSpPr>
        <p:spPr>
          <a:xfrm>
            <a:off x="8582406" y="3515717"/>
            <a:ext cx="2947815" cy="516930"/>
          </a:xfrm>
          <a:prstGeom prst="rect">
            <a:avLst/>
          </a:prstGeom>
          <a:noFill/>
          <a:ln/>
        </p:spPr>
        <p:txBody>
          <a:bodyPr wrap="square" lIns="0" tIns="0" rIns="0" bIns="0" rtlCol="0" anchor="t">
            <a:normAutofit/>
          </a:bodyPr>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Implementar memoria y seguridad</a:t>
            </a:r>
            <a:endParaRPr lang="en-US" sz="1600" dirty="0"/>
          </a:p>
        </p:txBody>
      </p:sp>
      <p:sp>
        <p:nvSpPr>
          <p:cNvPr id="14" name="Text 9"/>
          <p:cNvSpPr/>
          <p:nvPr/>
        </p:nvSpPr>
        <p:spPr>
          <a:xfrm>
            <a:off x="8582406" y="4131866"/>
            <a:ext cx="2947815" cy="800199"/>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Memoria con </a:t>
            </a:r>
            <a:pPr algn="l" indent="0" marL="0">
              <a:lnSpc>
                <a:spcPct val="133000"/>
              </a:lnSpc>
              <a:buNone/>
            </a:pPr>
            <a:r>
              <a:rPr lang="en-US" sz="1300" dirty="0">
                <a:solidFill>
                  <a:srgbClr val="3B3535"/>
                </a:solidFill>
                <a:highlight>
                  <a:srgbClr val="F2F2F2"/>
                </a:highlight>
                <a:latin typeface="Consolas" pitchFamily="34" charset="0"/>
                <a:ea typeface="Consolas" pitchFamily="34" charset="-122"/>
                <a:cs typeface="Consolas" pitchFamily="34" charset="-120"/>
              </a:rPr>
              <a:t>MemorySaver</a:t>
            </a:r>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 reglas de negocio determinísticas, detección de PII y mitigación de jailbreak.</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661475" y="948730"/>
            <a:ext cx="1656019" cy="251420"/>
          </a:xfrm>
          <a:prstGeom prst="roundRect">
            <a:avLst>
              <a:gd name="adj" fmla="val 3031"/>
            </a:avLst>
          </a:prstGeom>
          <a:solidFill>
            <a:srgbClr val="F9D2D6"/>
          </a:solidFill>
          <a:ln/>
        </p:spPr>
      </p:sp>
      <p:sp>
        <p:nvSpPr>
          <p:cNvPr id="3" name="Text 1"/>
          <p:cNvSpPr/>
          <p:nvPr/>
        </p:nvSpPr>
        <p:spPr>
          <a:xfrm>
            <a:off x="760691" y="998339"/>
            <a:ext cx="2067171"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OBJETIVOS Y PRÁCTICA</a:t>
            </a:r>
            <a:endParaRPr lang="en-US" sz="1000" dirty="0"/>
          </a:p>
        </p:txBody>
      </p:sp>
      <p:sp>
        <p:nvSpPr>
          <p:cNvPr id="4" name="Text 2"/>
          <p:cNvSpPr/>
          <p:nvPr/>
        </p:nvSpPr>
        <p:spPr>
          <a:xfrm>
            <a:off x="661475" y="1266230"/>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Ejercicio Práctico</a:t>
            </a:r>
            <a:endParaRPr lang="en-US" sz="3250" dirty="0"/>
          </a:p>
        </p:txBody>
      </p:sp>
      <p:sp>
        <p:nvSpPr>
          <p:cNvPr id="5" name="Text 3"/>
          <p:cNvSpPr/>
          <p:nvPr/>
        </p:nvSpPr>
        <p:spPr>
          <a:xfrm>
            <a:off x="661475" y="2031008"/>
            <a:ext cx="11478330" cy="264616"/>
          </a:xfrm>
          <a:prstGeom prst="rect">
            <a:avLst/>
          </a:prstGeom>
          <a:noFill/>
          <a:ln/>
        </p:spPr>
        <p:txBody>
          <a:bodyPr wrap="none" lIns="0" tIns="0" rIns="0" bIns="0" rtlCol="0" anchor="t"/>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El siguiente ejercicio busca integrar todos los conceptos del módulo en un problema original elegido por cada estudiante:</a:t>
            </a:r>
            <a:endParaRPr lang="en-US" sz="1300" dirty="0"/>
          </a:p>
        </p:txBody>
      </p:sp>
      <p:pic>
        <p:nvPicPr>
          <p:cNvPr id="6" name="Image 0" descr="preencoded.png">    </p:cNvPr>
          <p:cNvPicPr>
            <a:picLocks noChangeAspect="1"/>
          </p:cNvPicPr>
          <p:nvPr/>
        </p:nvPicPr>
        <p:blipFill>
          <a:blip r:embed="rId1"/>
          <a:stretch>
            <a:fillRect/>
          </a:stretch>
        </p:blipFill>
        <p:spPr>
          <a:xfrm>
            <a:off x="661475" y="2481659"/>
            <a:ext cx="826868" cy="992287"/>
          </a:xfrm>
          <a:prstGeom prst="rect">
            <a:avLst/>
          </a:prstGeom>
        </p:spPr>
      </p:pic>
      <p:sp>
        <p:nvSpPr>
          <p:cNvPr id="7" name="Text 4"/>
          <p:cNvSpPr/>
          <p:nvPr/>
        </p:nvSpPr>
        <p:spPr>
          <a:xfrm>
            <a:off x="1653638" y="2646958"/>
            <a:ext cx="9876583"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Paso 1: Elegir un problema</a:t>
            </a:r>
            <a:endParaRPr lang="en-US" sz="1600" dirty="0"/>
          </a:p>
        </p:txBody>
      </p:sp>
      <p:sp>
        <p:nvSpPr>
          <p:cNvPr id="8" name="Text 5"/>
          <p:cNvSpPr/>
          <p:nvPr/>
        </p:nvSpPr>
        <p:spPr>
          <a:xfrm>
            <a:off x="1653638" y="3004641"/>
            <a:ext cx="9876583" cy="264616"/>
          </a:xfrm>
          <a:prstGeom prst="rect">
            <a:avLst/>
          </a:prstGeom>
          <a:noFill/>
          <a:ln/>
        </p:spPr>
        <p:txBody>
          <a:bodyPr wrap="none" lIns="0" tIns="0" rIns="0" bIns="0" rtlCol="0" anchor="t"/>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Pensar en un problema real a ser resuelto por un agente basado en LLMs. Cuanto más cercano a la realidad, mejor.</a:t>
            </a:r>
            <a:endParaRPr lang="en-US" sz="1300" dirty="0"/>
          </a:p>
        </p:txBody>
      </p:sp>
      <p:pic>
        <p:nvPicPr>
          <p:cNvPr id="9" name="Image 1" descr="preencoded.png">    </p:cNvPr>
          <p:cNvPicPr>
            <a:picLocks noChangeAspect="1"/>
          </p:cNvPicPr>
          <p:nvPr/>
        </p:nvPicPr>
        <p:blipFill>
          <a:blip r:embed="rId2"/>
          <a:stretch>
            <a:fillRect/>
          </a:stretch>
        </p:blipFill>
        <p:spPr>
          <a:xfrm>
            <a:off x="661475" y="3473946"/>
            <a:ext cx="826868" cy="992287"/>
          </a:xfrm>
          <a:prstGeom prst="rect">
            <a:avLst/>
          </a:prstGeom>
        </p:spPr>
      </p:pic>
      <p:sp>
        <p:nvSpPr>
          <p:cNvPr id="10" name="Text 6"/>
          <p:cNvSpPr/>
          <p:nvPr/>
        </p:nvSpPr>
        <p:spPr>
          <a:xfrm>
            <a:off x="1653638" y="3639245"/>
            <a:ext cx="9876583"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Paso 2: Modelar como agente</a:t>
            </a:r>
            <a:endParaRPr lang="en-US" sz="1600" dirty="0"/>
          </a:p>
        </p:txBody>
      </p:sp>
      <p:sp>
        <p:nvSpPr>
          <p:cNvPr id="11" name="Text 7"/>
          <p:cNvSpPr/>
          <p:nvPr/>
        </p:nvSpPr>
        <p:spPr>
          <a:xfrm>
            <a:off x="1653638" y="3996928"/>
            <a:ext cx="9876583" cy="264616"/>
          </a:xfrm>
          <a:prstGeom prst="rect">
            <a:avLst/>
          </a:prstGeom>
          <a:noFill/>
          <a:ln/>
        </p:spPr>
        <p:txBody>
          <a:bodyPr wrap="none" lIns="0" tIns="0" rIns="0" bIns="0" rtlCol="0" anchor="t"/>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Formularlo con las definiciones formales: agente, sensores, actuadores, ambiente y medida de performance.</a:t>
            </a:r>
            <a:endParaRPr lang="en-US" sz="1300" dirty="0"/>
          </a:p>
        </p:txBody>
      </p:sp>
      <p:pic>
        <p:nvPicPr>
          <p:cNvPr id="12" name="Image 2" descr="preencoded.png">    </p:cNvPr>
          <p:cNvPicPr>
            <a:picLocks noChangeAspect="1"/>
          </p:cNvPicPr>
          <p:nvPr/>
        </p:nvPicPr>
        <p:blipFill>
          <a:blip r:embed="rId3"/>
          <a:stretch>
            <a:fillRect/>
          </a:stretch>
        </p:blipFill>
        <p:spPr>
          <a:xfrm>
            <a:off x="661475" y="4466233"/>
            <a:ext cx="826868" cy="992287"/>
          </a:xfrm>
          <a:prstGeom prst="rect">
            <a:avLst/>
          </a:prstGeom>
        </p:spPr>
      </p:pic>
      <p:sp>
        <p:nvSpPr>
          <p:cNvPr id="13" name="Text 8"/>
          <p:cNvSpPr/>
          <p:nvPr/>
        </p:nvSpPr>
        <p:spPr>
          <a:xfrm>
            <a:off x="1653638" y="4631531"/>
            <a:ext cx="9876583"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Paso 3: Implementar</a:t>
            </a:r>
            <a:endParaRPr lang="en-US" sz="1600" dirty="0"/>
          </a:p>
        </p:txBody>
      </p:sp>
      <p:sp>
        <p:nvSpPr>
          <p:cNvPr id="14" name="Text 9"/>
          <p:cNvSpPr/>
          <p:nvPr/>
        </p:nvSpPr>
        <p:spPr>
          <a:xfrm>
            <a:off x="1653638" y="4989215"/>
            <a:ext cx="9876583" cy="264616"/>
          </a:xfrm>
          <a:prstGeom prst="rect">
            <a:avLst/>
          </a:prstGeom>
          <a:noFill/>
          <a:ln/>
        </p:spPr>
        <p:txBody>
          <a:bodyPr wrap="none" lIns="0" tIns="0" rIns="0" bIns="0" rtlCol="0" anchor="t"/>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Resolverlo usando como base la notebook de la práctica. Se puede usar información hardcodeada (JSONs, CSVs, .txt, etc.).</a:t>
            </a:r>
            <a:endParaRPr lang="en-US" sz="1300" dirty="0"/>
          </a:p>
        </p:txBody>
      </p:sp>
      <p:sp>
        <p:nvSpPr>
          <p:cNvPr id="15" name="Text 10"/>
          <p:cNvSpPr/>
          <p:nvPr/>
        </p:nvSpPr>
        <p:spPr>
          <a:xfrm>
            <a:off x="661475" y="5644555"/>
            <a:ext cx="11478330" cy="264616"/>
          </a:xfrm>
          <a:prstGeom prst="rect">
            <a:avLst/>
          </a:prstGeom>
          <a:noFill/>
          <a:ln/>
        </p:spPr>
        <p:txBody>
          <a:bodyPr wrap="none" lIns="0" tIns="0" rIns="0" bIns="0" rtlCol="0" anchor="t"/>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Guia de ejercicios: </a:t>
            </a:r>
            <a:pPr algn="l" indent="0" marL="0">
              <a:lnSpc>
                <a:spcPct val="133000"/>
              </a:lnSpc>
              <a:buNone/>
            </a:pPr>
            <a:r>
              <a:rPr lang="en-US" sz="1300" b="1" u="sng" dirty="0">
                <a:solidFill>
                  <a:srgbClr val="DA1B2E"/>
                </a:solidFill>
                <a:latin typeface="Roboto Bold" pitchFamily="34" charset="0"/>
                <a:ea typeface="Roboto Bold" pitchFamily="34" charset="-122"/>
                <a:cs typeface="Roboto Bold"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https://aitutorial.dev/agents/hands-on-exercise</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661475" y="1324273"/>
            <a:ext cx="1656019" cy="251420"/>
          </a:xfrm>
          <a:prstGeom prst="roundRect">
            <a:avLst>
              <a:gd name="adj" fmla="val 3031"/>
            </a:avLst>
          </a:prstGeom>
          <a:solidFill>
            <a:srgbClr val="F9D2D6"/>
          </a:solidFill>
          <a:ln/>
        </p:spPr>
      </p:sp>
      <p:sp>
        <p:nvSpPr>
          <p:cNvPr id="3" name="Text 1"/>
          <p:cNvSpPr/>
          <p:nvPr/>
        </p:nvSpPr>
        <p:spPr>
          <a:xfrm>
            <a:off x="760691" y="1373882"/>
            <a:ext cx="2067171" cy="152202"/>
          </a:xfrm>
          <a:prstGeom prst="rect">
            <a:avLst/>
          </a:prstGeom>
          <a:noFill/>
          <a:ln/>
        </p:spPr>
        <p:txBody>
          <a:bodyPr wrap="none" lIns="0" tIns="0" rIns="0" bIns="0" rtlCol="0" anchor="t"/>
          <a:lstStyle/>
          <a:p>
            <a:pPr algn="l" indent="0" marL="0">
              <a:lnSpc>
                <a:spcPct val="96000"/>
              </a:lnSpc>
              <a:buNone/>
            </a:pPr>
            <a:r>
              <a:rPr lang="en-US" sz="1000" dirty="0">
                <a:solidFill>
                  <a:srgbClr val="3B3535"/>
                </a:solidFill>
                <a:latin typeface="Roboto" pitchFamily="34" charset="0"/>
                <a:ea typeface="Roboto" pitchFamily="34" charset="-122"/>
                <a:cs typeface="Roboto" pitchFamily="34" charset="-120"/>
              </a:rPr>
              <a:t>OBJETIVOS Y PRÁCTICA</a:t>
            </a:r>
            <a:endParaRPr lang="en-US" sz="1000" dirty="0"/>
          </a:p>
        </p:txBody>
      </p:sp>
      <p:sp>
        <p:nvSpPr>
          <p:cNvPr id="4" name="Text 2"/>
          <p:cNvSpPr/>
          <p:nvPr/>
        </p:nvSpPr>
        <p:spPr>
          <a:xfrm>
            <a:off x="661475" y="1641773"/>
            <a:ext cx="10868745" cy="516731"/>
          </a:xfrm>
          <a:prstGeom prst="rect">
            <a:avLst/>
          </a:prstGeom>
          <a:noFill/>
          <a:ln/>
        </p:spPr>
        <p:txBody>
          <a:bodyPr wrap="none" lIns="0" tIns="0" rIns="0" bIns="0" rtlCol="0" anchor="t"/>
          <a:lstStyle/>
          <a:p>
            <a:pPr algn="l" indent="0" marL="0">
              <a:lnSpc>
                <a:spcPct val="104000"/>
              </a:lnSpc>
              <a:buNone/>
            </a:pPr>
            <a:r>
              <a:rPr lang="en-US" sz="3250" dirty="0">
                <a:solidFill>
                  <a:srgbClr val="1F1E1E"/>
                </a:solidFill>
                <a:latin typeface="Roboto Mono Medium" pitchFamily="34" charset="0"/>
                <a:ea typeface="Roboto Mono Medium" pitchFamily="34" charset="-122"/>
                <a:cs typeface="Roboto Mono Medium" pitchFamily="34" charset="-120"/>
              </a:rPr>
              <a:t>Bibliografía y Recursos</a:t>
            </a:r>
            <a:endParaRPr lang="en-US" sz="3250" dirty="0"/>
          </a:p>
        </p:txBody>
      </p:sp>
      <p:sp>
        <p:nvSpPr>
          <p:cNvPr id="5" name="Text 3"/>
          <p:cNvSpPr/>
          <p:nvPr/>
        </p:nvSpPr>
        <p:spPr>
          <a:xfrm>
            <a:off x="661475" y="2406551"/>
            <a:ext cx="11478330" cy="264616"/>
          </a:xfrm>
          <a:prstGeom prst="rect">
            <a:avLst/>
          </a:prstGeom>
          <a:noFill/>
          <a:ln/>
        </p:spPr>
        <p:txBody>
          <a:bodyPr wrap="none" lIns="0" tIns="0" rIns="0" bIns="0" rtlCol="0" anchor="t"/>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Recursos fundamentales para profundizar en los conceptos de este módulo:</a:t>
            </a:r>
            <a:endParaRPr lang="en-US" sz="130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857202"/>
            <a:ext cx="5351725" cy="1255613"/>
          </a:xfrm>
          <a:prstGeom prst="rect">
            <a:avLst/>
          </a:prstGeom>
        </p:spPr>
      </p:pic>
      <p:sp>
        <p:nvSpPr>
          <p:cNvPr id="7" name="Text 4"/>
          <p:cNvSpPr/>
          <p:nvPr/>
        </p:nvSpPr>
        <p:spPr>
          <a:xfrm>
            <a:off x="922017" y="3041551"/>
            <a:ext cx="4906840"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Russell &amp; Norvig (2020)</a:t>
            </a:r>
            <a:endParaRPr lang="en-US" sz="1600" dirty="0"/>
          </a:p>
        </p:txBody>
      </p:sp>
      <p:sp>
        <p:nvSpPr>
          <p:cNvPr id="8" name="Text 5"/>
          <p:cNvSpPr/>
          <p:nvPr/>
        </p:nvSpPr>
        <p:spPr>
          <a:xfrm>
            <a:off x="922017" y="3399234"/>
            <a:ext cx="4906840" cy="529233"/>
          </a:xfrm>
          <a:prstGeom prst="rect">
            <a:avLst/>
          </a:prstGeom>
          <a:noFill/>
          <a:ln/>
        </p:spPr>
        <p:txBody>
          <a:bodyPr wrap="square" lIns="0" tIns="0" rIns="0" bIns="0" rtlCol="0" anchor="t">
            <a:normAutofit/>
          </a:bodyPr>
          <a:lstStyle/>
          <a:p>
            <a:pPr algn="l" indent="0" marL="0">
              <a:lnSpc>
                <a:spcPct val="133000"/>
              </a:lnSpc>
              <a:buNone/>
            </a:pPr>
            <a:r>
              <a:rPr lang="en-US" sz="1300" i="1" dirty="0">
                <a:solidFill>
                  <a:srgbClr val="3B3535"/>
                </a:solidFill>
                <a:latin typeface="Roboto" pitchFamily="34" charset="0"/>
                <a:ea typeface="Roboto" pitchFamily="34" charset="-122"/>
                <a:cs typeface="Roboto" pitchFamily="34" charset="-120"/>
              </a:rPr>
              <a:t>Artificial Intelligence: A Modern Approach</a:t>
            </a:r>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 4th ed. Pearson. La referencia canónica para la teoría formal de agentes inteligentes.</a:t>
            </a:r>
            <a:endParaRPr lang="en-US" sz="130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78495" y="2857202"/>
            <a:ext cx="5351725" cy="1255613"/>
          </a:xfrm>
          <a:prstGeom prst="rect">
            <a:avLst/>
          </a:prstGeom>
        </p:spPr>
      </p:pic>
      <p:sp>
        <p:nvSpPr>
          <p:cNvPr id="10" name="Text 6"/>
          <p:cNvSpPr/>
          <p:nvPr/>
        </p:nvSpPr>
        <p:spPr>
          <a:xfrm>
            <a:off x="6439037" y="3041551"/>
            <a:ext cx="4906840"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LangGraph Docs</a:t>
            </a:r>
            <a:endParaRPr lang="en-US" sz="1600" dirty="0"/>
          </a:p>
        </p:txBody>
      </p:sp>
      <p:sp>
        <p:nvSpPr>
          <p:cNvPr id="11" name="Text 7"/>
          <p:cNvSpPr/>
          <p:nvPr/>
        </p:nvSpPr>
        <p:spPr>
          <a:xfrm>
            <a:off x="6439037" y="3399234"/>
            <a:ext cx="4906840"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Documentación oficial del framework para construcción de agentes stateful con grafos. </a:t>
            </a:r>
            <a:pPr algn="l" indent="0" marL="0">
              <a:lnSpc>
                <a:spcPct val="133000"/>
              </a:lnSpc>
              <a:buNone/>
            </a:pPr>
            <a:r>
              <a:rPr lang="en-US" sz="1300" b="1" u="sng" dirty="0">
                <a:solidFill>
                  <a:srgbClr val="DA1B2E"/>
                </a:solidFill>
                <a:latin typeface="Roboto Bold" pitchFamily="34" charset="0"/>
                <a:ea typeface="Roboto Bold" pitchFamily="34" charset="-122"/>
                <a:cs typeface="Roboto Bold" pitchFamily="34" charset="-120"/>
                <a:hlinkClick r:id="rId5" invalidUrl="" action="" tgtFrame="" tooltip="" history="1" highlightClick="0" endSnd="0">
                  <a:extLst>
                    <a:ext uri="{A12FA001-AC4F-418D-AE19-62706E023703}">
                      <ahyp:hlinkClr xmlns:ahyp="http://schemas.microsoft.com/office/drawing/2018/hyperlinkcolor" val="tx"/>
                    </a:ext>
                  </a:extLst>
                </a:hlinkClick>
              </a:rPr>
              <a:t>langchain-ai.github.io/langgraph</a:t>
            </a:r>
            <a:endParaRPr lang="en-US" sz="1300" dirty="0"/>
          </a:p>
        </p:txBody>
      </p:sp>
      <p:pic>
        <p:nvPicPr>
          <p:cNvPr id="12" name="Image 2"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61475" y="4278114"/>
            <a:ext cx="5351725" cy="1255613"/>
          </a:xfrm>
          <a:prstGeom prst="rect">
            <a:avLst/>
          </a:prstGeom>
        </p:spPr>
      </p:pic>
      <p:sp>
        <p:nvSpPr>
          <p:cNvPr id="13" name="Text 8"/>
          <p:cNvSpPr/>
          <p:nvPr/>
        </p:nvSpPr>
        <p:spPr>
          <a:xfrm>
            <a:off x="922017" y="4462463"/>
            <a:ext cx="4906840"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AI Tutorial – Agents Module</a:t>
            </a:r>
            <a:endParaRPr lang="en-US" sz="1600" dirty="0"/>
          </a:p>
        </p:txBody>
      </p:sp>
      <p:sp>
        <p:nvSpPr>
          <p:cNvPr id="14" name="Text 9"/>
          <p:cNvSpPr/>
          <p:nvPr/>
        </p:nvSpPr>
        <p:spPr>
          <a:xfrm>
            <a:off x="922017" y="4820146"/>
            <a:ext cx="4906840"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Guía práctica sobre el módulo de agentes con ejemplos de código. </a:t>
            </a:r>
            <a:pPr algn="l" indent="0" marL="0">
              <a:lnSpc>
                <a:spcPct val="133000"/>
              </a:lnSpc>
              <a:buNone/>
            </a:pPr>
            <a:r>
              <a:rPr lang="en-US" sz="1300" b="1" u="sng" dirty="0">
                <a:solidFill>
                  <a:srgbClr val="DA1B2E"/>
                </a:solidFill>
                <a:latin typeface="Roboto Bold" pitchFamily="34" charset="0"/>
                <a:ea typeface="Roboto Bold" pitchFamily="34" charset="-122"/>
                <a:cs typeface="Roboto Bold" pitchFamily="34" charset="-120"/>
                <a:hlinkClick r:id="rId8" invalidUrl="" action="" tgtFrame="" tooltip="" history="1" highlightClick="0" endSnd="0">
                  <a:extLst>
                    <a:ext uri="{A12FA001-AC4F-418D-AE19-62706E023703}">
                      <ahyp:hlinkClr xmlns:ahyp="http://schemas.microsoft.com/office/drawing/2018/hyperlinkcolor" val="tx"/>
                    </a:ext>
                  </a:extLst>
                </a:hlinkClick>
              </a:rPr>
              <a:t>aitutorial.dev/agents/overvie</a:t>
            </a:r>
            <a:endParaRPr lang="en-US" sz="1300" dirty="0"/>
          </a:p>
        </p:txBody>
      </p:sp>
      <p:pic>
        <p:nvPicPr>
          <p:cNvPr id="15" name="Image 3"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178495" y="4278114"/>
            <a:ext cx="5351725" cy="1255613"/>
          </a:xfrm>
          <a:prstGeom prst="rect">
            <a:avLst/>
          </a:prstGeom>
        </p:spPr>
      </p:pic>
      <p:sp>
        <p:nvSpPr>
          <p:cNvPr id="16" name="Text 10"/>
          <p:cNvSpPr/>
          <p:nvPr/>
        </p:nvSpPr>
        <p:spPr>
          <a:xfrm>
            <a:off x="6439037" y="4462463"/>
            <a:ext cx="4906840" cy="258465"/>
          </a:xfrm>
          <a:prstGeom prst="rect">
            <a:avLst/>
          </a:prstGeom>
          <a:noFill/>
          <a:ln/>
        </p:spPr>
        <p:txBody>
          <a:bodyPr wrap="none" lIns="0" tIns="0" rIns="0" bIns="0" rtlCol="0" anchor="t"/>
          <a:lstStyle/>
          <a:p>
            <a:pPr algn="l" indent="0" marL="0">
              <a:lnSpc>
                <a:spcPct val="104000"/>
              </a:lnSpc>
              <a:buNone/>
            </a:pPr>
            <a:r>
              <a:rPr lang="en-US" sz="1600" dirty="0">
                <a:solidFill>
                  <a:srgbClr val="3B3535"/>
                </a:solidFill>
                <a:latin typeface="Roboto Mono Medium" pitchFamily="34" charset="0"/>
                <a:ea typeface="Roboto Mono Medium" pitchFamily="34" charset="-122"/>
                <a:cs typeface="Roboto Mono Medium" pitchFamily="34" charset="-120"/>
              </a:rPr>
              <a:t>LangChain Memory</a:t>
            </a:r>
            <a:endParaRPr lang="en-US" sz="1600" dirty="0"/>
          </a:p>
        </p:txBody>
      </p:sp>
      <p:sp>
        <p:nvSpPr>
          <p:cNvPr id="17" name="Text 11"/>
          <p:cNvSpPr/>
          <p:nvPr/>
        </p:nvSpPr>
        <p:spPr>
          <a:xfrm>
            <a:off x="6439037" y="4820146"/>
            <a:ext cx="4906840" cy="529233"/>
          </a:xfrm>
          <a:prstGeom prst="rect">
            <a:avLst/>
          </a:prstGeom>
          <a:noFill/>
          <a:ln/>
        </p:spPr>
        <p:txBody>
          <a:bodyPr wrap="square" lIns="0" tIns="0" rIns="0" bIns="0" rtlCol="0" anchor="t">
            <a:normAutofit/>
          </a:bodyPr>
          <a:lstStyle/>
          <a:p>
            <a:pPr algn="l" indent="0" marL="0">
              <a:lnSpc>
                <a:spcPct val="133000"/>
              </a:lnSpc>
              <a:buNone/>
            </a:pPr>
            <a:r>
              <a:rPr lang="en-US" sz="1300" dirty="0">
                <a:solidFill>
                  <a:srgbClr val="3B3535"/>
                </a:solidFill>
                <a:latin typeface="Roboto" pitchFamily="34" charset="0"/>
                <a:ea typeface="Roboto" pitchFamily="34" charset="-122"/>
                <a:cs typeface="Roboto" pitchFamily="34" charset="-120"/>
              </a:rPr>
              <a:t>Documentación de los módulos de memoria de LangChain para agentes. </a:t>
            </a:r>
            <a:pPr algn="l" indent="0" marL="0">
              <a:lnSpc>
                <a:spcPct val="133000"/>
              </a:lnSpc>
              <a:buNone/>
            </a:pPr>
            <a:r>
              <a:rPr lang="en-US" sz="1300" b="1" u="sng" dirty="0">
                <a:solidFill>
                  <a:srgbClr val="DA1B2E"/>
                </a:solidFill>
                <a:latin typeface="Roboto Bold" pitchFamily="34" charset="0"/>
                <a:ea typeface="Roboto Bold" pitchFamily="34" charset="-122"/>
                <a:cs typeface="Roboto Bold" pitchFamily="34" charset="-120"/>
                <a:hlinkClick r:id="rId11" invalidUrl="" action="" tgtFrame="" tooltip="" history="1" highlightClick="0" endSnd="0">
                  <a:extLst>
                    <a:ext uri="{A12FA001-AC4F-418D-AE19-62706E023703}">
                      <ahyp:hlinkClr xmlns:ahyp="http://schemas.microsoft.com/office/drawing/2018/hyperlinkcolor" val="tx"/>
                    </a:ext>
                  </a:extLst>
                </a:hlinkClick>
              </a:rPr>
              <a:t>python.langchain.com/docs/modules/memory</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DA1B2E"/>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2026-10-04T13:24:35Z</dcterms:created>
  <dcterms:modified xsi:type="dcterms:W3CDTF">2026-10-04T13:24:35Z</dcterms:modified>
</cp:coreProperties>
</file>