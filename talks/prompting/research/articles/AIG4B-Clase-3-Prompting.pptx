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</p:sldIdLst>
  <p:notesMasterIdLst>
    <p:notesMasterId r:id="rId65"/>
  </p:notesMasterIdLst>
  <p:sldSz cx="12191695" cy="6858000"/>
  <p:notesSz cx="6858000" cy="12191695"/>
  <p:embeddedFontLst>
    <p:embeddedFont>
      <p:font typeface="Roboto"/>
      <p:regular r:id="rId201314"/>
    </p:embeddedFont>
    <p:embeddedFont>
      <p:font typeface="Roboto Medium"/>
      <p:regular r:id="rId201315"/>
    </p:embeddedFont>
    <p:embeddedFont>
      <p:font typeface="Roboto Bold"/>
      <p:regular r:id="rId201316"/>
    </p:embeddedFont>
    <p:embeddedFont>
      <p:font typeface="Roboto Mono"/>
      <p:regular r:id="rId201317"/>
    </p:embeddedFont>
    <p:embeddedFont>
      <p:font typeface="Roboto Mono Medium"/>
      <p:regular r:id="rId201318"/>
    </p:embeddedFont>
    <p:embeddedFont>
      <p:font typeface="Roboto Mono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notesMaster" Target="notesMasters/notesMaster1.xml"/><Relationship Id="rId66" Type="http://schemas.openxmlformats.org/officeDocument/2006/relationships/presProps" Target="presProps.xml"/><Relationship Id="rId67" Type="http://schemas.openxmlformats.org/officeDocument/2006/relationships/viewProps" Target="viewProps.xml"/><Relationship Id="rId68" Type="http://schemas.openxmlformats.org/officeDocument/2006/relationships/theme" Target="theme/theme1.xml"/><Relationship Id="rId69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image" Target="../media/image-6-1.png"/><Relationship Id="rId6" Type="http://schemas.openxmlformats.org/officeDocument/2006/relationships/image" Target="../media/image-6-2.svg"/><Relationship Id="rId7" Type="http://schemas.openxmlformats.org/officeDocument/2006/relationships/image" Target="../media/image-6-1.png"/><Relationship Id="rId8" Type="http://schemas.openxmlformats.org/officeDocument/2006/relationships/image" Target="../media/image-6-2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9.png"/><Relationship Id="rId12" Type="http://schemas.openxmlformats.org/officeDocument/2006/relationships/image" Target="../media/image-6-10.svg"/><Relationship Id="rId13" Type="http://schemas.openxmlformats.org/officeDocument/2006/relationships/image" Target="../media/image-6-13.png"/><Relationship Id="rId14" Type="http://schemas.openxmlformats.org/officeDocument/2006/relationships/image" Target="../media/image-6-14.svg"/><Relationship Id="rId15" Type="http://schemas.openxmlformats.org/officeDocument/2006/relationships/image" Target="../media/image-6-13.png"/><Relationship Id="rId16" Type="http://schemas.openxmlformats.org/officeDocument/2006/relationships/image" Target="../media/image-6-14.sv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pt-tokenizer.dev" TargetMode="Externa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image" Target="../media/image-14-9.png"/><Relationship Id="rId10" Type="http://schemas.openxmlformats.org/officeDocument/2006/relationships/image" Target="../media/image-14-10.svg"/><Relationship Id="rId11" Type="http://schemas.openxmlformats.org/officeDocument/2006/relationships/image" Target="../media/image-14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3.png"/><Relationship Id="rId6" Type="http://schemas.openxmlformats.org/officeDocument/2006/relationships/image" Target="../media/image-17-4.svg"/><Relationship Id="rId7" Type="http://schemas.openxmlformats.org/officeDocument/2006/relationships/image" Target="../media/image-17-3.png"/><Relationship Id="rId8" Type="http://schemas.openxmlformats.org/officeDocument/2006/relationships/image" Target="../media/image-17-4.svg"/><Relationship Id="rId9" Type="http://schemas.openxmlformats.org/officeDocument/2006/relationships/image" Target="../media/image-17-3.png"/><Relationship Id="rId10" Type="http://schemas.openxmlformats.org/officeDocument/2006/relationships/image" Target="../media/image-17-4.svg"/><Relationship Id="rId11" Type="http://schemas.openxmlformats.org/officeDocument/2006/relationships/image" Target="../media/image-17-3.png"/><Relationship Id="rId12" Type="http://schemas.openxmlformats.org/officeDocument/2006/relationships/image" Target="../media/image-17-4.svg"/><Relationship Id="rId13" Type="http://schemas.openxmlformats.org/officeDocument/2006/relationships/image" Target="../media/image-17-13.pn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hyperlink" Target="https://aitutorial.dev/prompting/structured-prompt-engineering" TargetMode="External"/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image" Target="../media/image-20-3.png"/><Relationship Id="rId4" Type="http://schemas.openxmlformats.org/officeDocument/2006/relationships/image" Target="../media/image-20-4.svg"/><Relationship Id="rId5" Type="http://schemas.openxmlformats.org/officeDocument/2006/relationships/image" Target="../media/image-20-5.png"/><Relationship Id="rId6" Type="http://schemas.openxmlformats.org/officeDocument/2006/relationships/image" Target="../media/image-20-6.svg"/><Relationship Id="rId7" Type="http://schemas.openxmlformats.org/officeDocument/2006/relationships/image" Target="../media/image-20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svg"/><Relationship Id="rId3" Type="http://schemas.openxmlformats.org/officeDocument/2006/relationships/image" Target="../media/image-26-3.png"/><Relationship Id="rId4" Type="http://schemas.openxmlformats.org/officeDocument/2006/relationships/image" Target="../media/image-26-4.svg"/><Relationship Id="rId5" Type="http://schemas.openxmlformats.org/officeDocument/2006/relationships/image" Target="../media/image-26-5.png"/><Relationship Id="rId6" Type="http://schemas.openxmlformats.org/officeDocument/2006/relationships/image" Target="../media/image-26-6.svg"/><Relationship Id="rId7" Type="http://schemas.openxmlformats.org/officeDocument/2006/relationships/image" Target="../media/image-26-7.png"/><Relationship Id="rId8" Type="http://schemas.openxmlformats.org/officeDocument/2006/relationships/image" Target="../media/image-26-8.svg"/><Relationship Id="rId9" Type="http://schemas.openxmlformats.org/officeDocument/2006/relationships/image" Target="../media/image-26-9.png"/><Relationship Id="rId10" Type="http://schemas.openxmlformats.org/officeDocument/2006/relationships/image" Target="../media/image-26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aitutorial.dev/prompting/advanced-techniques" TargetMode="External"/><Relationship Id="rId1" Type="http://schemas.openxmlformats.org/officeDocument/2006/relationships/image" Target="../media/image-28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aitutorial.dev/prompting/advanced-techniques" TargetMode="External"/><Relationship Id="rId1" Type="http://schemas.openxmlformats.org/officeDocument/2006/relationships/image" Target="../media/image-30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svg"/><Relationship Id="rId3" Type="http://schemas.openxmlformats.org/officeDocument/2006/relationships/image" Target="../media/image-31-3.png"/><Relationship Id="rId4" Type="http://schemas.openxmlformats.org/officeDocument/2006/relationships/image" Target="../media/image-31-4.svg"/><Relationship Id="rId5" Type="http://schemas.openxmlformats.org/officeDocument/2006/relationships/image" Target="../media/image-31-5.png"/><Relationship Id="rId6" Type="http://schemas.openxmlformats.org/officeDocument/2006/relationships/image" Target="../media/image-31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svg"/><Relationship Id="rId4" Type="http://schemas.openxmlformats.org/officeDocument/2006/relationships/image" Target="../media/image-32-4.png"/><Relationship Id="rId5" Type="http://schemas.openxmlformats.org/officeDocument/2006/relationships/image" Target="../media/image-32-5.svg"/><Relationship Id="rId6" Type="http://schemas.openxmlformats.org/officeDocument/2006/relationships/image" Target="../media/image-32-6.png"/><Relationship Id="rId7" Type="http://schemas.openxmlformats.org/officeDocument/2006/relationships/image" Target="../media/image-32-7.svg"/><Relationship Id="rId8" Type="http://schemas.openxmlformats.org/officeDocument/2006/relationships/image" Target="../media/image-32-1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1.png"/><Relationship Id="rId3" Type="http://schemas.openxmlformats.org/officeDocument/2006/relationships/image" Target="../media/image-34-1.png"/><Relationship Id="rId4" Type="http://schemas.openxmlformats.org/officeDocument/2006/relationships/image" Target="../media/image-3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svg"/><Relationship Id="rId3" Type="http://schemas.openxmlformats.org/officeDocument/2006/relationships/image" Target="../media/image-35-3.png"/><Relationship Id="rId4" Type="http://schemas.openxmlformats.org/officeDocument/2006/relationships/image" Target="../media/image-35-4.svg"/><Relationship Id="rId5" Type="http://schemas.openxmlformats.org/officeDocument/2006/relationships/image" Target="../media/image-35-5.png"/><Relationship Id="rId6" Type="http://schemas.openxmlformats.org/officeDocument/2006/relationships/image" Target="../media/image-35-6.svg"/><Relationship Id="rId7" Type="http://schemas.openxmlformats.org/officeDocument/2006/relationships/image" Target="../media/image-35-7.png"/><Relationship Id="rId8" Type="http://schemas.openxmlformats.org/officeDocument/2006/relationships/image" Target="../media/image-35-8.svg"/><Relationship Id="rId9" Type="http://schemas.openxmlformats.org/officeDocument/2006/relationships/image" Target="../media/image-35-9.png"/><Relationship Id="rId10" Type="http://schemas.openxmlformats.org/officeDocument/2006/relationships/image" Target="../media/image-35-10.svg"/><Relationship Id="rId11" Type="http://schemas.openxmlformats.org/officeDocument/2006/relationships/image" Target="../media/image-35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svg"/><Relationship Id="rId3" Type="http://schemas.openxmlformats.org/officeDocument/2006/relationships/image" Target="../media/image-37-3.png"/><Relationship Id="rId4" Type="http://schemas.openxmlformats.org/officeDocument/2006/relationships/image" Target="../media/image-37-4.svg"/><Relationship Id="rId5" Type="http://schemas.openxmlformats.org/officeDocument/2006/relationships/image" Target="../media/image-37-5.png"/><Relationship Id="rId6" Type="http://schemas.openxmlformats.org/officeDocument/2006/relationships/image" Target="../media/image-37-6.svg"/><Relationship Id="rId7" Type="http://schemas.openxmlformats.org/officeDocument/2006/relationships/image" Target="../media/image-37-7.png"/><Relationship Id="rId8" Type="http://schemas.openxmlformats.org/officeDocument/2006/relationships/image" Target="../media/image-37-8.svg"/><Relationship Id="rId9" Type="http://schemas.openxmlformats.org/officeDocument/2006/relationships/image" Target="../media/image-37-9.png"/><Relationship Id="rId10" Type="http://schemas.openxmlformats.org/officeDocument/2006/relationships/image" Target="../media/image-37-10.svg"/><Relationship Id="rId11" Type="http://schemas.openxmlformats.org/officeDocument/2006/relationships/image" Target="../media/image-37-11.png"/><Relationship Id="rId12" Type="http://schemas.openxmlformats.org/officeDocument/2006/relationships/image" Target="../media/image-37-12.svg"/><Relationship Id="rId13" Type="http://schemas.openxmlformats.org/officeDocument/2006/relationships/image" Target="../media/image-37-13.png"/><Relationship Id="rId14" Type="http://schemas.openxmlformats.org/officeDocument/2006/relationships/image" Target="../media/image-37-14.svg"/><Relationship Id="rId15" Type="http://schemas.openxmlformats.org/officeDocument/2006/relationships/image" Target="../media/image-37-15.png"/><Relationship Id="rId16" Type="http://schemas.openxmlformats.org/officeDocument/2006/relationships/image" Target="../media/image-37-16.svg"/><Relationship Id="rId17" Type="http://schemas.openxmlformats.org/officeDocument/2006/relationships/image" Target="../media/image-37-17.png"/><Relationship Id="rId18" Type="http://schemas.openxmlformats.org/officeDocument/2006/relationships/image" Target="../media/image-37-18.svg"/><Relationship Id="rId19" Type="http://schemas.openxmlformats.org/officeDocument/2006/relationships/image" Target="../media/image-37-19.png"/><Relationship Id="rId20" Type="http://schemas.openxmlformats.org/officeDocument/2006/relationships/image" Target="../media/image-37-20.svg"/><Relationship Id="rId21" Type="http://schemas.openxmlformats.org/officeDocument/2006/relationships/slideLayout" Target="../slideLayouts/slideLayout2.xml"/><Relationship Id="rId2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svg"/><Relationship Id="rId4" Type="http://schemas.openxmlformats.org/officeDocument/2006/relationships/image" Target="../media/image-38-4.png"/><Relationship Id="rId5" Type="http://schemas.openxmlformats.org/officeDocument/2006/relationships/image" Target="../media/image-38-5.svg"/><Relationship Id="rId6" Type="http://schemas.openxmlformats.org/officeDocument/2006/relationships/image" Target="../media/image-38-6.png"/><Relationship Id="rId7" Type="http://schemas.openxmlformats.org/officeDocument/2006/relationships/image" Target="../media/image-38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svg"/><Relationship Id="rId3" Type="http://schemas.openxmlformats.org/officeDocument/2006/relationships/image" Target="../media/image-39-3.png"/><Relationship Id="rId4" Type="http://schemas.openxmlformats.org/officeDocument/2006/relationships/image" Target="../media/image-39-4.svg"/><Relationship Id="rId5" Type="http://schemas.openxmlformats.org/officeDocument/2006/relationships/image" Target="../media/image-39-5.png"/><Relationship Id="rId6" Type="http://schemas.openxmlformats.org/officeDocument/2006/relationships/image" Target="../media/image-39-6.svg"/><Relationship Id="rId7" Type="http://schemas.openxmlformats.org/officeDocument/2006/relationships/image" Target="../media/image-39-7.png"/><Relationship Id="rId8" Type="http://schemas.openxmlformats.org/officeDocument/2006/relationships/image" Target="../media/image-39-8.svg"/><Relationship Id="rId9" Type="http://schemas.openxmlformats.org/officeDocument/2006/relationships/image" Target="../media/image-39-9.png"/><Relationship Id="rId10" Type="http://schemas.openxmlformats.org/officeDocument/2006/relationships/image" Target="../media/image-39-10.svg"/><Relationship Id="rId11" Type="http://schemas.openxmlformats.org/officeDocument/2006/relationships/image" Target="../media/image-39-3.png"/><Relationship Id="rId12" Type="http://schemas.openxmlformats.org/officeDocument/2006/relationships/image" Target="../media/image-39-4.svg"/><Relationship Id="rId13" Type="http://schemas.openxmlformats.org/officeDocument/2006/relationships/image" Target="../media/image-28-1.pn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svg"/><Relationship Id="rId3" Type="http://schemas.openxmlformats.org/officeDocument/2006/relationships/image" Target="../media/image-40-3.png"/><Relationship Id="rId4" Type="http://schemas.openxmlformats.org/officeDocument/2006/relationships/image" Target="../media/image-40-4.svg"/><Relationship Id="rId5" Type="http://schemas.openxmlformats.org/officeDocument/2006/relationships/image" Target="../media/image-40-5.png"/><Relationship Id="rId6" Type="http://schemas.openxmlformats.org/officeDocument/2006/relationships/image" Target="../media/image-40-6.svg"/><Relationship Id="rId7" Type="http://schemas.openxmlformats.org/officeDocument/2006/relationships/image" Target="../media/image-40-7.png"/><Relationship Id="rId8" Type="http://schemas.openxmlformats.org/officeDocument/2006/relationships/image" Target="../media/image-40-8.svg"/><Relationship Id="rId9" Type="http://schemas.openxmlformats.org/officeDocument/2006/relationships/image" Target="../media/image-40-9.png"/><Relationship Id="rId10" Type="http://schemas.openxmlformats.org/officeDocument/2006/relationships/image" Target="../media/image-40-10.svg"/><Relationship Id="rId11" Type="http://schemas.openxmlformats.org/officeDocument/2006/relationships/image" Target="../media/image-40-11.png"/><Relationship Id="rId12" Type="http://schemas.openxmlformats.org/officeDocument/2006/relationships/image" Target="../media/image-40-12.svg"/><Relationship Id="rId13" Type="http://schemas.openxmlformats.org/officeDocument/2006/relationships/image" Target="../media/image-40-13.png"/><Relationship Id="rId14" Type="http://schemas.openxmlformats.org/officeDocument/2006/relationships/image" Target="../media/image-40-14.svg"/><Relationship Id="rId15" Type="http://schemas.openxmlformats.org/officeDocument/2006/relationships/image" Target="../media/image-30-1.png"/><Relationship Id="rId16" Type="http://schemas.openxmlformats.org/officeDocument/2006/relationships/slideLayout" Target="../slideLayouts/slideLayout2.xml"/><Relationship Id="rId17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image" Target="../media/image-41-3.png"/><Relationship Id="rId5" Type="http://schemas.openxmlformats.org/officeDocument/2006/relationships/image" Target="../media/image-41-3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svg"/><Relationship Id="rId3" Type="http://schemas.openxmlformats.org/officeDocument/2006/relationships/image" Target="../media/image-42-1.png"/><Relationship Id="rId4" Type="http://schemas.openxmlformats.org/officeDocument/2006/relationships/image" Target="../media/image-42-2.svg"/><Relationship Id="rId5" Type="http://schemas.openxmlformats.org/officeDocument/2006/relationships/image" Target="../media/image-42-1.png"/><Relationship Id="rId6" Type="http://schemas.openxmlformats.org/officeDocument/2006/relationships/image" Target="../media/image-42-2.svg"/><Relationship Id="rId7" Type="http://schemas.openxmlformats.org/officeDocument/2006/relationships/image" Target="../media/image-38-2.png"/><Relationship Id="rId8" Type="http://schemas.openxmlformats.org/officeDocument/2006/relationships/image" Target="../media/image-38-3.svg"/><Relationship Id="rId9" Type="http://schemas.openxmlformats.org/officeDocument/2006/relationships/image" Target="../media/image-42-9.png"/><Relationship Id="rId10" Type="http://schemas.openxmlformats.org/officeDocument/2006/relationships/image" Target="../media/image-42-10.svg"/><Relationship Id="rId11" Type="http://schemas.openxmlformats.org/officeDocument/2006/relationships/image" Target="../media/image-42-11.png"/><Relationship Id="rId12" Type="http://schemas.openxmlformats.org/officeDocument/2006/relationships/image" Target="../media/image-42-12.svg"/><Relationship Id="rId13" Type="http://schemas.openxmlformats.org/officeDocument/2006/relationships/image" Target="../media/image-42-13.png"/><Relationship Id="rId14" Type="http://schemas.openxmlformats.org/officeDocument/2006/relationships/image" Target="../media/image-42-14.sv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image" Target="../media/image-46-2.png"/><Relationship Id="rId4" Type="http://schemas.openxmlformats.org/officeDocument/2006/relationships/image" Target="../media/image-46-2.png"/><Relationship Id="rId5" Type="http://schemas.openxmlformats.org/officeDocument/2006/relationships/image" Target="../media/image-46-2.png"/><Relationship Id="rId6" Type="http://schemas.openxmlformats.org/officeDocument/2006/relationships/image" Target="../media/image-46-6.png"/><Relationship Id="rId7" Type="http://schemas.openxmlformats.org/officeDocument/2006/relationships/image" Target="../media/image-46-7.svg"/><Relationship Id="rId8" Type="http://schemas.openxmlformats.org/officeDocument/2006/relationships/image" Target="../media/image-46-8.png"/><Relationship Id="rId9" Type="http://schemas.openxmlformats.org/officeDocument/2006/relationships/image" Target="../media/image-46-9.svg"/><Relationship Id="rId10" Type="http://schemas.openxmlformats.org/officeDocument/2006/relationships/image" Target="../media/image-46-10.png"/><Relationship Id="rId11" Type="http://schemas.openxmlformats.org/officeDocument/2006/relationships/image" Target="../media/image-46-11.sv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3.png"/><Relationship Id="rId2" Type="http://schemas.openxmlformats.org/officeDocument/2006/relationships/image" Target="../media/image-17-1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1.png"/><Relationship Id="rId3" Type="http://schemas.openxmlformats.org/officeDocument/2006/relationships/image" Target="../media/image-48-1.png"/><Relationship Id="rId4" Type="http://schemas.openxmlformats.org/officeDocument/2006/relationships/image" Target="../media/image-48-1.png"/><Relationship Id="rId5" Type="http://schemas.openxmlformats.org/officeDocument/2006/relationships/image" Target="../media/image-48-1.png"/><Relationship Id="rId6" Type="http://schemas.openxmlformats.org/officeDocument/2006/relationships/image" Target="../media/image-48-6.png"/><Relationship Id="rId7" Type="http://schemas.openxmlformats.org/officeDocument/2006/relationships/image" Target="../media/image-48-7.svg"/><Relationship Id="rId8" Type="http://schemas.openxmlformats.org/officeDocument/2006/relationships/image" Target="../media/image-48-8.png"/><Relationship Id="rId9" Type="http://schemas.openxmlformats.org/officeDocument/2006/relationships/image" Target="../media/image-48-9.svg"/><Relationship Id="rId10" Type="http://schemas.openxmlformats.org/officeDocument/2006/relationships/image" Target="../media/image-48-10.png"/><Relationship Id="rId11" Type="http://schemas.openxmlformats.org/officeDocument/2006/relationships/image" Target="../media/image-48-11.svg"/><Relationship Id="rId12" Type="http://schemas.openxmlformats.org/officeDocument/2006/relationships/image" Target="../media/image-48-12.png"/><Relationship Id="rId13" Type="http://schemas.openxmlformats.org/officeDocument/2006/relationships/image" Target="../media/image-48-13.svg"/><Relationship Id="rId14" Type="http://schemas.openxmlformats.org/officeDocument/2006/relationships/image" Target="../media/image-48-14.png"/><Relationship Id="rId15" Type="http://schemas.openxmlformats.org/officeDocument/2006/relationships/image" Target="../media/image-48-15.svg"/><Relationship Id="rId16" Type="http://schemas.openxmlformats.org/officeDocument/2006/relationships/image" Target="../media/image-48-16.png"/><Relationship Id="rId17" Type="http://schemas.openxmlformats.org/officeDocument/2006/relationships/image" Target="../media/image-48-17.svg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svg"/><Relationship Id="rId3" Type="http://schemas.openxmlformats.org/officeDocument/2006/relationships/image" Target="../media/image-50-3.png"/><Relationship Id="rId4" Type="http://schemas.openxmlformats.org/officeDocument/2006/relationships/image" Target="../media/image-50-4.svg"/><Relationship Id="rId5" Type="http://schemas.openxmlformats.org/officeDocument/2006/relationships/image" Target="../media/image-50-5.png"/><Relationship Id="rId6" Type="http://schemas.openxmlformats.org/officeDocument/2006/relationships/image" Target="../media/image-50-6.svg"/><Relationship Id="rId7" Type="http://schemas.openxmlformats.org/officeDocument/2006/relationships/image" Target="../media/image-50-7.png"/><Relationship Id="rId8" Type="http://schemas.openxmlformats.org/officeDocument/2006/relationships/image" Target="../media/image-50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2" Type="http://schemas.openxmlformats.org/officeDocument/2006/relationships/hyperlink" Target="https://www.frontiersin.org/journals/digital-health" TargetMode="External"/><Relationship Id="rId13" Type="http://schemas.openxmlformats.org/officeDocument/2006/relationships/hyperlink" Target="https://deepmind.google/technologies/medgemma/" TargetMode="External"/><Relationship Id="rId14" Type="http://schemas.openxmlformats.org/officeDocument/2006/relationships/hyperlink" Target="https://www.nature.com/nm" TargetMode="External"/><Relationship Id="rId15" Type="http://schemas.openxmlformats.org/officeDocument/2006/relationships/hyperlink" Target="https://iris.who.int/handle/10665/375579" TargetMode="External"/><Relationship Id="rId1" Type="http://schemas.openxmlformats.org/officeDocument/2006/relationships/image" Target="../media/image-51-1.png"/><Relationship Id="rId2" Type="http://schemas.openxmlformats.org/officeDocument/2006/relationships/image" Target="../media/image-51-2.svg"/><Relationship Id="rId3" Type="http://schemas.openxmlformats.org/officeDocument/2006/relationships/image" Target="../media/image-51-1.png"/><Relationship Id="rId4" Type="http://schemas.openxmlformats.org/officeDocument/2006/relationships/image" Target="../media/image-51-2.svg"/><Relationship Id="rId5" Type="http://schemas.openxmlformats.org/officeDocument/2006/relationships/image" Target="../media/image-51-5.png"/><Relationship Id="rId6" Type="http://schemas.openxmlformats.org/officeDocument/2006/relationships/image" Target="../media/image-51-6.svg"/><Relationship Id="rId7" Type="http://schemas.openxmlformats.org/officeDocument/2006/relationships/image" Target="../media/image-51-5.png"/><Relationship Id="rId8" Type="http://schemas.openxmlformats.org/officeDocument/2006/relationships/image" Target="../media/image-51-6.svg"/><Relationship Id="rId9" Type="http://schemas.openxmlformats.org/officeDocument/2006/relationships/image" Target="../media/image-51-1.png"/><Relationship Id="rId10" Type="http://schemas.openxmlformats.org/officeDocument/2006/relationships/image" Target="../media/image-51-2.svg"/><Relationship Id="rId11" Type="http://schemas.openxmlformats.org/officeDocument/2006/relationships/image" Target="../media/image-17-13.png"/><Relationship Id="rId16" Type="http://schemas.openxmlformats.org/officeDocument/2006/relationships/slideLayout" Target="../slideLayouts/slideLayout2.xml"/><Relationship Id="rId17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0" Type="http://schemas.openxmlformats.org/officeDocument/2006/relationships/hyperlink" Target="https://arxiv.org/abs/2210.10341" TargetMode="External"/><Relationship Id="rId11" Type="http://schemas.openxmlformats.org/officeDocument/2006/relationships/hyperlink" Target="https://alphafold.ebi.ac.uk/" TargetMode="External"/><Relationship Id="rId12" Type="http://schemas.openxmlformats.org/officeDocument/2006/relationships/hyperlink" Target="https://esmatlas.com/" TargetMode="External"/><Relationship Id="rId13" Type="http://schemas.openxmlformats.org/officeDocument/2006/relationships/hyperlink" Target="https://www.insilico.com/ism001" TargetMode="External"/><Relationship Id="rId14" Type="http://schemas.openxmlformats.org/officeDocument/2006/relationships/hyperlink" Target="https://www.nature.com/articles/s41591-023-02351-8" TargetMode="External"/><Relationship Id="rId15" Type="http://schemas.openxmlformats.org/officeDocument/2006/relationships/hyperlink" Target="https://www.recursion.com/" TargetMode="External"/><Relationship Id="rId16" Type="http://schemas.openxmlformats.org/officeDocument/2006/relationships/hyperlink" Target="https://consensus.app/" TargetMode="External"/><Relationship Id="rId17" Type="http://schemas.openxmlformats.org/officeDocument/2006/relationships/hyperlink" Target="https://elicit.com/" TargetMode="External"/><Relationship Id="rId1" Type="http://schemas.openxmlformats.org/officeDocument/2006/relationships/image" Target="../media/image-52-1.png"/><Relationship Id="rId2" Type="http://schemas.openxmlformats.org/officeDocument/2006/relationships/image" Target="../media/image-52-2.svg"/><Relationship Id="rId3" Type="http://schemas.openxmlformats.org/officeDocument/2006/relationships/image" Target="../media/image-52-1.png"/><Relationship Id="rId4" Type="http://schemas.openxmlformats.org/officeDocument/2006/relationships/image" Target="../media/image-52-2.svg"/><Relationship Id="rId5" Type="http://schemas.openxmlformats.org/officeDocument/2006/relationships/image" Target="../media/image-52-1.png"/><Relationship Id="rId6" Type="http://schemas.openxmlformats.org/officeDocument/2006/relationships/image" Target="../media/image-52-2.svg"/><Relationship Id="rId7" Type="http://schemas.openxmlformats.org/officeDocument/2006/relationships/image" Target="../media/image-52-1.png"/><Relationship Id="rId8" Type="http://schemas.openxmlformats.org/officeDocument/2006/relationships/image" Target="../media/image-52-2.svg"/><Relationship Id="rId9" Type="http://schemas.openxmlformats.org/officeDocument/2006/relationships/image" Target="../media/image-52-9.png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svg"/><Relationship Id="rId3" Type="http://schemas.openxmlformats.org/officeDocument/2006/relationships/image" Target="../media/image-53-3.png"/><Relationship Id="rId4" Type="http://schemas.openxmlformats.org/officeDocument/2006/relationships/image" Target="../media/image-53-4.svg"/><Relationship Id="rId5" Type="http://schemas.openxmlformats.org/officeDocument/2006/relationships/image" Target="../media/image-53-5.png"/><Relationship Id="rId6" Type="http://schemas.openxmlformats.org/officeDocument/2006/relationships/image" Target="../media/image-53-6.svg"/><Relationship Id="rId7" Type="http://schemas.openxmlformats.org/officeDocument/2006/relationships/image" Target="../media/image-53-7.png"/><Relationship Id="rId8" Type="http://schemas.openxmlformats.org/officeDocument/2006/relationships/image" Target="../media/image-53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svg"/><Relationship Id="rId3" Type="http://schemas.openxmlformats.org/officeDocument/2006/relationships/image" Target="../media/image-54-1.png"/><Relationship Id="rId4" Type="http://schemas.openxmlformats.org/officeDocument/2006/relationships/image" Target="../media/image-54-2.svg"/><Relationship Id="rId5" Type="http://schemas.openxmlformats.org/officeDocument/2006/relationships/image" Target="../media/image-54-1.png"/><Relationship Id="rId6" Type="http://schemas.openxmlformats.org/officeDocument/2006/relationships/image" Target="../media/image-54-2.svg"/><Relationship Id="rId7" Type="http://schemas.openxmlformats.org/officeDocument/2006/relationships/image" Target="../media/image-54-1.png"/><Relationship Id="rId8" Type="http://schemas.openxmlformats.org/officeDocument/2006/relationships/image" Target="../media/image-54-2.svg"/><Relationship Id="rId9" Type="http://schemas.openxmlformats.org/officeDocument/2006/relationships/image" Target="../media/image-54-9.png"/><Relationship Id="rId10" Type="http://schemas.openxmlformats.org/officeDocument/2006/relationships/image" Target="../media/image-54-10.svg"/><Relationship Id="rId11" Type="http://schemas.openxmlformats.org/officeDocument/2006/relationships/image" Target="../media/image-54-9.png"/><Relationship Id="rId12" Type="http://schemas.openxmlformats.org/officeDocument/2006/relationships/image" Target="../media/image-54-10.svg"/><Relationship Id="rId13" Type="http://schemas.openxmlformats.org/officeDocument/2006/relationships/image" Target="../media/image-54-13.png"/><Relationship Id="rId14" Type="http://schemas.openxmlformats.org/officeDocument/2006/relationships/image" Target="../media/image-54-14.svg"/><Relationship Id="rId15" Type="http://schemas.openxmlformats.org/officeDocument/2006/relationships/image" Target="../media/image-54-13.png"/><Relationship Id="rId16" Type="http://schemas.openxmlformats.org/officeDocument/2006/relationships/image" Target="../media/image-54-14.sv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aitutorial.dev/prompting/llm-foundamentals" TargetMode="External"/><Relationship Id="rId6" Type="http://schemas.openxmlformats.org/officeDocument/2006/relationships/hyperlink" Target="https://aitutorial.dev/prompting/structured-prompt-engineering" TargetMode="External"/><Relationship Id="rId9" Type="http://schemas.openxmlformats.org/officeDocument/2006/relationships/hyperlink" Target="https://aitutorial.dev/prompting/advanced-techniques" TargetMode="External"/><Relationship Id="rId12" Type="http://schemas.openxmlformats.org/officeDocument/2006/relationships/hyperlink" Target="https://aitutorial.dev/prompting/prompt-optimization-and-testing" TargetMode="External"/><Relationship Id="rId1" Type="http://schemas.openxmlformats.org/officeDocument/2006/relationships/image" Target="../media/image-57-1.png"/><Relationship Id="rId2" Type="http://schemas.openxmlformats.org/officeDocument/2006/relationships/image" Target="../media/image-57-2.svg"/><Relationship Id="rId4" Type="http://schemas.openxmlformats.org/officeDocument/2006/relationships/image" Target="../media/image-57-3.png"/><Relationship Id="rId5" Type="http://schemas.openxmlformats.org/officeDocument/2006/relationships/image" Target="../media/image-57-4.svg"/><Relationship Id="rId7" Type="http://schemas.openxmlformats.org/officeDocument/2006/relationships/image" Target="../media/image-57-1.png"/><Relationship Id="rId8" Type="http://schemas.openxmlformats.org/officeDocument/2006/relationships/image" Target="../media/image-57-2.svg"/><Relationship Id="rId10" Type="http://schemas.openxmlformats.org/officeDocument/2006/relationships/image" Target="../media/image-57-7.png"/><Relationship Id="rId11" Type="http://schemas.openxmlformats.org/officeDocument/2006/relationships/image" Target="../media/image-57-8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svg"/><Relationship Id="rId3" Type="http://schemas.openxmlformats.org/officeDocument/2006/relationships/image" Target="../media/image-42-1.png"/><Relationship Id="rId4" Type="http://schemas.openxmlformats.org/officeDocument/2006/relationships/image" Target="../media/image-42-2.svg"/><Relationship Id="rId5" Type="http://schemas.openxmlformats.org/officeDocument/2006/relationships/image" Target="../media/image-42-1.png"/><Relationship Id="rId6" Type="http://schemas.openxmlformats.org/officeDocument/2006/relationships/image" Target="../media/image-42-2.svg"/><Relationship Id="rId7" Type="http://schemas.openxmlformats.org/officeDocument/2006/relationships/image" Target="../media/image-38-2.png"/><Relationship Id="rId8" Type="http://schemas.openxmlformats.org/officeDocument/2006/relationships/image" Target="../media/image-38-3.svg"/><Relationship Id="rId9" Type="http://schemas.openxmlformats.org/officeDocument/2006/relationships/image" Target="../media/image-42-9.png"/><Relationship Id="rId10" Type="http://schemas.openxmlformats.org/officeDocument/2006/relationships/image" Target="../media/image-42-10.svg"/><Relationship Id="rId11" Type="http://schemas.openxmlformats.org/officeDocument/2006/relationships/image" Target="../media/image-42-11.png"/><Relationship Id="rId12" Type="http://schemas.openxmlformats.org/officeDocument/2006/relationships/image" Target="../media/image-42-12.svg"/><Relationship Id="rId13" Type="http://schemas.openxmlformats.org/officeDocument/2006/relationships/image" Target="../media/image-42-13.png"/><Relationship Id="rId14" Type="http://schemas.openxmlformats.org/officeDocument/2006/relationships/image" Target="../media/image-42-14.sv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hyperlink" Target="https://aitutorial.dev/prompting/advanced-techniques" TargetMode="External"/><Relationship Id="rId1" Type="http://schemas.openxmlformats.org/officeDocument/2006/relationships/image" Target="../media/image-30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svg"/><Relationship Id="rId3" Type="http://schemas.openxmlformats.org/officeDocument/2006/relationships/image" Target="../media/image-31-3.png"/><Relationship Id="rId4" Type="http://schemas.openxmlformats.org/officeDocument/2006/relationships/image" Target="../media/image-31-4.svg"/><Relationship Id="rId5" Type="http://schemas.openxmlformats.org/officeDocument/2006/relationships/image" Target="../media/image-31-5.png"/><Relationship Id="rId6" Type="http://schemas.openxmlformats.org/officeDocument/2006/relationships/image" Target="../media/image-31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svg"/><Relationship Id="rId4" Type="http://schemas.openxmlformats.org/officeDocument/2006/relationships/image" Target="../media/image-32-4.png"/><Relationship Id="rId5" Type="http://schemas.openxmlformats.org/officeDocument/2006/relationships/image" Target="../media/image-32-5.svg"/><Relationship Id="rId6" Type="http://schemas.openxmlformats.org/officeDocument/2006/relationships/image" Target="../media/image-32-6.png"/><Relationship Id="rId7" Type="http://schemas.openxmlformats.org/officeDocument/2006/relationships/image" Target="../media/image-32-7.svg"/><Relationship Id="rId8" Type="http://schemas.openxmlformats.org/officeDocument/2006/relationships/image" Target="../media/image-32-1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1.png"/><Relationship Id="rId3" Type="http://schemas.openxmlformats.org/officeDocument/2006/relationships/image" Target="../media/image-34-1.png"/><Relationship Id="rId4" Type="http://schemas.openxmlformats.org/officeDocument/2006/relationships/image" Target="../media/image-3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5764"/>
            <a:ext cx="10868745" cy="2597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Inteligencia Artificial Generativa Aplicada en Biomedicina</a:t>
            </a:r>
            <a:endParaRPr lang="en-US" sz="5450" dirty="0"/>
          </a:p>
        </p:txBody>
      </p:sp>
      <p:sp>
        <p:nvSpPr>
          <p:cNvPr id="3" name="Text 1"/>
          <p:cNvSpPr/>
          <p:nvPr/>
        </p:nvSpPr>
        <p:spPr>
          <a:xfrm>
            <a:off x="661475" y="3569692"/>
            <a:ext cx="10868745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Clase 3: Ingeniería de Prompts y Técnicas Avanzadas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661475" y="4292997"/>
            <a:ext cx="4394289" cy="747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Autor: Paulo Veiga/Marcos Sanchez Sorondo</a:t>
            </a:r>
            <a:endParaRPr lang="en-US" sz="155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Última Modificación: Marzo, 2026</a:t>
            </a:r>
            <a:endParaRPr lang="en-US" sz="1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7842" y="4331395"/>
            <a:ext cx="1958628" cy="16187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3059807"/>
            <a:ext cx="10868745" cy="738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endParaRPr lang="en-US" sz="4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3059807"/>
            <a:ext cx="10868745" cy="738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endParaRPr lang="en-US" sz="4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3298"/>
            <a:ext cx="10868745" cy="464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Agenda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828753" y="1325563"/>
            <a:ext cx="19050" cy="4859139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4" name="Shape 2"/>
          <p:cNvSpPr/>
          <p:nvPr/>
        </p:nvSpPr>
        <p:spPr>
          <a:xfrm>
            <a:off x="977032" y="1483320"/>
            <a:ext cx="446275" cy="19050"/>
          </a:xfrm>
          <a:prstGeom prst="roundRect">
            <a:avLst>
              <a:gd name="adj" fmla="val 39999"/>
            </a:avLst>
          </a:prstGeom>
          <a:solidFill>
            <a:srgbClr val="F33447"/>
          </a:solidFill>
          <a:ln/>
        </p:spPr>
      </p:sp>
      <p:sp>
        <p:nvSpPr>
          <p:cNvPr id="5" name="Shape 3"/>
          <p:cNvSpPr/>
          <p:nvPr/>
        </p:nvSpPr>
        <p:spPr>
          <a:xfrm>
            <a:off x="661425" y="1325563"/>
            <a:ext cx="334656" cy="334665"/>
          </a:xfrm>
          <a:prstGeom prst="roundRect">
            <a:avLst>
              <a:gd name="adj" fmla="val 2277"/>
            </a:avLst>
          </a:prstGeom>
          <a:solidFill>
            <a:srgbClr val="DA1B2E"/>
          </a:solidFill>
          <a:ln w="6350">
            <a:solidFill>
              <a:srgbClr val="F33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7135" y="1353393"/>
            <a:ext cx="223137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572677" y="1376660"/>
            <a:ext cx="9957543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Fundamentos de Foundational Models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72677" y="1665188"/>
            <a:ext cx="9957543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Ventana de contexto, tokens, limitaciones y modelos mentales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77032" y="2204244"/>
            <a:ext cx="446275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10" name="Shape 8"/>
          <p:cNvSpPr/>
          <p:nvPr/>
        </p:nvSpPr>
        <p:spPr>
          <a:xfrm>
            <a:off x="661425" y="2046486"/>
            <a:ext cx="334656" cy="334665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7135" y="2074317"/>
            <a:ext cx="223137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2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572677" y="2097584"/>
            <a:ext cx="9957543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Ingeniería de Prompts Estructurada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572677" y="2386112"/>
            <a:ext cx="9957543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componentes, XML tags, salidas JSON y optimización por modelo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77032" y="2925167"/>
            <a:ext cx="446275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15" name="Shape 13"/>
          <p:cNvSpPr/>
          <p:nvPr/>
        </p:nvSpPr>
        <p:spPr>
          <a:xfrm>
            <a:off x="661425" y="2767409"/>
            <a:ext cx="334656" cy="334665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7135" y="2795240"/>
            <a:ext cx="223137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3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572677" y="2818507"/>
            <a:ext cx="9957543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In-Context Learning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572677" y="3107035"/>
            <a:ext cx="9957543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Zero-shot, Few-shot y Many-shot con ejemplos clínicos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77032" y="3646091"/>
            <a:ext cx="446275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20" name="Shape 18"/>
          <p:cNvSpPr/>
          <p:nvPr/>
        </p:nvSpPr>
        <p:spPr>
          <a:xfrm>
            <a:off x="661425" y="3488333"/>
            <a:ext cx="334656" cy="334665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7135" y="3516164"/>
            <a:ext cx="223137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4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1572677" y="3539430"/>
            <a:ext cx="9957543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Técnicas Avanzadas de Prompting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572677" y="3827959"/>
            <a:ext cx="9957543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CoT, Self-Consistency, Extended Thinking y Prompt Chaining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77032" y="4367014"/>
            <a:ext cx="446275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25" name="Shape 23"/>
          <p:cNvSpPr/>
          <p:nvPr/>
        </p:nvSpPr>
        <p:spPr>
          <a:xfrm>
            <a:off x="661425" y="4209256"/>
            <a:ext cx="334656" cy="334665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7135" y="4237087"/>
            <a:ext cx="223137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5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1572677" y="4260354"/>
            <a:ext cx="9957543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Selección de Modelos y Costos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572677" y="4548882"/>
            <a:ext cx="9957543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Framework de decisión, prompt caching, model cascading y TOON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77032" y="5087938"/>
            <a:ext cx="446275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30" name="Shape 28"/>
          <p:cNvSpPr/>
          <p:nvPr/>
        </p:nvSpPr>
        <p:spPr>
          <a:xfrm>
            <a:off x="661425" y="4930180"/>
            <a:ext cx="334656" cy="334665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7135" y="4958011"/>
            <a:ext cx="223137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6</a:t>
            </a: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1572677" y="4981277"/>
            <a:ext cx="9957543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Foundational Models en Medicina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1572677" y="5269805"/>
            <a:ext cx="9957543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Aplicaciones reales, recorrido del paciente, research biomédica y marco ético OMS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77032" y="5808861"/>
            <a:ext cx="446275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35" name="Shape 33"/>
          <p:cNvSpPr/>
          <p:nvPr/>
        </p:nvSpPr>
        <p:spPr>
          <a:xfrm>
            <a:off x="661425" y="5651103"/>
            <a:ext cx="334656" cy="334665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7135" y="5678934"/>
            <a:ext cx="223137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7</a:t>
            </a:r>
            <a:endParaRPr lang="en-US" sz="1750" dirty="0"/>
          </a:p>
        </p:txBody>
      </p:sp>
      <p:sp>
        <p:nvSpPr>
          <p:cNvPr id="37" name="Text 35"/>
          <p:cNvSpPr/>
          <p:nvPr/>
        </p:nvSpPr>
        <p:spPr>
          <a:xfrm>
            <a:off x="1572677" y="5702201"/>
            <a:ext cx="9957543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Resumen y Práctica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1572677" y="5990729"/>
            <a:ext cx="9957543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Módulos interactivos de aitutorial.dev + sistema de triage con LLM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47018"/>
            <a:ext cx="3519796" cy="305098"/>
          </a:xfrm>
          <a:prstGeom prst="roundRect">
            <a:avLst>
              <a:gd name="adj" fmla="val 2497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81923" y="807244"/>
            <a:ext cx="3888484" cy="184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FUNDAMENTOS DE FOUNDATIONAL MODELS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61475" y="1120378"/>
            <a:ext cx="10868745" cy="627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¿Qué es un Prompt?</a:t>
            </a:r>
            <a:endParaRPr lang="en-US" sz="3950" dirty="0"/>
          </a:p>
        </p:txBody>
      </p:sp>
      <p:sp>
        <p:nvSpPr>
          <p:cNvPr id="5" name="Text 3"/>
          <p:cNvSpPr/>
          <p:nvPr/>
        </p:nvSpPr>
        <p:spPr>
          <a:xfrm>
            <a:off x="962695" y="2195909"/>
            <a:ext cx="10567525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prompt es la instrucción, pregunta o entrada textual que proporcionas a un Modelo de Lenguaje Grande (LLM) para que genere una respuesta.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61475" y="2003921"/>
            <a:ext cx="25399" cy="978297"/>
          </a:xfrm>
          <a:prstGeom prst="roundRect">
            <a:avLst>
              <a:gd name="adj" fmla="val 50001"/>
            </a:avLst>
          </a:prstGeom>
          <a:solidFill>
            <a:srgbClr val="DA1B2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3174206"/>
            <a:ext cx="502034" cy="5020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1475" y="3889573"/>
            <a:ext cx="3480705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Medio de Comunicación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661475" y="4305697"/>
            <a:ext cx="3480705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interfaz principal entre el humano y la IA.</a:t>
            </a:r>
            <a:endParaRPr lang="en-US" sz="15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55495" y="3174206"/>
            <a:ext cx="502034" cy="5020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55495" y="3889573"/>
            <a:ext cx="3480705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Define Tarea y Contexto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4355495" y="4305697"/>
            <a:ext cx="3480705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Establece qué hacer y bajo qué condiciones.</a:t>
            </a:r>
            <a:endParaRPr lang="en-US" sz="15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49515" y="3174206"/>
            <a:ext cx="502034" cy="50204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49515" y="3889573"/>
            <a:ext cx="3480705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Calidad = Resultado</a:t>
            </a:r>
            <a:endParaRPr lang="en-US" sz="1950" dirty="0"/>
          </a:p>
        </p:txBody>
      </p:sp>
      <p:sp>
        <p:nvSpPr>
          <p:cNvPr id="15" name="Text 10"/>
          <p:cNvSpPr/>
          <p:nvPr/>
        </p:nvSpPr>
        <p:spPr>
          <a:xfrm>
            <a:off x="8049515" y="4305697"/>
            <a:ext cx="3480705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mejor prompt produce respuestas más útiles y precisas.</a:t>
            </a:r>
            <a:endParaRPr lang="en-US" sz="1550" dirty="0"/>
          </a:p>
        </p:txBody>
      </p:sp>
      <p:sp>
        <p:nvSpPr>
          <p:cNvPr id="16" name="Shape 11"/>
          <p:cNvSpPr/>
          <p:nvPr/>
        </p:nvSpPr>
        <p:spPr>
          <a:xfrm>
            <a:off x="661475" y="5092005"/>
            <a:ext cx="10868745" cy="1018977"/>
          </a:xfrm>
          <a:prstGeom prst="roundRect">
            <a:avLst>
              <a:gd name="adj" fmla="val 748"/>
            </a:avLst>
          </a:prstGeom>
          <a:solidFill>
            <a:srgbClr val="F9D2D6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2289" y="5340350"/>
            <a:ext cx="251017" cy="20081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14119" y="5312866"/>
            <a:ext cx="10015287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💡</a:t>
            </a:r>
            <a:pPr algn="l" indent="0" marL="0">
              <a:lnSpc>
                <a:spcPct val="123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Analogía: Un prompt es como una receta para un chef experto — cuanto más clara y específica, mejor el resultado.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47427"/>
            <a:ext cx="2898107" cy="251420"/>
          </a:xfrm>
          <a:prstGeom prst="roundRect">
            <a:avLst>
              <a:gd name="adj" fmla="val 3031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897037"/>
            <a:ext cx="3309259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FUNDAMENTOS DE FOUNDATIONAL MODELS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14508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¿Que es lo que se guarda en un prompt?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1951137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Componentes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485" y="2344837"/>
            <a:ext cx="248041" cy="2480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98830" y="2339777"/>
            <a:ext cx="469531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System prompt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98830" y="2713930"/>
            <a:ext cx="4695311" cy="44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Instrucciones base del sistema que definen el comportamiento general del modelo.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485" y="3400326"/>
            <a:ext cx="248041" cy="24804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98830" y="3395266"/>
            <a:ext cx="469531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Historial de mensajes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198830" y="3769420"/>
            <a:ext cx="4695311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Toda la conversación previa entre usuario y modelo.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3485" y="4230886"/>
            <a:ext cx="248041" cy="24804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98830" y="4225826"/>
            <a:ext cx="469531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Datos inyectados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198830" y="4599980"/>
            <a:ext cx="4695311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Archivos, resultados de búsqueda, datos de APIs externos.</a:t>
            </a:r>
            <a:endParaRPr lang="en-US" sz="1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3485" y="5061446"/>
            <a:ext cx="248041" cy="24804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98830" y="5056386"/>
            <a:ext cx="469531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Respuestas del modelo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1198830" y="5430540"/>
            <a:ext cx="4695311" cy="44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Sus propias respuestas previas también consumen espacio en la ventana.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6303904" y="1951137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Lo que hay que saber</a:t>
            </a:r>
            <a:endParaRPr lang="en-US" sz="16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03904" y="2339777"/>
            <a:ext cx="2558490" cy="126841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564446" y="2524125"/>
            <a:ext cx="2113604" cy="899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Cada mensaje nuevo se concatena al historial, consumiendo espacio progresivamente (chat).</a:t>
            </a:r>
            <a:endParaRPr lang="en-US" sz="13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978080" y="2339777"/>
            <a:ext cx="2558490" cy="1268413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9238622" y="2524125"/>
            <a:ext cx="2113604" cy="67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Todo compite por la atención del modelo simultáneamente.</a:t>
            </a:r>
            <a:endParaRPr lang="en-US" sz="13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03904" y="3723878"/>
            <a:ext cx="2558490" cy="1043484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564446" y="3908227"/>
            <a:ext cx="2113604" cy="67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Más contexto </a:t>
            </a:r>
            <a:pPr algn="l" indent="0" marL="0">
              <a:lnSpc>
                <a:spcPct val="11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no siempre es mejor</a:t>
            </a:r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puede diluir lo importante.</a:t>
            </a:r>
            <a:endParaRPr lang="en-US" sz="13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978080" y="3723878"/>
            <a:ext cx="2558490" cy="1043484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9238622" y="3908227"/>
            <a:ext cx="2113604" cy="67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modelo no "elige" qué leer; procesa todo el contexto junto.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71016"/>
            <a:ext cx="2689455" cy="233263"/>
          </a:xfrm>
          <a:prstGeom prst="roundRect">
            <a:avLst>
              <a:gd name="adj" fmla="val 3267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53548" y="717054"/>
            <a:ext cx="3114895" cy="141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FUNDAMENTOS DE FOUNDATIONAL MODELS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944166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Ventana de Contexto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50849" y="1573808"/>
            <a:ext cx="5468305" cy="4298255"/>
          </a:xfrm>
          <a:prstGeom prst="roundRect">
            <a:avLst>
              <a:gd name="adj" fmla="val 536"/>
            </a:avLst>
          </a:prstGeom>
          <a:solidFill>
            <a:srgbClr val="DA1B2E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04336" y="1673622"/>
            <a:ext cx="516132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¿Qué es?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04336" y="2013347"/>
            <a:ext cx="5161329" cy="760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ventana de contexto es la </a:t>
            </a:r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memoria de trabajo activa</a:t>
            </a:r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del LLM: todo lo que el modelo puede «ver» en un momento dado para generar su respuesta.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04336" y="2863354"/>
            <a:ext cx="5161329" cy="506809"/>
          </a:xfrm>
          <a:prstGeom prst="rect">
            <a:avLst/>
          </a:prstGeom>
          <a:noFill/>
          <a:ln/>
        </p:spPr>
        <p:txBody>
          <a:bodyPr wrap="square" lIns="0" tIns="76789" rIns="0" bIns="0" rtlCol="0" anchor="t">
            <a:normAutofit/>
          </a:bodyPr>
          <a:lstStyle/>
          <a:p>
            <a:pPr algn="l" marL="304800" indent="-3048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 finita, cuando se llena, el modelo pierde acceso a la información más antigua.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04336" y="3459956"/>
            <a:ext cx="5161329" cy="596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spcAft>
                <a:spcPts val="700"/>
              </a:spcAft>
              <a:buNone/>
            </a:pP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89518" y="1673622"/>
            <a:ext cx="524705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Tamaños típicos en 2026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89518" y="2102445"/>
            <a:ext cx="3065088" cy="191889"/>
          </a:xfrm>
          <a:prstGeom prst="roundRect">
            <a:avLst>
              <a:gd name="adj" fmla="val 3971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89518" y="2102445"/>
            <a:ext cx="30559" cy="191889"/>
          </a:xfrm>
          <a:prstGeom prst="roundRect">
            <a:avLst>
              <a:gd name="adj" fmla="val 24935"/>
            </a:avLst>
          </a:prstGeom>
          <a:solidFill>
            <a:srgbClr val="DA1B2E"/>
          </a:solidFill>
          <a:ln/>
        </p:spPr>
      </p:sp>
      <p:sp>
        <p:nvSpPr>
          <p:cNvPr id="13" name="Text 11"/>
          <p:cNvSpPr/>
          <p:nvPr/>
        </p:nvSpPr>
        <p:spPr>
          <a:xfrm>
            <a:off x="9469697" y="2102346"/>
            <a:ext cx="23038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89518" y="2445841"/>
            <a:ext cx="524705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GPT-5.4 (OpenAI)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89518" y="2962077"/>
            <a:ext cx="3065088" cy="191889"/>
          </a:xfrm>
          <a:prstGeom prst="roundRect">
            <a:avLst>
              <a:gd name="adj" fmla="val 3971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89518" y="2962077"/>
            <a:ext cx="30559" cy="191889"/>
          </a:xfrm>
          <a:prstGeom prst="roundRect">
            <a:avLst>
              <a:gd name="adj" fmla="val 24935"/>
            </a:avLst>
          </a:prstGeom>
          <a:solidFill>
            <a:srgbClr val="DA1B2E"/>
          </a:solidFill>
          <a:ln/>
        </p:spPr>
      </p:sp>
      <p:sp>
        <p:nvSpPr>
          <p:cNvPr id="17" name="Text 15"/>
          <p:cNvSpPr/>
          <p:nvPr/>
        </p:nvSpPr>
        <p:spPr>
          <a:xfrm>
            <a:off x="9469697" y="2961977"/>
            <a:ext cx="23038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89518" y="3305473"/>
            <a:ext cx="524705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Claude Opus 4.6 (Anthropic)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89518" y="3821708"/>
            <a:ext cx="3065088" cy="191889"/>
          </a:xfrm>
          <a:prstGeom prst="roundRect">
            <a:avLst>
              <a:gd name="adj" fmla="val 3971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89518" y="3821708"/>
            <a:ext cx="61216" cy="191889"/>
          </a:xfrm>
          <a:prstGeom prst="roundRect">
            <a:avLst>
              <a:gd name="adj" fmla="val 12447"/>
            </a:avLst>
          </a:prstGeom>
          <a:solidFill>
            <a:srgbClr val="DA1B2E"/>
          </a:solidFill>
          <a:ln/>
        </p:spPr>
      </p:sp>
      <p:sp>
        <p:nvSpPr>
          <p:cNvPr id="21" name="Text 19"/>
          <p:cNvSpPr/>
          <p:nvPr/>
        </p:nvSpPr>
        <p:spPr>
          <a:xfrm>
            <a:off x="9469697" y="3821609"/>
            <a:ext cx="23038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2M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89518" y="4165104"/>
            <a:ext cx="524705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Gemini 3 Pro (Google)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89518" y="4681339"/>
            <a:ext cx="2949997" cy="191889"/>
          </a:xfrm>
          <a:prstGeom prst="roundRect">
            <a:avLst>
              <a:gd name="adj" fmla="val 3971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9518" y="4681339"/>
            <a:ext cx="294970" cy="191889"/>
          </a:xfrm>
          <a:prstGeom prst="roundRect">
            <a:avLst>
              <a:gd name="adj" fmla="val 3971"/>
            </a:avLst>
          </a:prstGeom>
          <a:solidFill>
            <a:srgbClr val="DA1B2E"/>
          </a:solidFill>
          <a:ln/>
        </p:spPr>
      </p:sp>
      <p:sp>
        <p:nvSpPr>
          <p:cNvPr id="25" name="Text 23"/>
          <p:cNvSpPr/>
          <p:nvPr/>
        </p:nvSpPr>
        <p:spPr>
          <a:xfrm>
            <a:off x="9354606" y="4681240"/>
            <a:ext cx="345471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10M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289518" y="5024735"/>
            <a:ext cx="524705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Llama 4 (Meta)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89518" y="5376863"/>
            <a:ext cx="5247052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carrera por ventanas más largas es la nueva frontera competitiva en 2026.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1475" y="5984280"/>
            <a:ext cx="11478330" cy="20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historial, respuestas,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740271"/>
            <a:ext cx="3519796" cy="305098"/>
          </a:xfrm>
          <a:prstGeom prst="roundRect">
            <a:avLst>
              <a:gd name="adj" fmla="val 2497"/>
            </a:avLst>
          </a:prstGeom>
          <a:solidFill>
            <a:srgbClr val="F9D2D6"/>
          </a:solidFill>
          <a:ln/>
        </p:spPr>
      </p:sp>
      <p:sp>
        <p:nvSpPr>
          <p:cNvPr id="4" name="Text 1"/>
          <p:cNvSpPr/>
          <p:nvPr/>
        </p:nvSpPr>
        <p:spPr>
          <a:xfrm>
            <a:off x="781923" y="800497"/>
            <a:ext cx="3888484" cy="184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FUNDAMENTOS DE FOUNDATIONAL MODELS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61475" y="1113631"/>
            <a:ext cx="6296860" cy="1255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¿Cuanto es 1 millón de </a:t>
            </a:r>
            <a:pPr algn="l" indent="0" marL="0">
              <a:lnSpc>
                <a:spcPct val="104000"/>
              </a:lnSpc>
              <a:buNone/>
            </a:pPr>
            <a:r>
              <a:rPr lang="en-US" sz="3950" strike="sngStrike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Tolkien </a:t>
            </a:r>
            <a:pPr algn="l" indent="0" marL="0">
              <a:lnSpc>
                <a:spcPct val="104000"/>
              </a:lnSpc>
              <a:buNone/>
            </a:pPr>
            <a:r>
              <a:rPr lang="en-US" sz="39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tokens ?</a:t>
            </a:r>
            <a:endParaRPr lang="en-US" sz="3950" dirty="0"/>
          </a:p>
        </p:txBody>
      </p:sp>
      <p:sp>
        <p:nvSpPr>
          <p:cNvPr id="6" name="Text 3"/>
          <p:cNvSpPr/>
          <p:nvPr/>
        </p:nvSpPr>
        <p:spPr>
          <a:xfrm>
            <a:off x="962695" y="2816721"/>
            <a:ext cx="5995639" cy="14858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"Claude Code tiene ahora una ventana de contexto de 1 millón de tokens por defecto. Un millón de tokens es mucho: la trilogía de </a:t>
            </a:r>
            <a:pPr algn="l" indent="0" marL="0">
              <a:lnSpc>
                <a:spcPct val="123000"/>
              </a:lnSpc>
              <a:buNone/>
            </a:pPr>
            <a:r>
              <a:rPr lang="en-US" sz="1550" i="1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Señor de los Anillos más El Hobbit tienen unas 576.000</a:t>
            </a:r>
            <a:pPr algn="l" indent="0" marL="0">
              <a:lnSpc>
                <a:spcPct val="123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palabras, lo que equivale a ~750.000 tokens. Las cuatro obras caben en un único prompt... y aún sobra espacio."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61475" y="2624733"/>
            <a:ext cx="25399" cy="1869777"/>
          </a:xfrm>
          <a:prstGeom prst="roundRect">
            <a:avLst>
              <a:gd name="adj" fmla="val 50001"/>
            </a:avLst>
          </a:prstGeom>
          <a:solidFill>
            <a:srgbClr val="DA1B2E"/>
          </a:solidFill>
          <a:ln/>
        </p:spPr>
      </p:sp>
      <p:sp>
        <p:nvSpPr>
          <p:cNvPr id="8" name="Shape 5"/>
          <p:cNvSpPr/>
          <p:nvPr/>
        </p:nvSpPr>
        <p:spPr>
          <a:xfrm>
            <a:off x="661475" y="4686498"/>
            <a:ext cx="3063104" cy="1431131"/>
          </a:xfrm>
          <a:prstGeom prst="roundRect">
            <a:avLst>
              <a:gd name="adj" fmla="val 532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38" y="4893667"/>
            <a:ext cx="2648777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📚</a:t>
            </a:r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~750K tokens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868638" y="5316141"/>
            <a:ext cx="2648777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Toda la obra de Tolkien (El Hobbit + trilogía LOTR)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3895231" y="4686498"/>
            <a:ext cx="3063104" cy="1431131"/>
          </a:xfrm>
          <a:prstGeom prst="roundRect">
            <a:avLst>
              <a:gd name="adj" fmla="val 532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02394" y="4893667"/>
            <a:ext cx="2648777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🏥</a:t>
            </a:r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~800K tokens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4102394" y="5316141"/>
            <a:ext cx="2648777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Años de historial clínico completo de un paciente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910358"/>
            <a:ext cx="3104675" cy="269180"/>
          </a:xfrm>
          <a:prstGeom prst="roundRect">
            <a:avLst>
              <a:gd name="adj" fmla="val 2831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67735" y="1963440"/>
            <a:ext cx="3501739" cy="163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FUNDAMENTOS DE FOUNDATIONAL MODELS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2232620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Economía de Tokens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661475" y="2839442"/>
            <a:ext cx="10868745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¿Qué son los tokens?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61475" y="3315692"/>
            <a:ext cx="10868745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tokens son </a:t>
            </a:r>
            <a:pPr algn="l" indent="0" marL="0">
              <a:lnSpc>
                <a:spcPct val="117000"/>
              </a:lnSpc>
              <a:buNone/>
            </a:pPr>
            <a:r>
              <a:rPr lang="en-US" sz="13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subpalabras</a:t>
            </a:r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no palabras completas. Por ejemplo, "Ingeniería Biomédica" equivale a aproximadamente 4-5 tokens. El modelo procesa y factura en unidades de tokens, tanto de entrada como de salida.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61475" y="3961209"/>
            <a:ext cx="10868745" cy="588963"/>
          </a:xfrm>
          <a:prstGeom prst="roundRect">
            <a:avLst>
              <a:gd name="adj" fmla="val 1294"/>
            </a:avLst>
          </a:prstGeom>
          <a:solidFill>
            <a:srgbClr val="F9D2D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675" y="4154686"/>
            <a:ext cx="221451" cy="17720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7326" y="4138315"/>
            <a:ext cx="10725279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prompt de 2.000 tokens + respuesta de 500 tokens cuesta aproximadamente </a:t>
            </a:r>
            <a:pPr algn="l" indent="0" marL="0">
              <a:lnSpc>
                <a:spcPct val="117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$0,01</a:t>
            </a:r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 GPT-4o.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61475" y="4699595"/>
            <a:ext cx="1147833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Pruébalo en tiempo real: </a:t>
            </a:r>
            <a:pPr algn="l" indent="0" marL="0">
              <a:lnSpc>
                <a:spcPct val="117000"/>
              </a:lnSpc>
              <a:buNone/>
            </a:pPr>
            <a:r>
              <a:rPr lang="en-US" sz="1350" b="1" u="sng" dirty="0">
                <a:solidFill>
                  <a:srgbClr val="DA1B2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gpt-tokenizer.dev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51073"/>
            <a:ext cx="2606709" cy="226020"/>
          </a:xfrm>
          <a:prstGeom prst="roundRect">
            <a:avLst>
              <a:gd name="adj" fmla="val 3371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50670" y="695623"/>
            <a:ext cx="3037903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FUNDAMENTOS DE FOUNDATIONAL MODELS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914499"/>
            <a:ext cx="10868745" cy="464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La Fórmula del Costo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1475" y="1519932"/>
            <a:ext cx="11478330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Cada vez que envías un mensaje en un chat largo, pagas por dos conceptos diferentes. La fórmula se ve así: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61475" y="1819275"/>
            <a:ext cx="10868745" cy="494506"/>
          </a:xfrm>
          <a:prstGeom prst="roundRect">
            <a:avLst>
              <a:gd name="adj" fmla="val 1541"/>
            </a:avLst>
          </a:prstGeom>
          <a:solidFill>
            <a:srgbClr val="F9D2D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200" y="1971477"/>
            <a:ext cx="232464" cy="1859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86597" y="1950045"/>
            <a:ext cx="10799691" cy="242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9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Costo Total = (Tokens de Entrada × Precio Entrada) + (Tokens de Salida × Precio Salida)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61475" y="2454275"/>
            <a:ext cx="10868745" cy="929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1F1E1E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Costo Total=(Tokens de Entrada×Precio Entrada)+(Tokens de Salida×Precio Salida)</a:t>
            </a:r>
            <a:endParaRPr lang="en-US" sz="2900" dirty="0"/>
          </a:p>
        </p:txBody>
      </p:sp>
      <p:sp>
        <p:nvSpPr>
          <p:cNvPr id="10" name="Shape 7"/>
          <p:cNvSpPr/>
          <p:nvPr/>
        </p:nvSpPr>
        <p:spPr>
          <a:xfrm>
            <a:off x="554321" y="3524647"/>
            <a:ext cx="5467213" cy="2682280"/>
          </a:xfrm>
          <a:prstGeom prst="roundRect">
            <a:avLst>
              <a:gd name="adj" fmla="val 832"/>
            </a:avLst>
          </a:prstGeom>
          <a:solidFill>
            <a:srgbClr val="DA1B2E">
              <a:alpha val="9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703046" y="3618309"/>
            <a:ext cx="5169763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El efecto bola de nieve en el costo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03046" y="3944342"/>
            <a:ext cx="5169763" cy="581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Como vimos antes, para que el modelo recuerde el contexto, la aplicación le tiene que reenviar la historia del chat. Mira cómo se acumula el gasto en una conversación: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83664" y="3630017"/>
            <a:ext cx="5252906" cy="2471539"/>
          </a:xfrm>
          <a:prstGeom prst="roundRect">
            <a:avLst>
              <a:gd name="adj" fmla="val 308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83664" y="4152503"/>
            <a:ext cx="5252906" cy="92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6283664" y="4671814"/>
            <a:ext cx="5252906" cy="92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6283664" y="5385098"/>
            <a:ext cx="5252906" cy="92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6438838" y="3698875"/>
            <a:ext cx="750571" cy="387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Turno de Chat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486860" y="3698875"/>
            <a:ext cx="1012601" cy="387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Lo que tú escribes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8796911" y="3698875"/>
            <a:ext cx="1536562" cy="387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Lo que la app le envía al LLM (Entrada)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10630924" y="3698875"/>
            <a:ext cx="750571" cy="387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Lo que te cobran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438838" y="4218186"/>
            <a:ext cx="1360156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Mensaje 1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7486860" y="4218186"/>
            <a:ext cx="1012601" cy="387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"Hola, haz un código..."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8796911" y="4218186"/>
            <a:ext cx="2146147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Solo tu mensaje 1.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10630924" y="4218186"/>
            <a:ext cx="1360156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Barato.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438838" y="4737497"/>
            <a:ext cx="1360156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Mensaje 2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7486860" y="4737497"/>
            <a:ext cx="1012601" cy="581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"Ahora cámbiale esto..."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8796911" y="4737497"/>
            <a:ext cx="1536562" cy="581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Mensaje 1 + Respuesta 1 + Mensaje 2.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10630924" y="4737497"/>
            <a:ext cx="750571" cy="387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poco más caro.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6438838" y="5450780"/>
            <a:ext cx="1360156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Mensaje 3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7486860" y="5450780"/>
            <a:ext cx="1012601" cy="387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"Y agrégale esto otro..."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8796911" y="5450780"/>
            <a:ext cx="1536562" cy="581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Mensaje 1 + Resp. 1 + Mensaje 2 + Resp. 2 + Mensaje 3.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10630924" y="5450780"/>
            <a:ext cx="750571" cy="581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Más caro que el anterior.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57734"/>
            <a:ext cx="2167280" cy="229691"/>
          </a:xfrm>
          <a:prstGeom prst="roundRect">
            <a:avLst>
              <a:gd name="adj" fmla="val 3317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52159" y="803077"/>
            <a:ext cx="259549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SELECCIÓN DE MODELOS Y COSTOS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1026021"/>
            <a:ext cx="10868745" cy="472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Más sobre Costos: Modelos Anthropic</a:t>
            </a:r>
            <a:endParaRPr lang="en-US" sz="2950" dirty="0"/>
          </a:p>
        </p:txBody>
      </p:sp>
      <p:sp>
        <p:nvSpPr>
          <p:cNvPr id="5" name="Shape 3"/>
          <p:cNvSpPr/>
          <p:nvPr/>
        </p:nvSpPr>
        <p:spPr>
          <a:xfrm>
            <a:off x="661475" y="1643459"/>
            <a:ext cx="10868745" cy="1672729"/>
          </a:xfrm>
          <a:prstGeom prst="roundRect">
            <a:avLst>
              <a:gd name="adj" fmla="val 456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1475" y="1979910"/>
            <a:ext cx="10868745" cy="944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2313186"/>
            <a:ext cx="10868745" cy="944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2646462"/>
            <a:ext cx="10868745" cy="944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2979738"/>
            <a:ext cx="10868745" cy="944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19130" y="1714103"/>
            <a:ext cx="2695607" cy="19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Modelo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07364" y="1714103"/>
            <a:ext cx="2261436" cy="19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Entrada ($/MTok)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161429" y="1714103"/>
            <a:ext cx="2261436" cy="19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Salida ($/MTok)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115493" y="1714103"/>
            <a:ext cx="4866856" cy="19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Otros costos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19130" y="2047379"/>
            <a:ext cx="2695607" cy="19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Fable 5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07364" y="2047379"/>
            <a:ext cx="2261436" cy="19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$10.00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161429" y="2047379"/>
            <a:ext cx="2261436" cy="19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$50.00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115493" y="2047379"/>
            <a:ext cx="4866856" cy="19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Batch: $5/$25 · Cache hit: $1.00 · Solo US: ×1.1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19130" y="2380655"/>
            <a:ext cx="2695607" cy="19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Opus 4.8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07364" y="2380655"/>
            <a:ext cx="2261436" cy="19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$5.00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161429" y="2380655"/>
            <a:ext cx="2261436" cy="19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$25.00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115493" y="2380655"/>
            <a:ext cx="4866856" cy="19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 Mode: $10/$50 · Cache hit: $0.50 · Cache write 1h: $10.00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19130" y="2713930"/>
            <a:ext cx="2695607" cy="19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Sonnet 4.6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207364" y="2713930"/>
            <a:ext cx="2261436" cy="19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$3.00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161429" y="2713930"/>
            <a:ext cx="2261436" cy="19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$15.00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115493" y="2713930"/>
            <a:ext cx="4866856" cy="19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Cache hit: $0.30 · Cache write 1h: $6.00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19130" y="3047206"/>
            <a:ext cx="2695607" cy="19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Haiku 4.5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207364" y="3047206"/>
            <a:ext cx="2261436" cy="19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$1.00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161429" y="3047206"/>
            <a:ext cx="2261436" cy="19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$5.00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115493" y="3047206"/>
            <a:ext cx="4866856" cy="19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Cache hit: $0.10 · Cache write 1h: $2.00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52635" y="3424932"/>
            <a:ext cx="5467709" cy="2368252"/>
          </a:xfrm>
          <a:prstGeom prst="roundRect">
            <a:avLst>
              <a:gd name="adj" fmla="val 958"/>
            </a:avLst>
          </a:prstGeom>
          <a:solidFill>
            <a:srgbClr val="DA1B2E">
              <a:alpha val="9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03741" y="3521571"/>
            <a:ext cx="516549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Costos adicionales (todos los modelos)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703741" y="3854450"/>
            <a:ext cx="5165497" cy="430510"/>
          </a:xfrm>
          <a:prstGeom prst="rect">
            <a:avLst/>
          </a:prstGeom>
          <a:noFill/>
          <a:ln/>
        </p:spPr>
        <p:txBody>
          <a:bodyPr wrap="square" lIns="0" tIns="60471" rIns="0" bIns="0" rtlCol="0" anchor="t">
            <a:normAutofit/>
          </a:bodyPr>
          <a:lstStyle/>
          <a:p>
            <a:pPr algn="l" marL="233680" indent="-233680">
              <a:lnSpc>
                <a:spcPct val="109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Búsqueda web: $10 / 1,000 búsquedas</a:t>
            </a:r>
            <a:endParaRPr lang="en-US" sz="1150" dirty="0"/>
          </a:p>
          <a:p>
            <a:pPr algn="l" marL="233680" indent="-233680">
              <a:lnSpc>
                <a:spcPct val="109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Ejecución de código: 50 hs gratis/día, luego $0.05/hora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03741" y="4381599"/>
            <a:ext cx="516549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Impacto del Effort en el Costo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703741" y="4714478"/>
            <a:ext cx="5165497" cy="991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nivel de effort (esfuerzo de razonamiento) afecta el costo porque determina cuántos tokens de "thinking" genera el modelo, y esos tokens se facturan a tarifa de salida aunque no se devuelvan en la respuesta. Opus 4.8 introdujo controles de effort (low / high / xhigh / max), y el default se movió de medium a high,</a:t>
            </a:r>
            <a:endParaRPr lang="en-US" sz="1150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3560" y="3533676"/>
            <a:ext cx="3355891" cy="2046486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661475" y="5901928"/>
            <a:ext cx="11478330" cy="19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i="1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Selector de modelos y effort en Claude (Anthropic, 2026)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42863"/>
            <a:ext cx="3726365" cy="323056"/>
          </a:xfrm>
          <a:prstGeom prst="roundRect">
            <a:avLst>
              <a:gd name="adj" fmla="val 2359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88968" y="906562"/>
            <a:ext cx="4080964" cy="195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FUNDAMENTOS DE FOUNDATIONAL MODELS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1242417"/>
            <a:ext cx="10868745" cy="1328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1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Limitaciones de los Foundational Models</a:t>
            </a:r>
            <a:endParaRPr lang="en-US" sz="4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858393"/>
            <a:ext cx="531601" cy="5316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3629223"/>
            <a:ext cx="3463441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Alucinaciones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661475" y="4076204"/>
            <a:ext cx="3463441" cy="969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Predicen texto plausible, no verifican hechos. Mitigación: restringir al contexto dado + revisión humana.</a:t>
            </a:r>
            <a:endParaRPr lang="en-US" sz="16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4127" y="2858393"/>
            <a:ext cx="531601" cy="53161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64127" y="3629223"/>
            <a:ext cx="3463441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No-Determinismo</a:t>
            </a:r>
            <a:endParaRPr lang="en-US" sz="2050" dirty="0"/>
          </a:p>
        </p:txBody>
      </p:sp>
      <p:sp>
        <p:nvSpPr>
          <p:cNvPr id="10" name="Text 6"/>
          <p:cNvSpPr/>
          <p:nvPr/>
        </p:nvSpPr>
        <p:spPr>
          <a:xfrm>
            <a:off x="4364127" y="4076204"/>
            <a:ext cx="3463441" cy="1938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mismo prompt produce respuestas diferentes (temperature &gt; 0). Temperature 0 = mínima creatividad; 2.0 = máxima. En producción: usar temperature baja + múltiples iteraciones.</a:t>
            </a:r>
            <a:endParaRPr lang="en-US" sz="16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6779" y="2858393"/>
            <a:ext cx="531601" cy="53161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66779" y="3629223"/>
            <a:ext cx="3463441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Sesgo de Recencia</a:t>
            </a:r>
            <a:endParaRPr lang="en-US" sz="2050" dirty="0"/>
          </a:p>
        </p:txBody>
      </p:sp>
      <p:sp>
        <p:nvSpPr>
          <p:cNvPr id="13" name="Text 8"/>
          <p:cNvSpPr/>
          <p:nvPr/>
        </p:nvSpPr>
        <p:spPr>
          <a:xfrm>
            <a:off x="8066779" y="4076204"/>
            <a:ext cx="3463441" cy="1938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modelo presta más atención al inicio y al final del prompt; el contenido del medio recibe menos atención. Estrategia: instrucciones críticas al inicio, queries específicas al final.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96912"/>
            <a:ext cx="2606709" cy="226020"/>
          </a:xfrm>
          <a:prstGeom prst="roundRect">
            <a:avLst>
              <a:gd name="adj" fmla="val 3371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50670" y="741462"/>
            <a:ext cx="3037903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FUNDAMENTOS DE FOUNDATIONAL MODELS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960338"/>
            <a:ext cx="10868745" cy="464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Alucinaciones: En Profundidad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54321" y="1565771"/>
            <a:ext cx="4905550" cy="4595217"/>
          </a:xfrm>
          <a:prstGeom prst="roundRect">
            <a:avLst>
              <a:gd name="adj" fmla="val 486"/>
            </a:avLst>
          </a:prstGeom>
          <a:solidFill>
            <a:srgbClr val="DA1B2E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03046" y="1659434"/>
            <a:ext cx="4608100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¿Por qué ocurren?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03046" y="1985466"/>
            <a:ext cx="4608100" cy="581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LLMs no tienen acceso a hechos verificados. Generan el token más probable dado el contexto, lo que puede producir texto fluido pero factualmente incorrecto.</a:t>
            </a:r>
            <a:endParaRPr lang="en-US" sz="11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046" y="2672755"/>
            <a:ext cx="297550" cy="29755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7671" y="2723852"/>
            <a:ext cx="4193475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Entrenamiento sesgado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117671" y="3049885"/>
            <a:ext cx="4193475" cy="387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Datos de entrenamiento incompletos o desactualizados. El modelo extrapola más allá de lo que sabe.</a:t>
            </a:r>
            <a:endParaRPr lang="en-US" sz="11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046" y="3625155"/>
            <a:ext cx="297550" cy="29755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17671" y="3676253"/>
            <a:ext cx="4193475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Confianza sin verificación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117671" y="4002286"/>
            <a:ext cx="4193475" cy="387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modelo no distingue entre lo que sabe y lo que inventa. Responde con igual seguridad en ambos casos.</a:t>
            </a:r>
            <a:endParaRPr lang="en-US" sz="11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046" y="4577556"/>
            <a:ext cx="297550" cy="29755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17671" y="4628654"/>
            <a:ext cx="4193475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Presión de completado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117671" y="4954687"/>
            <a:ext cx="4193475" cy="387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modelo siempre intenta completar el texto, incluso cuando no tiene información suficiente.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5722001" y="1659434"/>
            <a:ext cx="5814470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Casos reales documentados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5722001" y="1997174"/>
            <a:ext cx="5814470" cy="4058444"/>
          </a:xfrm>
          <a:prstGeom prst="roundRect">
            <a:avLst>
              <a:gd name="adj" fmla="val 188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728350" y="2003524"/>
            <a:ext cx="5801770" cy="1011436"/>
          </a:xfrm>
          <a:custGeom>
            <a:avLst/>
            <a:gdLst/>
            <a:ahLst/>
            <a:cxnLst/>
            <a:rect l="l" t="t" r="r" b="b"/>
            <a:pathLst>
              <a:path w="5801770" h="1011436">
                <a:moveTo>
                  <a:pt x="6350" y="0"/>
                </a:moveTo>
                <a:lnTo>
                  <a:pt x="5795421" y="0"/>
                </a:lnTo>
                <a:arcTo hR="6350" wR="6350" stAng="16200000" swAng="5400000"/>
                <a:lnTo>
                  <a:pt x="5801770" y="1011436"/>
                </a:lnTo>
                <a:lnTo>
                  <a:pt x="0" y="1011436"/>
                </a:lnTo>
                <a:lnTo>
                  <a:pt x="0" y="6350"/>
                </a:lnTo>
                <a:arcTo hR="6350" wR="6350" stAng="10800000" swAng="5400000"/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20" name="Text 15"/>
          <p:cNvSpPr/>
          <p:nvPr/>
        </p:nvSpPr>
        <p:spPr>
          <a:xfrm>
            <a:off x="5877076" y="2152253"/>
            <a:ext cx="5504320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Air Canada (2024)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5877076" y="2478286"/>
            <a:ext cx="5504320" cy="387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chatbot alucinó una política de reembolso inexistente. El tribunal falló en contra de la aerolínea, que debió compensar al pasajero.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728350" y="3014960"/>
            <a:ext cx="5801770" cy="1011436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23" name="Shape 18"/>
          <p:cNvSpPr/>
          <p:nvPr/>
        </p:nvSpPr>
        <p:spPr>
          <a:xfrm>
            <a:off x="5728350" y="3014960"/>
            <a:ext cx="5801770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24" name="Text 19"/>
          <p:cNvSpPr/>
          <p:nvPr/>
        </p:nvSpPr>
        <p:spPr>
          <a:xfrm>
            <a:off x="5877076" y="3163689"/>
            <a:ext cx="5504320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Abogados en EE.UU. (2023)</a:t>
            </a:r>
            <a:endParaRPr lang="en-US" sz="1450" dirty="0"/>
          </a:p>
        </p:txBody>
      </p:sp>
      <p:sp>
        <p:nvSpPr>
          <p:cNvPr id="25" name="Text 20"/>
          <p:cNvSpPr/>
          <p:nvPr/>
        </p:nvSpPr>
        <p:spPr>
          <a:xfrm>
            <a:off x="5877076" y="3489722"/>
            <a:ext cx="5504320" cy="387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Dos abogados presentaron citas de jurisprudencia generadas por ChatGPT que no existían. Fueron sancionados por el tribunal.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5728350" y="4026396"/>
            <a:ext cx="5801770" cy="1011436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27" name="Shape 22"/>
          <p:cNvSpPr/>
          <p:nvPr/>
        </p:nvSpPr>
        <p:spPr>
          <a:xfrm>
            <a:off x="5728350" y="4026396"/>
            <a:ext cx="5801770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28" name="Text 23"/>
          <p:cNvSpPr/>
          <p:nvPr/>
        </p:nvSpPr>
        <p:spPr>
          <a:xfrm>
            <a:off x="5877076" y="4175125"/>
            <a:ext cx="5504320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Med-PaLM en diagnóstico</a:t>
            </a:r>
            <a:endParaRPr lang="en-US" sz="1450" dirty="0"/>
          </a:p>
        </p:txBody>
      </p:sp>
      <p:sp>
        <p:nvSpPr>
          <p:cNvPr id="29" name="Text 24"/>
          <p:cNvSpPr/>
          <p:nvPr/>
        </p:nvSpPr>
        <p:spPr>
          <a:xfrm>
            <a:off x="5877076" y="4501158"/>
            <a:ext cx="5504320" cy="387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Modelos médicos pueden generar diagnósticos plausibles pero incorrectos con alta confianza aparente.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5728350" y="5037832"/>
            <a:ext cx="5801770" cy="1011436"/>
          </a:xfrm>
          <a:custGeom>
            <a:avLst/>
            <a:gdLst/>
            <a:ahLst/>
            <a:cxnLst/>
            <a:rect l="l" t="t" r="r" b="b"/>
            <a:pathLst>
              <a:path w="5801770" h="1011436">
                <a:moveTo>
                  <a:pt x="0" y="0"/>
                </a:moveTo>
                <a:lnTo>
                  <a:pt x="5801770" y="0"/>
                </a:lnTo>
                <a:lnTo>
                  <a:pt x="5801770" y="1005086"/>
                </a:lnTo>
                <a:arcTo hR="6350" wR="6350" stAng="0" swAng="5400000"/>
                <a:lnTo>
                  <a:pt x="6350" y="1011436"/>
                </a:lnTo>
                <a:arcTo hR="6350" wR="6350" stAng="5400000" swAng="5400000"/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31" name="Shape 26"/>
          <p:cNvSpPr/>
          <p:nvPr/>
        </p:nvSpPr>
        <p:spPr>
          <a:xfrm>
            <a:off x="5728350" y="5037832"/>
            <a:ext cx="5801770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32" name="Text 27"/>
          <p:cNvSpPr/>
          <p:nvPr/>
        </p:nvSpPr>
        <p:spPr>
          <a:xfrm>
            <a:off x="5877076" y="5186561"/>
            <a:ext cx="5504320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Wikipedia falsa</a:t>
            </a:r>
            <a:endParaRPr lang="en-US" sz="1450" dirty="0"/>
          </a:p>
        </p:txBody>
      </p:sp>
      <p:sp>
        <p:nvSpPr>
          <p:cNvPr id="33" name="Text 28"/>
          <p:cNvSpPr/>
          <p:nvPr/>
        </p:nvSpPr>
        <p:spPr>
          <a:xfrm>
            <a:off x="5877076" y="5512594"/>
            <a:ext cx="5504320" cy="387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LLMs pueden generar referencias bibliográficas con autores, títulos y DOIs completamente inventados.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68933"/>
            <a:ext cx="2187123" cy="189508"/>
          </a:xfrm>
          <a:prstGeom prst="roundRect">
            <a:avLst>
              <a:gd name="adj" fmla="val 4021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36284" y="706338"/>
            <a:ext cx="2647090" cy="114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FUNDAMENTOS DE FOUNDATIONAL MODELS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884734"/>
            <a:ext cx="10868745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Mitigación de Alucinaciones: Estrategias Clave</a:t>
            </a:r>
            <a:endParaRPr lang="en-US" sz="2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447602"/>
            <a:ext cx="249529" cy="2495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1779488"/>
            <a:ext cx="4723488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Grounding en contexto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61475" y="2040334"/>
            <a:ext cx="4723488" cy="152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Instruir al modelo a responder solo con el contexto dado.</a:t>
            </a:r>
            <a:endParaRPr lang="en-US" sz="9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324596"/>
            <a:ext cx="249529" cy="24953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1475" y="2656483"/>
            <a:ext cx="4723488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RAG (Retrieval-Augmented Generation)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61475" y="2917329"/>
            <a:ext cx="4723488" cy="152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Inyectar únicamente información verificada y relevante por consulta.</a:t>
            </a:r>
            <a:endParaRPr lang="en-US" sz="9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201591"/>
            <a:ext cx="249529" cy="24953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61475" y="3533477"/>
            <a:ext cx="4723488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Temperature = 0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61475" y="3794323"/>
            <a:ext cx="4723488" cy="152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Minimizar aleatoriedad en tareas de extracción o clasificación.</a:t>
            </a:r>
            <a:endParaRPr lang="en-US" sz="9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078585"/>
            <a:ext cx="249529" cy="24953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61475" y="4410472"/>
            <a:ext cx="4723488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Self-Consistency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661475" y="4671318"/>
            <a:ext cx="4723488" cy="152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Generar múltiples respuestas y seleccionar por votación de mayoría.</a:t>
            </a:r>
            <a:endParaRPr lang="en-US" sz="9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4955580"/>
            <a:ext cx="249529" cy="24953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61475" y="5287466"/>
            <a:ext cx="4723488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Revisión humana en el loop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661475" y="5548312"/>
            <a:ext cx="4723488" cy="152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output es siempre un borrador; el clínico valida antes de actuar.</a:t>
            </a:r>
            <a:endParaRPr lang="en-US" sz="950" dirty="0"/>
          </a:p>
        </p:txBody>
      </p:sp>
      <p:sp>
        <p:nvSpPr>
          <p:cNvPr id="20" name="Shape 13"/>
          <p:cNvSpPr/>
          <p:nvPr/>
        </p:nvSpPr>
        <p:spPr>
          <a:xfrm>
            <a:off x="5605818" y="1373485"/>
            <a:ext cx="6020542" cy="4401443"/>
          </a:xfrm>
          <a:prstGeom prst="roundRect">
            <a:avLst>
              <a:gd name="adj" fmla="val 425"/>
            </a:avLst>
          </a:prstGeom>
          <a:solidFill>
            <a:srgbClr val="DA1B2E">
              <a:alpha val="95000"/>
            </a:srgbClr>
          </a:solidFill>
          <a:ln/>
        </p:spPr>
      </p:sp>
      <p:sp>
        <p:nvSpPr>
          <p:cNvPr id="21" name="Text 14"/>
          <p:cNvSpPr/>
          <p:nvPr/>
        </p:nvSpPr>
        <p:spPr>
          <a:xfrm>
            <a:off x="5730533" y="1439366"/>
            <a:ext cx="5771113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Formal Testing como ventaja clave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5730533" y="1708448"/>
            <a:ext cx="5771113" cy="675481"/>
          </a:xfrm>
          <a:prstGeom prst="roundRect">
            <a:avLst>
              <a:gd name="adj" fmla="val 1128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861598" y="1839516"/>
            <a:ext cx="5508983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Dataset de evaluación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5861598" y="2100362"/>
            <a:ext cx="5508983" cy="152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Mínimo 50-100 casos con ground truth del dominio clínico.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5730533" y="2449810"/>
            <a:ext cx="5771113" cy="675481"/>
          </a:xfrm>
          <a:prstGeom prst="roundRect">
            <a:avLst>
              <a:gd name="adj" fmla="val 1128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5861598" y="2580878"/>
            <a:ext cx="5508983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Métricas de alucinación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5861598" y="2841724"/>
            <a:ext cx="5508983" cy="152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Faithfulness score, hallucination rate, ROUGE-L.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5730533" y="3191173"/>
            <a:ext cx="5771113" cy="675481"/>
          </a:xfrm>
          <a:prstGeom prst="roundRect">
            <a:avLst>
              <a:gd name="adj" fmla="val 1128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5861598" y="3322241"/>
            <a:ext cx="5508983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Regression testing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5861598" y="3583087"/>
            <a:ext cx="5508983" cy="152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Ejecutar el eval set en cada cambio de prompt.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5730533" y="3932535"/>
            <a:ext cx="5771113" cy="675481"/>
          </a:xfrm>
          <a:prstGeom prst="roundRect">
            <a:avLst>
              <a:gd name="adj" fmla="val 1128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5861598" y="4063603"/>
            <a:ext cx="5508983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Red teaming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5861598" y="4324449"/>
            <a:ext cx="5508983" cy="152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Probar con casos ambiguos y contradictorios antes de producción.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661475" y="5849045"/>
            <a:ext cx="10868745" cy="339923"/>
          </a:xfrm>
          <a:prstGeom prst="roundRect">
            <a:avLst>
              <a:gd name="adj" fmla="val 2242"/>
            </a:avLst>
          </a:prstGeom>
          <a:solidFill>
            <a:srgbClr val="FFB3B4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6190" y="5946080"/>
            <a:ext cx="155968" cy="12471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066873" y="5946080"/>
            <a:ext cx="10948218" cy="152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Regla de oro: si no puedes medir la tasa de alucinación de tu sistema, no puedes desplegarlo en un entorno clínico.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49598"/>
            <a:ext cx="3104675" cy="269180"/>
          </a:xfrm>
          <a:prstGeom prst="roundRect">
            <a:avLst>
              <a:gd name="adj" fmla="val 2831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67735" y="802680"/>
            <a:ext cx="3501739" cy="163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FUNDAMENTOS DE FOUNDATIONAL MODELS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1071860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Modelo Mental: Motores de Completado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533982" y="1824930"/>
            <a:ext cx="5473265" cy="4283472"/>
          </a:xfrm>
          <a:prstGeom prst="roundRect">
            <a:avLst>
              <a:gd name="adj" fmla="val 621"/>
            </a:avLst>
          </a:prstGeom>
          <a:solidFill>
            <a:srgbClr val="DA1B2E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11182" y="1957784"/>
            <a:ext cx="5118865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Cómo piensan los LLMs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11182" y="2367558"/>
            <a:ext cx="5118865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Completan patrones del entrenamiento; </a:t>
            </a:r>
            <a:pPr algn="l" indent="0" marL="0">
              <a:lnSpc>
                <a:spcPct val="117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no "entienden"</a:t>
            </a:r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la intención humana.</a:t>
            </a:r>
            <a:endParaRPr lang="en-US" sz="13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1182" y="3013075"/>
            <a:ext cx="354401" cy="35440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1671" y="3073896"/>
            <a:ext cx="459837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Fortaleza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231671" y="3483670"/>
            <a:ext cx="4598376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Excelente pattern matching sobre datos conocidos.</a:t>
            </a:r>
            <a:endParaRPr lang="en-US" sz="13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182" y="3997523"/>
            <a:ext cx="354401" cy="35440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1671" y="4058345"/>
            <a:ext cx="459837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Debilidad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231671" y="4468118"/>
            <a:ext cx="4598376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Alucinan sobre patrones no vistos en el entrenamiento.</a:t>
            </a:r>
            <a:endParaRPr lang="en-US" sz="13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1182" y="4981972"/>
            <a:ext cx="354401" cy="35440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1671" y="5042793"/>
            <a:ext cx="459837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Sin razonamiento interno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1231671" y="5452566"/>
            <a:ext cx="4598376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Predicen el siguiente token más probable.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318290" y="1957784"/>
            <a:ext cx="5218280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Implicancia práctica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318290" y="2367558"/>
            <a:ext cx="5218280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Pensar en el LLM como un </a:t>
            </a:r>
            <a:pPr algn="l" indent="0" marL="0">
              <a:lnSpc>
                <a:spcPct val="117000"/>
              </a:lnSpc>
              <a:buNone/>
            </a:pPr>
            <a:r>
              <a:rPr lang="en-US" sz="13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autocompletado muy sofisticado</a:t>
            </a:r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cambia cómo construimos los prompts.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318290" y="3013075"/>
            <a:ext cx="5218280" cy="1024930"/>
          </a:xfrm>
          <a:prstGeom prst="roundRect">
            <a:avLst>
              <a:gd name="adj" fmla="val 743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501840" y="3196630"/>
            <a:ext cx="4851179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Prompt vago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6501840" y="3606403"/>
            <a:ext cx="4851179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"Extrae nombre y email" → puede fallar sin patrón explícito.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6318290" y="4170859"/>
            <a:ext cx="5218280" cy="1788120"/>
          </a:xfrm>
          <a:prstGeom prst="roundRect">
            <a:avLst>
              <a:gd name="adj" fmla="val 426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501840" y="4354413"/>
            <a:ext cx="4851179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Prompt estructurado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6501840" y="4764187"/>
            <a:ext cx="4851179" cy="1011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Dar un patrón de completado explícito:</a:t>
            </a:r>
            <a:endParaRPr lang="en-US" sz="13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Nombre: [campo]</a:t>
            </a:r>
            <a:endParaRPr lang="en-US" sz="13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Email: [campo]</a:t>
            </a:r>
            <a:endParaRPr lang="en-US" sz="13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De: [texto]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3298"/>
            <a:ext cx="10868745" cy="464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Agenda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828753" y="1325563"/>
            <a:ext cx="19050" cy="4859139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4" name="Shape 2"/>
          <p:cNvSpPr/>
          <p:nvPr/>
        </p:nvSpPr>
        <p:spPr>
          <a:xfrm>
            <a:off x="977032" y="1483320"/>
            <a:ext cx="446275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5" name="Shape 3"/>
          <p:cNvSpPr/>
          <p:nvPr/>
        </p:nvSpPr>
        <p:spPr>
          <a:xfrm>
            <a:off x="661425" y="1325563"/>
            <a:ext cx="334656" cy="334665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7135" y="1353393"/>
            <a:ext cx="223137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572677" y="1376660"/>
            <a:ext cx="9957543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Fundamentos de Foundational Models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72677" y="1665188"/>
            <a:ext cx="9957543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Ventana de contexto, tokens, limitaciones y modelos mentales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77032" y="2204244"/>
            <a:ext cx="446275" cy="19050"/>
          </a:xfrm>
          <a:prstGeom prst="roundRect">
            <a:avLst>
              <a:gd name="adj" fmla="val 39999"/>
            </a:avLst>
          </a:prstGeom>
          <a:solidFill>
            <a:srgbClr val="F33447"/>
          </a:solidFill>
          <a:ln/>
        </p:spPr>
      </p:sp>
      <p:sp>
        <p:nvSpPr>
          <p:cNvPr id="10" name="Shape 8"/>
          <p:cNvSpPr/>
          <p:nvPr/>
        </p:nvSpPr>
        <p:spPr>
          <a:xfrm>
            <a:off x="661425" y="2046486"/>
            <a:ext cx="334656" cy="334665"/>
          </a:xfrm>
          <a:prstGeom prst="roundRect">
            <a:avLst>
              <a:gd name="adj" fmla="val 2277"/>
            </a:avLst>
          </a:prstGeom>
          <a:solidFill>
            <a:srgbClr val="DA1B2E"/>
          </a:solidFill>
          <a:ln w="6350">
            <a:solidFill>
              <a:srgbClr val="F334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7135" y="2074317"/>
            <a:ext cx="223137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2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572677" y="2097584"/>
            <a:ext cx="9957543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Ingeniería de Prompts Estructurada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572677" y="2386112"/>
            <a:ext cx="9957543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componentes, XML tags, salidas JSON y optimización por modelo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77032" y="2925167"/>
            <a:ext cx="446275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15" name="Shape 13"/>
          <p:cNvSpPr/>
          <p:nvPr/>
        </p:nvSpPr>
        <p:spPr>
          <a:xfrm>
            <a:off x="661425" y="2767409"/>
            <a:ext cx="334656" cy="334665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7135" y="2795240"/>
            <a:ext cx="223137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3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572677" y="2818507"/>
            <a:ext cx="9957543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In-Context Learning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572677" y="3107035"/>
            <a:ext cx="9957543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Zero-shot, Few-shot y Many-shot con ejemplos clínicos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77032" y="3646091"/>
            <a:ext cx="446275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20" name="Shape 18"/>
          <p:cNvSpPr/>
          <p:nvPr/>
        </p:nvSpPr>
        <p:spPr>
          <a:xfrm>
            <a:off x="661425" y="3488333"/>
            <a:ext cx="334656" cy="334665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7135" y="3516164"/>
            <a:ext cx="223137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4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1572677" y="3539430"/>
            <a:ext cx="9957543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Técnicas Avanzadas de Prompting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572677" y="3827959"/>
            <a:ext cx="9957543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CoT, Self-Consistency, Extended Thinking y Prompt Chaining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77032" y="4367014"/>
            <a:ext cx="446275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25" name="Shape 23"/>
          <p:cNvSpPr/>
          <p:nvPr/>
        </p:nvSpPr>
        <p:spPr>
          <a:xfrm>
            <a:off x="661425" y="4209256"/>
            <a:ext cx="334656" cy="334665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7135" y="4237087"/>
            <a:ext cx="223137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5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1572677" y="4260354"/>
            <a:ext cx="9957543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Selección de Modelos y Costos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572677" y="4548882"/>
            <a:ext cx="9957543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Framework de decisión, prompt caching, model cascading y TOON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77032" y="5087938"/>
            <a:ext cx="446275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30" name="Shape 28"/>
          <p:cNvSpPr/>
          <p:nvPr/>
        </p:nvSpPr>
        <p:spPr>
          <a:xfrm>
            <a:off x="661425" y="4930180"/>
            <a:ext cx="334656" cy="334665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7135" y="4958011"/>
            <a:ext cx="223137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6</a:t>
            </a: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1572677" y="4981277"/>
            <a:ext cx="9957543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Foundational Models en Medicina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1572677" y="5269805"/>
            <a:ext cx="9957543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Aplicaciones reales, recorrido del paciente, research biomédica y marco ético OMS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77032" y="5808861"/>
            <a:ext cx="446275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35" name="Shape 33"/>
          <p:cNvSpPr/>
          <p:nvPr/>
        </p:nvSpPr>
        <p:spPr>
          <a:xfrm>
            <a:off x="661425" y="5651103"/>
            <a:ext cx="334656" cy="334665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7135" y="5678934"/>
            <a:ext cx="223137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7</a:t>
            </a:r>
            <a:endParaRPr lang="en-US" sz="1750" dirty="0"/>
          </a:p>
        </p:txBody>
      </p:sp>
      <p:sp>
        <p:nvSpPr>
          <p:cNvPr id="37" name="Text 35"/>
          <p:cNvSpPr/>
          <p:nvPr/>
        </p:nvSpPr>
        <p:spPr>
          <a:xfrm>
            <a:off x="1572677" y="5702201"/>
            <a:ext cx="9957543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Resumen y Práctica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1572677" y="5990729"/>
            <a:ext cx="9957543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Módulos interactivos de aitutorial.dev + sistema de triage con LLM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57622"/>
            <a:ext cx="1683898" cy="152995"/>
          </a:xfrm>
          <a:prstGeom prst="roundRect">
            <a:avLst>
              <a:gd name="adj" fmla="val 4980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21898" y="687784"/>
            <a:ext cx="2172638" cy="92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INGENIERÍA DE PROMPTS ESTRUCTURADA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661475" y="827782"/>
            <a:ext cx="10868745" cy="315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Los 6 Componentes de un Prompt</a:t>
            </a:r>
            <a:endParaRPr lang="en-US" sz="1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255514"/>
            <a:ext cx="5311444" cy="6572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7004" y="1489670"/>
            <a:ext cx="151106" cy="188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120251" y="1368921"/>
            <a:ext cx="4739263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Rol / Persona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120251" y="1569343"/>
            <a:ext cx="4739263" cy="229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Establece expertise y patrones de comportamiento.</a:t>
            </a:r>
            <a:endParaRPr lang="en-US" sz="7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750" i="1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Ej: "Eres un médico especialista en cardiología."</a:t>
            </a:r>
            <a:endParaRPr lang="en-US" sz="7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955701"/>
            <a:ext cx="5311444" cy="60463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97004" y="2163564"/>
            <a:ext cx="151106" cy="188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2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1120251" y="2069108"/>
            <a:ext cx="4739263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Contexto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120251" y="2269530"/>
            <a:ext cx="4739263" cy="114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Información de fondo relevante: datos del paciente, guías clínicas aplicables, situación específica.</a:t>
            </a:r>
            <a:endParaRPr lang="en-US" sz="7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2603302"/>
            <a:ext cx="5311444" cy="60463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7004" y="2811165"/>
            <a:ext cx="151106" cy="188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3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1120251" y="2716709"/>
            <a:ext cx="4739263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Instrucciones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1120251" y="2917130"/>
            <a:ext cx="4739263" cy="114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Direcciones paso a paso de qué hacer. Cuanto más específicas y detalladas, mejor el resultado.</a:t>
            </a:r>
            <a:endParaRPr lang="en-US" sz="7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3250902"/>
            <a:ext cx="5311444" cy="60463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97004" y="3458766"/>
            <a:ext cx="151106" cy="188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4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1120251" y="3364309"/>
            <a:ext cx="4739263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Restricciones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1120251" y="3564731"/>
            <a:ext cx="4739263" cy="114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Define límites, reglas y formato de salida. Especifica qué </a:t>
            </a:r>
            <a:pPr algn="l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NO</a:t>
            </a:r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debe hacer o incluir el modelo.</a:t>
            </a:r>
            <a:endParaRPr lang="en-US" sz="75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3898503"/>
            <a:ext cx="5311444" cy="60463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97004" y="4106366"/>
            <a:ext cx="151106" cy="188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5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1120251" y="4011910"/>
            <a:ext cx="4739263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Ejemplos (Few-shot)</a:t>
            </a:r>
            <a:endParaRPr lang="en-US" sz="950" dirty="0"/>
          </a:p>
        </p:txBody>
      </p:sp>
      <p:sp>
        <p:nvSpPr>
          <p:cNvPr id="24" name="Text 17"/>
          <p:cNvSpPr/>
          <p:nvPr/>
        </p:nvSpPr>
        <p:spPr>
          <a:xfrm>
            <a:off x="1120251" y="4212332"/>
            <a:ext cx="4739263" cy="114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Demuestra el comportamiento esperado con casos resueltos. 3-5 ejemplos suelen ser suficientes.</a:t>
            </a:r>
            <a:endParaRPr lang="en-US" sz="75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1475" y="4546104"/>
            <a:ext cx="5311444" cy="604639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97004" y="4753967"/>
            <a:ext cx="151106" cy="188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6</a:t>
            </a:r>
            <a:endParaRPr lang="en-US" sz="1150" dirty="0"/>
          </a:p>
        </p:txBody>
      </p:sp>
      <p:sp>
        <p:nvSpPr>
          <p:cNvPr id="27" name="Text 19"/>
          <p:cNvSpPr/>
          <p:nvPr/>
        </p:nvSpPr>
        <p:spPr>
          <a:xfrm>
            <a:off x="1120251" y="4659511"/>
            <a:ext cx="4739263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Input</a:t>
            </a:r>
            <a:endParaRPr lang="en-US" sz="950" dirty="0"/>
          </a:p>
        </p:txBody>
      </p:sp>
      <p:sp>
        <p:nvSpPr>
          <p:cNvPr id="28" name="Text 20"/>
          <p:cNvSpPr/>
          <p:nvPr/>
        </p:nvSpPr>
        <p:spPr>
          <a:xfrm>
            <a:off x="1120251" y="4859933"/>
            <a:ext cx="4739263" cy="114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datos reales a procesar: el caso concreto que el modelo debe resolver en esta llamada.</a:t>
            </a:r>
            <a:endParaRPr lang="en-US" sz="750" dirty="0"/>
          </a:p>
        </p:txBody>
      </p:sp>
      <p:sp>
        <p:nvSpPr>
          <p:cNvPr id="29" name="Text 21"/>
          <p:cNvSpPr/>
          <p:nvPr/>
        </p:nvSpPr>
        <p:spPr>
          <a:xfrm>
            <a:off x="6225126" y="1250156"/>
            <a:ext cx="531144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Ejemplo Completo: Prompt Estructurado</a:t>
            </a:r>
            <a:endParaRPr lang="en-US" sz="950" dirty="0"/>
          </a:p>
        </p:txBody>
      </p:sp>
      <p:sp>
        <p:nvSpPr>
          <p:cNvPr id="30" name="Shape 22"/>
          <p:cNvSpPr/>
          <p:nvPr/>
        </p:nvSpPr>
        <p:spPr>
          <a:xfrm>
            <a:off x="6225126" y="1455936"/>
            <a:ext cx="5311444" cy="4696123"/>
          </a:xfrm>
          <a:prstGeom prst="roundRect">
            <a:avLst>
              <a:gd name="adj" fmla="val 162"/>
            </a:avLst>
          </a:prstGeom>
          <a:solidFill>
            <a:srgbClr val="F9D2D6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5831" y="1524695"/>
            <a:ext cx="125905" cy="100707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6552441" y="1524000"/>
            <a:ext cx="4883425" cy="4554637"/>
          </a:xfrm>
          <a:prstGeom prst="roundRect">
            <a:avLst>
              <a:gd name="adj" fmla="val 167"/>
            </a:avLst>
          </a:prstGeom>
          <a:solidFill>
            <a:srgbClr val="F2F2F2"/>
          </a:solidFill>
          <a:ln/>
        </p:spPr>
      </p:sp>
      <p:sp>
        <p:nvSpPr>
          <p:cNvPr id="33" name="Text 24"/>
          <p:cNvSpPr/>
          <p:nvPr/>
        </p:nvSpPr>
        <p:spPr>
          <a:xfrm>
            <a:off x="6673286" y="1624707"/>
            <a:ext cx="4641734" cy="4353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[1] ROL / PERSONA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Eres un médico especialista en medicina interna con 15 años de experiencia clínica.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[2] CONTEXTO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Estás asistiendo en la guardia de un hospital de tercer nivel. 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 guías clínicas vigentes son las de la AHA 2023.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[3] INSTRUCCIONES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Analiza los síntomas del paciente.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Lista los diagnósticos diferenciales más probables (máximo 3).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Recomienda los estudios complementarios iniciales.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Sugiere el manejo inmediato.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[4] RESTRICCIONES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No prescribas medicamentos con dosis específicas.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Responde SOLO en base a los datos provistos.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Formato de salida: JSON con claves: diagnosticos, estudios, manejo.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[5] EJEMPLOS (Few-shot)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Paciente: 60M, dolor precordial irradiado al brazo izquierdo, diaforesis.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{"diagnosticos": ["IAM", "angina inestable", "disección aórtica"], 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"estudios": ["ECG", "troponinas", "Rx tórax"], 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"manejo": "Activar código infarto, AAS 300mg, monitoreo continuo"}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[6] INPUT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Paciente: 45F, disnea progresiva de 3 días, edemas en MMII, 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ortopnea, PAS 160mmHg, FC 110bpm, SpO2 92%.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79549"/>
            <a:ext cx="2164899" cy="196751"/>
          </a:xfrm>
          <a:prstGeom prst="roundRect">
            <a:avLst>
              <a:gd name="adj" fmla="val 3873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39161" y="718344"/>
            <a:ext cx="2619111" cy="119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INGENIERÍA DE PROMPTS ESTRUCTURADA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904677"/>
            <a:ext cx="10868745" cy="40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Salidas Estructuradas: JSON Schema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855840" y="1496020"/>
            <a:ext cx="11283965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Schema enforcement reduces parsing errors and retries — making outputs machine-checkable.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61475" y="1416149"/>
            <a:ext cx="19050" cy="320179"/>
          </a:xfrm>
          <a:prstGeom prst="roundRect">
            <a:avLst>
              <a:gd name="adj" fmla="val 49999"/>
            </a:avLst>
          </a:prstGeom>
          <a:solidFill>
            <a:srgbClr val="DA1B2E"/>
          </a:solidFill>
          <a:ln/>
        </p:spPr>
      </p:sp>
      <p:sp>
        <p:nvSpPr>
          <p:cNvPr id="7" name="Text 5"/>
          <p:cNvSpPr/>
          <p:nvPr/>
        </p:nvSpPr>
        <p:spPr>
          <a:xfrm>
            <a:off x="661475" y="1887240"/>
            <a:ext cx="5276321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Dos enfoques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91051" y="2363986"/>
            <a:ext cx="129576" cy="659110"/>
          </a:xfrm>
          <a:prstGeom prst="roundRect">
            <a:avLst>
              <a:gd name="adj" fmla="val 5881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1475" y="2278856"/>
            <a:ext cx="388729" cy="388739"/>
          </a:xfrm>
          <a:prstGeom prst="ellipse">
            <a:avLst/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8608" y="2375991"/>
            <a:ext cx="194365" cy="19437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21243" y="2299196"/>
            <a:ext cx="4816553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Schema en el Prompt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121243" y="2572742"/>
            <a:ext cx="4816553" cy="320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Incluir el formato JSON directamente en las instrucciones. Más flexible, menos garantías.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985416" y="3288605"/>
            <a:ext cx="129576" cy="583009"/>
          </a:xfrm>
          <a:prstGeom prst="roundRect">
            <a:avLst>
              <a:gd name="adj" fmla="val 5881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55840" y="3203476"/>
            <a:ext cx="388729" cy="388739"/>
          </a:xfrm>
          <a:prstGeom prst="ellipse">
            <a:avLst/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972" y="3300611"/>
            <a:ext cx="194365" cy="19437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15608" y="3223816"/>
            <a:ext cx="4622188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JSON Mode (API)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1315608" y="3497362"/>
            <a:ext cx="4622188" cy="166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Usar </a:t>
            </a:r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3B353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response_format: json_object</a:t>
            </a:r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Más fiable, garantiza estructura válida.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260249" y="1887240"/>
            <a:ext cx="5276321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Beneficios en Producción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260249" y="2169616"/>
            <a:ext cx="2602641" cy="753170"/>
          </a:xfrm>
          <a:prstGeom prst="roundRect">
            <a:avLst>
              <a:gd name="adj" fmla="val 1012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396175" y="2305546"/>
            <a:ext cx="2330789" cy="481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✓ Validación automática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Outputs verificables programáticamente.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8933929" y="2169616"/>
            <a:ext cx="2602641" cy="753170"/>
          </a:xfrm>
          <a:prstGeom prst="roundRect">
            <a:avLst>
              <a:gd name="adj" fmla="val 1012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069855" y="2305546"/>
            <a:ext cx="2330789" cy="320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✓ Menos errores de parsing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Reducción de fallos en el pipeline.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6260249" y="2993827"/>
            <a:ext cx="2602641" cy="592733"/>
          </a:xfrm>
          <a:prstGeom prst="roundRect">
            <a:avLst>
              <a:gd name="adj" fmla="val 1286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396175" y="3129756"/>
            <a:ext cx="2330789" cy="320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✓ Integración directa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Conectable with sistemas clínicos.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8933929" y="2993827"/>
            <a:ext cx="2602641" cy="592733"/>
          </a:xfrm>
          <a:prstGeom prst="roundRect">
            <a:avLst>
              <a:gd name="adj" fmla="val 1286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9069855" y="3129756"/>
            <a:ext cx="2330789" cy="320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✓ Casos clínicos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Extracción, clasificación, reportes.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661475" y="4063802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3B3535">
              <a:alpha val="50000"/>
            </a:srgbClr>
          </a:solidFill>
          <a:ln/>
        </p:spPr>
      </p:sp>
      <p:sp>
        <p:nvSpPr>
          <p:cNvPr id="28" name="Shape 24"/>
          <p:cNvSpPr/>
          <p:nvPr/>
        </p:nvSpPr>
        <p:spPr>
          <a:xfrm>
            <a:off x="661475" y="4195068"/>
            <a:ext cx="10868745" cy="1502767"/>
          </a:xfrm>
          <a:prstGeom prst="roundRect">
            <a:avLst>
              <a:gd name="adj" fmla="val 507"/>
            </a:avLst>
          </a:prstGeom>
          <a:solidFill>
            <a:srgbClr val="F2F2F2"/>
          </a:solidFill>
          <a:ln/>
        </p:spPr>
      </p:sp>
      <p:sp>
        <p:nvSpPr>
          <p:cNvPr id="29" name="Text 25"/>
          <p:cNvSpPr/>
          <p:nvPr/>
        </p:nvSpPr>
        <p:spPr>
          <a:xfrm>
            <a:off x="816947" y="4324648"/>
            <a:ext cx="10557802" cy="1243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"diagnosticos": ["string"],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"estudios": ["string"],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"manejo": "string",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"urgencia": "alta | media | baja"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61475" y="5777706"/>
            <a:ext cx="10868745" cy="400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spcAft>
                <a:spcPts val="600"/>
              </a:spcAft>
              <a:buNone/>
            </a:pPr>
            <a:r>
              <a:rPr lang="en-US" sz="1000" i="1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Ejemplo: schema para output clínico estructurado</a:t>
            </a:r>
            <a:endParaRPr lang="en-US" sz="10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000" b="1" u="sng" dirty="0">
                <a:solidFill>
                  <a:srgbClr val="DA1B2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 ejemplo interactivo en aitutorial.dev →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60797"/>
            <a:ext cx="1725371" cy="156766"/>
          </a:xfrm>
          <a:prstGeom prst="roundRect">
            <a:avLst>
              <a:gd name="adj" fmla="val 4861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23386" y="691753"/>
            <a:ext cx="2211134" cy="94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INGENIERÍA DE PROMPTS ESTRUCTURADA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661475" y="835521"/>
            <a:ext cx="10868745" cy="322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XML Tags: Estructura Semántica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61475" y="1270595"/>
            <a:ext cx="5308566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¿Por qué XML?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1476871"/>
            <a:ext cx="5308566" cy="237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LLMs fueron entrenados extensivamente con datos HTML/XML de la web. Los tags crean </a:t>
            </a:r>
            <a:pPr algn="l" indent="0" marL="0">
              <a:lnSpc>
                <a:spcPct val="96000"/>
              </a:lnSpc>
              <a:buNone/>
            </a:pPr>
            <a:r>
              <a:rPr lang="en-US" sz="8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límites semánticos explícitos</a:t>
            </a:r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entre secciones, reduciendo la ambigüedad.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681121" y="2435324"/>
            <a:ext cx="1269174" cy="257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40%</a:t>
            </a:r>
            <a:endParaRPr lang="en-US" sz="2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1822" y="1790402"/>
            <a:ext cx="1547774" cy="15478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61475" y="3409057"/>
            <a:ext cx="5308566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Reducción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61475" y="3615333"/>
            <a:ext cx="5308566" cy="11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Mínima en alucinaciones con XML + validación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681121" y="4494709"/>
            <a:ext cx="1269174" cy="257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60%</a:t>
            </a:r>
            <a:endParaRPr lang="en-US" sz="2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1822" y="3849787"/>
            <a:ext cx="1547774" cy="15478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1475" y="5468441"/>
            <a:ext cx="5308566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Reducción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61475" y="5674717"/>
            <a:ext cx="5308566" cy="11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Máxima reportada en algunos benchmarks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61475" y="5843885"/>
            <a:ext cx="5918151" cy="11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El overhead de tokens por los tags se compensa ampliamente con menos reintentos y errores.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6228004" y="1270595"/>
            <a:ext cx="5308566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Ejemplo de estructura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228004" y="1482427"/>
            <a:ext cx="5308566" cy="4664075"/>
          </a:xfrm>
          <a:prstGeom prst="roundRect">
            <a:avLst>
              <a:gd name="adj" fmla="val 163"/>
            </a:avLst>
          </a:prstGeom>
          <a:solidFill>
            <a:srgbClr val="F2F2F2"/>
          </a:solidFill>
          <a:ln/>
        </p:spPr>
      </p:sp>
      <p:sp>
        <p:nvSpPr>
          <p:cNvPr id="18" name="Text 14"/>
          <p:cNvSpPr/>
          <p:nvPr/>
        </p:nvSpPr>
        <p:spPr>
          <a:xfrm>
            <a:off x="6351825" y="1585615"/>
            <a:ext cx="5060923" cy="445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&lt;task&gt;Classify customer sentiment&lt;/task&gt;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&lt;instruction&gt;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ONLY one word: positive, neutral, or negative.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&lt;input&gt;, produce the corresponding &lt;output&gt;.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&lt;/instruction&gt;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&lt;examples&gt;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&lt;example&gt;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&lt;input&gt;Your product is amazing! Best purchase ever.&lt;/input&gt;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&lt;output&gt;positive&lt;/output&gt;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&lt;/example&gt;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&lt;example&gt;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&lt;input&gt;It's okay, does the job but nothing special.&lt;/input&gt;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&lt;output&gt;neutral&lt;/output&gt;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&lt;/example&gt;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&lt;example&gt;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&lt;input&gt;Terrible quality. Broke after one week. Demanding refund!&lt;/input&gt;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&lt;output&gt;negative&lt;/output&gt;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&lt;/example&gt;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&lt;/examples&gt;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&lt;input&gt;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shipping was fast and the product arrived in perfect condition. Would buy again!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&lt;/input&gt;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79376"/>
            <a:ext cx="3554224" cy="323056"/>
          </a:xfrm>
          <a:prstGeom prst="roundRect">
            <a:avLst>
              <a:gd name="adj" fmla="val 2359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88968" y="943074"/>
            <a:ext cx="3908823" cy="195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INGENIERÍA DE PROMPTS ESTRUCTURADA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1278930"/>
            <a:ext cx="10868745" cy="664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1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Optimización por Modelo</a:t>
            </a:r>
            <a:endParaRPr lang="en-US" sz="4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230438"/>
            <a:ext cx="425241" cy="4252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2894905"/>
            <a:ext cx="3463441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GPT-4 / GPT-4o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661475" y="3341886"/>
            <a:ext cx="3463441" cy="1292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Mejor en structured outputs y JSON/schema compliance. Usar roles explícitos y schemas bien definidos.</a:t>
            </a:r>
            <a:endParaRPr lang="en-US" sz="16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4127" y="2230438"/>
            <a:ext cx="425241" cy="4252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64127" y="2894905"/>
            <a:ext cx="3463441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Claude (Sonnet/Opus)</a:t>
            </a:r>
            <a:endParaRPr lang="en-US" sz="2050" dirty="0"/>
          </a:p>
        </p:txBody>
      </p:sp>
      <p:sp>
        <p:nvSpPr>
          <p:cNvPr id="10" name="Text 6"/>
          <p:cNvSpPr/>
          <p:nvPr/>
        </p:nvSpPr>
        <p:spPr>
          <a:xfrm>
            <a:off x="4364127" y="3341886"/>
            <a:ext cx="3463441" cy="1305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Mejor en razonamiento natural, chain-of-thought y contexto largo. Usar bloques </a:t>
            </a:r>
            <a:pPr algn="l" indent="0" marL="0">
              <a:lnSpc>
                <a:spcPct val="127000"/>
              </a:lnSpc>
              <a:buNone/>
            </a:pPr>
            <a:r>
              <a:rPr lang="en-US" sz="1650" dirty="0">
                <a:solidFill>
                  <a:srgbClr val="3B353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&lt;thinking&gt;</a:t>
            </a:r>
            <a:pPr algn="l" indent="0" marL="0">
              <a:lnSpc>
                <a:spcPct val="1270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y formato XML.</a:t>
            </a:r>
            <a:endParaRPr lang="en-US" sz="16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6779" y="2230438"/>
            <a:ext cx="425241" cy="42525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66779" y="2894905"/>
            <a:ext cx="3463441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Gemini 1.5 Pro</a:t>
            </a:r>
            <a:endParaRPr lang="en-US" sz="2050" dirty="0"/>
          </a:p>
        </p:txBody>
      </p:sp>
      <p:sp>
        <p:nvSpPr>
          <p:cNvPr id="13" name="Text 8"/>
          <p:cNvSpPr/>
          <p:nvPr/>
        </p:nvSpPr>
        <p:spPr>
          <a:xfrm>
            <a:off x="8066779" y="3341886"/>
            <a:ext cx="3463441" cy="1292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Mejor en ventanas de 2M tokens y multimodal. Queries al final del contexto, ideal para documentos largos y PDFs.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661475" y="4862512"/>
            <a:ext cx="10868745" cy="1116013"/>
          </a:xfrm>
          <a:prstGeom prst="roundRect">
            <a:avLst>
              <a:gd name="adj" fmla="val 683"/>
            </a:avLst>
          </a:prstGeom>
          <a:solidFill>
            <a:srgbClr val="F9D2D6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4095" y="5136654"/>
            <a:ext cx="265800" cy="21262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52516" y="5106888"/>
            <a:ext cx="9965084" cy="646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prompt óptimo para GPT-4 puede </a:t>
            </a:r>
            <a:pPr algn="l" indent="0" marL="0">
              <a:lnSpc>
                <a:spcPct val="127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no</a:t>
            </a:r>
            <a:pPr algn="l" indent="0" marL="0">
              <a:lnSpc>
                <a:spcPct val="127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serlo para Claude o Gemini. Probar y evaluar en cada modelo antes de llevar a producción.</a:t>
            </a:r>
            <a:endParaRPr lang="en-US" sz="16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3298"/>
            <a:ext cx="10868745" cy="464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Agenda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828753" y="1325563"/>
            <a:ext cx="19050" cy="4859139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4" name="Shape 2"/>
          <p:cNvSpPr/>
          <p:nvPr/>
        </p:nvSpPr>
        <p:spPr>
          <a:xfrm>
            <a:off x="977032" y="1483320"/>
            <a:ext cx="446275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5" name="Shape 3"/>
          <p:cNvSpPr/>
          <p:nvPr/>
        </p:nvSpPr>
        <p:spPr>
          <a:xfrm>
            <a:off x="661425" y="1325563"/>
            <a:ext cx="334656" cy="334665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7135" y="1353393"/>
            <a:ext cx="223137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572677" y="1376660"/>
            <a:ext cx="9957543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Fundamentos de Foundational Models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72677" y="1665188"/>
            <a:ext cx="9957543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Ventana de contexto, tokens, limitaciones y modelos mentales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77032" y="2204244"/>
            <a:ext cx="446275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10" name="Shape 8"/>
          <p:cNvSpPr/>
          <p:nvPr/>
        </p:nvSpPr>
        <p:spPr>
          <a:xfrm>
            <a:off x="661425" y="2046486"/>
            <a:ext cx="334656" cy="334665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7135" y="2074317"/>
            <a:ext cx="223137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2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572677" y="2097584"/>
            <a:ext cx="9957543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Ingeniería de Prompts Estructurada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572677" y="2386112"/>
            <a:ext cx="9957543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componentes, XML tags, salidas JSON y optimización por modelo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77032" y="2925167"/>
            <a:ext cx="446275" cy="19050"/>
          </a:xfrm>
          <a:prstGeom prst="roundRect">
            <a:avLst>
              <a:gd name="adj" fmla="val 39999"/>
            </a:avLst>
          </a:prstGeom>
          <a:solidFill>
            <a:srgbClr val="F33447"/>
          </a:solidFill>
          <a:ln/>
        </p:spPr>
      </p:sp>
      <p:sp>
        <p:nvSpPr>
          <p:cNvPr id="15" name="Shape 13"/>
          <p:cNvSpPr/>
          <p:nvPr/>
        </p:nvSpPr>
        <p:spPr>
          <a:xfrm>
            <a:off x="661425" y="2767409"/>
            <a:ext cx="334656" cy="334665"/>
          </a:xfrm>
          <a:prstGeom prst="roundRect">
            <a:avLst>
              <a:gd name="adj" fmla="val 2277"/>
            </a:avLst>
          </a:prstGeom>
          <a:solidFill>
            <a:srgbClr val="DA1B2E"/>
          </a:solidFill>
          <a:ln w="6350">
            <a:solidFill>
              <a:srgbClr val="F334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7135" y="2795240"/>
            <a:ext cx="223137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3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572677" y="2818507"/>
            <a:ext cx="9957543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In-Context Learning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572677" y="3107035"/>
            <a:ext cx="9957543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Zero-shot, Few-shot y Many-shot con ejemplos clínicos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77032" y="3646091"/>
            <a:ext cx="446275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20" name="Shape 18"/>
          <p:cNvSpPr/>
          <p:nvPr/>
        </p:nvSpPr>
        <p:spPr>
          <a:xfrm>
            <a:off x="661425" y="3488333"/>
            <a:ext cx="334656" cy="334665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7135" y="3516164"/>
            <a:ext cx="223137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4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1572677" y="3539430"/>
            <a:ext cx="9957543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Técnicas Avanzadas de Prompting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572677" y="3827959"/>
            <a:ext cx="9957543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CoT, Self-Consistency, Extended Thinking y Prompt Chaining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77032" y="4367014"/>
            <a:ext cx="446275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25" name="Shape 23"/>
          <p:cNvSpPr/>
          <p:nvPr/>
        </p:nvSpPr>
        <p:spPr>
          <a:xfrm>
            <a:off x="661425" y="4209256"/>
            <a:ext cx="334656" cy="334665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7135" y="4237087"/>
            <a:ext cx="223137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5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1572677" y="4260354"/>
            <a:ext cx="9957543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Selección de Modelos y Costos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572677" y="4548882"/>
            <a:ext cx="9957543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Framework de decisión, prompt caching, model cascading y TOON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77032" y="5087938"/>
            <a:ext cx="446275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30" name="Shape 28"/>
          <p:cNvSpPr/>
          <p:nvPr/>
        </p:nvSpPr>
        <p:spPr>
          <a:xfrm>
            <a:off x="661425" y="4930180"/>
            <a:ext cx="334656" cy="334665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7135" y="4958011"/>
            <a:ext cx="223137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6</a:t>
            </a: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1572677" y="4981277"/>
            <a:ext cx="9957543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Foundational Models en Medicina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1572677" y="5269805"/>
            <a:ext cx="9957543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Aplicaciones reales, recorrido del paciente, research biomédica y marco ético OMS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77032" y="5808861"/>
            <a:ext cx="446275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35" name="Shape 33"/>
          <p:cNvSpPr/>
          <p:nvPr/>
        </p:nvSpPr>
        <p:spPr>
          <a:xfrm>
            <a:off x="661425" y="5651103"/>
            <a:ext cx="334656" cy="334665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7135" y="5678934"/>
            <a:ext cx="223137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7</a:t>
            </a:r>
            <a:endParaRPr lang="en-US" sz="1750" dirty="0"/>
          </a:p>
        </p:txBody>
      </p:sp>
      <p:sp>
        <p:nvSpPr>
          <p:cNvPr id="37" name="Text 35"/>
          <p:cNvSpPr/>
          <p:nvPr/>
        </p:nvSpPr>
        <p:spPr>
          <a:xfrm>
            <a:off x="1572677" y="5702201"/>
            <a:ext cx="9957543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Resumen y Práctica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1572677" y="5990729"/>
            <a:ext cx="9957543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Módulos interactivos de aitutorial.dev + sistema de triage con LLM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87685"/>
            <a:ext cx="1471080" cy="229691"/>
          </a:xfrm>
          <a:prstGeom prst="roundRect">
            <a:avLst>
              <a:gd name="adj" fmla="val 3317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52159" y="733028"/>
            <a:ext cx="189929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IN-CONTEXT LEARNING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955973"/>
            <a:ext cx="10868745" cy="472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In-Context Learning (ICL)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888184" y="1682155"/>
            <a:ext cx="10642036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Capacidad del LLM de aprender patrones a partir de ejemplos en el prompt, sin modificar sus pesos. El modelo no se re-entrena: reconoce patrones en los ejemplos y los aplica al caso nuevo.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1573411"/>
            <a:ext cx="19050" cy="713383"/>
          </a:xfrm>
          <a:prstGeom prst="roundRect">
            <a:avLst>
              <a:gd name="adj" fmla="val 49999"/>
            </a:avLst>
          </a:prstGeom>
          <a:solidFill>
            <a:srgbClr val="DA1B2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395538"/>
            <a:ext cx="10868745" cy="9525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2581" y="2945705"/>
            <a:ext cx="10566533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Zero-shot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12581" y="3239889"/>
            <a:ext cx="10566533" cy="19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Solo instrucción, sin ejemplos. Depende del conocimiento preentrenado del modelo.</a:t>
            </a:r>
            <a:endParaRPr lang="en-US" sz="11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184" y="3685977"/>
            <a:ext cx="10642036" cy="9525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39290" y="4236145"/>
            <a:ext cx="10339823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Few-shot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039290" y="4530328"/>
            <a:ext cx="10339823" cy="19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2–10 ejemplos resueltos antes del caso a resolver. El más utilizado en producción.</a:t>
            </a:r>
            <a:endParaRPr lang="en-US" sz="11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992" y="4976416"/>
            <a:ext cx="10415228" cy="9525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66099" y="5526584"/>
            <a:ext cx="1011301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Many-shot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266099" y="5820767"/>
            <a:ext cx="10113015" cy="19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Decenas o cientos de ejemplos para tareas complecias o con alta variabilidad.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66750"/>
            <a:ext cx="1697987" cy="265113"/>
          </a:xfrm>
          <a:prstGeom prst="roundRect">
            <a:avLst>
              <a:gd name="adj" fmla="val 2874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66049" y="719038"/>
            <a:ext cx="2098424" cy="160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IN-CONTEXT LEARNING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983357"/>
            <a:ext cx="10868745" cy="545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Few-Shot Learning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61475" y="1850330"/>
            <a:ext cx="5221653" cy="272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Buenas prácticas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61475" y="2251670"/>
            <a:ext cx="5221653" cy="1877616"/>
          </a:xfrm>
          <a:prstGeom prst="rect">
            <a:avLst/>
          </a:prstGeom>
          <a:noFill/>
          <a:ln/>
        </p:spPr>
        <p:txBody>
          <a:bodyPr wrap="square" lIns="0" tIns="69775" rIns="0" bIns="0" rtlCol="0" anchor="t">
            <a:normAutofit/>
          </a:bodyPr>
          <a:lstStyle/>
          <a:p>
            <a:pPr algn="l" marL="274320" indent="-274320">
              <a:lnSpc>
                <a:spcPct val="11600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Incluir </a:t>
            </a:r>
            <a:pPr algn="l" marL="274320" indent="-274320">
              <a:lnSpc>
                <a:spcPct val="116000"/>
              </a:lnSpc>
              <a:buSzPct val="100000"/>
              <a:buChar char="•"/>
            </a:pPr>
            <a:r>
              <a:rPr lang="en-US" sz="13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2-10 ejemplos</a:t>
            </a:r>
            <a:pPr algn="l" marL="274320" indent="-274320">
              <a:lnSpc>
                <a:spcPct val="11600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 el prompt para guiar al modelo.</a:t>
            </a:r>
            <a:endParaRPr lang="en-US" sz="1350" dirty="0"/>
          </a:p>
          <a:p>
            <a:pPr algn="l" marL="274320" indent="-274320">
              <a:lnSpc>
                <a:spcPct val="11600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Estructura: Instrucción + Ejemplo 1 + Ejemplo 2 + ... + Caso nuevo.</a:t>
            </a:r>
            <a:endParaRPr lang="en-US" sz="1350" dirty="0"/>
          </a:p>
          <a:p>
            <a:pPr algn="l" marL="274320" indent="-274320">
              <a:lnSpc>
                <a:spcPct val="11600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Ejemplos </a:t>
            </a:r>
            <a:pPr algn="l" marL="274320" indent="-274320">
              <a:lnSpc>
                <a:spcPct val="116000"/>
              </a:lnSpc>
              <a:buSzPct val="100000"/>
              <a:buChar char="•"/>
            </a:pPr>
            <a:r>
              <a:rPr lang="en-US" sz="13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representativos</a:t>
            </a:r>
            <a:pPr algn="l" marL="274320" indent="-274320">
              <a:lnSpc>
                <a:spcPct val="11600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cubrir casos positivos, negativos y edge cases.</a:t>
            </a:r>
            <a:endParaRPr lang="en-US" sz="1350" dirty="0"/>
          </a:p>
          <a:p>
            <a:pPr algn="l" marL="274320" indent="-274320">
              <a:lnSpc>
                <a:spcPct val="11600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Formato </a:t>
            </a:r>
            <a:pPr algn="l" marL="274320" indent="-274320">
              <a:lnSpc>
                <a:spcPct val="116000"/>
              </a:lnSpc>
              <a:buSzPct val="100000"/>
              <a:buChar char="•"/>
            </a:pPr>
            <a:r>
              <a:rPr lang="en-US" sz="13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consistente</a:t>
            </a:r>
            <a:pPr algn="l" marL="274320" indent="-274320">
              <a:lnSpc>
                <a:spcPct val="11600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entre todos los ejemplos.</a:t>
            </a:r>
            <a:endParaRPr lang="en-US" sz="1350" dirty="0"/>
          </a:p>
          <a:p>
            <a:pPr algn="l" marL="274320" indent="-274320">
              <a:lnSpc>
                <a:spcPct val="11600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3-5 ejemplos suelen ser suficientes (</a:t>
            </a:r>
            <a:pPr algn="l" marL="274320" indent="-274320">
              <a:lnSpc>
                <a:spcPct val="116000"/>
              </a:lnSpc>
              <a:buSzPct val="100000"/>
              <a:buChar char="•"/>
            </a:pPr>
            <a:r>
              <a:rPr lang="en-US" sz="1350" i="1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calidad &gt; cantidad</a:t>
            </a:r>
            <a:pPr algn="l" marL="274320" indent="-274320">
              <a:lnSpc>
                <a:spcPct val="11600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14917" y="1850330"/>
            <a:ext cx="5221653" cy="272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Ejemplo: Clasificación de sentimiento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314917" y="2267744"/>
            <a:ext cx="5221653" cy="3778647"/>
          </a:xfrm>
          <a:prstGeom prst="roundRect">
            <a:avLst>
              <a:gd name="adj" fmla="val 202"/>
            </a:avLst>
          </a:prstGeom>
          <a:solidFill>
            <a:srgbClr val="F9D2D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9339" y="2465189"/>
            <a:ext cx="217978" cy="174427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881740" y="2440087"/>
            <a:ext cx="4480408" cy="3417888"/>
          </a:xfrm>
          <a:prstGeom prst="roundRect">
            <a:avLst>
              <a:gd name="adj" fmla="val 223"/>
            </a:avLst>
          </a:prstGeom>
          <a:solidFill>
            <a:srgbClr val="F2F2F2"/>
          </a:solidFill>
          <a:ln/>
        </p:spPr>
      </p:sp>
      <p:sp>
        <p:nvSpPr>
          <p:cNvPr id="11" name="Text 8"/>
          <p:cNvSpPr/>
          <p:nvPr/>
        </p:nvSpPr>
        <p:spPr>
          <a:xfrm>
            <a:off x="7090987" y="2614513"/>
            <a:ext cx="4061914" cy="3069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Clasifica el sentimiento como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POSITIVO, NEGATIVO o NEUTRO.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"La batería dura muchísimo"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POSITIVO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 trabó a los dos días"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NEGATIVO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"El dispositivo llegó el martes"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NEUTRO"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93341"/>
            <a:ext cx="1238021" cy="193080"/>
          </a:xfrm>
          <a:prstGeom prst="roundRect">
            <a:avLst>
              <a:gd name="adj" fmla="val 3946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37772" y="731441"/>
            <a:ext cx="1695011" cy="116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IN-CONTEXT LEARNING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913805"/>
            <a:ext cx="10868745" cy="397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Many-Shot Learning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61475" y="1482427"/>
            <a:ext cx="5279298" cy="198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¿Cuándo usar many-shot?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61475" y="1749524"/>
            <a:ext cx="5279298" cy="877987"/>
          </a:xfrm>
          <a:prstGeom prst="rect">
            <a:avLst/>
          </a:prstGeom>
          <a:noFill/>
          <a:ln/>
        </p:spPr>
        <p:txBody>
          <a:bodyPr wrap="square" lIns="0" tIns="50873" rIns="0" bIns="0" rtlCol="0" anchor="t">
            <a:normAutofit/>
          </a:bodyPr>
          <a:lstStyle/>
          <a:p>
            <a:pPr algn="l" marL="203200" indent="-203200">
              <a:lnSpc>
                <a:spcPct val="103000"/>
              </a:lnSpc>
              <a:buSzPct val="100000"/>
              <a:buChar char="•"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Decenas o cientos de ejemplos, aprovechando ventanas de contexto grandes.</a:t>
            </a:r>
            <a:endParaRPr lang="en-US" sz="1000" dirty="0"/>
          </a:p>
          <a:p>
            <a:pPr algn="l" marL="203200" indent="-203200">
              <a:lnSpc>
                <a:spcPct val="103000"/>
              </a:lnSpc>
              <a:buSzPct val="100000"/>
              <a:buChar char="•"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Útil cuando few-shot no captura suficiente variabilidad del problema.</a:t>
            </a:r>
            <a:endParaRPr lang="en-US" sz="1000" dirty="0"/>
          </a:p>
          <a:p>
            <a:pPr algn="l" marL="203200" indent="-203200">
              <a:lnSpc>
                <a:spcPct val="103000"/>
              </a:lnSpc>
              <a:buSzPct val="100000"/>
              <a:buChar char="•"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 tareas con muchas categorías (ej: 20+ diagnósticos posibles).</a:t>
            </a:r>
            <a:endParaRPr lang="en-US" sz="1000" dirty="0"/>
          </a:p>
          <a:p>
            <a:pPr algn="l" marL="203200" indent="-203200">
              <a:lnSpc>
                <a:spcPct val="103000"/>
              </a:lnSpc>
              <a:buSzPct val="100000"/>
              <a:buChar char="•"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Modelo en producción: agregar ejemplos al prompt según surgen errores.</a:t>
            </a:r>
            <a:endParaRPr lang="en-US" sz="1000" dirty="0"/>
          </a:p>
          <a:p>
            <a:pPr algn="l" marL="203200" indent="-203200">
              <a:lnSpc>
                <a:spcPct val="103000"/>
              </a:lnSpc>
              <a:buSzPct val="100000"/>
              <a:buChar char="•"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 mejorar el modelo </a:t>
            </a:r>
            <a:pPr algn="l" marL="203200" indent="-203200">
              <a:lnSpc>
                <a:spcPct val="103000"/>
              </a:lnSpc>
              <a:buSzPct val="100000"/>
              <a:buChar char="•"/>
            </a:pPr>
            <a:r>
              <a:rPr lang="en-US" sz="10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sin re-entrenarlo</a:t>
            </a:r>
            <a:pPr algn="l" marL="203200" indent="-203200">
              <a:lnSpc>
                <a:spcPct val="103000"/>
              </a:lnSpc>
              <a:buSzPct val="100000"/>
              <a:buChar char="•"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57272" y="1482427"/>
            <a:ext cx="5279298" cy="198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Ejemplo: Few-Shot en Triage Clínico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57272" y="1758057"/>
            <a:ext cx="5279298" cy="4329609"/>
          </a:xfrm>
          <a:prstGeom prst="roundRect">
            <a:avLst>
              <a:gd name="adj" fmla="val 176"/>
            </a:avLst>
          </a:prstGeom>
          <a:solidFill>
            <a:srgbClr val="F9D2D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4368" y="1867694"/>
            <a:ext cx="158944" cy="12709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670409" y="1858268"/>
            <a:ext cx="4739065" cy="4120654"/>
          </a:xfrm>
          <a:prstGeom prst="roundRect">
            <a:avLst>
              <a:gd name="adj" fmla="val 185"/>
            </a:avLst>
          </a:prstGeom>
          <a:solidFill>
            <a:srgbClr val="F2F2F2"/>
          </a:solidFill>
          <a:ln/>
        </p:spPr>
      </p:sp>
      <p:sp>
        <p:nvSpPr>
          <p:cNvPr id="11" name="Text 8"/>
          <p:cNvSpPr/>
          <p:nvPr/>
        </p:nvSpPr>
        <p:spPr>
          <a:xfrm>
            <a:off x="6823004" y="1985367"/>
            <a:ext cx="4433876" cy="38664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INSTRUCCIÓN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Clasifica la urgencia clínica como EMERGENCIA, URGENTE o NO URGENTE.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EJEMPLOS (Few-shot)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Paciente: 65M, dolor torácico opresivo, irradiado a brazo izquierdo, diaforesis.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EMERGENCIA (Sospecha de SCA)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Paciente: 8M, caída de bicicleta, deformidad en antebrazo, pulsos distales presentes.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URGENTE (Probable fractura)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Paciente: 30F, fiebre 38.5°C por 2 días, odinofagia, sin dificultad respiratoria.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NO URGENTE (Compatible con faringitis)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INPUT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Paciente: 45F, cefalea intensa súbita "la peor de su vida", rigidez de nuca.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???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3298"/>
            <a:ext cx="10868745" cy="464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Agenda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828753" y="1325563"/>
            <a:ext cx="19050" cy="4859139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4" name="Shape 2"/>
          <p:cNvSpPr/>
          <p:nvPr/>
        </p:nvSpPr>
        <p:spPr>
          <a:xfrm>
            <a:off x="977032" y="1483320"/>
            <a:ext cx="446275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5" name="Shape 3"/>
          <p:cNvSpPr/>
          <p:nvPr/>
        </p:nvSpPr>
        <p:spPr>
          <a:xfrm>
            <a:off x="661425" y="1325563"/>
            <a:ext cx="334656" cy="334665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7135" y="1353393"/>
            <a:ext cx="223137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572677" y="1376660"/>
            <a:ext cx="9957543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Fundamentos de Foundational Models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72677" y="1665188"/>
            <a:ext cx="9957543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Ventana de contexto, tokens, limitaciones y modelos mentales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77032" y="2204244"/>
            <a:ext cx="446275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10" name="Shape 8"/>
          <p:cNvSpPr/>
          <p:nvPr/>
        </p:nvSpPr>
        <p:spPr>
          <a:xfrm>
            <a:off x="661425" y="2046486"/>
            <a:ext cx="334656" cy="334665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7135" y="2074317"/>
            <a:ext cx="223137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2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572677" y="2097584"/>
            <a:ext cx="9957543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Ingeniería de Prompts Estructurada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572677" y="2386112"/>
            <a:ext cx="9957543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componentes, XML tags, salidas JSON y optimización por modelo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77032" y="2925167"/>
            <a:ext cx="446275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15" name="Shape 13"/>
          <p:cNvSpPr/>
          <p:nvPr/>
        </p:nvSpPr>
        <p:spPr>
          <a:xfrm>
            <a:off x="661425" y="2767409"/>
            <a:ext cx="334656" cy="334665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7135" y="2795240"/>
            <a:ext cx="223137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3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572677" y="2818507"/>
            <a:ext cx="9957543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In-Context Learning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572677" y="3107035"/>
            <a:ext cx="9957543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Zero-shot, Few-shot y Many-shot con ejemplos clínicos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77032" y="3646091"/>
            <a:ext cx="446275" cy="19050"/>
          </a:xfrm>
          <a:prstGeom prst="roundRect">
            <a:avLst>
              <a:gd name="adj" fmla="val 39999"/>
            </a:avLst>
          </a:prstGeom>
          <a:solidFill>
            <a:srgbClr val="F33447"/>
          </a:solidFill>
          <a:ln/>
        </p:spPr>
      </p:sp>
      <p:sp>
        <p:nvSpPr>
          <p:cNvPr id="20" name="Shape 18"/>
          <p:cNvSpPr/>
          <p:nvPr/>
        </p:nvSpPr>
        <p:spPr>
          <a:xfrm>
            <a:off x="661425" y="3488333"/>
            <a:ext cx="334656" cy="334665"/>
          </a:xfrm>
          <a:prstGeom prst="roundRect">
            <a:avLst>
              <a:gd name="adj" fmla="val 2277"/>
            </a:avLst>
          </a:prstGeom>
          <a:solidFill>
            <a:srgbClr val="DA1B2E"/>
          </a:solidFill>
          <a:ln w="6350">
            <a:solidFill>
              <a:srgbClr val="F334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7135" y="3516164"/>
            <a:ext cx="223137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4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1572677" y="3539430"/>
            <a:ext cx="9957543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Técnicas Avanzadas de Prompting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572677" y="3827959"/>
            <a:ext cx="9957543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CoT, Self-Consistency, Extended Thinking y Prompt Chaining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77032" y="4367014"/>
            <a:ext cx="446275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25" name="Shape 23"/>
          <p:cNvSpPr/>
          <p:nvPr/>
        </p:nvSpPr>
        <p:spPr>
          <a:xfrm>
            <a:off x="661425" y="4209256"/>
            <a:ext cx="334656" cy="334665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7135" y="4237087"/>
            <a:ext cx="223137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5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1572677" y="4260354"/>
            <a:ext cx="9957543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Selección de Modelos y Costos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572677" y="4548882"/>
            <a:ext cx="9957543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Framework de decisión, prompt caching, model cascading y TOON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77032" y="5087938"/>
            <a:ext cx="446275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30" name="Shape 28"/>
          <p:cNvSpPr/>
          <p:nvPr/>
        </p:nvSpPr>
        <p:spPr>
          <a:xfrm>
            <a:off x="661425" y="4930180"/>
            <a:ext cx="334656" cy="334665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7135" y="4958011"/>
            <a:ext cx="223137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6</a:t>
            </a: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1572677" y="4981277"/>
            <a:ext cx="9957543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Foundational Models en Medicina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1572677" y="5269805"/>
            <a:ext cx="9957543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Aplicaciones reales, recorrido del paciente, research biomédica y marco ético OMS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77032" y="5808861"/>
            <a:ext cx="446275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35" name="Shape 33"/>
          <p:cNvSpPr/>
          <p:nvPr/>
        </p:nvSpPr>
        <p:spPr>
          <a:xfrm>
            <a:off x="661425" y="5651103"/>
            <a:ext cx="334656" cy="334665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7135" y="5678934"/>
            <a:ext cx="223137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7</a:t>
            </a:r>
            <a:endParaRPr lang="en-US" sz="1750" dirty="0"/>
          </a:p>
        </p:txBody>
      </p:sp>
      <p:sp>
        <p:nvSpPr>
          <p:cNvPr id="37" name="Text 35"/>
          <p:cNvSpPr/>
          <p:nvPr/>
        </p:nvSpPr>
        <p:spPr>
          <a:xfrm>
            <a:off x="1572677" y="5702201"/>
            <a:ext cx="9957543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Resumen y Práctica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1572677" y="5990729"/>
            <a:ext cx="9957543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Módulos interactivos de aitutorial.dev + sistema de triage con LLM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045369"/>
            <a:ext cx="2776270" cy="269180"/>
          </a:xfrm>
          <a:prstGeom prst="roundRect">
            <a:avLst>
              <a:gd name="adj" fmla="val 2831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67735" y="1098451"/>
            <a:ext cx="3173333" cy="163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TÉCNICAS AVANZADAS DE PROMPTING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1367631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Técnicas Avanzadas de Prompting: Resumen</a:t>
            </a:r>
            <a:endParaRPr lang="en-US" sz="3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120702"/>
            <a:ext cx="443001" cy="443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2729805"/>
            <a:ext cx="3512157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Chain of Thought (CoT)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61475" y="3086398"/>
            <a:ext cx="3512157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Razonamiento paso a paso para mejorar precisión. Fuerza tokens intermedios que guían la predicción final.</a:t>
            </a:r>
            <a:endParaRPr lang="en-US" sz="13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9720" y="2120702"/>
            <a:ext cx="443001" cy="4430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39720" y="2729805"/>
            <a:ext cx="3512157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Self-Consistency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339720" y="3086398"/>
            <a:ext cx="3512157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 múltiples respuestas y selecciona por votación de mayoría. Reduce errores por no-determinismo.</a:t>
            </a:r>
            <a:endParaRPr lang="en-US" sz="13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17964" y="2120702"/>
            <a:ext cx="443001" cy="44301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17964" y="2729805"/>
            <a:ext cx="3512157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Extended Thinking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8017964" y="3086398"/>
            <a:ext cx="3512157" cy="750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Modelos Claude exponen su razonamiento interno con tags </a:t>
            </a:r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&lt;thinking&gt;</a:t>
            </a:r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Ideal para tareas críticas y complejas.</a:t>
            </a:r>
            <a:endParaRPr lang="en-US" sz="13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102695"/>
            <a:ext cx="443001" cy="44301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61475" y="4711799"/>
            <a:ext cx="3512157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Tree of Thought (ToT)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661475" y="5068391"/>
            <a:ext cx="3512157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Explora múltiples caminos de razonamiento en paralelo. Útil para problemas con múltiples soluciones posibles.</a:t>
            </a:r>
            <a:endParaRPr lang="en-US" sz="13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39720" y="4102695"/>
            <a:ext cx="443001" cy="44301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339720" y="4711799"/>
            <a:ext cx="3512157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Prompt Chaining</a:t>
            </a:r>
            <a:endParaRPr lang="en-US" sz="1700" dirty="0"/>
          </a:p>
        </p:txBody>
      </p:sp>
      <p:sp>
        <p:nvSpPr>
          <p:cNvPr id="19" name="Text 12"/>
          <p:cNvSpPr/>
          <p:nvPr/>
        </p:nvSpPr>
        <p:spPr>
          <a:xfrm>
            <a:off x="4339720" y="5068391"/>
            <a:ext cx="3512157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Divide tareas complejas en secuencia de prompts simples. El output de cada paso alimenta al siguiente.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56146"/>
            <a:ext cx="1654431" cy="160338"/>
          </a:xfrm>
          <a:prstGeom prst="roundRect">
            <a:avLst>
              <a:gd name="adj" fmla="val 4752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24775" y="787797"/>
            <a:ext cx="2137416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TÉCNICAS AVANZADAS DE PROMPTING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61475" y="935335"/>
            <a:ext cx="10868745" cy="329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Chain of Thought (CoT)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661475" y="1383109"/>
            <a:ext cx="5305590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¿Cómo funciona?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1595140"/>
            <a:ext cx="5915175" cy="122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Mostrar al modelo el razonamiento paso a paso, no solo el resultado final. Es como pensar en voz alta.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61475" y="1826419"/>
            <a:ext cx="52783" cy="52784"/>
          </a:xfrm>
          <a:prstGeom prst="ellipse">
            <a:avLst/>
          </a:prstGeom>
          <a:solidFill>
            <a:srgbClr val="DA1B2E"/>
          </a:solidFill>
          <a:ln/>
        </p:spPr>
      </p:sp>
      <p:sp>
        <p:nvSpPr>
          <p:cNvPr id="8" name="Text 6"/>
          <p:cNvSpPr/>
          <p:nvPr/>
        </p:nvSpPr>
        <p:spPr>
          <a:xfrm>
            <a:off x="761386" y="1770360"/>
            <a:ext cx="5205679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Instrucción directa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61386" y="1982391"/>
            <a:ext cx="5205679" cy="122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Agregar frases como «Pensemos paso a paso» o «Razona antes de responder».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61475" y="2254945"/>
            <a:ext cx="52783" cy="52784"/>
          </a:xfrm>
          <a:prstGeom prst="ellipse">
            <a:avLst/>
          </a:prstGeom>
          <a:solidFill>
            <a:srgbClr val="DA1B2E"/>
          </a:solidFill>
          <a:ln/>
        </p:spPr>
      </p:sp>
      <p:sp>
        <p:nvSpPr>
          <p:cNvPr id="11" name="Text 9"/>
          <p:cNvSpPr/>
          <p:nvPr/>
        </p:nvSpPr>
        <p:spPr>
          <a:xfrm>
            <a:off x="761386" y="2198886"/>
            <a:ext cx="5205679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Ejemplos con razonamiento explícito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61386" y="2410916"/>
            <a:ext cx="5205679" cy="122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Mostrar ejemplos donde el proceso de resolución es visible, no solo la respuesta final.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154980" y="1335980"/>
            <a:ext cx="5457589" cy="4448175"/>
          </a:xfrm>
          <a:prstGeom prst="roundRect">
            <a:avLst>
              <a:gd name="adj" fmla="val 356"/>
            </a:avLst>
          </a:prstGeom>
          <a:solidFill>
            <a:srgbClr val="DA1B2E">
              <a:alpha val="9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260547" y="1383109"/>
            <a:ext cx="5246457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Impacto medido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34355" y="2287389"/>
            <a:ext cx="1298543" cy="263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70%</a:t>
            </a:r>
            <a:endParaRPr lang="en-US" sz="20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1880" y="1627485"/>
            <a:ext cx="1583690" cy="158373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260547" y="3284736"/>
            <a:ext cx="5246457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Mejora en precisión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260547" y="3496766"/>
            <a:ext cx="5246457" cy="122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Problemas matemáticos complejos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234355" y="4399558"/>
            <a:ext cx="1298543" cy="263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35%</a:t>
            </a:r>
            <a:endParaRPr lang="en-US" sz="205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1880" y="3739654"/>
            <a:ext cx="1583690" cy="158373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260547" y="5396905"/>
            <a:ext cx="5246457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Menos errores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6260547" y="5608935"/>
            <a:ext cx="5246457" cy="122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Generación de código con Chain of Thought (CoT)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661475" y="5837238"/>
            <a:ext cx="10868745" cy="264517"/>
          </a:xfrm>
          <a:prstGeom prst="roundRect">
            <a:avLst>
              <a:gd name="adj" fmla="val 2881"/>
            </a:avLst>
          </a:prstGeom>
          <a:solidFill>
            <a:srgbClr val="F9D2D6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041" y="5910759"/>
            <a:ext cx="131958" cy="105569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004565" y="5910759"/>
            <a:ext cx="11029674" cy="122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Relación with ICL:</a:t>
            </a:r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Chain of Thought (CoT) e ICL están relacionados: Few-Shot CoT es ICL donde los ejemplos incluyen el razonamiento explícito, no solo la respuesta. ICL enseña qué responder; CoT enseña cómo razonar.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66651"/>
            <a:ext cx="2550751" cy="247352"/>
          </a:xfrm>
          <a:prstGeom prst="roundRect">
            <a:avLst>
              <a:gd name="adj" fmla="val 3081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59104" y="715466"/>
            <a:ext cx="2965078" cy="149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TÉCNICAS AVANZADAS DE PROMPTING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958850"/>
            <a:ext cx="10868745" cy="50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CoT en Acción: Ejemplo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4300" y="1635820"/>
            <a:ext cx="5470190" cy="3348732"/>
          </a:xfrm>
          <a:prstGeom prst="roundRect">
            <a:avLst>
              <a:gd name="adj" fmla="val 729"/>
            </a:avLst>
          </a:prstGeom>
          <a:solidFill>
            <a:srgbClr val="DA1B2E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07015" y="1747937"/>
            <a:ext cx="5144760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Sin CoT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07015" y="2128441"/>
            <a:ext cx="5144760" cy="1367234"/>
          </a:xfrm>
          <a:prstGeom prst="roundRect">
            <a:avLst>
              <a:gd name="adj" fmla="val 557"/>
            </a:avLst>
          </a:prstGeom>
          <a:solidFill>
            <a:srgbClr val="E7283B"/>
          </a:solidFill>
          <a:ln/>
        </p:spPr>
      </p:sp>
      <p:sp>
        <p:nvSpPr>
          <p:cNvPr id="8" name="Text 6"/>
          <p:cNvSpPr/>
          <p:nvPr/>
        </p:nvSpPr>
        <p:spPr>
          <a:xfrm>
            <a:off x="902372" y="2291159"/>
            <a:ext cx="4754047" cy="1041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Prompt: "¿Cuánto es el 15% de propina en una cuenta de $47.83?"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Respuesta: $7.17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07015" y="3621881"/>
            <a:ext cx="575434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se puede auditar ni depurar el razonamiento.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300729" y="1747937"/>
            <a:ext cx="5235841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Con CoT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00729" y="2128441"/>
            <a:ext cx="5235841" cy="2409031"/>
          </a:xfrm>
          <a:prstGeom prst="roundRect">
            <a:avLst>
              <a:gd name="adj" fmla="val 316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6496086" y="2291159"/>
            <a:ext cx="4845127" cy="2083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Prompt: "¿Cuánto es el 15% de propina en una cuenta de $47.83? Piensa paso a paso."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Respuesta: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Cuenta total: $47.83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15% = 47.83 × 0.15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= $7.17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Propina: $7.17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00729" y="4663678"/>
            <a:ext cx="584542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Razonamiento auditable. Los errores son detectables.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61475" y="5110758"/>
            <a:ext cx="10868745" cy="734318"/>
          </a:xfrm>
          <a:prstGeom prst="roundRect">
            <a:avLst>
              <a:gd name="adj" fmla="val 1038"/>
            </a:avLst>
          </a:prstGeom>
          <a:solidFill>
            <a:srgbClr val="F9D2D6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190" y="5273576"/>
            <a:ext cx="203493" cy="162719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90397" y="5263555"/>
            <a:ext cx="10177109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 diagnóstico médico: CoT produce patrones de razonamiento clínico más auditables y fiables. Costo: mayor latencia por outputs más largos.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61475" y="5971282"/>
            <a:ext cx="1147833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Ejemplo:  </a:t>
            </a:r>
            <a:pPr algn="l" indent="0" marL="0">
              <a:lnSpc>
                <a:spcPct val="113000"/>
              </a:lnSpc>
              <a:buNone/>
            </a:pPr>
            <a:r>
              <a:rPr lang="en-US" sz="1250" b="1" u="sng" dirty="0">
                <a:solidFill>
                  <a:srgbClr val="DA1B2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https://aitutorial.dev/prompting/advanced-techniques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996255"/>
            <a:ext cx="2591628" cy="251420"/>
          </a:xfrm>
          <a:prstGeom prst="roundRect">
            <a:avLst>
              <a:gd name="adj" fmla="val 3031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1045865"/>
            <a:ext cx="3002780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TÉCNICAS AVANZADAS DE PROMPTING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29391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Self-Consistency: Votación por Mayoría</a:t>
            </a:r>
            <a:endParaRPr lang="en-US" sz="3250" dirty="0"/>
          </a:p>
        </p:txBody>
      </p:sp>
      <p:sp>
        <p:nvSpPr>
          <p:cNvPr id="5" name="Shape 3"/>
          <p:cNvSpPr/>
          <p:nvPr/>
        </p:nvSpPr>
        <p:spPr>
          <a:xfrm>
            <a:off x="542415" y="1984276"/>
            <a:ext cx="5470785" cy="3877469"/>
          </a:xfrm>
          <a:prstGeom prst="roundRect">
            <a:avLst>
              <a:gd name="adj" fmla="val 640"/>
            </a:avLst>
          </a:prstGeom>
          <a:solidFill>
            <a:srgbClr val="DA1B2E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07710" y="2099965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El problema y la solución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07710" y="2474119"/>
            <a:ext cx="5140196" cy="1782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Problema:</a:t>
            </a:r>
            <a:pPr algn="l" indent="0" marL="0">
              <a:lnSpc>
                <a:spcPct val="113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una sola respuesta puede ser incorrecta por no-determinismo o ambigüedad del prompt.</a:t>
            </a:r>
            <a:endParaRPr lang="en-US" sz="1300" dirty="0"/>
          </a:p>
          <a:p>
            <a:pPr algn="l" indent="0" marL="0">
              <a:lnSpc>
                <a:spcPct val="113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Solución:</a:t>
            </a:r>
            <a:pPr algn="l" indent="0" marL="0">
              <a:lnSpc>
                <a:spcPct val="113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generar múltiples respuestas independientes e implementar un mecanismo de votación sobre los resultados.</a:t>
            </a:r>
            <a:endParaRPr lang="en-US" sz="13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agentes = 5× el coste, pero la precisión mejora significativamente. CoT + Self-Consistency combinados producen ganancias adicionales (Wang et al., 2022).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3904" y="2099965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¿Çuándo usarlo?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03904" y="2488605"/>
            <a:ext cx="2558490" cy="1676102"/>
          </a:xfrm>
          <a:prstGeom prst="roundRect">
            <a:avLst>
              <a:gd name="adj" fmla="val 455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88248" y="2672953"/>
            <a:ext cx="218980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Alto riesgo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88248" y="3047107"/>
            <a:ext cx="2189802" cy="67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Decisiones médicas, financieras o legales donde los errores son costosos.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78080" y="2488605"/>
            <a:ext cx="2558490" cy="1676102"/>
          </a:xfrm>
          <a:prstGeom prst="roundRect">
            <a:avLst>
              <a:gd name="adj" fmla="val 455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62424" y="2672953"/>
            <a:ext cx="2189802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Razonamiento complejo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62424" y="3305572"/>
            <a:ext cx="2189802" cy="67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Problemas donde múltiples cadenas de pensamiento pueden divergir.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3904" y="4280396"/>
            <a:ext cx="2558490" cy="1451173"/>
          </a:xfrm>
          <a:prstGeom prst="roundRect">
            <a:avLst>
              <a:gd name="adj" fmla="val 525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88248" y="4464745"/>
            <a:ext cx="2189802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Clasificación con confianza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88248" y="5097363"/>
            <a:ext cx="2189802" cy="44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Tareas que requieren evaluar la confianza del modelo.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978080" y="4280396"/>
            <a:ext cx="2558490" cy="1451173"/>
          </a:xfrm>
          <a:prstGeom prst="roundRect">
            <a:avLst>
              <a:gd name="adj" fmla="val 525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62424" y="4464745"/>
            <a:ext cx="218980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Evaluación previa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62424" y="4838898"/>
            <a:ext cx="2189802" cy="67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Siempre validar en tu evaluation set; no asumir ganancias universales.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19733"/>
            <a:ext cx="2105468" cy="204192"/>
          </a:xfrm>
          <a:prstGeom prst="roundRect">
            <a:avLst>
              <a:gd name="adj" fmla="val 3732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42038" y="760016"/>
            <a:ext cx="2553926" cy="123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TÉCNICAS AVANZADAS DE PROMPTING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954484"/>
            <a:ext cx="10868745" cy="419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Self-Consistency: Ejemplo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1475" y="1565374"/>
            <a:ext cx="5270467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¿Cómo funciona?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1851720"/>
            <a:ext cx="5270467" cy="337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 lugar de confiar en una sola respuesta, se generan múltiples respuestas independientes y se selecciona la más frecuente.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61475" y="2265263"/>
            <a:ext cx="5270467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Cuándo usar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1475" y="2551609"/>
            <a:ext cx="5270467" cy="363835"/>
          </a:xfrm>
          <a:prstGeom prst="rect">
            <a:avLst/>
          </a:prstGeom>
          <a:noFill/>
          <a:ln/>
        </p:spPr>
        <p:txBody>
          <a:bodyPr wrap="square" lIns="0" tIns="53752" rIns="0" bIns="0" rtlCol="0" anchor="t">
            <a:normAutofit/>
          </a:bodyPr>
          <a:lstStyle/>
          <a:p>
            <a:pPr algn="l" marL="213360" indent="-213360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Decisiones de alto riesgo (médicas, financieras, legales).</a:t>
            </a:r>
            <a:endParaRPr lang="en-US" sz="1050" dirty="0"/>
          </a:p>
          <a:p>
            <a:pPr algn="l" marL="213360" indent="-213360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Razonamiento complejo donde los errores son costosos.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61475" y="2991842"/>
            <a:ext cx="5270467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Consideración de costo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1475" y="3278188"/>
            <a:ext cx="5270467" cy="363835"/>
          </a:xfrm>
          <a:prstGeom prst="rect">
            <a:avLst/>
          </a:prstGeom>
          <a:noFill/>
          <a:ln/>
        </p:spPr>
        <p:txBody>
          <a:bodyPr wrap="square" lIns="0" tIns="53752" rIns="0" bIns="0" rtlCol="0" anchor="t">
            <a:normAutofit/>
          </a:bodyPr>
          <a:lstStyle/>
          <a:p>
            <a:pPr algn="l" marL="213360" indent="-213360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3-5 llamadas al modelo = 3-5x costo.</a:t>
            </a:r>
            <a:endParaRPr lang="en-US" sz="1050" dirty="0"/>
          </a:p>
          <a:p>
            <a:pPr algn="l" marL="213360" indent="-213360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Usar solo cuando la precisión lo justifica.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66103" y="1565374"/>
            <a:ext cx="5270467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Ejemplo: Votación por Mayoría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6103" y="1861245"/>
            <a:ext cx="5270467" cy="3936603"/>
          </a:xfrm>
          <a:prstGeom prst="roundRect">
            <a:avLst>
              <a:gd name="adj" fmla="val 194"/>
            </a:avLst>
          </a:prstGeom>
          <a:solidFill>
            <a:srgbClr val="F9D2D6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441" y="1980605"/>
            <a:ext cx="167973" cy="13434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702753" y="1971179"/>
            <a:ext cx="4699478" cy="3707209"/>
          </a:xfrm>
          <a:prstGeom prst="roundRect">
            <a:avLst>
              <a:gd name="adj" fmla="val 206"/>
            </a:avLst>
          </a:prstGeom>
          <a:solidFill>
            <a:srgbClr val="F2F2F2"/>
          </a:solidFill>
          <a:ln/>
        </p:spPr>
      </p:sp>
      <p:sp>
        <p:nvSpPr>
          <p:cNvPr id="15" name="Text 12"/>
          <p:cNvSpPr/>
          <p:nvPr/>
        </p:nvSpPr>
        <p:spPr>
          <a:xfrm>
            <a:off x="6863980" y="2105521"/>
            <a:ext cx="4377025" cy="3438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CASO CLÍNICO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Paciente: 45M, dolor abdominal derecho, fiebre 38.5°C, náuseas 12h.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1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Diagnóstico: Apendicitis aguda → Urgencia: ALTA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2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Diagnóstico: Apendicitis aguda → Urgencia: ALTA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3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Diagnóstico: Cólico renal → Urgencia: MEDIA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RESULTADO (votación)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Apendicitis aguda — ALTA urgencia (2/3 votos)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Confianza: 67%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61475" y="5969695"/>
            <a:ext cx="11478330" cy="168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Ejemplo: </a:t>
            </a:r>
            <a:pPr algn="l" indent="0" marL="0">
              <a:lnSpc>
                <a:spcPct val="105000"/>
              </a:lnSpc>
              <a:buNone/>
            </a:pPr>
            <a:r>
              <a:rPr lang="en-US" sz="1050" b="1" u="sng" dirty="0">
                <a:solidFill>
                  <a:srgbClr val="DA1B2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aitutorial.dev/prompting/advanced-techniques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31540"/>
            <a:ext cx="3332178" cy="323056"/>
          </a:xfrm>
          <a:prstGeom prst="roundRect">
            <a:avLst>
              <a:gd name="adj" fmla="val 2359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88968" y="795238"/>
            <a:ext cx="3686777" cy="195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TÉCNICAS AVANZADAS DE PROMPTING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1131094"/>
            <a:ext cx="10868745" cy="664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1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Extended Thinking (Anthropic)</a:t>
            </a:r>
            <a:endParaRPr lang="en-US" sz="4150" dirty="0"/>
          </a:p>
        </p:txBody>
      </p:sp>
      <p:sp>
        <p:nvSpPr>
          <p:cNvPr id="5" name="Text 3"/>
          <p:cNvSpPr/>
          <p:nvPr/>
        </p:nvSpPr>
        <p:spPr>
          <a:xfrm>
            <a:off x="661475" y="2082602"/>
            <a:ext cx="10868745" cy="659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modelos Claude con extended thinking exponen el proceso interno de razonamiento mediante tags </a:t>
            </a:r>
            <a:pPr algn="l" indent="0" marL="0">
              <a:lnSpc>
                <a:spcPct val="127000"/>
              </a:lnSpc>
              <a:buNone/>
            </a:pPr>
            <a:r>
              <a:rPr lang="en-US" sz="1650" dirty="0">
                <a:solidFill>
                  <a:srgbClr val="3B353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&lt;thinking&gt;</a:t>
            </a:r>
            <a:pPr algn="l" indent="0" marL="0">
              <a:lnSpc>
                <a:spcPct val="1270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habilitando capacidades avanzadas para aplicaciones críticas:</a:t>
            </a:r>
            <a:endParaRPr lang="en-US" sz="16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956917"/>
            <a:ext cx="531601" cy="5316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1475" y="3727748"/>
            <a:ext cx="3463441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Debugging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661475" y="4174728"/>
            <a:ext cx="3463441" cy="19516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Revela exactamente dónde falló el razonamiento del modelo. Los bloques </a:t>
            </a:r>
            <a:pPr algn="l" indent="0" marL="0">
              <a:lnSpc>
                <a:spcPct val="127000"/>
              </a:lnSpc>
              <a:buNone/>
            </a:pPr>
            <a:r>
              <a:rPr lang="en-US" sz="1650" dirty="0">
                <a:solidFill>
                  <a:srgbClr val="3B353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&lt;thinking&gt;</a:t>
            </a:r>
            <a:pPr algn="l" indent="0" marL="0">
              <a:lnSpc>
                <a:spcPct val="1270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exponen el proceso interno paso a paso, permitiendo identificar y corregir errores sistemáticos.</a:t>
            </a:r>
            <a:endParaRPr lang="en-US" sz="16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4127" y="2956917"/>
            <a:ext cx="531601" cy="53161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64127" y="3727748"/>
            <a:ext cx="3463441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Calidad</a:t>
            </a:r>
            <a:endParaRPr lang="en-US" sz="2050" dirty="0"/>
          </a:p>
        </p:txBody>
      </p:sp>
      <p:sp>
        <p:nvSpPr>
          <p:cNvPr id="11" name="Text 7"/>
          <p:cNvSpPr/>
          <p:nvPr/>
        </p:nvSpPr>
        <p:spPr>
          <a:xfrm>
            <a:off x="4364127" y="4174728"/>
            <a:ext cx="3463441" cy="1938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Fuerza al modelo a pensar deliberadamente antes de responder. Ejemplo en análisis de contratos: analizar documento → identificar obligaciones → evaluar riesgos → generar recomendación.</a:t>
            </a:r>
            <a:endParaRPr lang="en-US" sz="16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6779" y="2956917"/>
            <a:ext cx="531601" cy="53161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66779" y="3727748"/>
            <a:ext cx="3463441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Transparencia</a:t>
            </a:r>
            <a:endParaRPr lang="en-US" sz="2050" dirty="0"/>
          </a:p>
        </p:txBody>
      </p:sp>
      <p:sp>
        <p:nvSpPr>
          <p:cNvPr id="14" name="Text 9"/>
          <p:cNvSpPr/>
          <p:nvPr/>
        </p:nvSpPr>
        <p:spPr>
          <a:xfrm>
            <a:off x="8066779" y="4174728"/>
            <a:ext cx="3463441" cy="1615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Habilita audit trails completos para decisiones críticas. El contenido de thinking se almacena separadamente para compliance regulatorio y revisión clínica.</a:t>
            </a:r>
            <a:endParaRPr lang="en-US" sz="16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54844"/>
            <a:ext cx="2330987" cy="226020"/>
          </a:xfrm>
          <a:prstGeom prst="roundRect">
            <a:avLst>
              <a:gd name="adj" fmla="val 3371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50670" y="699393"/>
            <a:ext cx="2762181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TÉCNICAS AVANZADAS DE PROMPTING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918270"/>
            <a:ext cx="10868745" cy="464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Extended Thinking: Ejemplo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1475" y="1617365"/>
            <a:ext cx="5252906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Prompt con &lt;thinking&gt;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1955105"/>
            <a:ext cx="5252906" cy="4142581"/>
          </a:xfrm>
          <a:prstGeom prst="roundRect">
            <a:avLst>
              <a:gd name="adj" fmla="val 184"/>
            </a:avLst>
          </a:prstGeom>
          <a:solidFill>
            <a:srgbClr val="F9D2D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200" y="2101751"/>
            <a:ext cx="185931" cy="14872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144857" y="2085876"/>
            <a:ext cx="4620799" cy="3869333"/>
          </a:xfrm>
          <a:prstGeom prst="roundRect">
            <a:avLst>
              <a:gd name="adj" fmla="val 197"/>
            </a:avLst>
          </a:prstGeom>
          <a:solidFill>
            <a:srgbClr val="F2F2F2"/>
          </a:solidFill>
          <a:ln/>
        </p:spPr>
      </p:sp>
      <p:sp>
        <p:nvSpPr>
          <p:cNvPr id="9" name="Text 6"/>
          <p:cNvSpPr/>
          <p:nvPr/>
        </p:nvSpPr>
        <p:spPr>
          <a:xfrm>
            <a:off x="1323347" y="2234605"/>
            <a:ext cx="4263819" cy="3571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&lt;document&gt;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Paciente: 45M, dolor abdominal derecho, fiebre 38.5°C, náuseas 12h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&lt;/document&gt;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&lt;thinking&gt;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Necesito analizar este caso para: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Síntomas principales y su duración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Diagnósticos diferenciales posibles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Nivel de urgencia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Próximos pasos recomendados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Déjame trabajar cada sección...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&lt;/thinking&gt;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Responde en JSON with: diagnosis, urgency, next_steps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283664" y="1617365"/>
            <a:ext cx="5252906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¿Por qué importa?</a:t>
            </a:r>
            <a:endParaRPr lang="en-US" sz="14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3664" y="1955105"/>
            <a:ext cx="297550" cy="29755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83664" y="2369741"/>
            <a:ext cx="5252906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Debugging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283664" y="2695773"/>
            <a:ext cx="5252906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 exactamente dónde falló el razonamiento</a:t>
            </a:r>
            <a:endParaRPr lang="en-US" sz="11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3664" y="3077071"/>
            <a:ext cx="297550" cy="29755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83664" y="3491706"/>
            <a:ext cx="5252906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Calidad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6283664" y="3817739"/>
            <a:ext cx="5252906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Fuerza al modelo a pensar antes de responder</a:t>
            </a:r>
            <a:endParaRPr lang="en-US" sz="11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83664" y="4199037"/>
            <a:ext cx="297550" cy="29755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283664" y="4613672"/>
            <a:ext cx="5252906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Transparencia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6283664" y="4939705"/>
            <a:ext cx="5252906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clientes pueden auditar las decisiones de IA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283664" y="5239048"/>
            <a:ext cx="5252906" cy="630634"/>
          </a:xfrm>
          <a:prstGeom prst="roundRect">
            <a:avLst>
              <a:gd name="adj" fmla="val 1208"/>
            </a:avLst>
          </a:prstGeom>
          <a:solidFill>
            <a:srgbClr val="F9D2D6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2389" y="5385693"/>
            <a:ext cx="185931" cy="14872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767046" y="5360392"/>
            <a:ext cx="4620799" cy="387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bloque &lt;thinking&gt; se puede guardar como trazabilidad para cumplimiento normativo (compliance) en aplicaciones clínicas.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70533"/>
            <a:ext cx="2961110" cy="287139"/>
          </a:xfrm>
          <a:prstGeom prst="roundRect">
            <a:avLst>
              <a:gd name="adj" fmla="val 2654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827187"/>
            <a:ext cx="334388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TÉCNICAS AVANZADAS DE PROMPTING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11809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Tree of Thought (ToT)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086769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Más allá del CoT lineal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2533253"/>
            <a:ext cx="5203794" cy="816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 extiende CoT explorando </a:t>
            </a:r>
            <a:pPr algn="l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múltiples caminos de razonamiento en paralelo</a:t>
            </a:r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como ramas de un árbol de decisión.</a:t>
            </a:r>
            <a:endParaRPr lang="en-US" sz="14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477" y="3519785"/>
            <a:ext cx="4039690" cy="23976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055160" y="5264541"/>
            <a:ext cx="1004172" cy="386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Seleccionar camino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789629" y="5264541"/>
            <a:ext cx="1004171" cy="386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Evaluar ramas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503463" y="5264541"/>
            <a:ext cx="1004172" cy="386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Generar ramas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332776" y="2086769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Analogía médica</a:t>
            </a:r>
            <a:endParaRPr lang="en-US" sz="1850" dirty="0"/>
          </a:p>
        </p:txBody>
      </p:sp>
      <p:sp>
        <p:nvSpPr>
          <p:cNvPr id="12" name="Shape 9"/>
          <p:cNvSpPr/>
          <p:nvPr/>
        </p:nvSpPr>
        <p:spPr>
          <a:xfrm>
            <a:off x="6332776" y="2552105"/>
            <a:ext cx="5203794" cy="1455142"/>
          </a:xfrm>
          <a:prstGeom prst="roundRect">
            <a:avLst>
              <a:gd name="adj" fmla="val 524"/>
            </a:avLst>
          </a:prstGeom>
          <a:solidFill>
            <a:srgbClr val="F9D2D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783" y="2781995"/>
            <a:ext cx="236234" cy="1890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47024" y="2735362"/>
            <a:ext cx="4400539" cy="1088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 es similar al </a:t>
            </a:r>
            <a:pPr algn="l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diagnóstico diferencial clínico</a:t>
            </a:r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considerar múltiples hipótesis, evaluar la evidencia disponible para cada una y descartar las menos probables.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332776" y="417730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Limitaciones</a:t>
            </a:r>
            <a:endParaRPr lang="en-US" sz="1850" dirty="0"/>
          </a:p>
        </p:txBody>
      </p:sp>
      <p:sp>
        <p:nvSpPr>
          <p:cNvPr id="16" name="Text 12"/>
          <p:cNvSpPr/>
          <p:nvPr/>
        </p:nvSpPr>
        <p:spPr>
          <a:xfrm>
            <a:off x="6332776" y="4623792"/>
            <a:ext cx="5203794" cy="1247279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20000"/>
              </a:lnSpc>
              <a:buSzPct val="100000"/>
              <a:buChar char="•"/>
            </a:pPr>
            <a:r>
              <a:rPr lang="en-US" sz="14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Mayor coste computacional</a:t>
            </a:r>
            <a:pPr algn="l" marL="294640" indent="-294640">
              <a:lnSpc>
                <a:spcPct val="120000"/>
              </a:lnSpc>
              <a:buSzPct val="100000"/>
              <a:buChar char="•"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que CoT lineal.</a:t>
            </a:r>
            <a:endParaRPr lang="en-US" sz="1450" dirty="0"/>
          </a:p>
          <a:p>
            <a:pPr algn="l" marL="294640" indent="-294640">
              <a:lnSpc>
                <a:spcPct val="120000"/>
              </a:lnSpc>
              <a:buSzPct val="100000"/>
              <a:buChar char="•"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Mayor complejidad de implementación.</a:t>
            </a:r>
            <a:endParaRPr lang="en-US" sz="1450" dirty="0"/>
          </a:p>
          <a:p>
            <a:pPr algn="l" marL="294640" indent="-294640">
              <a:lnSpc>
                <a:spcPct val="120000"/>
              </a:lnSpc>
              <a:buSzPct val="100000"/>
              <a:buChar char="•"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Útil para problemas con múltiples soluciones posibles.</a:t>
            </a:r>
            <a:endParaRPr lang="en-US" sz="1450" dirty="0"/>
          </a:p>
          <a:p>
            <a:pPr algn="l" marL="294640" indent="-294640">
              <a:lnSpc>
                <a:spcPct val="120000"/>
              </a:lnSpc>
              <a:buSzPct val="100000"/>
              <a:buChar char="•"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siempre justifica el overhead en tareas simples.</a:t>
            </a:r>
            <a:endParaRPr lang="en-US" sz="14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74191"/>
            <a:ext cx="2294079" cy="222349"/>
          </a:xfrm>
          <a:prstGeom prst="roundRect">
            <a:avLst>
              <a:gd name="adj" fmla="val 3427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49281" y="718046"/>
            <a:ext cx="2728051" cy="134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TÉCNICAS AVANZADAS DE PROMPTING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932755"/>
            <a:ext cx="10868745" cy="457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Tree of Thought (ToT): Ejemplo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61475" y="1616869"/>
            <a:ext cx="5255883" cy="228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¿Cómo funciona?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61475" y="1936254"/>
            <a:ext cx="5255883" cy="568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 extiende CoT explorando múltiples caminos de razonamiento en paralelo, como ramas de un árbol. El modelo evalúa cada rama y selecciona la más prometedora.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61475" y="2595761"/>
            <a:ext cx="5255883" cy="228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Razonamiento del modelo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926457"/>
            <a:ext cx="439131" cy="9525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91290" y="3072805"/>
            <a:ext cx="4726068" cy="228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Rama A: TEP (Tromboembolismo Pulmonar)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91290" y="3392190"/>
            <a:ext cx="4726068" cy="37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Viaje largo, disnea, taquicardia → Score Wells: 6 (alta probabilidad). Rama seleccionada.</a:t>
            </a:r>
            <a:endParaRPr lang="en-US" sz="11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040" y="4008438"/>
            <a:ext cx="439131" cy="9525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0855" y="4154785"/>
            <a:ext cx="4506502" cy="228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Rama B: Neumotórax espontáneo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410855" y="4474170"/>
            <a:ext cx="4506502" cy="37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Posible, pero sin trauma ni factores de riesgo claros. Probabilidad media-baja.</a:t>
            </a:r>
            <a:endParaRPr lang="en-US" sz="11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606" y="5090418"/>
            <a:ext cx="439131" cy="9525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30421" y="5236766"/>
            <a:ext cx="4286937" cy="228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Rama C: SCA (Síndrome Coronario Agudo)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630421" y="5556151"/>
            <a:ext cx="4286937" cy="37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Dolor torácico compatible, pero perfil joven sin factores cardiovasculares. Descartado.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6280687" y="1616869"/>
            <a:ext cx="5255883" cy="228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Ejemplo: Caso Clínico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280687" y="1947565"/>
            <a:ext cx="5255883" cy="3836591"/>
          </a:xfrm>
          <a:prstGeom prst="roundRect">
            <a:avLst>
              <a:gd name="adj" fmla="val 199"/>
            </a:avLst>
          </a:prstGeom>
          <a:solidFill>
            <a:srgbClr val="F9D2D6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7031" y="2086372"/>
            <a:ext cx="182955" cy="14634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756330" y="2074763"/>
            <a:ext cx="4633896" cy="3570883"/>
          </a:xfrm>
          <a:prstGeom prst="roundRect">
            <a:avLst>
              <a:gd name="adj" fmla="val 213"/>
            </a:avLst>
          </a:prstGeom>
          <a:solidFill>
            <a:srgbClr val="F2F2F2"/>
          </a:solidFill>
          <a:ln/>
        </p:spPr>
      </p:sp>
      <p:sp>
        <p:nvSpPr>
          <p:cNvPr id="21" name="Text 15"/>
          <p:cNvSpPr/>
          <p:nvPr/>
        </p:nvSpPr>
        <p:spPr>
          <a:xfrm>
            <a:off x="6931943" y="2221111"/>
            <a:ext cx="4282670" cy="3278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005CC5"/>
                </a:solidFill>
                <a:latin typeface="Consolas Bold" pitchFamily="34" charset="0"/>
                <a:ea typeface="Consolas Bold" pitchFamily="34" charset="-122"/>
                <a:cs typeface="Consolas Bold" pitchFamily="34" charset="-120"/>
              </a:rPr>
              <a:t># CASO CLÍNICO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005CC5"/>
                </a:solidFill>
                <a:latin typeface="Consolas Bold" pitchFamily="34" charset="0"/>
                <a:ea typeface="Consolas Bold" pitchFamily="34" charset="-122"/>
                <a:cs typeface="Consolas Bold" pitchFamily="34" charset="-120"/>
              </a:rPr>
              <a:t>Paciente: 35F, dolor torácico agudo, disnea,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005CC5"/>
                </a:solidFill>
                <a:latin typeface="Consolas Bold" pitchFamily="34" charset="0"/>
                <a:ea typeface="Consolas Bold" pitchFamily="34" charset="-122"/>
                <a:cs typeface="Consolas Bold" pitchFamily="34" charset="-120"/>
              </a:rPr>
              <a:t>taquicardia 110bpm, viaje largo en avión hace 48h.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005CC5"/>
                </a:solidFill>
                <a:latin typeface="Consolas Bold" pitchFamily="34" charset="0"/>
                <a:ea typeface="Consolas Bold" pitchFamily="34" charset="-122"/>
                <a:cs typeface="Consolas Bold" pitchFamily="34" charset="-120"/>
              </a:rPr>
              <a:t># INSTRUCCIÓN (Tree of Thought)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005CC5"/>
                </a:solidFill>
                <a:latin typeface="Consolas Bold" pitchFamily="34" charset="0"/>
                <a:ea typeface="Consolas Bold" pitchFamily="34" charset="-122"/>
                <a:cs typeface="Consolas Bold" pitchFamily="34" charset="-120"/>
              </a:rPr>
              <a:t>1. Genera 3 hipótesis diagnósticas posibles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005CC5"/>
                </a:solidFill>
                <a:latin typeface="Consolas Bold" pitchFamily="34" charset="0"/>
                <a:ea typeface="Consolas Bold" pitchFamily="34" charset="-122"/>
                <a:cs typeface="Consolas Bold" pitchFamily="34" charset="-120"/>
              </a:rPr>
              <a:t>2. Evalúa la evidencia a favor y en contra de cada una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005CC5"/>
                </a:solidFill>
                <a:latin typeface="Consolas Bold" pitchFamily="34" charset="0"/>
                <a:ea typeface="Consolas Bold" pitchFamily="34" charset="-122"/>
                <a:cs typeface="Consolas Bold" pitchFamily="34" charset="-120"/>
              </a:rPr>
              <a:t>3. Selecciona el diagnóstico más probable con justificación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005CC5"/>
                </a:solidFill>
                <a:latin typeface="Consolas Bold" pitchFamily="34" charset="0"/>
                <a:ea typeface="Consolas Bold" pitchFamily="34" charset="-122"/>
                <a:cs typeface="Consolas Bold" pitchFamily="34" charset="-120"/>
              </a:rPr>
              <a:t># RESULTADO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005CC5"/>
                </a:solidFill>
                <a:latin typeface="Consolas Bold" pitchFamily="34" charset="0"/>
                <a:ea typeface="Consolas Bold" pitchFamily="34" charset="-122"/>
                <a:cs typeface="Consolas Bold" pitchFamily="34" charset="-120"/>
              </a:rPr>
              <a:t>→ Diagnóstico prioritario: TEP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005CC5"/>
                </a:solidFill>
                <a:latin typeface="Consolas Bold" pitchFamily="34" charset="0"/>
                <a:ea typeface="Consolas Bold" pitchFamily="34" charset="-122"/>
                <a:cs typeface="Consolas Bold" pitchFamily="34" charset="-120"/>
              </a:rPr>
              <a:t>→ Recomendación: angioTC pulmonar urgente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005CC5"/>
                </a:solidFill>
                <a:latin typeface="Consolas Bold" pitchFamily="34" charset="0"/>
                <a:ea typeface="Consolas Bold" pitchFamily="34" charset="-122"/>
                <a:cs typeface="Consolas Bold" pitchFamily="34" charset="-120"/>
              </a:rPr>
              <a:t>→ Transparencia: razonamiento auditable para decisión clínica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005CC5"/>
                </a:solidFill>
                <a:latin typeface="Consolas Bold" pitchFamily="34" charset="0"/>
                <a:ea typeface="Consolas Bold" pitchFamily="34" charset="-122"/>
                <a:cs typeface="Consolas Bold" pitchFamily="34" charset="-120"/>
              </a:rPr>
              <a:t>          </a:t>
            </a:r>
            <a:endParaRPr lang="en-US" sz="11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61591"/>
            <a:ext cx="1955751" cy="189508"/>
          </a:xfrm>
          <a:prstGeom prst="roundRect">
            <a:avLst>
              <a:gd name="adj" fmla="val 4021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36284" y="698996"/>
            <a:ext cx="2415718" cy="114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TÉCNICAS AVANZADAS DE PROMPTING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877391"/>
            <a:ext cx="10868745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Prompt Chaining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661475" y="1432024"/>
            <a:ext cx="5282175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Concepto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1475" y="1692870"/>
            <a:ext cx="5282175" cy="457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Dividir una tarea compleja en una </a:t>
            </a:r>
            <a:pPr algn="l"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secuencia de prompts simples</a:t>
            </a:r>
            <a:pPr algn="l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donde el output de un paso alimenta al siguiente. Cada paso puede ser más preciso al enfocarse en una sola sub-tarea. </a:t>
            </a:r>
            <a:pPr algn="l" indent="0" marL="0">
              <a:lnSpc>
                <a:spcPct val="102000"/>
              </a:lnSpc>
              <a:buNone/>
            </a:pPr>
            <a:r>
              <a:rPr lang="en-US" sz="950" i="1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 decir, se ejecutan varias llamadas en vez de una lo cual incre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61475" y="2224484"/>
            <a:ext cx="5282175" cy="675481"/>
          </a:xfrm>
          <a:prstGeom prst="roundRect">
            <a:avLst>
              <a:gd name="adj" fmla="val 1128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2540" y="2355552"/>
            <a:ext cx="5020046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Debugging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92540" y="2616398"/>
            <a:ext cx="5020046" cy="152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identifica exactamente en qué paso ocurre el fallo.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61475" y="2965847"/>
            <a:ext cx="5282175" cy="675481"/>
          </a:xfrm>
          <a:prstGeom prst="roundRect">
            <a:avLst>
              <a:gd name="adj" fmla="val 1128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2540" y="3096915"/>
            <a:ext cx="5020046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Resiliencia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92540" y="3357761"/>
            <a:ext cx="5020046" cy="152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Pasos fallidos se reintentan de forma independiente.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61475" y="3707209"/>
            <a:ext cx="5282175" cy="675481"/>
          </a:xfrm>
          <a:prstGeom prst="roundRect">
            <a:avLst>
              <a:gd name="adj" fmla="val 1128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2540" y="3838277"/>
            <a:ext cx="5020046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Optimización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92540" y="4099123"/>
            <a:ext cx="5020046" cy="152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Cada prompt se optimiza para su tarea específica.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61475" y="4448572"/>
            <a:ext cx="5282175" cy="675481"/>
          </a:xfrm>
          <a:prstGeom prst="roundRect">
            <a:avLst>
              <a:gd name="adj" fmla="val 1128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2540" y="4579640"/>
            <a:ext cx="5020046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Escalabilidad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92540" y="4840486"/>
            <a:ext cx="5020046" cy="152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Escala a pipelines de producción complejos.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54395" y="1432024"/>
            <a:ext cx="5282175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Ejemplo: Pipeline médico de triage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79209" y="1888232"/>
            <a:ext cx="124715" cy="561479"/>
          </a:xfrm>
          <a:prstGeom prst="roundRect">
            <a:avLst>
              <a:gd name="adj" fmla="val 6110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54395" y="1806377"/>
            <a:ext cx="374343" cy="374352"/>
          </a:xfrm>
          <a:prstGeom prst="ellipse">
            <a:avLst/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47956" y="1900039"/>
            <a:ext cx="187122" cy="18712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694618" y="1825823"/>
            <a:ext cx="4841952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Paso 1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694618" y="2086670"/>
            <a:ext cx="4841952" cy="152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Ticket / consulta recibida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566331" y="2702818"/>
            <a:ext cx="124715" cy="561479"/>
          </a:xfrm>
          <a:prstGeom prst="roundRect">
            <a:avLst>
              <a:gd name="adj" fmla="val 6110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41517" y="2620963"/>
            <a:ext cx="374343" cy="374352"/>
          </a:xfrm>
          <a:prstGeom prst="ellipse">
            <a:avLst/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35078" y="2714625"/>
            <a:ext cx="187122" cy="187127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6881740" y="2640409"/>
            <a:ext cx="4654830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Paso 2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6881740" y="2901255"/>
            <a:ext cx="4654830" cy="152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Clasificar urgencia: alta / media / baja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6753552" y="3517404"/>
            <a:ext cx="124715" cy="561479"/>
          </a:xfrm>
          <a:prstGeom prst="roundRect">
            <a:avLst>
              <a:gd name="adj" fmla="val 6110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6628738" y="3435548"/>
            <a:ext cx="374343" cy="374352"/>
          </a:xfrm>
          <a:prstGeom prst="ellipse">
            <a:avLst/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22299" y="3529211"/>
            <a:ext cx="187122" cy="187127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7068961" y="3454995"/>
            <a:ext cx="4467609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Paso 3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7068961" y="3715841"/>
            <a:ext cx="4467609" cy="152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Extraer detalles clínicos relevantes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6940674" y="4331990"/>
            <a:ext cx="124715" cy="561479"/>
          </a:xfrm>
          <a:prstGeom prst="roundRect">
            <a:avLst>
              <a:gd name="adj" fmla="val 6110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6815860" y="4250134"/>
            <a:ext cx="374343" cy="374352"/>
          </a:xfrm>
          <a:prstGeom prst="ellipse">
            <a:avLst/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09421" y="4343797"/>
            <a:ext cx="187122" cy="187127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7256083" y="4269581"/>
            <a:ext cx="4280487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Paso 4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7256083" y="4530427"/>
            <a:ext cx="4280487" cy="152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Buscar en base de conocimiento (RAG)</a:t>
            </a:r>
            <a:endParaRPr lang="en-US" sz="950" dirty="0"/>
          </a:p>
        </p:txBody>
      </p:sp>
      <p:sp>
        <p:nvSpPr>
          <p:cNvPr id="40" name="Shape 34"/>
          <p:cNvSpPr/>
          <p:nvPr/>
        </p:nvSpPr>
        <p:spPr>
          <a:xfrm>
            <a:off x="6753552" y="5146576"/>
            <a:ext cx="124715" cy="561479"/>
          </a:xfrm>
          <a:prstGeom prst="roundRect">
            <a:avLst>
              <a:gd name="adj" fmla="val 6110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6628738" y="5064720"/>
            <a:ext cx="374343" cy="374352"/>
          </a:xfrm>
          <a:prstGeom prst="ellipse">
            <a:avLst/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22299" y="5158383"/>
            <a:ext cx="187122" cy="187127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7068961" y="5084167"/>
            <a:ext cx="4467609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Paso 5</a:t>
            </a:r>
            <a:endParaRPr lang="en-US" sz="1200" dirty="0"/>
          </a:p>
        </p:txBody>
      </p:sp>
      <p:sp>
        <p:nvSpPr>
          <p:cNvPr id="44" name="Text 37"/>
          <p:cNvSpPr/>
          <p:nvPr/>
        </p:nvSpPr>
        <p:spPr>
          <a:xfrm>
            <a:off x="7068961" y="5345013"/>
            <a:ext cx="4467609" cy="152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Generar respuesta estructurada</a:t>
            </a:r>
            <a:endParaRPr lang="en-US" sz="950" dirty="0"/>
          </a:p>
        </p:txBody>
      </p:sp>
      <p:sp>
        <p:nvSpPr>
          <p:cNvPr id="45" name="Shape 38"/>
          <p:cNvSpPr/>
          <p:nvPr/>
        </p:nvSpPr>
        <p:spPr>
          <a:xfrm>
            <a:off x="661475" y="5856387"/>
            <a:ext cx="10868745" cy="339923"/>
          </a:xfrm>
          <a:prstGeom prst="roundRect">
            <a:avLst>
              <a:gd name="adj" fmla="val 2242"/>
            </a:avLst>
          </a:prstGeom>
          <a:solidFill>
            <a:srgbClr val="F9D2D6"/>
          </a:solidFill>
          <a:ln/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6190" y="5953423"/>
            <a:ext cx="155968" cy="124718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1066873" y="5953423"/>
            <a:ext cx="10948218" cy="152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Prompt Chaining convierte tareas imposibles en secuencias manejables. Es la base de los agentes de IA modernos.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92249"/>
            <a:ext cx="2218377" cy="215205"/>
          </a:xfrm>
          <a:prstGeom prst="roundRect">
            <a:avLst>
              <a:gd name="adj" fmla="val 3541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46404" y="734715"/>
            <a:ext cx="2658103" cy="13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TÉCNICAS AVANZADAS DE PROMPTING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941388"/>
            <a:ext cx="10868745" cy="442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Prompt Chaining: Ejemplo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661475" y="1595735"/>
            <a:ext cx="5261736" cy="221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¿Cómo funciona?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61475" y="1901825"/>
            <a:ext cx="5261736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Una tarea compleja se divide en pasos simples y secuenciales. El output de cada paso alimenta al siguiente.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1475" y="2348805"/>
            <a:ext cx="5261736" cy="221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Ventajas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61475" y="2654895"/>
            <a:ext cx="5261736" cy="813296"/>
          </a:xfrm>
          <a:prstGeom prst="rect">
            <a:avLst/>
          </a:prstGeom>
          <a:noFill/>
          <a:ln/>
        </p:spPr>
        <p:txBody>
          <a:bodyPr wrap="square" lIns="0" tIns="56632" rIns="0" bIns="0" rtlCol="0" anchor="t">
            <a:normAutofit/>
          </a:bodyPr>
          <a:lstStyle/>
          <a:p>
            <a:pPr algn="l" marL="223520" indent="-223520">
              <a:lnSpc>
                <a:spcPct val="107000"/>
              </a:lnSpc>
              <a:buSzPct val="100000"/>
              <a:buChar char="•"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Cada paso es simple → menos errores</a:t>
            </a:r>
            <a:endParaRPr lang="en-US" sz="1100" dirty="0"/>
          </a:p>
          <a:p>
            <a:pPr algn="l" marL="223520" indent="-223520">
              <a:lnSpc>
                <a:spcPct val="107000"/>
              </a:lnSpc>
              <a:buSzPct val="100000"/>
              <a:buChar char="•"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Pasos fallidos pueden reintentarse de forma independiente</a:t>
            </a:r>
            <a:endParaRPr lang="en-US" sz="1100" dirty="0"/>
          </a:p>
          <a:p>
            <a:pPr algn="l" marL="223520" indent="-223520">
              <a:lnSpc>
                <a:spcPct val="107000"/>
              </a:lnSpc>
              <a:buSzPct val="100000"/>
              <a:buChar char="•"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Más barato: solo llamar pasos costosos cuando se necesitan</a:t>
            </a:r>
            <a:endParaRPr lang="en-US" sz="1100" dirty="0"/>
          </a:p>
          <a:p>
            <a:pPr algn="l" marL="223520" indent="-223520">
              <a:lnSpc>
                <a:spcPct val="107000"/>
              </a:lnSpc>
              <a:buSzPct val="100000"/>
              <a:buChar char="•"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Más fácil de evaluar y mejorar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1475" y="3553023"/>
            <a:ext cx="5261736" cy="221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Trade-offs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61475" y="3859113"/>
            <a:ext cx="5261736" cy="602555"/>
          </a:xfrm>
          <a:prstGeom prst="rect">
            <a:avLst/>
          </a:prstGeom>
          <a:noFill/>
          <a:ln/>
        </p:spPr>
        <p:txBody>
          <a:bodyPr wrap="square" lIns="0" tIns="56632" rIns="0" bIns="0" rtlCol="0" anchor="t">
            <a:normAutofit/>
          </a:bodyPr>
          <a:lstStyle/>
          <a:p>
            <a:pPr algn="l" marL="223520" indent="-223520">
              <a:lnSpc>
                <a:spcPct val="107000"/>
              </a:lnSpc>
              <a:buSzPct val="100000"/>
              <a:buChar char="•"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Mayor latencia (llamadas secuenciales)</a:t>
            </a:r>
            <a:endParaRPr lang="en-US" sz="1100" dirty="0"/>
          </a:p>
          <a:p>
            <a:pPr algn="l" marL="223520" indent="-223520">
              <a:lnSpc>
                <a:spcPct val="107000"/>
              </a:lnSpc>
              <a:buSzPct val="100000"/>
              <a:buChar char="•"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Código más complejo</a:t>
            </a:r>
            <a:endParaRPr lang="en-US" sz="1100" dirty="0"/>
          </a:p>
          <a:p>
            <a:pPr algn="l" marL="223520" indent="-223520">
              <a:lnSpc>
                <a:spcPct val="107000"/>
              </a:lnSpc>
              <a:buSzPct val="100000"/>
              <a:buChar char="•"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Múltiples llamadas al LLM (pero frecuentemente más barato en total)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74834" y="1595735"/>
            <a:ext cx="5261736" cy="221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Ejemplo: Pipeline Clínico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74834" y="1912342"/>
            <a:ext cx="5261736" cy="4158059"/>
          </a:xfrm>
          <a:prstGeom prst="roundRect">
            <a:avLst>
              <a:gd name="adj" fmla="val 183"/>
            </a:avLst>
          </a:prstGeom>
          <a:solidFill>
            <a:srgbClr val="F9D2D6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6316" y="2048371"/>
            <a:ext cx="176903" cy="141486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734701" y="2032496"/>
            <a:ext cx="4660387" cy="3907234"/>
          </a:xfrm>
          <a:prstGeom prst="roundRect">
            <a:avLst>
              <a:gd name="adj" fmla="val 195"/>
            </a:avLst>
          </a:prstGeom>
          <a:solidFill>
            <a:srgbClr val="F2F2F2"/>
          </a:solidFill>
          <a:ln/>
        </p:spPr>
      </p:sp>
      <p:sp>
        <p:nvSpPr>
          <p:cNvPr id="15" name="Text 12"/>
          <p:cNvSpPr/>
          <p:nvPr/>
        </p:nvSpPr>
        <p:spPr>
          <a:xfrm>
            <a:off x="6904559" y="2173982"/>
            <a:ext cx="4320670" cy="3624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PASO 1 — Clasificar urgencia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Mensaje del paciente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Output: ALTA / MEDIA / BAJA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PASO 2 — Extraer detalles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Mensaje + clasificación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Output: síntomas, duración, antecedentes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PASO 3 — Buscar en KB (RAG)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Detalles extraídos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Output: protocolos clínicos relevantes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PASO 4 — Generar respuesta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Todo lo anterior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Output: respuesta estructurada para el médico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66353"/>
            <a:ext cx="2255186" cy="218777"/>
          </a:xfrm>
          <a:prstGeom prst="roundRect">
            <a:avLst>
              <a:gd name="adj" fmla="val 3483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47793" y="709513"/>
            <a:ext cx="2692134" cy="132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TÉCNICAS AVANZADAS DE PROMPTING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920155"/>
            <a:ext cx="10868745" cy="449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Técnicas Avanzadas de Prompting: Pros y Contras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57794" y="1501676"/>
            <a:ext cx="5466122" cy="4689872"/>
          </a:xfrm>
          <a:prstGeom prst="roundRect">
            <a:avLst>
              <a:gd name="adj" fmla="val 460"/>
            </a:avLst>
          </a:prstGeom>
          <a:solidFill>
            <a:srgbClr val="DA1B2E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01757" y="1589385"/>
            <a:ext cx="5178196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Pros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1757" y="1912938"/>
            <a:ext cx="287926" cy="28793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9316" y="1962348"/>
            <a:ext cx="4780637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Chain of Thought (CoT)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99316" y="2274987"/>
            <a:ext cx="4780637" cy="370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Razonamiento auditable; mejora precisión en diagnóstico; errores detectables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1757" y="2821087"/>
            <a:ext cx="287926" cy="28793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9316" y="2870498"/>
            <a:ext cx="4780637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Self-Consistency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099316" y="3183136"/>
            <a:ext cx="4780637" cy="370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 errores por no-determinismo; aumenta confianza en decisiones críticas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1757" y="3729236"/>
            <a:ext cx="287926" cy="28793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9316" y="3778647"/>
            <a:ext cx="4780637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Extended Thinking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099316" y="4091285"/>
            <a:ext cx="4780637" cy="370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Razonamiento visible y auditable; ideal para tareas críticas; facilita trazabilidad</a:t>
            </a:r>
            <a:endParaRPr lang="en-US" sz="11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1757" y="4637385"/>
            <a:ext cx="287926" cy="28793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99316" y="4686796"/>
            <a:ext cx="4780637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Tree of Thought (ToT)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099316" y="4999434"/>
            <a:ext cx="4780637" cy="370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Explora múltiples caminos; mejor que Chain of Thought (CoT) en planificación</a:t>
            </a:r>
            <a:endParaRPr lang="en-US" sz="11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1757" y="5545534"/>
            <a:ext cx="287926" cy="28793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99316" y="5594945"/>
            <a:ext cx="4780637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Prompt Chaining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1099316" y="5907584"/>
            <a:ext cx="4780637" cy="185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Pasos simples y reintentables; más fácil de evaluar y mejorar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6277810" y="1589385"/>
            <a:ext cx="5258760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Cons</a:t>
            </a:r>
            <a:endParaRPr lang="en-US" sz="14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77810" y="1912938"/>
            <a:ext cx="287926" cy="287933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675370" y="1962348"/>
            <a:ext cx="4861200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Chain of Thought (CoT)</a:t>
            </a:r>
            <a:endParaRPr lang="en-US" sz="1400" dirty="0"/>
          </a:p>
        </p:txBody>
      </p:sp>
      <p:sp>
        <p:nvSpPr>
          <p:cNvPr id="25" name="Text 17"/>
          <p:cNvSpPr/>
          <p:nvPr/>
        </p:nvSpPr>
        <p:spPr>
          <a:xfrm>
            <a:off x="6675370" y="2274987"/>
            <a:ext cx="4861200" cy="370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Mayor latencia y costo; poco útil para tareas simples; no garantiza corrección</a:t>
            </a:r>
            <a:endParaRPr lang="en-US" sz="11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277810" y="2821087"/>
            <a:ext cx="287926" cy="287933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675370" y="2870498"/>
            <a:ext cx="4861200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Self-Consistency</a:t>
            </a:r>
            <a:endParaRPr lang="en-US" sz="1400" dirty="0"/>
          </a:p>
        </p:txBody>
      </p:sp>
      <p:sp>
        <p:nvSpPr>
          <p:cNvPr id="28" name="Text 19"/>
          <p:cNvSpPr/>
          <p:nvPr/>
        </p:nvSpPr>
        <p:spPr>
          <a:xfrm>
            <a:off x="6675370" y="3183136"/>
            <a:ext cx="4861200" cy="185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Multiplica el costo (3-5x llamadas); mayor latencia</a:t>
            </a:r>
            <a:endParaRPr lang="en-US" sz="11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277810" y="3543895"/>
            <a:ext cx="287926" cy="287933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6675370" y="3593306"/>
            <a:ext cx="4861200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Extended Thinking</a:t>
            </a:r>
            <a:endParaRPr lang="en-US" sz="1400" dirty="0"/>
          </a:p>
        </p:txBody>
      </p:sp>
      <p:sp>
        <p:nvSpPr>
          <p:cNvPr id="31" name="Text 21"/>
          <p:cNvSpPr/>
          <p:nvPr/>
        </p:nvSpPr>
        <p:spPr>
          <a:xfrm>
            <a:off x="6675370" y="3905945"/>
            <a:ext cx="4861200" cy="185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Solo en modelos Claude; mayor costo por tokens de thinking</a:t>
            </a:r>
            <a:endParaRPr lang="en-US" sz="11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277810" y="4266704"/>
            <a:ext cx="287926" cy="287933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6675370" y="4316115"/>
            <a:ext cx="4861200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Tree of Thought (ToT)</a:t>
            </a:r>
            <a:endParaRPr lang="en-US" sz="1400" dirty="0"/>
          </a:p>
        </p:txBody>
      </p:sp>
      <p:sp>
        <p:nvSpPr>
          <p:cNvPr id="34" name="Text 23"/>
          <p:cNvSpPr/>
          <p:nvPr/>
        </p:nvSpPr>
        <p:spPr>
          <a:xfrm>
            <a:off x="6675370" y="4628753"/>
            <a:ext cx="4861200" cy="185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Muy costoso; complejo de implementar; difícil de controlar</a:t>
            </a:r>
            <a:endParaRPr lang="en-US" sz="110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277810" y="4989513"/>
            <a:ext cx="287926" cy="287933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6675370" y="5038923"/>
            <a:ext cx="4861200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Prompt Chaining</a:t>
            </a:r>
            <a:endParaRPr lang="en-US" sz="1400" dirty="0"/>
          </a:p>
        </p:txBody>
      </p:sp>
      <p:sp>
        <p:nvSpPr>
          <p:cNvPr id="37" name="Text 25"/>
          <p:cNvSpPr/>
          <p:nvPr/>
        </p:nvSpPr>
        <p:spPr>
          <a:xfrm>
            <a:off x="6675370" y="5351562"/>
            <a:ext cx="4861200" cy="185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Mayor latencia total; código más complejo; múltiples llamadas al LLM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75010"/>
            <a:ext cx="2405002" cy="233263"/>
          </a:xfrm>
          <a:prstGeom prst="roundRect">
            <a:avLst>
              <a:gd name="adj" fmla="val 3267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53548" y="921048"/>
            <a:ext cx="2830442" cy="141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TÉCNICAS AVANZADAS DE PROMPTING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1148159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¿Por qué funcionan estas técnicas?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50849" y="1777802"/>
            <a:ext cx="5468305" cy="4205188"/>
          </a:xfrm>
          <a:prstGeom prst="roundRect">
            <a:avLst>
              <a:gd name="adj" fmla="val 548"/>
            </a:avLst>
          </a:prstGeom>
          <a:solidFill>
            <a:srgbClr val="DA1B2E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04336" y="1867595"/>
            <a:ext cx="5161329" cy="596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El LLM no 'piensa': predice tokens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04336" y="2553990"/>
            <a:ext cx="5161329" cy="845741"/>
          </a:xfrm>
          <a:prstGeom prst="rect">
            <a:avLst/>
          </a:prstGeom>
          <a:noFill/>
          <a:ln/>
        </p:spPr>
        <p:txBody>
          <a:bodyPr wrap="square" lIns="0" tIns="61431" rIns="0" bIns="0" rtlCol="0" anchor="t">
            <a:normAutofit/>
          </a:bodyPr>
          <a:lstStyle/>
          <a:p>
            <a:pPr algn="l" marL="243840" indent="-2438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LLM no razona internamente antes de responder. </a:t>
            </a:r>
            <a:endParaRPr lang="en-US" sz="1200" dirty="0"/>
          </a:p>
          <a:p>
            <a:pPr algn="l" marL="243840" indent="-24384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 el texto token a token, de izquierda a derecha, de forma autoregresiva. Cada token nuevo depende únicamente de los tokens anteriores en el contexto.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04336" y="3489523"/>
            <a:ext cx="5161329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hay un 'motor de razonamiento' oculto. Lo que ves en la respuesta ES el razonamiento.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336" y="4007148"/>
            <a:ext cx="5161329" cy="864295"/>
          </a:xfrm>
          <a:prstGeom prst="roundRect">
            <a:avLst>
              <a:gd name="adj" fmla="val 882"/>
            </a:avLst>
          </a:prstGeom>
          <a:solidFill>
            <a:srgbClr val="710E18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824" y="4156968"/>
            <a:ext cx="191884" cy="15349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03196" y="4135239"/>
            <a:ext cx="4508983" cy="608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Analogía: es como pedirle a alguien que resuelva un problema matemático en su cabeza vs. que lo escriba paso a paso en papel. El papel no lo hace más inteligente, pero sí más preciso.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89518" y="1877616"/>
            <a:ext cx="5247052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Por qué Chain of Thought (CoT) y Tree of Thought (ToT) mejoran los resultados</a:t>
            </a:r>
            <a:endParaRPr lang="en-US" sz="15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9518" y="2469654"/>
            <a:ext cx="307074" cy="30708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721307" y="2522438"/>
            <a:ext cx="4815263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Los tokens intermedios son cálculo real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721307" y="2862163"/>
            <a:ext cx="4815263" cy="608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 escribir los pasos, el modelo genera representaciones intermedias que condicionan mejor los tokens siguientes. El razonamiento escrito actúa como memoria de trabajo explícita.</a:t>
            </a:r>
            <a:endParaRPr lang="en-US" sz="12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9518" y="3669903"/>
            <a:ext cx="307074" cy="3070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21307" y="3722688"/>
            <a:ext cx="4815263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Más contexto = mejor predicción final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721307" y="4062413"/>
            <a:ext cx="4815263" cy="608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Cada paso escrito enriquece el contexto disponible para el siguiente token. Un razonamiento de 200 tokens guía mejor la respuesta final que un prompt de 10 tokens.</a:t>
            </a:r>
            <a:endParaRPr lang="en-US" sz="12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89518" y="4870152"/>
            <a:ext cx="307074" cy="30708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721307" y="4922937"/>
            <a:ext cx="4815263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Reduce el espacio de error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6721307" y="5262662"/>
            <a:ext cx="4815263" cy="608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Sin CoT, el modelo debe 'saltar' directamente a la respuesta. Con CoT, cada paso intermedio reduce la incertidumbre acumulada antes de la conclusión.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70520"/>
            <a:ext cx="2550751" cy="247352"/>
          </a:xfrm>
          <a:prstGeom prst="roundRect">
            <a:avLst>
              <a:gd name="adj" fmla="val 3081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59104" y="719336"/>
            <a:ext cx="2965078" cy="149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TÉCNICAS AVANZADAS DE PROMPTING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962720"/>
            <a:ext cx="10868745" cy="50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¿Por qué tardan más en responder?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61475" y="1639689"/>
            <a:ext cx="1147833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Mayor calidad tiene un costo directo: más tokens generados = más tiempo de cómputo. No es magia, es aritmética.</a:t>
            </a:r>
            <a:endParaRPr lang="en-US" sz="12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985863"/>
            <a:ext cx="325529" cy="3255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7196" y="2041823"/>
            <a:ext cx="4898506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Chain of Thought (CoT)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27196" y="2363391"/>
            <a:ext cx="4898506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 100-500 tokens de razonamiento </a:t>
            </a:r>
            <a:pPr algn="l" indent="0" marL="0">
              <a:lnSpc>
                <a:spcPct val="113000"/>
              </a:lnSpc>
              <a:buNone/>
            </a:pPr>
            <a:r>
              <a:rPr lang="en-US" sz="12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antes</a:t>
            </a:r>
            <a:pPr algn="l"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la respuesta final. Latencia: 2-5× mayor que sin CoT.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5894" y="1985863"/>
            <a:ext cx="325529" cy="32553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631615" y="2041823"/>
            <a:ext cx="4898605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Self-Consistency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631615" y="2363391"/>
            <a:ext cx="4898605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Ejecuta el mismo prompt N veces (típicamente 5-10). Latencia y coste: N× el de una sola llamada.</a:t>
            </a:r>
            <a:endParaRPr lang="en-US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027660"/>
            <a:ext cx="325529" cy="32553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27196" y="3083620"/>
            <a:ext cx="4898506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Extended Thinking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127196" y="3405188"/>
            <a:ext cx="4898506" cy="659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modelo genera un bloque &lt;thinking&gt; interno de miles de tokens antes de responder. Latencia: puede ser 10-30 segundos en casos complejos.</a:t>
            </a:r>
            <a:endParaRPr lang="en-US" sz="12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65894" y="3027660"/>
            <a:ext cx="325529" cy="32553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631615" y="3083620"/>
            <a:ext cx="4898605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Prompt Chaining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6631615" y="3405188"/>
            <a:ext cx="4898605" cy="659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Cada</a:t>
            </a:r>
            <a:pPr algn="l"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paso es una llamada API independiente. Un pipeline de 5 pasos tiene 5× la latencia base más el tiempo de procesamiento entre pasos.</a:t>
            </a:r>
            <a:endParaRPr lang="en-US" sz="12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4289425"/>
            <a:ext cx="325529" cy="325537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27196" y="4345384"/>
            <a:ext cx="4898506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Tree of Thought (ToT)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1127196" y="4666952"/>
            <a:ext cx="4898506" cy="659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Explora múltiples ramas de razonamiento en paralelo antes de seleccionar la mejor. Latencia: proporcional al número de ramas evaluadas, típicamente 3-5× CoT.</a:t>
            </a:r>
            <a:endParaRPr lang="en-US" sz="12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65894" y="4289425"/>
            <a:ext cx="325529" cy="325537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631615" y="4345384"/>
            <a:ext cx="4898605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Testing Sistemático</a:t>
            </a:r>
            <a:endParaRPr lang="en-US" sz="1600" dirty="0"/>
          </a:p>
        </p:txBody>
      </p:sp>
      <p:sp>
        <p:nvSpPr>
          <p:cNvPr id="23" name="Text 15"/>
          <p:cNvSpPr/>
          <p:nvPr/>
        </p:nvSpPr>
        <p:spPr>
          <a:xfrm>
            <a:off x="6631615" y="4666952"/>
            <a:ext cx="4898605" cy="659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Evalúa el prompt contra N casos de prueba en cada iteración. Latencia de desarrollo: proporcional al tamaño del dataset de evaluación.</a:t>
            </a:r>
            <a:endParaRPr lang="en-US" sz="1250" dirty="0"/>
          </a:p>
        </p:txBody>
      </p:sp>
      <p:sp>
        <p:nvSpPr>
          <p:cNvPr id="24" name="Shape 16"/>
          <p:cNvSpPr/>
          <p:nvPr/>
        </p:nvSpPr>
        <p:spPr>
          <a:xfrm>
            <a:off x="661475" y="5453063"/>
            <a:ext cx="10868745" cy="734318"/>
          </a:xfrm>
          <a:prstGeom prst="roundRect">
            <a:avLst>
              <a:gd name="adj" fmla="val 1038"/>
            </a:avLst>
          </a:prstGeom>
          <a:solidFill>
            <a:srgbClr val="F9D2D6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4190" y="5615880"/>
            <a:ext cx="203493" cy="162719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1190397" y="5605859"/>
            <a:ext cx="10177109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Regla práctica: usar estas técnicas solo cuando la precisión justifica el coste. Para tareas simples o de baja criticidad, un prompt directo es más eficiente.</a:t>
            </a:r>
            <a:endParaRPr lang="en-US" sz="12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66155"/>
            <a:ext cx="2142575" cy="207764"/>
          </a:xfrm>
          <a:prstGeom prst="roundRect">
            <a:avLst>
              <a:gd name="adj" fmla="val 3668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43527" y="707132"/>
            <a:ext cx="2588056" cy="125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TÉCNICAS AVANZADAS DE PROMPTING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905570"/>
            <a:ext cx="10868745" cy="427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El Problema: Prompts sin Verificación</a:t>
            </a:r>
            <a:endParaRPr lang="en-US" sz="2650" dirty="0"/>
          </a:p>
        </p:txBody>
      </p:sp>
      <p:sp>
        <p:nvSpPr>
          <p:cNvPr id="5" name="Shape 3"/>
          <p:cNvSpPr/>
          <p:nvPr/>
        </p:nvSpPr>
        <p:spPr>
          <a:xfrm>
            <a:off x="563052" y="1451769"/>
            <a:ext cx="5464435" cy="4259560"/>
          </a:xfrm>
          <a:prstGeom prst="roundRect">
            <a:avLst>
              <a:gd name="adj" fmla="val 482"/>
            </a:avLst>
          </a:prstGeom>
          <a:solidFill>
            <a:srgbClr val="DA1B2E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99772" y="1530945"/>
            <a:ext cx="5190995" cy="21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¿Qué sale mal sin un proceso sistemático?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9772" y="1833563"/>
            <a:ext cx="273539" cy="27354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2230" y="1880493"/>
            <a:ext cx="4818537" cy="21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Evaluación subjetiva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72230" y="2173288"/>
            <a:ext cx="4818537" cy="34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'Parece que funciona bien' no es suficiente. Un prompt que funciona en 10 ejemplos puede fallar en producción con miles de casos.</a:t>
            </a:r>
            <a:endParaRPr lang="en-US" sz="10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9772" y="2677120"/>
            <a:ext cx="273539" cy="27354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2230" y="2724051"/>
            <a:ext cx="4818537" cy="21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Regresiones invisibles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072230" y="3016845"/>
            <a:ext cx="4818537" cy="34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Mejorar el prompt para un caso puede romper otros. Sin tests, los cambios son ciegos.</a:t>
            </a:r>
            <a:endParaRPr lang="en-US" sz="10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9772" y="3520678"/>
            <a:ext cx="273539" cy="27354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72230" y="3567609"/>
            <a:ext cx="4818537" cy="21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Sin baseline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072230" y="3860403"/>
            <a:ext cx="4818537" cy="34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Sin métricas de referencia, es imposible saber si un cambio mejoró o empeoró el sistema.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268980" y="1530945"/>
            <a:ext cx="5267590" cy="21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Lo que necesitamos</a:t>
            </a:r>
            <a:endParaRPr lang="en-US" sz="13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68980" y="1850628"/>
            <a:ext cx="136720" cy="136723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268980" y="2046883"/>
            <a:ext cx="5267590" cy="1905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19" name="Text 13"/>
          <p:cNvSpPr/>
          <p:nvPr/>
        </p:nvSpPr>
        <p:spPr>
          <a:xfrm>
            <a:off x="6268980" y="2153345"/>
            <a:ext cx="5267590" cy="21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Dataset de evaluación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268980" y="2446139"/>
            <a:ext cx="5267590" cy="172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Casos representativos con respuestas esperadas (ground truth).</a:t>
            </a:r>
            <a:endParaRPr lang="en-US" sz="105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68980" y="2817614"/>
            <a:ext cx="136720" cy="136723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6268980" y="3013869"/>
            <a:ext cx="5267590" cy="1905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23" name="Text 16"/>
          <p:cNvSpPr/>
          <p:nvPr/>
        </p:nvSpPr>
        <p:spPr>
          <a:xfrm>
            <a:off x="6268980" y="3120330"/>
            <a:ext cx="5267590" cy="21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Métricas definidas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6268980" y="3413125"/>
            <a:ext cx="5267590" cy="172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Exactitud, F1, BLEU, o métricas de dominio específico (ej. sensibilidad clínica).</a:t>
            </a:r>
            <a:endParaRPr lang="en-US" sz="105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68980" y="3784600"/>
            <a:ext cx="136720" cy="136723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6268980" y="3980855"/>
            <a:ext cx="5267590" cy="1905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27" name="Text 19"/>
          <p:cNvSpPr/>
          <p:nvPr/>
        </p:nvSpPr>
        <p:spPr>
          <a:xfrm>
            <a:off x="6268980" y="4087316"/>
            <a:ext cx="5267590" cy="21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Versionado de prompts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6268980" y="4380111"/>
            <a:ext cx="5267590" cy="172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Rastrear qué cambió, cuándo y con qué impacto en las métricas.</a:t>
            </a:r>
            <a:endParaRPr lang="en-US" sz="105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268980" y="4751586"/>
            <a:ext cx="136720" cy="136723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6268980" y="4947841"/>
            <a:ext cx="5267590" cy="1905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31" name="Text 22"/>
          <p:cNvSpPr/>
          <p:nvPr/>
        </p:nvSpPr>
        <p:spPr>
          <a:xfrm>
            <a:off x="6268980" y="5054302"/>
            <a:ext cx="5267590" cy="21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Testing automatizado</a:t>
            </a:r>
            <a:endParaRPr lang="en-US" sz="1300" dirty="0"/>
          </a:p>
        </p:txBody>
      </p:sp>
      <p:sp>
        <p:nvSpPr>
          <p:cNvPr id="32" name="Text 23"/>
          <p:cNvSpPr/>
          <p:nvPr/>
        </p:nvSpPr>
        <p:spPr>
          <a:xfrm>
            <a:off x="6268980" y="5347097"/>
            <a:ext cx="5267590" cy="172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Ejecutar el eval set en cada cambio, como CI/CD para código.</a:t>
            </a:r>
            <a:endParaRPr lang="en-US" sz="1050" dirty="0"/>
          </a:p>
        </p:txBody>
      </p:sp>
      <p:sp>
        <p:nvSpPr>
          <p:cNvPr id="33" name="Shape 24"/>
          <p:cNvSpPr/>
          <p:nvPr/>
        </p:nvSpPr>
        <p:spPr>
          <a:xfrm>
            <a:off x="661475" y="5800328"/>
            <a:ext cx="10868745" cy="391418"/>
          </a:xfrm>
          <a:prstGeom prst="roundRect">
            <a:avLst>
              <a:gd name="adj" fmla="val 1947"/>
            </a:avLst>
          </a:prstGeom>
          <a:solidFill>
            <a:srgbClr val="F9D2D6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8195" y="5914628"/>
            <a:ext cx="170950" cy="136723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1105865" y="5913636"/>
            <a:ext cx="10897220" cy="172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prompt sin datos de evaluación es una hipótesis sin experimento. El testing sistemático convierte la ingeniería de prompts en una disciplina reproducible.</a:t>
            </a:r>
            <a:endParaRPr lang="en-US" sz="10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66552"/>
            <a:ext cx="1841255" cy="178594"/>
          </a:xfrm>
          <a:prstGeom prst="roundRect">
            <a:avLst>
              <a:gd name="adj" fmla="val 4267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32018" y="701774"/>
            <a:ext cx="2309755" cy="108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TÉCNICAS AVANZADAS DE PROMPTING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475" y="868462"/>
            <a:ext cx="10868745" cy="367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DSPy: Optimización Automática de Prompts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61475" y="1389360"/>
            <a:ext cx="5291005" cy="445492"/>
          </a:xfrm>
          <a:prstGeom prst="roundRect">
            <a:avLst>
              <a:gd name="adj" fmla="val 1710"/>
            </a:avLst>
          </a:prstGeom>
          <a:solidFill>
            <a:srgbClr val="F9D2D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046" y="1482229"/>
            <a:ext cx="146939" cy="1175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3557" y="1471315"/>
            <a:ext cx="4791352" cy="28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Analogía: es como el backpropagation del deep learning, pero para prompts. En vez de ajustar pesos, ajusta instrucciones.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61475" y="1900634"/>
            <a:ext cx="5291005" cy="183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¿Qué es DSPy?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61475" y="2142728"/>
            <a:ext cx="5291005" cy="615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DSPy (Declarative Self-improving Python) es un framework de Stanford que trata los prompts como parámetros optimizables, no como texto fijo. En lugar de escribir prompts a mano, defines el comportamiento deseado y DSPy los optimiza automáticamente contra un dataset de evaluación.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Creado por Omar Khattab (Stanford NLP). Disponible en: dspy.ai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245565" y="1382018"/>
            <a:ext cx="5291005" cy="183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Cómo funciona DSPy</a:t>
            </a:r>
            <a:endParaRPr lang="en-US" sz="11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565" y="1631454"/>
            <a:ext cx="352714" cy="9525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56717" y="1749028"/>
            <a:ext cx="4879853" cy="183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1. Definir el programa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6656717" y="1991122"/>
            <a:ext cx="4879853" cy="140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Declaras módulos (ChainOfThought, ReAct, etc.) y cómo se conectan, sin escribir el prompt.</a:t>
            </a:r>
            <a:endParaRPr lang="en-US" sz="9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872" y="2395339"/>
            <a:ext cx="352714" cy="9525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833024" y="2512913"/>
            <a:ext cx="4703546" cy="183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2. Proveer ejemplos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6833024" y="2755007"/>
            <a:ext cx="4703546" cy="28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pequeño dataset de inputs y outputs esperados (puede ser tan pequeño como 10-20 ejemplos).</a:t>
            </a:r>
            <a:endParaRPr lang="en-US" sz="9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279" y="3212604"/>
            <a:ext cx="352714" cy="9525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09431" y="3330178"/>
            <a:ext cx="4527139" cy="183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3. Elegir un optimizador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7009431" y="3572272"/>
            <a:ext cx="4527139" cy="28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BootstrapFewShot, MIPRO, BayesianSignatureOptimizer. DSPy prueba variantes automáticamente.</a:t>
            </a:r>
            <a:endParaRPr lang="en-US" sz="9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4685" y="4029869"/>
            <a:ext cx="352714" cy="9525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85837" y="4147443"/>
            <a:ext cx="4350733" cy="183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4. Compilar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7185837" y="4389537"/>
            <a:ext cx="4350733" cy="28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DSPy genera y evalúa prompts candidatos, seleccionando el que maximiza la métrica definida.</a:t>
            </a: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6245565" y="4854476"/>
            <a:ext cx="5291005" cy="1271191"/>
          </a:xfrm>
          <a:prstGeom prst="roundRect">
            <a:avLst>
              <a:gd name="adj" fmla="val 599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251915" y="4860826"/>
            <a:ext cx="5278305" cy="22354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18"/>
          <p:cNvSpPr/>
          <p:nvPr/>
        </p:nvSpPr>
        <p:spPr>
          <a:xfrm>
            <a:off x="6369684" y="4902200"/>
            <a:ext cx="2130967" cy="140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8132559" y="4902200"/>
            <a:ext cx="2127296" cy="140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Prompt manual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9891763" y="4902200"/>
            <a:ext cx="2130471" cy="140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DSPy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6251915" y="5084366"/>
            <a:ext cx="5278305" cy="22354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9" name="Text 22"/>
          <p:cNvSpPr/>
          <p:nvPr/>
        </p:nvSpPr>
        <p:spPr>
          <a:xfrm>
            <a:off x="6369684" y="5125740"/>
            <a:ext cx="2130967" cy="140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Tiempo de iteración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8132559" y="5125740"/>
            <a:ext cx="2127296" cy="140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Horas/días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9891763" y="5125740"/>
            <a:ext cx="2130471" cy="140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Minutos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6251915" y="5307905"/>
            <a:ext cx="5278305" cy="22354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3" name="Text 26"/>
          <p:cNvSpPr/>
          <p:nvPr/>
        </p:nvSpPr>
        <p:spPr>
          <a:xfrm>
            <a:off x="6369684" y="5349280"/>
            <a:ext cx="2130967" cy="140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Reproducibilidad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8132559" y="5349280"/>
            <a:ext cx="2127296" cy="140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Baja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9891763" y="5349280"/>
            <a:ext cx="2130471" cy="140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Alta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6251915" y="5531445"/>
            <a:ext cx="5278305" cy="22354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7" name="Text 30"/>
          <p:cNvSpPr/>
          <p:nvPr/>
        </p:nvSpPr>
        <p:spPr>
          <a:xfrm>
            <a:off x="6369684" y="5572820"/>
            <a:ext cx="2130967" cy="140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Escala a nuevos modelos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8132559" y="5572820"/>
            <a:ext cx="2127296" cy="140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9891763" y="5572820"/>
            <a:ext cx="2130471" cy="140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Automática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6251915" y="5754985"/>
            <a:ext cx="5278305" cy="36433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1" name="Text 34"/>
          <p:cNvSpPr/>
          <p:nvPr/>
        </p:nvSpPr>
        <p:spPr>
          <a:xfrm>
            <a:off x="6369684" y="5796359"/>
            <a:ext cx="1521382" cy="28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Requiere expertise en prompting</a:t>
            </a:r>
            <a:endParaRPr lang="en-US" sz="900" dirty="0"/>
          </a:p>
        </p:txBody>
      </p:sp>
      <p:sp>
        <p:nvSpPr>
          <p:cNvPr id="42" name="Text 35"/>
          <p:cNvSpPr/>
          <p:nvPr/>
        </p:nvSpPr>
        <p:spPr>
          <a:xfrm>
            <a:off x="8132559" y="5796359"/>
            <a:ext cx="2127296" cy="140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Sí</a:t>
            </a:r>
            <a:endParaRPr lang="en-US" sz="900" dirty="0"/>
          </a:p>
        </p:txBody>
      </p:sp>
      <p:sp>
        <p:nvSpPr>
          <p:cNvPr id="43" name="Text 36"/>
          <p:cNvSpPr/>
          <p:nvPr/>
        </p:nvSpPr>
        <p:spPr>
          <a:xfrm>
            <a:off x="9891763" y="5796359"/>
            <a:ext cx="2130471" cy="140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Reducido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07727"/>
            <a:ext cx="2405002" cy="233263"/>
          </a:xfrm>
          <a:prstGeom prst="roundRect">
            <a:avLst>
              <a:gd name="adj" fmla="val 3267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53548" y="753765"/>
            <a:ext cx="2830442" cy="141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TÉCNICAS AVANZADAS DE PROMPTING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980877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Versionado de Prompts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61475" y="1710333"/>
            <a:ext cx="524705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¿Por qué versionar prompts?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61475" y="2050058"/>
            <a:ext cx="5247052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prompt es código. Debe tratarse con el mismo rigor que el código fuente: control de versiones, historial de cambios, rollback ante regresiones.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567682"/>
            <a:ext cx="5247052" cy="10902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0210" y="2740223"/>
            <a:ext cx="482578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Trazabilidad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0210" y="3079948"/>
            <a:ext cx="4825780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Saber exactamente qué prompt generó qué output en producción. Crítico para auditorías clínicas y regulatorias.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757712"/>
            <a:ext cx="5247052" cy="10902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0210" y="3930253"/>
            <a:ext cx="482578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Rollback seguro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910210" y="4269978"/>
            <a:ext cx="4825780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 una nueva versión degrada las métricas, revertir en segundos al prompt anterior.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947741"/>
            <a:ext cx="5247052" cy="109021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10210" y="5120283"/>
            <a:ext cx="482578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A/B Testing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910210" y="5460008"/>
            <a:ext cx="4825780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Comparar dos versiones del prompt en producción con tráfico real antes de hacer el cambio definitivo.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289518" y="1710333"/>
            <a:ext cx="524705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Herramientas y prácticas</a:t>
            </a:r>
            <a:endParaRPr lang="en-US" sz="15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89518" y="2062460"/>
            <a:ext cx="307074" cy="30708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21307" y="2115245"/>
            <a:ext cx="4815263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Git para prompts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6721307" y="2454970"/>
            <a:ext cx="4815263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Guardar prompts en archivos .txt o .md versionados en Git. Simple y efectivo para equipos pequeños.</a:t>
            </a:r>
            <a:endParaRPr lang="en-US" sz="12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89518" y="3060005"/>
            <a:ext cx="307074" cy="30708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721307" y="3112790"/>
            <a:ext cx="4815263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LangSmith (LangChain)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6721307" y="3452515"/>
            <a:ext cx="4815263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Plataforma de observabilidad: traza cada llamada LLM, versiona prompts y compara métricas entre versiones.</a:t>
            </a:r>
            <a:endParaRPr lang="en-US" sz="12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89518" y="4057551"/>
            <a:ext cx="307074" cy="30708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721307" y="4110335"/>
            <a:ext cx="4815263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PromptLayer</a:t>
            </a:r>
            <a:endParaRPr lang="en-US" sz="1500" dirty="0"/>
          </a:p>
        </p:txBody>
      </p:sp>
      <p:sp>
        <p:nvSpPr>
          <p:cNvPr id="25" name="Text 17"/>
          <p:cNvSpPr/>
          <p:nvPr/>
        </p:nvSpPr>
        <p:spPr>
          <a:xfrm>
            <a:off x="6721307" y="4450060"/>
            <a:ext cx="4815263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Logging y versionado de prompts con dashboard de métricas. Integración directa con OpenAI y Anthropic.</a:t>
            </a:r>
            <a:endParaRPr lang="en-US" sz="12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289518" y="5055096"/>
            <a:ext cx="307074" cy="30708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721307" y="5107880"/>
            <a:ext cx="4815263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Weights &amp; Biases (W&amp;B)</a:t>
            </a:r>
            <a:endParaRPr lang="en-US" sz="1500" dirty="0"/>
          </a:p>
        </p:txBody>
      </p:sp>
      <p:sp>
        <p:nvSpPr>
          <p:cNvPr id="28" name="Text 19"/>
          <p:cNvSpPr/>
          <p:nvPr/>
        </p:nvSpPr>
        <p:spPr>
          <a:xfrm>
            <a:off x="6721307" y="5447605"/>
            <a:ext cx="4815263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Usado en ML tradicional, ahora con soporte para experimentos de prompts y evaluación de LLMs.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04850"/>
            <a:ext cx="1917057" cy="186035"/>
          </a:xfrm>
          <a:prstGeom prst="roundRect">
            <a:avLst>
              <a:gd name="adj" fmla="val 4096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34895" y="741561"/>
            <a:ext cx="2379801" cy="112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TÉCNICAS AVANZADAS DE PROMPTING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916186"/>
            <a:ext cx="10868745" cy="382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Datos y Testing Sistemático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61475" y="1393726"/>
            <a:ext cx="11478330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prompt sin datos de evaluación es una hipótesis sin experimento. El testing sistemático convierte la ingeniería de prompts en una disciplina reproducible.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1475" y="1676797"/>
            <a:ext cx="5285151" cy="191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Construir el dataset de evaluación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1475" y="1939230"/>
            <a:ext cx="244667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01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61475" y="2134394"/>
            <a:ext cx="5285151" cy="1270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9" name="Text 7"/>
          <p:cNvSpPr/>
          <p:nvPr/>
        </p:nvSpPr>
        <p:spPr>
          <a:xfrm>
            <a:off x="661475" y="2220913"/>
            <a:ext cx="5285151" cy="191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Recolectar casos reales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1475" y="2475409"/>
            <a:ext cx="5285151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Mínimo 50-100 ejemplos representativos del problema. Incluir casos edge y casos difíciles deliberadamente.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61475" y="2927548"/>
            <a:ext cx="244667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02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61475" y="3122712"/>
            <a:ext cx="5285151" cy="1270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13" name="Text 11"/>
          <p:cNvSpPr/>
          <p:nvPr/>
        </p:nvSpPr>
        <p:spPr>
          <a:xfrm>
            <a:off x="661475" y="3209230"/>
            <a:ext cx="5285151" cy="191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Definir ground truth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1475" y="3463727"/>
            <a:ext cx="5285151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Respuestas esperadas anotadas por expertos del dominio (ej. médicos para aplicaciones clínicas).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61475" y="3915866"/>
            <a:ext cx="244667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03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61475" y="4111030"/>
            <a:ext cx="5285151" cy="1270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17" name="Text 15"/>
          <p:cNvSpPr/>
          <p:nvPr/>
        </p:nvSpPr>
        <p:spPr>
          <a:xfrm>
            <a:off x="661475" y="4197548"/>
            <a:ext cx="5285151" cy="191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Estratificar por dificultad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1475" y="4452045"/>
            <a:ext cx="5285151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Separar en fácil / medio / difícil. Un buen prompt debe rendir bien en todos los estratos.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61475" y="4755654"/>
            <a:ext cx="244667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04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61475" y="4950817"/>
            <a:ext cx="5285151" cy="1270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21" name="Text 19"/>
          <p:cNvSpPr/>
          <p:nvPr/>
        </p:nvSpPr>
        <p:spPr>
          <a:xfrm>
            <a:off x="661475" y="5037336"/>
            <a:ext cx="5285151" cy="191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Separar train / eval / test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1475" y="5291832"/>
            <a:ext cx="5285151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Nunca optimizar el prompt sobre el test set. Usar eval para iterar, test solo para la evaluación final.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51419" y="1676797"/>
            <a:ext cx="5285151" cy="191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Pipeline de testing sistemático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51419" y="1939230"/>
            <a:ext cx="5285151" cy="815280"/>
          </a:xfrm>
          <a:prstGeom prst="roundRect">
            <a:avLst>
              <a:gd name="adj" fmla="val 935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80102" y="2067917"/>
            <a:ext cx="5027784" cy="197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🔁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Eval automatizado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80102" y="2328763"/>
            <a:ext cx="5027784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Script que ejecuta el prompt sobre todo el eval set y calcula métricas automáticamente. Debe correr en &lt; 5 minutos para no frenar la iteración.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51419" y="2817812"/>
            <a:ext cx="5285151" cy="815280"/>
          </a:xfrm>
          <a:prstGeom prst="roundRect">
            <a:avLst>
              <a:gd name="adj" fmla="val 935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80102" y="2946499"/>
            <a:ext cx="5027784" cy="197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📏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Métricas por tarea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80102" y="3207345"/>
            <a:ext cx="5027784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Clasificación: accuracy, F1, AUC. Generación: BLEU, ROUGE, BERTScore. Clínico: sensibilidad, especificidad, valor predictivo.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51419" y="3696395"/>
            <a:ext cx="5285151" cy="815280"/>
          </a:xfrm>
          <a:prstGeom prst="roundRect">
            <a:avLst>
              <a:gd name="adj" fmla="val 935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80102" y="3825081"/>
            <a:ext cx="5027784" cy="197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🚨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Regression tests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80102" y="4085927"/>
            <a:ext cx="5027784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Suite de casos críticos que NUNCA deben fallar. Si el prompt los rompe, el cambio se rechaza automáticamente.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61475" y="5823148"/>
            <a:ext cx="10868745" cy="330002"/>
          </a:xfrm>
          <a:prstGeom prst="roundRect">
            <a:avLst>
              <a:gd name="adj" fmla="val 2309"/>
            </a:avLst>
          </a:prstGeom>
          <a:solidFill>
            <a:srgbClr val="F9D2D6"/>
          </a:solidFill>
          <a:ln/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809" y="5917009"/>
            <a:ext cx="152892" cy="122337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1059034" y="5917009"/>
            <a:ext cx="10958437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Regla de oro: si no puedes medir la mejora, no puedes saber si mejoraste. El eval set es tan importante como el prompt mismo.</a:t>
            </a:r>
            <a:endParaRPr lang="en-US" sz="9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3298"/>
            <a:ext cx="10868745" cy="464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Agenda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828753" y="1325563"/>
            <a:ext cx="19050" cy="4859139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4" name="Shape 2"/>
          <p:cNvSpPr/>
          <p:nvPr/>
        </p:nvSpPr>
        <p:spPr>
          <a:xfrm>
            <a:off x="977032" y="1483320"/>
            <a:ext cx="446275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5" name="Shape 3"/>
          <p:cNvSpPr/>
          <p:nvPr/>
        </p:nvSpPr>
        <p:spPr>
          <a:xfrm>
            <a:off x="661425" y="1325563"/>
            <a:ext cx="334656" cy="334665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7135" y="1353393"/>
            <a:ext cx="223137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572677" y="1376660"/>
            <a:ext cx="9957543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Fundamentos de Foundational Models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72677" y="1665188"/>
            <a:ext cx="9957543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Ventana de contexto, tokens, limitaciones y modelos mentales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77032" y="2204244"/>
            <a:ext cx="446275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10" name="Shape 8"/>
          <p:cNvSpPr/>
          <p:nvPr/>
        </p:nvSpPr>
        <p:spPr>
          <a:xfrm>
            <a:off x="661425" y="2046486"/>
            <a:ext cx="334656" cy="334665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7135" y="2074317"/>
            <a:ext cx="223137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2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572677" y="2097584"/>
            <a:ext cx="9957543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Ingeniería de Prompts Estructurada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572677" y="2386112"/>
            <a:ext cx="9957543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componentes, XML tags, salidas JSON y optimización por modelo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77032" y="2925167"/>
            <a:ext cx="446275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15" name="Shape 13"/>
          <p:cNvSpPr/>
          <p:nvPr/>
        </p:nvSpPr>
        <p:spPr>
          <a:xfrm>
            <a:off x="661425" y="2767409"/>
            <a:ext cx="334656" cy="334665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7135" y="2795240"/>
            <a:ext cx="223137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3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572677" y="2818507"/>
            <a:ext cx="9957543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In-Context Learning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572677" y="3107035"/>
            <a:ext cx="9957543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Zero-shot, Few-shot y Many-shot con ejemplos clínicos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77032" y="3646091"/>
            <a:ext cx="446275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20" name="Shape 18"/>
          <p:cNvSpPr/>
          <p:nvPr/>
        </p:nvSpPr>
        <p:spPr>
          <a:xfrm>
            <a:off x="661425" y="3488333"/>
            <a:ext cx="334656" cy="334665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7135" y="3516164"/>
            <a:ext cx="223137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4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1572677" y="3539430"/>
            <a:ext cx="9957543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Técnicas Avanzadas de Prompting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572677" y="3827959"/>
            <a:ext cx="9957543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CoT, Self-Consistency, Extended Thinking y Prompt Chaining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77032" y="4367014"/>
            <a:ext cx="446275" cy="19050"/>
          </a:xfrm>
          <a:prstGeom prst="roundRect">
            <a:avLst>
              <a:gd name="adj" fmla="val 39999"/>
            </a:avLst>
          </a:prstGeom>
          <a:solidFill>
            <a:srgbClr val="F33447"/>
          </a:solidFill>
          <a:ln/>
        </p:spPr>
      </p:sp>
      <p:sp>
        <p:nvSpPr>
          <p:cNvPr id="25" name="Shape 23"/>
          <p:cNvSpPr/>
          <p:nvPr/>
        </p:nvSpPr>
        <p:spPr>
          <a:xfrm>
            <a:off x="661425" y="4209256"/>
            <a:ext cx="334656" cy="334665"/>
          </a:xfrm>
          <a:prstGeom prst="roundRect">
            <a:avLst>
              <a:gd name="adj" fmla="val 2277"/>
            </a:avLst>
          </a:prstGeom>
          <a:solidFill>
            <a:srgbClr val="DA1B2E"/>
          </a:solidFill>
          <a:ln w="6350">
            <a:solidFill>
              <a:srgbClr val="F334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7135" y="4237087"/>
            <a:ext cx="223137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5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1572677" y="4260354"/>
            <a:ext cx="9957543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Selección de Modelos y Costos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572677" y="4548882"/>
            <a:ext cx="9957543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Framework de decisión, prompt caching, model cascading y TOON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77032" y="5087938"/>
            <a:ext cx="446275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30" name="Shape 28"/>
          <p:cNvSpPr/>
          <p:nvPr/>
        </p:nvSpPr>
        <p:spPr>
          <a:xfrm>
            <a:off x="661425" y="4930180"/>
            <a:ext cx="334656" cy="334665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7135" y="4958011"/>
            <a:ext cx="223137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6</a:t>
            </a: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1572677" y="4981277"/>
            <a:ext cx="9957543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Foundational Models en Medicina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1572677" y="5269805"/>
            <a:ext cx="9957543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Aplicaciones reales, recorrido del paciente, research biomédica y marco ético OMS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77032" y="5808861"/>
            <a:ext cx="446275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35" name="Shape 33"/>
          <p:cNvSpPr/>
          <p:nvPr/>
        </p:nvSpPr>
        <p:spPr>
          <a:xfrm>
            <a:off x="661425" y="5651103"/>
            <a:ext cx="334656" cy="334665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7135" y="5678934"/>
            <a:ext cx="223137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7</a:t>
            </a:r>
            <a:endParaRPr lang="en-US" sz="1750" dirty="0"/>
          </a:p>
        </p:txBody>
      </p:sp>
      <p:sp>
        <p:nvSpPr>
          <p:cNvPr id="37" name="Text 35"/>
          <p:cNvSpPr/>
          <p:nvPr/>
        </p:nvSpPr>
        <p:spPr>
          <a:xfrm>
            <a:off x="1572677" y="5702201"/>
            <a:ext cx="9957543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Resumen y Práctica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1572677" y="5990729"/>
            <a:ext cx="9957543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Módulos interactivos de aitutorial.dev + sistema de triage con LLM</a:t>
            </a:r>
            <a:endParaRPr lang="en-US" sz="11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63773"/>
            <a:ext cx="1857626" cy="196751"/>
          </a:xfrm>
          <a:prstGeom prst="roundRect">
            <a:avLst>
              <a:gd name="adj" fmla="val 3873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39161" y="702568"/>
            <a:ext cx="2311838" cy="119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SELECCIÓN DE MODELOS Y COSTOS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888901"/>
            <a:ext cx="10868745" cy="40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El Paisaje de Modelos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661475" y="1471414"/>
            <a:ext cx="471703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¿Cómo elegir el modelo correcto?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61475" y="1744960"/>
            <a:ext cx="4717039" cy="481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existe un modelo universal. La elección depende de la tarea, el volumen, el contexto necesario y el presupuesto. Elegir mal puede multiplicar los costos por 10x o degradar la calidad.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61475" y="2306141"/>
            <a:ext cx="4717039" cy="3368179"/>
          </a:xfrm>
          <a:prstGeom prst="roundRect">
            <a:avLst>
              <a:gd name="adj" fmla="val 226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816947" y="2435721"/>
            <a:ext cx="4406095" cy="3109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¿La tarea es simple (clasificación, extracción básica)?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Sí → Gemini 2.0 Flash o GPT-4o Mini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No → Continuar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¿Necesitas &gt;200K tokens de contexto?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Sí → Claude Sonnet 4.6 o Gemini 1.5 Pro (2M)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No → Continuar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¿Necesitas salida JSON estructurada?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Sí → GPT-4o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No → Claude Sonnet 4.6 (mejor prosa)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¿El costo es crítico (alto volumen)?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Sí → Model cascading + Gemini 2.0 Flash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No → Usar el mejor modelo para calidad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00967" y="1471414"/>
            <a:ext cx="5835504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Tabla comparativa de modelos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700967" y="1753791"/>
            <a:ext cx="5835504" cy="3201888"/>
          </a:xfrm>
          <a:prstGeom prst="roundRect">
            <a:avLst>
              <a:gd name="adj" fmla="val 238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07317" y="1760141"/>
            <a:ext cx="5822804" cy="41870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836992" y="1809055"/>
            <a:ext cx="1802958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295868" y="1809055"/>
            <a:ext cx="1230877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Contexto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182663" y="1809055"/>
            <a:ext cx="1540729" cy="320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Costo (entrada/salida por 1M tokens)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988895" y="1809055"/>
            <a:ext cx="2021234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Mejor para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07317" y="2178844"/>
            <a:ext cx="5822804" cy="57914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836992" y="2227759"/>
            <a:ext cx="1802958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GPT-4o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295868" y="2227759"/>
            <a:ext cx="1230877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128K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182663" y="2227759"/>
            <a:ext cx="2150314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$2.50 / $10.00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988895" y="2227759"/>
            <a:ext cx="1411649" cy="481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Razonamiento complejo, salida estructurada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707317" y="2757984"/>
            <a:ext cx="5822804" cy="41870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836992" y="2806898"/>
            <a:ext cx="1802958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GPT-4o Mini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295868" y="2806898"/>
            <a:ext cx="1230877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128K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182663" y="2806898"/>
            <a:ext cx="2150314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$0.15 / $0.60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988895" y="2806898"/>
            <a:ext cx="1411649" cy="320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Tareas simples, alto volumen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707317" y="3176687"/>
            <a:ext cx="5822804" cy="41870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836992" y="3225602"/>
            <a:ext cx="1802958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Claude Sonnet 4.6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295868" y="3225602"/>
            <a:ext cx="1230877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200K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182663" y="3225602"/>
            <a:ext cx="2150314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$3.00 / $15.00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988895" y="3225602"/>
            <a:ext cx="1411649" cy="320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Documentos largos, análisis matizado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707317" y="3595390"/>
            <a:ext cx="5822804" cy="41870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836992" y="3644305"/>
            <a:ext cx="1802958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Claude Haiku 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95868" y="3644305"/>
            <a:ext cx="1230877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200K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182663" y="3644305"/>
            <a:ext cx="2150314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$0.25 / $1.25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988895" y="3644305"/>
            <a:ext cx="1411649" cy="320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Clasificación rápida, extracción simple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707317" y="4014093"/>
            <a:ext cx="5822804" cy="41870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836992" y="4063008"/>
            <a:ext cx="1802958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Gemini 1.5 Pro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295868" y="4063008"/>
            <a:ext cx="1230877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2M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182663" y="4063008"/>
            <a:ext cx="2150314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$1.25 / $5.00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988895" y="4063008"/>
            <a:ext cx="1411649" cy="320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Contexto masivo, multimodal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707317" y="4432796"/>
            <a:ext cx="5822804" cy="25826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5836992" y="4481711"/>
            <a:ext cx="1802958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Gemini 2.0 Flash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295868" y="4481711"/>
            <a:ext cx="1230877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1M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182663" y="4481711"/>
            <a:ext cx="2150314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$0.075 / $0.30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988895" y="4481711"/>
            <a:ext cx="2021234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Budget, alta velocidad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707317" y="4691062"/>
            <a:ext cx="5822804" cy="25826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5836992" y="4739977"/>
            <a:ext cx="1802958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Llama 3.3 70B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295868" y="4739977"/>
            <a:ext cx="1230877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128K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182663" y="4739977"/>
            <a:ext cx="2150314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Self-hosted ~$0.03/$0.10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988895" y="4739977"/>
            <a:ext cx="2021234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Requisitos on-premise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61475" y="5834063"/>
            <a:ext cx="10868745" cy="360065"/>
          </a:xfrm>
          <a:prstGeom prst="roundRect">
            <a:avLst>
              <a:gd name="adj" fmla="val 2116"/>
            </a:avLst>
          </a:prstGeom>
          <a:solidFill>
            <a:srgbClr val="F9D2D6"/>
          </a:solidFill>
          <a:ln/>
        </p:spPr>
      </p:sp>
      <p:pic>
        <p:nvPicPr>
          <p:cNvPr id="5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051" y="5938341"/>
            <a:ext cx="161921" cy="129580"/>
          </a:xfrm>
          <a:prstGeom prst="rect">
            <a:avLst/>
          </a:prstGeom>
        </p:spPr>
      </p:pic>
      <p:sp>
        <p:nvSpPr>
          <p:cNvPr id="53" name="Text 50"/>
          <p:cNvSpPr/>
          <p:nvPr/>
        </p:nvSpPr>
        <p:spPr>
          <a:xfrm>
            <a:off x="1082549" y="5937448"/>
            <a:ext cx="10927680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Precios a marzo 2026. Verificar en: openai.com/api/pricing, anthropic.com/pricing, ai.google.dev/pricing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17748"/>
            <a:ext cx="1581904" cy="167580"/>
          </a:xfrm>
          <a:prstGeom prst="roundRect">
            <a:avLst>
              <a:gd name="adj" fmla="val 4547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27652" y="750788"/>
            <a:ext cx="2059134" cy="101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SELECCIÓN DE MODELOS Y COSTOS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61475" y="905867"/>
            <a:ext cx="10868745" cy="344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Prompt Caching: Reducción de Costos 50-90%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661475" y="1379538"/>
            <a:ext cx="5299736" cy="172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El problema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61475" y="1603474"/>
            <a:ext cx="5299736" cy="259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Envías la misma base de conocimiento de 50K tokens con CADA request. Sin caching, 10.000 queries × 50K tokens = 501M tokens de entrada. A $3/1M: $1.503.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61475" y="1914128"/>
            <a:ext cx="5299736" cy="172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La solución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61475" y="2138065"/>
            <a:ext cx="5299736" cy="259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Marcar las partes reutilizables del prompt para caching. El proveedor almacena esos tokens y los reutiliza en requests posteriores.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61475" y="2455168"/>
            <a:ext cx="5299736" cy="1621532"/>
          </a:xfrm>
          <a:prstGeom prst="roundRect">
            <a:avLst>
              <a:gd name="adj" fmla="val 470"/>
            </a:avLst>
          </a:prstGeom>
          <a:solidFill>
            <a:srgbClr val="F9D2D6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803" y="2539305"/>
            <a:ext cx="137911" cy="110331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020042" y="2534245"/>
            <a:ext cx="4830840" cy="1456928"/>
          </a:xfrm>
          <a:prstGeom prst="roundRect">
            <a:avLst>
              <a:gd name="adj" fmla="val 523"/>
            </a:avLst>
          </a:prstGeom>
          <a:solidFill>
            <a:srgbClr val="F2F2F2"/>
          </a:solidFill>
          <a:ln/>
        </p:spPr>
      </p:sp>
      <p:sp>
        <p:nvSpPr>
          <p:cNvPr id="12" name="Text 9"/>
          <p:cNvSpPr/>
          <p:nvPr/>
        </p:nvSpPr>
        <p:spPr>
          <a:xfrm>
            <a:off x="1152496" y="2644577"/>
            <a:ext cx="4565933" cy="1236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Sin caching: 10.000 queries × 50.100 tokens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Costo: $1.503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 caching (80% hit rate):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Misses (20%): 2.000 × 50K tokens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Hits (80%): 8.000 × 5K tokens (90% reducción)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Costo total: $450 → Ahorro: $1.053 (70%)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236834" y="1379538"/>
            <a:ext cx="5299736" cy="172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Buenas prácticas</a:t>
            </a:r>
            <a:endParaRPr lang="en-US" sz="10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834" y="1609923"/>
            <a:ext cx="331085" cy="9525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619412" y="1720255"/>
            <a:ext cx="4917158" cy="172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1. Cachear contenido estático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619412" y="1944191"/>
            <a:ext cx="4917158" cy="129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Bases de conocimiento, system prompts, protocolos clínicos</a:t>
            </a:r>
            <a:endParaRPr lang="en-US" sz="8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2327" y="2323703"/>
            <a:ext cx="331085" cy="9525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84904" y="2434034"/>
            <a:ext cx="4751666" cy="172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2. No cachear input del usuario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6784904" y="2657971"/>
            <a:ext cx="4751666" cy="129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Cambia en cada request</a:t>
            </a:r>
            <a:endParaRPr lang="en-US" sz="8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7919" y="3037483"/>
            <a:ext cx="331085" cy="9525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50496" y="3147814"/>
            <a:ext cx="4586074" cy="172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3. Estructura: cacheable primero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6950496" y="3371751"/>
            <a:ext cx="4586074" cy="129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Poner partes estáticas al inicio del prompt</a:t>
            </a:r>
            <a:endParaRPr lang="en-US" sz="85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3510" y="3751263"/>
            <a:ext cx="331085" cy="9525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16088" y="3861594"/>
            <a:ext cx="4420482" cy="172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4. Monitorear hit rates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7116088" y="4085530"/>
            <a:ext cx="4420482" cy="129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Ajustar patrones de query para maximizar hits</a:t>
            </a:r>
            <a:endParaRPr lang="en-US" sz="850" dirty="0"/>
          </a:p>
        </p:txBody>
      </p:sp>
      <p:sp>
        <p:nvSpPr>
          <p:cNvPr id="26" name="Text 19"/>
          <p:cNvSpPr/>
          <p:nvPr/>
        </p:nvSpPr>
        <p:spPr>
          <a:xfrm>
            <a:off x="6236834" y="4471491"/>
            <a:ext cx="5299736" cy="172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Casos de uso en biomedicina</a:t>
            </a:r>
            <a:endParaRPr lang="en-US" sz="105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36834" y="4701877"/>
            <a:ext cx="220756" cy="22076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521981" y="4739779"/>
            <a:ext cx="5014589" cy="172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Protocolos clínicos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6521981" y="4963716"/>
            <a:ext cx="5014589" cy="129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Mismo protocolo de 30K tokens enviado con cada consulta de triage</a:t>
            </a:r>
            <a:endParaRPr lang="en-US" sz="85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36834" y="5196384"/>
            <a:ext cx="220756" cy="22076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521981" y="5234285"/>
            <a:ext cx="5014589" cy="172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Literatura médica</a:t>
            </a:r>
            <a:endParaRPr lang="en-US" sz="1050" dirty="0"/>
          </a:p>
        </p:txBody>
      </p:sp>
      <p:sp>
        <p:nvSpPr>
          <p:cNvPr id="32" name="Text 23"/>
          <p:cNvSpPr/>
          <p:nvPr/>
        </p:nvSpPr>
        <p:spPr>
          <a:xfrm>
            <a:off x="6521981" y="5458222"/>
            <a:ext cx="5014589" cy="129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Base de artículos indexados reutilizada en múltiples queries</a:t>
            </a:r>
            <a:endParaRPr lang="en-US" sz="85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36834" y="5690890"/>
            <a:ext cx="220756" cy="220762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521981" y="5728791"/>
            <a:ext cx="5014589" cy="172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Historial del paciente</a:t>
            </a:r>
            <a:endParaRPr lang="en-US" sz="1050" dirty="0"/>
          </a:p>
        </p:txBody>
      </p:sp>
      <p:sp>
        <p:nvSpPr>
          <p:cNvPr id="35" name="Text 25"/>
          <p:cNvSpPr/>
          <p:nvPr/>
        </p:nvSpPr>
        <p:spPr>
          <a:xfrm>
            <a:off x="6521981" y="5952728"/>
            <a:ext cx="5014589" cy="129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Contexto de sesión cacheado durante la consulta</a:t>
            </a:r>
            <a:endParaRPr lang="en-US" sz="8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57622"/>
            <a:ext cx="1444787" cy="152995"/>
          </a:xfrm>
          <a:prstGeom prst="roundRect">
            <a:avLst>
              <a:gd name="adj" fmla="val 4980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21898" y="687784"/>
            <a:ext cx="1933527" cy="92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SELECCIÓN DE MODELOS Y COSTOS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661475" y="827782"/>
            <a:ext cx="10868745" cy="315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Prompt Caching: Ejemplo de Implementación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661475" y="1250156"/>
            <a:ext cx="531144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¿Cómo se estructura el prompt?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1475" y="1450578"/>
            <a:ext cx="5311444" cy="229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caching funciona marcando las partes estáticas del prompt con un bloque de cache_control. El proveedor almacena esos tokens y los reutiliza en requests posteriores sin recalcularlos.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61475" y="1723529"/>
            <a:ext cx="531144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Anatomía del prompt cacheado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61475" y="1929309"/>
            <a:ext cx="5311444" cy="529530"/>
          </a:xfrm>
          <a:prstGeom prst="roundRect">
            <a:avLst>
              <a:gd name="adj" fmla="val 1439"/>
            </a:avLst>
          </a:prstGeom>
          <a:solidFill>
            <a:srgbClr val="2E7D32"/>
          </a:solidFill>
          <a:ln w="6350">
            <a:solidFill>
              <a:srgbClr val="4796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529" y="2036366"/>
            <a:ext cx="509733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1. Parte estática (cacheable)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68529" y="2236788"/>
            <a:ext cx="5097335" cy="114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 prompt, base de conocimiento, protocolos clínicos. Se marca con cache_control.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61475" y="2501801"/>
            <a:ext cx="5311444" cy="529530"/>
          </a:xfrm>
          <a:prstGeom prst="roundRect">
            <a:avLst>
              <a:gd name="adj" fmla="val 1439"/>
            </a:avLst>
          </a:prstGeom>
          <a:solidFill>
            <a:srgbClr val="DA1B2E"/>
          </a:solidFill>
          <a:ln w="6350">
            <a:solidFill>
              <a:srgbClr val="F334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529" y="2608858"/>
            <a:ext cx="509733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2. Parte dinámica (no cacheable)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68529" y="2809280"/>
            <a:ext cx="5097335" cy="114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Input del usuario, datos del paciente, query específica. Cambia en cada request.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61475" y="3074293"/>
            <a:ext cx="5311444" cy="529530"/>
          </a:xfrm>
          <a:prstGeom prst="roundRect">
            <a:avLst>
              <a:gd name="adj" fmla="val 1439"/>
            </a:avLst>
          </a:prstGeom>
          <a:solidFill>
            <a:srgbClr val="1565C0"/>
          </a:solidFill>
          <a:ln w="6350">
            <a:solidFill>
              <a:srgbClr val="2E7E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529" y="3181350"/>
            <a:ext cx="509733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3. Hit de caché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68529" y="3381772"/>
            <a:ext cx="5097335" cy="114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 la parte estática ya fue procesada, el proveedor la reutiliza. Costo: 10% del precio normal.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61475" y="3652143"/>
            <a:ext cx="5311444" cy="242391"/>
          </a:xfrm>
          <a:prstGeom prst="roundRect">
            <a:avLst>
              <a:gd name="adj" fmla="val 3144"/>
            </a:avLst>
          </a:prstGeom>
          <a:solidFill>
            <a:srgbClr val="F9D2D6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179" y="3720902"/>
            <a:ext cx="125905" cy="100707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88789" y="3715841"/>
            <a:ext cx="5493009" cy="114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Ahorro típico: 70-90% en costos de entrada para workloads con contexto repetido.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6225126" y="1250156"/>
            <a:ext cx="531144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Ejemplo: Anthropic Cache Control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225126" y="1455936"/>
            <a:ext cx="5311444" cy="4696123"/>
          </a:xfrm>
          <a:prstGeom prst="roundRect">
            <a:avLst>
              <a:gd name="adj" fmla="val 162"/>
            </a:avLst>
          </a:prstGeom>
          <a:solidFill>
            <a:srgbClr val="F9D2D6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831" y="1524695"/>
            <a:ext cx="125905" cy="100707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6552441" y="1524000"/>
            <a:ext cx="4883425" cy="4554637"/>
          </a:xfrm>
          <a:prstGeom prst="roundRect">
            <a:avLst>
              <a:gd name="adj" fmla="val 167"/>
            </a:avLst>
          </a:prstGeom>
          <a:solidFill>
            <a:srgbClr val="F2F2F2"/>
          </a:solidFill>
          <a:ln/>
        </p:spPr>
      </p:sp>
      <p:sp>
        <p:nvSpPr>
          <p:cNvPr id="24" name="Text 20"/>
          <p:cNvSpPr/>
          <p:nvPr/>
        </p:nvSpPr>
        <p:spPr>
          <a:xfrm>
            <a:off x="6673286" y="1624707"/>
            <a:ext cx="4641734" cy="4353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anthropic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anthropic.Anthropic()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Parte ESTÁTICA — se cachea (50K tokens)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system_prompt = """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Eres un médico especialista en medicina interna.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Guías clínicas AHA 2023: [... 50K tokens ...]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client.messages.create(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model="claude-sonnet-4-6",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system=[{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"type": "text",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"text": system_prompt,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"cache_control": {"type": "ephemeral"}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}],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messages=[{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"role": "user",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Parte DINÁMICA — cambia por request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"content": "Paciente: 45F, disnea, SpO2 92%"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}]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Request 1: cache MISS → $0.15 (50K tokens)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Request 2: cache HIT  → $0.015 (90% ahorro)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Request 1000: cache HIT → $0.015</a:t>
            </a:r>
            <a:endParaRPr lang="en-US" sz="7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19138"/>
            <a:ext cx="1480406" cy="156766"/>
          </a:xfrm>
          <a:prstGeom prst="roundRect">
            <a:avLst>
              <a:gd name="adj" fmla="val 4861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23386" y="750094"/>
            <a:ext cx="1966169" cy="94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SELECCIÓN DE MODELOS Y COSTOS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661475" y="893862"/>
            <a:ext cx="10868745" cy="322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Model Cascading: Modelos Baratos Primero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61475" y="1328936"/>
            <a:ext cx="5308566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La estrategia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1535212"/>
            <a:ext cx="5308566" cy="237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Intentar primero con el modelo más barato/rápido. Si la confianza es baja, escalar al modelo más caro/inteligente. Reduce costos manteniendo calidad cuando el gating de confianza es confiable.</a:t>
            </a:r>
            <a:endParaRPr lang="en-US" sz="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22946"/>
            <a:ext cx="309555" cy="9525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16074" y="1926134"/>
            <a:ext cx="4953967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Query entra al sistema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16074" y="2132409"/>
            <a:ext cx="4953967" cy="11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Request del usuario o sistema clínico</a:t>
            </a:r>
            <a:endParaRPr lang="en-US" sz="8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252" y="2487116"/>
            <a:ext cx="309555" cy="9525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70851" y="2590304"/>
            <a:ext cx="4799190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Modelo barato (Haiku/GPT-3.5)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70851" y="2796580"/>
            <a:ext cx="4799190" cy="11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Intenta resolver con alta confianza</a:t>
            </a:r>
            <a:endParaRPr lang="en-US" sz="8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30" y="3151287"/>
            <a:ext cx="309555" cy="9525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629" y="3254474"/>
            <a:ext cx="4644413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¿Confianza suficiente?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1325629" y="3460750"/>
            <a:ext cx="4644413" cy="11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Evaluar score de confianza del output</a:t>
            </a:r>
            <a:endParaRPr lang="en-US" sz="8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5807" y="3815457"/>
            <a:ext cx="309555" cy="9525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80406" y="3918645"/>
            <a:ext cx="4489635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Sí → Retornar respuesta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1480406" y="4124920"/>
            <a:ext cx="4489635" cy="11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Costo mínimo, latencia baja</a:t>
            </a:r>
            <a:endParaRPr lang="en-US" sz="8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030" y="4479627"/>
            <a:ext cx="309555" cy="9525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25629" y="4582815"/>
            <a:ext cx="4644413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No → Escalar a GPT-4/Sonnet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1325629" y="4789091"/>
            <a:ext cx="4644413" cy="11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Solo cuando realmente se necesita</a:t>
            </a:r>
            <a:endParaRPr lang="en-US" sz="800" dirty="0"/>
          </a:p>
        </p:txBody>
      </p:sp>
      <p:sp>
        <p:nvSpPr>
          <p:cNvPr id="22" name="Text 15"/>
          <p:cNvSpPr/>
          <p:nvPr/>
        </p:nvSpPr>
        <p:spPr>
          <a:xfrm>
            <a:off x="6228004" y="1328936"/>
            <a:ext cx="5308566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¿Cuándo usar cascading?</a:t>
            </a:r>
            <a:endParaRPr lang="en-US" sz="10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28004" y="1540768"/>
            <a:ext cx="206370" cy="20637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490629" y="1576189"/>
            <a:ext cx="5045941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Alto volumen de tareas similares</a:t>
            </a:r>
            <a:endParaRPr lang="en-US" sz="1000" dirty="0"/>
          </a:p>
        </p:txBody>
      </p:sp>
      <p:sp>
        <p:nvSpPr>
          <p:cNvPr id="25" name="Text 17"/>
          <p:cNvSpPr/>
          <p:nvPr/>
        </p:nvSpPr>
        <p:spPr>
          <a:xfrm>
            <a:off x="6490629" y="1782465"/>
            <a:ext cx="5045941" cy="11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Muchas queries con distribución predecible de dificultad</a:t>
            </a:r>
            <a:endParaRPr lang="en-US" sz="8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28004" y="1991122"/>
            <a:ext cx="206370" cy="206375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490629" y="2026543"/>
            <a:ext cx="5045941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Señales de confianza claras</a:t>
            </a:r>
            <a:endParaRPr lang="en-US" sz="1000" dirty="0"/>
          </a:p>
        </p:txBody>
      </p:sp>
      <p:sp>
        <p:nvSpPr>
          <p:cNvPr id="28" name="Text 19"/>
          <p:cNvSpPr/>
          <p:nvPr/>
        </p:nvSpPr>
        <p:spPr>
          <a:xfrm>
            <a:off x="6490629" y="2232819"/>
            <a:ext cx="5045941" cy="11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Algunos modelos proveen log-probabilities</a:t>
            </a:r>
            <a:endParaRPr lang="en-US" sz="8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28004" y="2441476"/>
            <a:ext cx="206370" cy="206375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6490629" y="2476897"/>
            <a:ext cx="5045941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Presión de costos con requisitos de calidad</a:t>
            </a:r>
            <a:endParaRPr lang="en-US" sz="1000" dirty="0"/>
          </a:p>
        </p:txBody>
      </p:sp>
      <p:sp>
        <p:nvSpPr>
          <p:cNvPr id="31" name="Text 21"/>
          <p:cNvSpPr/>
          <p:nvPr/>
        </p:nvSpPr>
        <p:spPr>
          <a:xfrm>
            <a:off x="6490629" y="2683173"/>
            <a:ext cx="5045941" cy="11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se puede sacrificar precisión clínica</a:t>
            </a:r>
            <a:endParaRPr lang="en-US" sz="800" dirty="0"/>
          </a:p>
        </p:txBody>
      </p:sp>
      <p:sp>
        <p:nvSpPr>
          <p:cNvPr id="32" name="Text 22"/>
          <p:cNvSpPr/>
          <p:nvPr/>
        </p:nvSpPr>
        <p:spPr>
          <a:xfrm>
            <a:off x="6228004" y="2852341"/>
            <a:ext cx="5308566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¿Cuándo evitarlo?</a:t>
            </a:r>
            <a:endParaRPr lang="en-US" sz="10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28004" y="3064173"/>
            <a:ext cx="206370" cy="206375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6490629" y="3099594"/>
            <a:ext cx="5045941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Baja latencia requerida</a:t>
            </a:r>
            <a:endParaRPr lang="en-US" sz="1000" dirty="0"/>
          </a:p>
        </p:txBody>
      </p:sp>
      <p:sp>
        <p:nvSpPr>
          <p:cNvPr id="35" name="Text 24"/>
          <p:cNvSpPr/>
          <p:nvPr/>
        </p:nvSpPr>
        <p:spPr>
          <a:xfrm>
            <a:off x="6490629" y="3305870"/>
            <a:ext cx="5045941" cy="11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cascading agrega delay por llamadas adicionales</a:t>
            </a:r>
            <a:endParaRPr lang="en-US" sz="800" dirty="0"/>
          </a:p>
        </p:txBody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228004" y="3514527"/>
            <a:ext cx="206370" cy="206375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6490629" y="3549948"/>
            <a:ext cx="5045941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Confianza difícil de medir</a:t>
            </a:r>
            <a:endParaRPr lang="en-US" sz="1000" dirty="0"/>
          </a:p>
        </p:txBody>
      </p:sp>
      <p:sp>
        <p:nvSpPr>
          <p:cNvPr id="38" name="Text 26"/>
          <p:cNvSpPr/>
          <p:nvPr/>
        </p:nvSpPr>
        <p:spPr>
          <a:xfrm>
            <a:off x="6490629" y="3756223"/>
            <a:ext cx="5045941" cy="11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Sin señal confiable, el routing falla</a:t>
            </a:r>
            <a:endParaRPr lang="en-US" sz="800" dirty="0"/>
          </a:p>
        </p:txBody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28004" y="3964880"/>
            <a:ext cx="206370" cy="206375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6490629" y="4000302"/>
            <a:ext cx="5045941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Bajo volumen</a:t>
            </a:r>
            <a:endParaRPr lang="en-US" sz="1000" dirty="0"/>
          </a:p>
        </p:txBody>
      </p:sp>
      <p:sp>
        <p:nvSpPr>
          <p:cNvPr id="41" name="Text 28"/>
          <p:cNvSpPr/>
          <p:nvPr/>
        </p:nvSpPr>
        <p:spPr>
          <a:xfrm>
            <a:off x="6490629" y="4206577"/>
            <a:ext cx="5045941" cy="11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complejidad no vale la pena</a:t>
            </a:r>
            <a:endParaRPr lang="en-US" sz="800" dirty="0"/>
          </a:p>
        </p:txBody>
      </p:sp>
      <p:sp>
        <p:nvSpPr>
          <p:cNvPr id="42" name="Shape 29"/>
          <p:cNvSpPr/>
          <p:nvPr/>
        </p:nvSpPr>
        <p:spPr>
          <a:xfrm>
            <a:off x="661475" y="5199955"/>
            <a:ext cx="10868745" cy="938907"/>
          </a:xfrm>
          <a:prstGeom prst="roundRect">
            <a:avLst>
              <a:gd name="adj" fmla="val 812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3" name="Shape 30"/>
          <p:cNvSpPr/>
          <p:nvPr/>
        </p:nvSpPr>
        <p:spPr>
          <a:xfrm>
            <a:off x="667825" y="5206305"/>
            <a:ext cx="10856046" cy="1852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4" name="Text 31"/>
          <p:cNvSpPr/>
          <p:nvPr/>
        </p:nvSpPr>
        <p:spPr>
          <a:xfrm>
            <a:off x="771109" y="5239643"/>
            <a:ext cx="4019350" cy="11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Factor</a:t>
            </a:r>
            <a:endParaRPr lang="en-US" sz="800" dirty="0"/>
          </a:p>
        </p:txBody>
      </p:sp>
      <p:sp>
        <p:nvSpPr>
          <p:cNvPr id="45" name="Text 32"/>
          <p:cNvSpPr/>
          <p:nvPr/>
        </p:nvSpPr>
        <p:spPr>
          <a:xfrm>
            <a:off x="4393594" y="5239643"/>
            <a:ext cx="4015183" cy="11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Modelo único</a:t>
            </a:r>
            <a:endParaRPr lang="en-US" sz="800" dirty="0"/>
          </a:p>
        </p:txBody>
      </p:sp>
      <p:sp>
        <p:nvSpPr>
          <p:cNvPr id="46" name="Text 33"/>
          <p:cNvSpPr/>
          <p:nvPr/>
        </p:nvSpPr>
        <p:spPr>
          <a:xfrm>
            <a:off x="8011912" y="5239643"/>
            <a:ext cx="4018358" cy="11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Cascading</a:t>
            </a:r>
            <a:endParaRPr lang="en-US" sz="800" dirty="0"/>
          </a:p>
        </p:txBody>
      </p:sp>
      <p:sp>
        <p:nvSpPr>
          <p:cNvPr id="47" name="Shape 34"/>
          <p:cNvSpPr/>
          <p:nvPr/>
        </p:nvSpPr>
        <p:spPr>
          <a:xfrm>
            <a:off x="667825" y="5391547"/>
            <a:ext cx="10856046" cy="18524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8" name="Text 35"/>
          <p:cNvSpPr/>
          <p:nvPr/>
        </p:nvSpPr>
        <p:spPr>
          <a:xfrm>
            <a:off x="771109" y="5424884"/>
            <a:ext cx="4019350" cy="11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Precisión</a:t>
            </a:r>
            <a:endParaRPr lang="en-US" sz="800" dirty="0"/>
          </a:p>
        </p:txBody>
      </p:sp>
      <p:sp>
        <p:nvSpPr>
          <p:cNvPr id="49" name="Text 36"/>
          <p:cNvSpPr/>
          <p:nvPr/>
        </p:nvSpPr>
        <p:spPr>
          <a:xfrm>
            <a:off x="4393594" y="5424884"/>
            <a:ext cx="4015183" cy="11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Estable, predecible</a:t>
            </a:r>
            <a:endParaRPr lang="en-US" sz="800" dirty="0"/>
          </a:p>
        </p:txBody>
      </p:sp>
      <p:sp>
        <p:nvSpPr>
          <p:cNvPr id="50" name="Text 37"/>
          <p:cNvSpPr/>
          <p:nvPr/>
        </p:nvSpPr>
        <p:spPr>
          <a:xfrm>
            <a:off x="8011912" y="5424884"/>
            <a:ext cx="4018358" cy="11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Depende de la calidad del routing</a:t>
            </a:r>
            <a:endParaRPr lang="en-US" sz="800" dirty="0"/>
          </a:p>
        </p:txBody>
      </p:sp>
      <p:sp>
        <p:nvSpPr>
          <p:cNvPr id="51" name="Shape 38"/>
          <p:cNvSpPr/>
          <p:nvPr/>
        </p:nvSpPr>
        <p:spPr>
          <a:xfrm>
            <a:off x="667825" y="5576788"/>
            <a:ext cx="10856046" cy="1852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2" name="Text 39"/>
          <p:cNvSpPr/>
          <p:nvPr/>
        </p:nvSpPr>
        <p:spPr>
          <a:xfrm>
            <a:off x="771109" y="5610126"/>
            <a:ext cx="4019350" cy="11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Latencia</a:t>
            </a:r>
            <a:endParaRPr lang="en-US" sz="800" dirty="0"/>
          </a:p>
        </p:txBody>
      </p:sp>
      <p:sp>
        <p:nvSpPr>
          <p:cNvPr id="53" name="Text 40"/>
          <p:cNvSpPr/>
          <p:nvPr/>
        </p:nvSpPr>
        <p:spPr>
          <a:xfrm>
            <a:off x="4393594" y="5610126"/>
            <a:ext cx="4015183" cy="11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Menor (una llamada)</a:t>
            </a:r>
            <a:endParaRPr lang="en-US" sz="800" dirty="0"/>
          </a:p>
        </p:txBody>
      </p:sp>
      <p:sp>
        <p:nvSpPr>
          <p:cNvPr id="54" name="Text 41"/>
          <p:cNvSpPr/>
          <p:nvPr/>
        </p:nvSpPr>
        <p:spPr>
          <a:xfrm>
            <a:off x="8011912" y="5610126"/>
            <a:ext cx="4018358" cy="11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Mayor (fallback agrega llamadas)</a:t>
            </a:r>
            <a:endParaRPr lang="en-US" sz="800" dirty="0"/>
          </a:p>
        </p:txBody>
      </p:sp>
      <p:sp>
        <p:nvSpPr>
          <p:cNvPr id="55" name="Shape 42"/>
          <p:cNvSpPr/>
          <p:nvPr/>
        </p:nvSpPr>
        <p:spPr>
          <a:xfrm>
            <a:off x="667825" y="5762030"/>
            <a:ext cx="10856046" cy="18524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56" name="Text 43"/>
          <p:cNvSpPr/>
          <p:nvPr/>
        </p:nvSpPr>
        <p:spPr>
          <a:xfrm>
            <a:off x="771109" y="5795367"/>
            <a:ext cx="4019350" cy="11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Costo</a:t>
            </a:r>
            <a:endParaRPr lang="en-US" sz="800" dirty="0"/>
          </a:p>
        </p:txBody>
      </p:sp>
      <p:sp>
        <p:nvSpPr>
          <p:cNvPr id="57" name="Text 44"/>
          <p:cNvSpPr/>
          <p:nvPr/>
        </p:nvSpPr>
        <p:spPr>
          <a:xfrm>
            <a:off x="4393594" y="5795367"/>
            <a:ext cx="4015183" cy="11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Mayor por llamada</a:t>
            </a:r>
            <a:endParaRPr lang="en-US" sz="800" dirty="0"/>
          </a:p>
        </p:txBody>
      </p:sp>
      <p:sp>
        <p:nvSpPr>
          <p:cNvPr id="58" name="Text 45"/>
          <p:cNvSpPr/>
          <p:nvPr/>
        </p:nvSpPr>
        <p:spPr>
          <a:xfrm>
            <a:off x="8011912" y="5795367"/>
            <a:ext cx="4018358" cy="11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Menor en promedio si hay muchos wins baratos</a:t>
            </a:r>
            <a:endParaRPr lang="en-US" sz="800" dirty="0"/>
          </a:p>
        </p:txBody>
      </p:sp>
      <p:sp>
        <p:nvSpPr>
          <p:cNvPr id="59" name="Shape 46"/>
          <p:cNvSpPr/>
          <p:nvPr/>
        </p:nvSpPr>
        <p:spPr>
          <a:xfrm>
            <a:off x="667825" y="5947271"/>
            <a:ext cx="10856046" cy="1852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0" name="Text 47"/>
          <p:cNvSpPr/>
          <p:nvPr/>
        </p:nvSpPr>
        <p:spPr>
          <a:xfrm>
            <a:off x="771109" y="5980609"/>
            <a:ext cx="4019350" cy="11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Complejidad</a:t>
            </a:r>
            <a:endParaRPr lang="en-US" sz="800" dirty="0"/>
          </a:p>
        </p:txBody>
      </p:sp>
      <p:sp>
        <p:nvSpPr>
          <p:cNvPr id="61" name="Text 48"/>
          <p:cNvSpPr/>
          <p:nvPr/>
        </p:nvSpPr>
        <p:spPr>
          <a:xfrm>
            <a:off x="4393594" y="5980609"/>
            <a:ext cx="4015183" cy="11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Menor</a:t>
            </a:r>
            <a:endParaRPr lang="en-US" sz="800" dirty="0"/>
          </a:p>
        </p:txBody>
      </p:sp>
      <p:sp>
        <p:nvSpPr>
          <p:cNvPr id="62" name="Text 49"/>
          <p:cNvSpPr/>
          <p:nvPr/>
        </p:nvSpPr>
        <p:spPr>
          <a:xfrm>
            <a:off x="8011912" y="5980609"/>
            <a:ext cx="4018358" cy="11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Mayor (routing, monitoreo)</a:t>
            </a:r>
            <a:endParaRPr lang="en-US" sz="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0088"/>
            <a:ext cx="10868745" cy="412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Agenda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6086323" y="1259979"/>
            <a:ext cx="19050" cy="4897834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4" name="Shape 2"/>
          <p:cNvSpPr/>
          <p:nvPr/>
        </p:nvSpPr>
        <p:spPr>
          <a:xfrm>
            <a:off x="5570547" y="1398885"/>
            <a:ext cx="395873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5" name="Shape 3"/>
          <p:cNvSpPr/>
          <p:nvPr/>
        </p:nvSpPr>
        <p:spPr>
          <a:xfrm>
            <a:off x="5947370" y="1259979"/>
            <a:ext cx="296954" cy="296962"/>
          </a:xfrm>
          <a:prstGeom prst="roundRect">
            <a:avLst>
              <a:gd name="adj" fmla="val 2566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96830" y="1284684"/>
            <a:ext cx="197936" cy="247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61475" y="1305322"/>
            <a:ext cx="4774485" cy="206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Fundamentos de Foundational Models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61475" y="1555651"/>
            <a:ext cx="4774485" cy="164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Ventana de contexto, tokens, limitaciones y modelos mentales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25275" y="2074168"/>
            <a:ext cx="395873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370" y="1935262"/>
            <a:ext cx="296954" cy="296962"/>
          </a:xfrm>
          <a:prstGeom prst="roundRect">
            <a:avLst>
              <a:gd name="adj" fmla="val 2566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96830" y="1959967"/>
            <a:ext cx="197936" cy="247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2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755735" y="1980605"/>
            <a:ext cx="4774485" cy="206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Ingeniería de Prompts Estructurada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755735" y="2230934"/>
            <a:ext cx="4774485" cy="164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componentes, XML tags, salidas JSON y optimización por modelo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70547" y="2698452"/>
            <a:ext cx="395873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7370" y="2559546"/>
            <a:ext cx="296954" cy="296962"/>
          </a:xfrm>
          <a:prstGeom prst="roundRect">
            <a:avLst>
              <a:gd name="adj" fmla="val 2566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96830" y="2584252"/>
            <a:ext cx="197936" cy="247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3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61475" y="2604889"/>
            <a:ext cx="4774485" cy="206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In-Context Learning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61475" y="2855218"/>
            <a:ext cx="4774485" cy="164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Zero-shot, Few-shot y Many-shot con ejemplos clínicos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25275" y="3322737"/>
            <a:ext cx="395873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7370" y="3183830"/>
            <a:ext cx="296954" cy="296962"/>
          </a:xfrm>
          <a:prstGeom prst="roundRect">
            <a:avLst>
              <a:gd name="adj" fmla="val 2566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96830" y="3208536"/>
            <a:ext cx="197936" cy="247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4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755735" y="3229173"/>
            <a:ext cx="4774485" cy="206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Técnicas Avanzadas de Prompting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755735" y="3479502"/>
            <a:ext cx="4774485" cy="164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CoT, Self-Consistency, Extended Thinking y Prompt Chaining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70547" y="3947021"/>
            <a:ext cx="395873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7370" y="3808115"/>
            <a:ext cx="296954" cy="296962"/>
          </a:xfrm>
          <a:prstGeom prst="roundRect">
            <a:avLst>
              <a:gd name="adj" fmla="val 2566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96830" y="3832820"/>
            <a:ext cx="197936" cy="247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5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661475" y="3853458"/>
            <a:ext cx="4774485" cy="206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Selección de Modelos y Costos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61475" y="4103787"/>
            <a:ext cx="4774485" cy="164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Framework de decisión, prompt caching y model cascading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25275" y="4571305"/>
            <a:ext cx="395873" cy="19050"/>
          </a:xfrm>
          <a:prstGeom prst="roundRect">
            <a:avLst>
              <a:gd name="adj" fmla="val 39999"/>
            </a:avLst>
          </a:prstGeom>
          <a:solidFill>
            <a:srgbClr val="F33447"/>
          </a:solidFill>
          <a:ln/>
        </p:spPr>
      </p:sp>
      <p:sp>
        <p:nvSpPr>
          <p:cNvPr id="30" name="Shape 28"/>
          <p:cNvSpPr/>
          <p:nvPr/>
        </p:nvSpPr>
        <p:spPr>
          <a:xfrm>
            <a:off x="5947370" y="4432399"/>
            <a:ext cx="296954" cy="296962"/>
          </a:xfrm>
          <a:prstGeom prst="roundRect">
            <a:avLst>
              <a:gd name="adj" fmla="val 2566"/>
            </a:avLst>
          </a:prstGeom>
          <a:solidFill>
            <a:srgbClr val="DA1B2E"/>
          </a:solidFill>
          <a:ln w="6350">
            <a:solidFill>
              <a:srgbClr val="F334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96830" y="4457105"/>
            <a:ext cx="197936" cy="247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6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6755735" y="4477742"/>
            <a:ext cx="4774485" cy="206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Foundational Models en Medicina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755735" y="4728071"/>
            <a:ext cx="4774485" cy="329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Aplicaciones reales, recorrido del paciente, research biomédica y marco ético OMS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570547" y="5195590"/>
            <a:ext cx="395873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35" name="Shape 33"/>
          <p:cNvSpPr/>
          <p:nvPr/>
        </p:nvSpPr>
        <p:spPr>
          <a:xfrm>
            <a:off x="5947370" y="5056684"/>
            <a:ext cx="296954" cy="296962"/>
          </a:xfrm>
          <a:prstGeom prst="roundRect">
            <a:avLst>
              <a:gd name="adj" fmla="val 2566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96830" y="5081389"/>
            <a:ext cx="197936" cy="247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7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661475" y="5102027"/>
            <a:ext cx="4774485" cy="206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Resumen y Práctica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61475" y="5352355"/>
            <a:ext cx="4774485" cy="164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Módulos interactivos de aitutorial.dev + sistema de triage con LLM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95424"/>
            <a:ext cx="2565435" cy="222349"/>
          </a:xfrm>
          <a:prstGeom prst="roundRect">
            <a:avLst>
              <a:gd name="adj" fmla="val 3427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49281" y="739279"/>
            <a:ext cx="2999407" cy="134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FUNDAMENTOS DE FOUNDATIONAL MODELS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953988"/>
            <a:ext cx="10868745" cy="457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Prompting y Medicina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61475" y="1638102"/>
            <a:ext cx="5255883" cy="228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Benchmarks clínicos (2024–2025)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81210" y="2041922"/>
            <a:ext cx="3416314" cy="483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86.5%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61475" y="2666107"/>
            <a:ext cx="5255883" cy="189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Med-PaLM 2 en USMLE (MedQA)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581210" y="3110210"/>
            <a:ext cx="3416314" cy="483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81.4%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61475" y="3734395"/>
            <a:ext cx="5255883" cy="189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GPT-4 en USMLE (5-shot)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581210" y="4178498"/>
            <a:ext cx="3416314" cy="483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62%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61475" y="4802684"/>
            <a:ext cx="5255883" cy="189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Claude 3 Opus en diagnóstico radiológico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581210" y="5246787"/>
            <a:ext cx="3416314" cy="483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65%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61475" y="5870972"/>
            <a:ext cx="5255883" cy="189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Informes de Rx de tórax preferidos sobre radiólogos (Gemini Mosaic)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80687" y="1638102"/>
            <a:ext cx="5255883" cy="228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Modelos especializados</a:t>
            </a:r>
            <a:endParaRPr lang="en-US" sz="14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80687" y="1968798"/>
            <a:ext cx="292688" cy="29269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686680" y="2019102"/>
            <a:ext cx="4849890" cy="228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Med-PaLM 2 (Google)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686680" y="2338487"/>
            <a:ext cx="4849890" cy="37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86.5% en MedQA. Fine-tuning médico + chain of retrieval. Preferido sobre médicos en 8 de 9 ejes clínicos. (2023) - No es publico</a:t>
            </a:r>
            <a:endParaRPr lang="en-US" sz="11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0687" y="2899073"/>
            <a:ext cx="292688" cy="29269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686680" y="2949377"/>
            <a:ext cx="4849890" cy="228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GPT-4o / o3 (OpenAI)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686680" y="3268762"/>
            <a:ext cx="4849890" cy="568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Aprueba USMLE (United States Medical Licensing Examination)con puntuaciones competitivas. o3 supera el 90% en exámenes de medicina general (MRCGP, 2025).</a:t>
            </a:r>
            <a:endParaRPr lang="en-US" sz="11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0687" y="4018955"/>
            <a:ext cx="292688" cy="29269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686680" y="4069259"/>
            <a:ext cx="4849890" cy="228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Claude 3 Opus (Anthropic)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686680" y="4388644"/>
            <a:ext cx="4849890" cy="37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62% de precisión en diagnóstico diferencial radiológico, superando a GPT-4o y Gemini 1.5 Pro.</a:t>
            </a:r>
            <a:endParaRPr lang="en-US" sz="115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80687" y="4949230"/>
            <a:ext cx="292688" cy="29269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686680" y="4999534"/>
            <a:ext cx="4849890" cy="228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Gemini Mosaic (Google DeepMind)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6686680" y="5318919"/>
            <a:ext cx="4849890" cy="37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65% de informes de Rx de tórax evaluados como equivalentes o mejores que los de radiólogos expertos.</a:t>
            </a:r>
            <a:endParaRPr lang="en-US" sz="11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89471"/>
            <a:ext cx="1938091" cy="189508"/>
          </a:xfrm>
          <a:prstGeom prst="roundRect">
            <a:avLst>
              <a:gd name="adj" fmla="val 4021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36284" y="726877"/>
            <a:ext cx="2398057" cy="114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FOUNDATIONAL MODELS EN MEDICINA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905272"/>
            <a:ext cx="10868745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Recorrido del Paciente: Oportunidades con Foundational Models</a:t>
            </a:r>
            <a:endParaRPr lang="en-US" sz="2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783953"/>
            <a:ext cx="5401433" cy="11982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9688" y="1921371"/>
            <a:ext cx="5075805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1. Síntomas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49688" y="2155825"/>
            <a:ext cx="5075805" cy="688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LLMs triangulan urgencia y orientan al paciente antes de la consulta.</a:t>
            </a:r>
            <a:endParaRPr lang="en-US" sz="950" dirty="0"/>
          </a:p>
          <a:p>
            <a:pPr algn="l"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✓ Éxito:</a:t>
            </a:r>
            <a:pPr algn="l"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GPT-3.5 redujo preguntas repetidas del 14,4% al 3,2% y emociones negativas del 7,8% al 2,4% (2.164 pacientes).</a:t>
            </a:r>
            <a:endParaRPr lang="en-US" sz="9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→ Futuro:</a:t>
            </a:r>
            <a:pPr algn="l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Asistentes virtuales que derivan al especialista correcto en tiempo real.</a:t>
            </a:r>
            <a:endParaRPr lang="en-US" sz="9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8787" y="1783953"/>
            <a:ext cx="5401433" cy="119826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17001" y="1921371"/>
            <a:ext cx="5075805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2. Diagnóstico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317001" y="2155825"/>
            <a:ext cx="5075805" cy="688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Apoyo al clínico con análisis de imágenes y extracción de datos de medicación.</a:t>
            </a:r>
            <a:endParaRPr lang="en-US" sz="950" dirty="0"/>
          </a:p>
          <a:p>
            <a:pPr algn="l"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✓ Éxito:</a:t>
            </a:r>
            <a:pPr algn="l"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MedGemma logró 81% de informes de rayos X equivalentes al clínico y 98,7% de precisión en extracción de medicación.</a:t>
            </a:r>
            <a:endParaRPr lang="en-US" sz="9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→ Futuro:</a:t>
            </a:r>
            <a:pPr algn="l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Diagnóstico diferencial asistido integrado.</a:t>
            </a:r>
            <a:endParaRPr lang="en-US" sz="9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048099"/>
            <a:ext cx="5401433" cy="135076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49688" y="3185517"/>
            <a:ext cx="5075805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3. Tratamiento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849688" y="3419971"/>
            <a:ext cx="5075805" cy="841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Automatización de notas clínicas y borradores de comunicación médica.</a:t>
            </a:r>
            <a:endParaRPr lang="en-US" sz="950" dirty="0"/>
          </a:p>
          <a:p>
            <a:pPr algn="l"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✓ Éxito:</a:t>
            </a:r>
            <a:pPr algn="l"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ChatGLM2-6B redujo la transcripción clínica en un 80,7%; 197 clínicos ya utilizan borradores automáticos; 50% menos tiempo en notas clínicas (dato agregado de múltiples implementaciones).</a:t>
            </a:r>
            <a:endParaRPr lang="en-US" sz="9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→ Futuro:</a:t>
            </a:r>
            <a:pPr algn="l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Ambient listening: notas generadas en tiempo real durante la consulta.</a:t>
            </a:r>
            <a:endParaRPr lang="en-US" sz="9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28787" y="3048099"/>
            <a:ext cx="5401433" cy="135076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317001" y="3185517"/>
            <a:ext cx="5075805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4. Seguimiento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6317001" y="3419971"/>
            <a:ext cx="5075805" cy="688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Soporte personalizado post-consulta y monitoreo de adherencia.</a:t>
            </a:r>
            <a:endParaRPr lang="en-US" sz="950" dirty="0"/>
          </a:p>
          <a:p>
            <a:pPr algn="l"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✓ Éxito:</a:t>
            </a:r>
            <a:pPr algn="l"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GPT-4 en terapia cognitiva grupal con 244 participantes redujo la tasa de deserción en 23 puntos.</a:t>
            </a:r>
            <a:endParaRPr lang="en-US" sz="9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→ Futuro:</a:t>
            </a:r>
            <a:pPr algn="l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Monitoreo continuo, alertas tempranas y soporte de salud mental 24/7.</a:t>
            </a:r>
            <a:endParaRPr lang="en-US" sz="9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4464745"/>
            <a:ext cx="5401433" cy="119826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49688" y="4602163"/>
            <a:ext cx="5075805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5. Educación y Salud Mental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849688" y="4836616"/>
            <a:ext cx="5075805" cy="688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LLMs simulan pacientes y apoyan la formación clínica y el bienestar mental.</a:t>
            </a:r>
            <a:endParaRPr lang="en-US" sz="950" dirty="0"/>
          </a:p>
          <a:p>
            <a:pPr algn="l"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✓ Éxito:</a:t>
            </a:r>
            <a:pPr algn="l"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Simulación de pacientes diversos para entrenamiento médico.</a:t>
            </a:r>
            <a:endParaRPr lang="en-US" sz="9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→ Futuro:</a:t>
            </a:r>
            <a:pPr algn="l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Agentes de soporte emocional 24/7 y entornos de simulación clínica adaptativos para residentes.</a:t>
            </a:r>
            <a:endParaRPr lang="en-US" sz="950" dirty="0"/>
          </a:p>
        </p:txBody>
      </p:sp>
      <p:sp>
        <p:nvSpPr>
          <p:cNvPr id="20" name="Shape 13"/>
          <p:cNvSpPr/>
          <p:nvPr/>
        </p:nvSpPr>
        <p:spPr>
          <a:xfrm>
            <a:off x="661475" y="5737126"/>
            <a:ext cx="10868745" cy="431304"/>
          </a:xfrm>
          <a:prstGeom prst="roundRect">
            <a:avLst>
              <a:gd name="adj" fmla="val 1767"/>
            </a:avLst>
          </a:prstGeom>
          <a:solidFill>
            <a:srgbClr val="F9D2D6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6190" y="5842000"/>
            <a:ext cx="124715" cy="9981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035619" y="5834162"/>
            <a:ext cx="10369886" cy="243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Fuentes: </a:t>
            </a:r>
            <a:pPr algn="l" indent="0" marL="0">
              <a:lnSpc>
                <a:spcPct val="102000"/>
              </a:lnSpc>
              <a:buNone/>
            </a:pPr>
            <a:r>
              <a:rPr lang="en-US" sz="750" b="1" i="1" u="sng" dirty="0">
                <a:solidFill>
                  <a:srgbClr val="DA1B2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Frontiers in Digital Health (2025)</a:t>
            </a:r>
            <a:pPr algn="l" indent="0" marL="0">
              <a:lnSpc>
                <a:spcPct val="102000"/>
              </a:lnSpc>
              <a:buNone/>
            </a:pPr>
            <a:r>
              <a:rPr lang="en-US" sz="75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LLMs in real-world clinical workflows · </a:t>
            </a:r>
            <a:pPr algn="l" indent="0" marL="0">
              <a:lnSpc>
                <a:spcPct val="102000"/>
              </a:lnSpc>
              <a:buNone/>
            </a:pPr>
            <a:r>
              <a:rPr lang="en-US" sz="750" b="1" i="1" u="sng" dirty="0">
                <a:solidFill>
                  <a:srgbClr val="DA1B2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MedGemma, Google DeepMind (2025)</a:t>
            </a:r>
            <a:pPr algn="l" indent="0" marL="0">
              <a:lnSpc>
                <a:spcPct val="102000"/>
              </a:lnSpc>
              <a:buNone/>
            </a:pPr>
            <a:r>
              <a:rPr lang="en-US" sz="75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</a:t>
            </a:r>
            <a:pPr algn="l" indent="0" marL="0">
              <a:lnSpc>
                <a:spcPct val="102000"/>
              </a:lnSpc>
              <a:buNone/>
            </a:pPr>
            <a:r>
              <a:rPr lang="en-US" sz="750" b="1" i="1" u="sng" dirty="0">
                <a:solidFill>
                  <a:srgbClr val="DA1B2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Nature Medicine (2025)</a:t>
            </a:r>
            <a:pPr algn="l" indent="0" marL="0">
              <a:lnSpc>
                <a:spcPct val="102000"/>
              </a:lnSpc>
              <a:buNone/>
            </a:pPr>
            <a:r>
              <a:rPr lang="en-US" sz="75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Reliability of LLMs as medical assistants · </a:t>
            </a:r>
            <a:pPr algn="l" indent="0" marL="0">
              <a:lnSpc>
                <a:spcPct val="102000"/>
              </a:lnSpc>
              <a:buNone/>
            </a:pPr>
            <a:r>
              <a:rPr lang="en-US" sz="750" b="1" i="1" u="sng" dirty="0">
                <a:solidFill>
                  <a:srgbClr val="DA1B2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WHO — Ethics &amp; Governance of AI for Health: LMMs (2024)</a:t>
            </a:r>
            <a:endParaRPr lang="en-US" sz="7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66055"/>
            <a:ext cx="2198335" cy="215205"/>
          </a:xfrm>
          <a:prstGeom prst="roundRect">
            <a:avLst>
              <a:gd name="adj" fmla="val 3541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46404" y="708521"/>
            <a:ext cx="2638061" cy="13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FOUNDATIONAL MODELS EN MEDICINA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915194"/>
            <a:ext cx="10868745" cy="884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Research Biomédica: Oportunidades con Foundational Models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927027"/>
            <a:ext cx="5391908" cy="17814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8205" y="2087563"/>
            <a:ext cx="4994646" cy="221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Hipótesis y Literatura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98205" y="2359720"/>
            <a:ext cx="4994646" cy="1188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LLMs aceleran la revisión de literatura y la generación de hipótesis a escala.</a:t>
            </a:r>
            <a:endParaRPr lang="en-US" sz="1100" dirty="0"/>
          </a:p>
          <a:p>
            <a:pPr algn="l" indent="0" marL="0">
              <a:lnSpc>
                <a:spcPct val="107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✓ Éxito:</a:t>
            </a:r>
            <a:pPr algn="l" indent="0" marL="0">
              <a:lnSpc>
                <a:spcPct val="107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BioGPT extrae relaciones gen-enfermedad de PubMed; Elicit supera 1M de búsquedas de revisión sistemática.</a:t>
            </a:r>
            <a:endParaRPr lang="en-US" sz="110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11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→ Futuro:</a:t>
            </a:r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Agentes que generan hipótesis falsificables a partir del corpus completo de literatura biomédica.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38213" y="1927027"/>
            <a:ext cx="5392007" cy="178147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74943" y="2087563"/>
            <a:ext cx="4994745" cy="221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Target y Diseño Molecular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374943" y="2359720"/>
            <a:ext cx="4994745" cy="1188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LLMs predicen estructuras proteicas y optimizan candidatos a fármacos.</a:t>
            </a:r>
            <a:endParaRPr lang="en-US" sz="1100" dirty="0"/>
          </a:p>
          <a:p>
            <a:pPr algn="l" indent="0" marL="0">
              <a:lnSpc>
                <a:spcPct val="107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✓ Éxito:</a:t>
            </a:r>
            <a:pPr algn="l" indent="0" marL="0">
              <a:lnSpc>
                <a:spcPct val="107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AlphaFold predijo estructuras de 200M+ proteínas; ISM001-055 (Insilico Medicine) es el primer fármaco diseñado con IA en Fase II (fibrosis pulmonar).</a:t>
            </a:r>
            <a:endParaRPr lang="en-US" sz="110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11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→ Futuro:</a:t>
            </a:r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Diseño </a:t>
            </a:r>
            <a:pPr algn="l" indent="0" marL="0">
              <a:lnSpc>
                <a:spcPct val="107000"/>
              </a:lnSpc>
              <a:buNone/>
            </a:pPr>
            <a:r>
              <a:rPr lang="en-US" sz="1100" i="1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 novo</a:t>
            </a:r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optimizado para eficacia, toxicidad y manufacturabilidad simultáneamente.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793331"/>
            <a:ext cx="5391908" cy="178147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98205" y="3953867"/>
            <a:ext cx="4994646" cy="221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Preclínica y Validación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898205" y="4226024"/>
            <a:ext cx="4994646" cy="1188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LLMs combinan datos multimodales para predecir indicaciones y contraindicaciones.</a:t>
            </a:r>
            <a:endParaRPr lang="en-US" sz="1100" dirty="0"/>
          </a:p>
          <a:p>
            <a:pPr algn="l" indent="0" marL="0">
              <a:lnSpc>
                <a:spcPct val="107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✓ Éxito:</a:t>
            </a:r>
            <a:pPr algn="l" indent="0" marL="0">
              <a:lnSpc>
                <a:spcPct val="107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TxGNN (Harvard) predice indicaciones para 17.000 enfermedades; Recursion Pharmaceuticals integra LLMs con microscopía.</a:t>
            </a:r>
            <a:endParaRPr lang="en-US" sz="110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11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→ Futuro:</a:t>
            </a:r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Gemelos digitales celulares que reducen la necesidad de ensayos en animales.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38213" y="3793331"/>
            <a:ext cx="5392007" cy="178147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374943" y="3953867"/>
            <a:ext cx="4994745" cy="221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Ensayos Clínicos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6374943" y="4226024"/>
            <a:ext cx="4994745" cy="1188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LLMs simplifican el reclutamiento y automatizan la gestión de protocolos.</a:t>
            </a:r>
            <a:endParaRPr lang="en-US" sz="1100" dirty="0"/>
          </a:p>
          <a:p>
            <a:pPr algn="l" indent="0" marL="0">
              <a:lnSpc>
                <a:spcPct val="107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✓ Éxito:</a:t>
            </a:r>
            <a:pPr algn="l" indent="0" marL="0">
              <a:lnSpc>
                <a:spcPct val="107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GPT-4 mejora el reclutamiento simplificando criterios de elegibilidad (Nature Medicine, 2024); matching de pacientes en Mayo Clinic con NLP. Detección automática de interacciones medicamentosas en sistemas de HCE.</a:t>
            </a:r>
            <a:endParaRPr lang="en-US" sz="110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11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→ Futuro:</a:t>
            </a:r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Protocolos adaptativos por IA, análisis intermedio automatizado y reportes regulatorios generados automáticamente.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661475" y="5670153"/>
            <a:ext cx="10868745" cy="521692"/>
          </a:xfrm>
          <a:prstGeom prst="roundRect">
            <a:avLst>
              <a:gd name="adj" fmla="val 1461"/>
            </a:avLst>
          </a:prstGeom>
          <a:solidFill>
            <a:srgbClr val="F9D2D6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2957" y="5799138"/>
            <a:ext cx="141482" cy="113209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85922" y="5790307"/>
            <a:ext cx="10302816" cy="289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Fuentes: </a:t>
            </a:r>
            <a:pPr algn="l" indent="0" marL="0">
              <a:lnSpc>
                <a:spcPct val="107000"/>
              </a:lnSpc>
              <a:buNone/>
            </a:pPr>
            <a:r>
              <a:rPr lang="en-US" sz="850" b="1" i="1" u="sng" dirty="0">
                <a:solidFill>
                  <a:srgbClr val="DA1B2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BioGPT, Microsoft Research (2022)</a:t>
            </a:r>
            <a:pPr algn="l" indent="0" marL="0">
              <a:lnSpc>
                <a:spcPct val="107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</a:t>
            </a:r>
            <a:pPr algn="l" indent="0" marL="0">
              <a:lnSpc>
                <a:spcPct val="107000"/>
              </a:lnSpc>
              <a:buNone/>
            </a:pPr>
            <a:r>
              <a:rPr lang="en-US" sz="850" b="1" i="1" u="sng" dirty="0">
                <a:solidFill>
                  <a:srgbClr val="DA1B2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AlphaFold 2/3, DeepMind (2022/2024)</a:t>
            </a:r>
            <a:pPr algn="l" indent="0" marL="0">
              <a:lnSpc>
                <a:spcPct val="107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</a:t>
            </a:r>
            <a:pPr algn="l" indent="0" marL="0">
              <a:lnSpc>
                <a:spcPct val="107000"/>
              </a:lnSpc>
              <a:buNone/>
            </a:pPr>
            <a:r>
              <a:rPr lang="en-US" sz="850" b="1" i="1" u="sng" dirty="0">
                <a:solidFill>
                  <a:srgbClr val="DA1B2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ESMFold, Meta AI (2022)</a:t>
            </a:r>
            <a:pPr algn="l" indent="0" marL="0">
              <a:lnSpc>
                <a:spcPct val="107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</a:t>
            </a:r>
            <a:pPr algn="l" indent="0" marL="0">
              <a:lnSpc>
                <a:spcPct val="107000"/>
              </a:lnSpc>
              <a:buNone/>
            </a:pPr>
            <a:r>
              <a:rPr lang="en-US" sz="850" b="1" i="1" u="sng" dirty="0">
                <a:solidFill>
                  <a:srgbClr val="DA1B2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Insilico Medicine — ISM001-055 Fase II</a:t>
            </a:r>
            <a:pPr algn="l" indent="0" marL="0">
              <a:lnSpc>
                <a:spcPct val="107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</a:t>
            </a:r>
            <a:pPr algn="l" indent="0" marL="0">
              <a:lnSpc>
                <a:spcPct val="107000"/>
              </a:lnSpc>
              <a:buNone/>
            </a:pPr>
            <a:r>
              <a:rPr lang="en-US" sz="850" b="1" i="1" u="sng" dirty="0">
                <a:solidFill>
                  <a:srgbClr val="DA1B2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TxGNN, Harvard (Nature Medicine, 2024)</a:t>
            </a:r>
            <a:pPr algn="l" indent="0" marL="0">
              <a:lnSpc>
                <a:spcPct val="107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</a:t>
            </a:r>
            <a:pPr algn="l" indent="0" marL="0">
              <a:lnSpc>
                <a:spcPct val="107000"/>
              </a:lnSpc>
              <a:buNone/>
            </a:pPr>
            <a:r>
              <a:rPr lang="en-US" sz="850" b="1" i="1" u="sng" dirty="0">
                <a:solidFill>
                  <a:srgbClr val="DA1B2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Recursion Pharmaceuticals</a:t>
            </a:r>
            <a:pPr algn="l" indent="0" marL="0">
              <a:lnSpc>
                <a:spcPct val="107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</a:t>
            </a:r>
            <a:pPr algn="l" indent="0" marL="0">
              <a:lnSpc>
                <a:spcPct val="107000"/>
              </a:lnSpc>
              <a:buNone/>
            </a:pPr>
            <a:r>
              <a:rPr lang="en-US" sz="850" b="1" i="1" u="sng" dirty="0">
                <a:solidFill>
                  <a:srgbClr val="DA1B2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1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Consensus</a:t>
            </a:r>
            <a:pPr algn="l" indent="0" marL="0">
              <a:lnSpc>
                <a:spcPct val="107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</a:t>
            </a:r>
            <a:pPr algn="l" indent="0" marL="0">
              <a:lnSpc>
                <a:spcPct val="107000"/>
              </a:lnSpc>
              <a:buNone/>
            </a:pPr>
            <a:r>
              <a:rPr lang="en-US" sz="850" b="1" i="1" u="sng" dirty="0">
                <a:solidFill>
                  <a:srgbClr val="DA1B2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1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Elicit</a:t>
            </a:r>
            <a:endParaRPr lang="en-US" sz="8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908645"/>
            <a:ext cx="2751267" cy="269180"/>
          </a:xfrm>
          <a:prstGeom prst="roundRect">
            <a:avLst>
              <a:gd name="adj" fmla="val 2831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67735" y="961727"/>
            <a:ext cx="3148331" cy="163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FOUNDATIONAL MODELS EN MEDICINA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1230908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Casos de Éxito: Donde se Aplican Hoy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661475" y="1983978"/>
            <a:ext cx="1147833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Evidencia clínica real de implementaciones en entornos hospitalarios y de atención primaria documentadas entre 2023 y 2025.</a:t>
            </a:r>
            <a:endParaRPr lang="en-US" sz="13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381448"/>
            <a:ext cx="443001" cy="4430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1475" y="2990552"/>
            <a:ext cx="2592620" cy="553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Documentación Clínica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61475" y="3624064"/>
            <a:ext cx="2592620" cy="2077244"/>
          </a:xfrm>
          <a:prstGeom prst="rect">
            <a:avLst/>
          </a:prstGeom>
          <a:noFill/>
          <a:ln/>
        </p:spPr>
        <p:txBody>
          <a:bodyPr wrap="square" lIns="0" tIns="70882" rIns="0" bIns="0" rtlCol="0" anchor="t">
            <a:normAutofit/>
          </a:bodyPr>
          <a:lstStyle/>
          <a:p>
            <a:pPr algn="l" marL="274320" indent="-274320">
              <a:lnSpc>
                <a:spcPct val="117000"/>
              </a:lnSpc>
              <a:buSzPct val="100000"/>
              <a:buChar char="•"/>
            </a:pPr>
            <a:r>
              <a:rPr lang="en-US" sz="13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50%</a:t>
            </a:r>
            <a:pPr algn="l" marL="274320" indent="-274320">
              <a:lnSpc>
                <a:spcPct val="11700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menos tiempo en notas clínicas</a:t>
            </a:r>
            <a:endParaRPr lang="en-US" sz="1350" dirty="0"/>
          </a:p>
          <a:p>
            <a:pPr algn="l" marL="274320" indent="-274320">
              <a:lnSpc>
                <a:spcPct val="117000"/>
              </a:lnSpc>
              <a:buSzPct val="100000"/>
              <a:buChar char="•"/>
            </a:pPr>
            <a:r>
              <a:rPr lang="en-US" sz="13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80,7%</a:t>
            </a:r>
            <a:pPr algn="l" marL="274320" indent="-274320">
              <a:lnSpc>
                <a:spcPct val="11700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reducción en transcripción (ChatGLM2-6B)</a:t>
            </a:r>
            <a:endParaRPr lang="en-US" sz="1350" dirty="0"/>
          </a:p>
          <a:p>
            <a:pPr algn="l" marL="274320" indent="-274320">
              <a:lnSpc>
                <a:spcPct val="11700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197 clínicos usan borradores automáticos en atención primaria, gastroenterología y hepatología</a:t>
            </a:r>
            <a:endParaRPr lang="en-US" sz="13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0183" y="2381448"/>
            <a:ext cx="443001" cy="4430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20183" y="2990552"/>
            <a:ext cx="2592620" cy="553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Diagnóstico y Soporte Clínico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3420183" y="3624064"/>
            <a:ext cx="2592620" cy="2325291"/>
          </a:xfrm>
          <a:prstGeom prst="rect">
            <a:avLst/>
          </a:prstGeom>
          <a:noFill/>
          <a:ln/>
        </p:spPr>
        <p:txBody>
          <a:bodyPr wrap="square" lIns="0" tIns="70882" rIns="0" bIns="0" rtlCol="0" anchor="t">
            <a:normAutofit/>
          </a:bodyPr>
          <a:lstStyle/>
          <a:p>
            <a:pPr algn="l" marL="274320" indent="-274320">
              <a:lnSpc>
                <a:spcPct val="11700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MedGemma (Google): </a:t>
            </a:r>
            <a:pPr algn="l" marL="274320" indent="-274320">
              <a:lnSpc>
                <a:spcPct val="117000"/>
              </a:lnSpc>
              <a:buSzPct val="100000"/>
              <a:buChar char="•"/>
            </a:pPr>
            <a:r>
              <a:rPr lang="en-US" sz="13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81%</a:t>
            </a:r>
            <a:pPr algn="l" marL="274320" indent="-274320">
              <a:lnSpc>
                <a:spcPct val="11700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informes de rayos X con decisiones equivalentes</a:t>
            </a:r>
            <a:endParaRPr lang="en-US" sz="1350" dirty="0"/>
          </a:p>
          <a:p>
            <a:pPr algn="l" marL="274320" indent="-274320">
              <a:lnSpc>
                <a:spcPct val="117000"/>
              </a:lnSpc>
              <a:buSzPct val="100000"/>
              <a:buChar char="•"/>
            </a:pPr>
            <a:r>
              <a:rPr lang="en-US" sz="13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98,7%</a:t>
            </a:r>
            <a:pPr algn="l" marL="274320" indent="-274320">
              <a:lnSpc>
                <a:spcPct val="11700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precisión en extracción de datos de medicación</a:t>
            </a:r>
            <a:endParaRPr lang="en-US" sz="1350" dirty="0"/>
          </a:p>
          <a:p>
            <a:pPr algn="l" marL="274320" indent="-274320">
              <a:lnSpc>
                <a:spcPct val="11700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Detección automática de interacciones medicamentosas</a:t>
            </a:r>
            <a:endParaRPr lang="en-US" sz="13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78892" y="2381448"/>
            <a:ext cx="443001" cy="4430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78892" y="2990552"/>
            <a:ext cx="2592620" cy="553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Comunicación con Pacientes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6178892" y="3624064"/>
            <a:ext cx="2592620" cy="1829197"/>
          </a:xfrm>
          <a:prstGeom prst="rect">
            <a:avLst/>
          </a:prstGeom>
          <a:noFill/>
          <a:ln/>
        </p:spPr>
        <p:txBody>
          <a:bodyPr wrap="square" lIns="0" tIns="70882" rIns="0" bIns="0" rtlCol="0" anchor="t">
            <a:normAutofit/>
          </a:bodyPr>
          <a:lstStyle/>
          <a:p>
            <a:pPr algn="l" marL="274320" indent="-274320">
              <a:lnSpc>
                <a:spcPct val="11700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2.164 pacientes atendidos vía GPT-3.5 en recepción ambulatoria</a:t>
            </a:r>
            <a:endParaRPr lang="en-US" sz="1350" dirty="0"/>
          </a:p>
          <a:p>
            <a:pPr algn="l" marL="274320" indent="-274320">
              <a:lnSpc>
                <a:spcPct val="11700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Preguntas repetidas: </a:t>
            </a:r>
            <a:pPr algn="l" marL="274320" indent="-274320">
              <a:lnSpc>
                <a:spcPct val="117000"/>
              </a:lnSpc>
              <a:buSzPct val="100000"/>
              <a:buChar char="•"/>
            </a:pPr>
            <a:r>
              <a:rPr lang="en-US" sz="13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14,4% → 3,2%</a:t>
            </a:r>
            <a:endParaRPr lang="en-US" sz="1350" dirty="0"/>
          </a:p>
          <a:p>
            <a:pPr algn="l" marL="274320" indent="-274320">
              <a:lnSpc>
                <a:spcPct val="11700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Emociones negativas: </a:t>
            </a:r>
            <a:pPr algn="l" marL="274320" indent="-274320">
              <a:lnSpc>
                <a:spcPct val="117000"/>
              </a:lnSpc>
              <a:buSzPct val="100000"/>
              <a:buChar char="•"/>
            </a:pPr>
            <a:r>
              <a:rPr lang="en-US" sz="13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7,8% → 2,4%</a:t>
            </a:r>
            <a:endParaRPr lang="en-US" sz="13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37600" y="2381448"/>
            <a:ext cx="443001" cy="44301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937600" y="2990552"/>
            <a:ext cx="2592620" cy="553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Educación y Salud Mental</a:t>
            </a:r>
            <a:endParaRPr lang="en-US" sz="1700" dirty="0"/>
          </a:p>
        </p:txBody>
      </p:sp>
      <p:sp>
        <p:nvSpPr>
          <p:cNvPr id="17" name="Text 11"/>
          <p:cNvSpPr/>
          <p:nvPr/>
        </p:nvSpPr>
        <p:spPr>
          <a:xfrm>
            <a:off x="8937600" y="3624064"/>
            <a:ext cx="2592620" cy="2325291"/>
          </a:xfrm>
          <a:prstGeom prst="rect">
            <a:avLst/>
          </a:prstGeom>
          <a:noFill/>
          <a:ln/>
        </p:spPr>
        <p:txBody>
          <a:bodyPr wrap="square" lIns="0" tIns="70882" rIns="0" bIns="0" rtlCol="0" anchor="t">
            <a:normAutofit/>
          </a:bodyPr>
          <a:lstStyle/>
          <a:p>
            <a:pPr algn="l" marL="274320" indent="-274320">
              <a:lnSpc>
                <a:spcPct val="11700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GPT-4 en terapia cognitiva grupal: 244 participantes, deserción cayó </a:t>
            </a:r>
            <a:pPr algn="l" marL="274320" indent="-274320">
              <a:lnSpc>
                <a:spcPct val="117000"/>
              </a:lnSpc>
              <a:buSzPct val="100000"/>
              <a:buChar char="•"/>
            </a:pPr>
            <a:r>
              <a:rPr lang="en-US" sz="13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23 puntos</a:t>
            </a:r>
            <a:endParaRPr lang="en-US" sz="1350" dirty="0"/>
          </a:p>
          <a:p>
            <a:pPr algn="l" marL="274320" indent="-274320">
              <a:lnSpc>
                <a:spcPct val="11700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Simulación de pacientes diversos para entrenamiento médico</a:t>
            </a:r>
            <a:endParaRPr lang="en-US" sz="1350" dirty="0"/>
          </a:p>
          <a:p>
            <a:pPr algn="l" marL="274320" indent="-274320">
              <a:lnSpc>
                <a:spcPct val="11700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Cadena de razonamiento paso a paso para el aprendizaje clínico</a:t>
            </a:r>
            <a:endParaRPr lang="en-US" sz="13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77577"/>
            <a:ext cx="2310052" cy="226020"/>
          </a:xfrm>
          <a:prstGeom prst="roundRect">
            <a:avLst>
              <a:gd name="adj" fmla="val 3371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50670" y="822127"/>
            <a:ext cx="2741246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FOUNDATIONAL MODELS EN MEDICINA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1041003"/>
            <a:ext cx="10868745" cy="464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Oportunidades vs. Riesgos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1475" y="1543348"/>
            <a:ext cx="10868745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Marco de la OMS para Grandes Modelos Multimodales (2024)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1475" y="2009874"/>
            <a:ext cx="5252906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Oportunidades</a:t>
            </a:r>
            <a:endParaRPr lang="en-US" sz="14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7234" y="2352229"/>
            <a:ext cx="223137" cy="2231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4857" y="2347615"/>
            <a:ext cx="2084534" cy="464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Democratizar el acceso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144857" y="2906018"/>
            <a:ext cx="2084534" cy="775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Información médica personalizada para pacientes y cuidadores, también en zonas de baja cobertura sanitaria.</a:t>
            </a:r>
            <a:endParaRPr lang="en-US" sz="11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02225" y="2352229"/>
            <a:ext cx="223137" cy="2231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29847" y="2347615"/>
            <a:ext cx="2084534" cy="464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Liberar tiempo clínico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3829847" y="2906018"/>
            <a:ext cx="2084534" cy="775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Automatización de notas, registros electrónicos y traducción médica, reduciendo la carga administrativa.</a:t>
            </a:r>
            <a:endParaRPr lang="en-US" sz="11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7234" y="3873847"/>
            <a:ext cx="223137" cy="22314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4857" y="3869234"/>
            <a:ext cx="2084534" cy="464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Acelerar la investigación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144857" y="4427637"/>
            <a:ext cx="2084534" cy="581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Análisis de grandes volúmenes de datos, diseño de fármacos y revisión de literatura a escala.</a:t>
            </a:r>
            <a:endParaRPr lang="en-US" sz="11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02225" y="3873847"/>
            <a:ext cx="223137" cy="22314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829847" y="3869234"/>
            <a:ext cx="2084534" cy="464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Mejorar la educación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3829847" y="4427637"/>
            <a:ext cx="2084534" cy="969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Simulación adaptativa, razonamiento paso a paso y escenarios clínicos virtuales para profesionales en formación.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6283664" y="2009874"/>
            <a:ext cx="5252906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Riesgos (OMS)</a:t>
            </a:r>
            <a:endParaRPr lang="en-US" sz="14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83664" y="2347615"/>
            <a:ext cx="2579623" cy="166985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527637" y="2515394"/>
            <a:ext cx="2167875" cy="464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Alucinaciones y desinformación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6527637" y="3073797"/>
            <a:ext cx="2167875" cy="775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Respuestas plausibles pero falsas que pueden parecer autoritativas, con consecuencias graves en contextos clínicos.</a:t>
            </a:r>
            <a:endParaRPr lang="en-US" sz="115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956947" y="2347615"/>
            <a:ext cx="2579623" cy="166985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200920" y="2515394"/>
            <a:ext cx="2167875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Sesgo y equidad</a:t>
            </a:r>
            <a:endParaRPr lang="en-US" sz="1450" dirty="0"/>
          </a:p>
        </p:txBody>
      </p:sp>
      <p:sp>
        <p:nvSpPr>
          <p:cNvPr id="25" name="Text 17"/>
          <p:cNvSpPr/>
          <p:nvPr/>
        </p:nvSpPr>
        <p:spPr>
          <a:xfrm>
            <a:off x="9200920" y="2841427"/>
            <a:ext cx="2167875" cy="775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Datos de entrenamiento sesgados hacia países de altos ingresos, lo que puede perpetuar desigualdades en salud.</a:t>
            </a:r>
            <a:endParaRPr lang="en-US" sz="115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283664" y="4111129"/>
            <a:ext cx="2579623" cy="1863824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527637" y="4278908"/>
            <a:ext cx="2167875" cy="464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Privacidad y datos sensibles</a:t>
            </a:r>
            <a:endParaRPr lang="en-US" sz="1450" dirty="0"/>
          </a:p>
        </p:txBody>
      </p:sp>
      <p:sp>
        <p:nvSpPr>
          <p:cNvPr id="28" name="Text 19"/>
          <p:cNvSpPr/>
          <p:nvPr/>
        </p:nvSpPr>
        <p:spPr>
          <a:xfrm>
            <a:off x="6527637" y="4837311"/>
            <a:ext cx="2167875" cy="775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Cumplimiento de normativas de protección de datos (RGPD), consentimiento informado y anonimización robusta.</a:t>
            </a:r>
            <a:endParaRPr lang="en-US" sz="115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956947" y="4111129"/>
            <a:ext cx="2579623" cy="1863824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9200920" y="4278908"/>
            <a:ext cx="2167875" cy="464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Dependencia tecnológica</a:t>
            </a:r>
            <a:endParaRPr lang="en-US" sz="1450" dirty="0"/>
          </a:p>
        </p:txBody>
      </p:sp>
      <p:sp>
        <p:nvSpPr>
          <p:cNvPr id="31" name="Text 21"/>
          <p:cNvSpPr/>
          <p:nvPr/>
        </p:nvSpPr>
        <p:spPr>
          <a:xfrm>
            <a:off x="9200920" y="4837311"/>
            <a:ext cx="2167875" cy="969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Riesgo de degradación de habilidades clínicas y </a:t>
            </a:r>
            <a:pPr algn="l" indent="0" marL="0">
              <a:lnSpc>
                <a:spcPct val="109000"/>
              </a:lnSpc>
              <a:buNone/>
            </a:pPr>
            <a:r>
              <a:rPr lang="en-US" sz="1150" i="1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automation bias</a:t>
            </a:r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cuando el médico delega en exceso al modelo.</a:t>
            </a:r>
            <a:endParaRPr lang="en-US" sz="11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84907"/>
            <a:ext cx="2048221" cy="200521"/>
          </a:xfrm>
          <a:prstGeom prst="roundRect">
            <a:avLst>
              <a:gd name="adj" fmla="val 3800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40649" y="724495"/>
            <a:ext cx="2499456" cy="12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FOUNDATIONAL MODELS EN MEDICINA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914896"/>
            <a:ext cx="10868745" cy="412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Mitigaciones Clave y Para Pensar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661475" y="1511598"/>
            <a:ext cx="5273444" cy="206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Mitigaciones que Funcionan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61475" y="1800622"/>
            <a:ext cx="263915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61475" y="2005806"/>
            <a:ext cx="5273444" cy="1905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8" name="Text 6"/>
          <p:cNvSpPr/>
          <p:nvPr/>
        </p:nvSpPr>
        <p:spPr>
          <a:xfrm>
            <a:off x="661475" y="2109887"/>
            <a:ext cx="5273444" cy="206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Human-in-the-loop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61475" y="2389783"/>
            <a:ext cx="5273444" cy="329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Supervisión humana obligatoria en todas las implementaciones clínicas exitosas documentadas. Sin excepción.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1475" y="2891433"/>
            <a:ext cx="263915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61475" y="3096617"/>
            <a:ext cx="5273444" cy="1905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12" name="Text 10"/>
          <p:cNvSpPr/>
          <p:nvPr/>
        </p:nvSpPr>
        <p:spPr>
          <a:xfrm>
            <a:off x="661475" y="3200698"/>
            <a:ext cx="5273444" cy="206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RAG + Fine-tuning local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61475" y="3480594"/>
            <a:ext cx="5273444" cy="329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i="1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Retrieval-augmented generation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 datos específicos del entorno clínico local para mejorar precisión y relevancia.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1475" y="3982244"/>
            <a:ext cx="263915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1475" y="4187428"/>
            <a:ext cx="5273444" cy="1905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16" name="Text 14"/>
          <p:cNvSpPr/>
          <p:nvPr/>
        </p:nvSpPr>
        <p:spPr>
          <a:xfrm>
            <a:off x="661475" y="4291509"/>
            <a:ext cx="5273444" cy="206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Monitoreo continuo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61475" y="4571405"/>
            <a:ext cx="5273444" cy="329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Evaluación pre/post intervención, encuestas de usabilidad y métricas de calidad clínica de forma sistemática.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1475" y="5073055"/>
            <a:ext cx="263915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1475" y="5278239"/>
            <a:ext cx="5273444" cy="1905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20" name="Text 18"/>
          <p:cNvSpPr/>
          <p:nvPr/>
        </p:nvSpPr>
        <p:spPr>
          <a:xfrm>
            <a:off x="661475" y="5382320"/>
            <a:ext cx="5273444" cy="206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Gobernanza por etapa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61475" y="5662216"/>
            <a:ext cx="5273444" cy="329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OMS propone regulación diferenciada para desarrollo, provisión y despliegue de los modelos en salud.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63126" y="1511598"/>
            <a:ext cx="5273444" cy="206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Para Reflexionar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63126" y="1800622"/>
            <a:ext cx="2599863" cy="1610618"/>
          </a:xfrm>
          <a:prstGeom prst="roundRect">
            <a:avLst>
              <a:gd name="adj" fmla="val 473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4133" y="1951633"/>
            <a:ext cx="2297849" cy="412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Escasez de evidencia robusta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14133" y="2437705"/>
            <a:ext cx="2297849" cy="822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Solo </a:t>
            </a:r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4 estudios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(2024–2025) cumplen criterios rigurosos de implementación real clínica. La mayor parte de la evidencia es observacional o en entornos controlados.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936707" y="1800622"/>
            <a:ext cx="2599863" cy="1610618"/>
          </a:xfrm>
          <a:prstGeom prst="roundRect">
            <a:avLst>
              <a:gd name="adj" fmla="val 473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87714" y="1951633"/>
            <a:ext cx="2297849" cy="412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La brecha de uso es real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087714" y="2437705"/>
            <a:ext cx="2297849" cy="822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Precisión del LLM solo: </a:t>
            </a:r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94,9%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Uso por el público general sin guía: </a:t>
            </a:r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&lt;34,5%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El modelo no es el único factor; el contexto de uso importa tanto como la tecnología.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63126" y="3484959"/>
            <a:ext cx="2599863" cy="1610618"/>
          </a:xfrm>
          <a:prstGeom prst="roundRect">
            <a:avLst>
              <a:gd name="adj" fmla="val 473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14133" y="3635970"/>
            <a:ext cx="2297849" cy="412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¿Quién responde cuando falla?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14133" y="4122043"/>
            <a:ext cx="2297849" cy="822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OMS exige marcos de responsabilidad claros para cuando un LMM cause daño. Hoy esa pregunta sigue sin respuesta regulatoria definitiva en la mayoría de países.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936707" y="3484959"/>
            <a:ext cx="2599863" cy="1610618"/>
          </a:xfrm>
          <a:prstGeom prst="roundRect">
            <a:avLst>
              <a:gd name="adj" fmla="val 473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87714" y="3635970"/>
            <a:ext cx="2297849" cy="206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Los 6 principios OMS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9087714" y="3915866"/>
            <a:ext cx="2297849" cy="822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Autonomía · Bienestar · Transparencia · Responsabilidad · Equidad · Sostenibilidad.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 marco ético ineludible para cualquier despliegue en salud.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63126" y="5178425"/>
            <a:ext cx="5273444" cy="527447"/>
          </a:xfrm>
          <a:prstGeom prst="roundRect">
            <a:avLst>
              <a:gd name="adj" fmla="val 1445"/>
            </a:avLst>
          </a:prstGeom>
          <a:solidFill>
            <a:srgbClr val="F9D2D6"/>
          </a:solidFill>
          <a:ln/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5084" y="5290245"/>
            <a:ext cx="164897" cy="131961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6691939" y="5277644"/>
            <a:ext cx="4712674" cy="329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Fuentes: WHO (2024), Frontiers in Digital Health (2025), Nature Medicine (2025), PMC Reviews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3298"/>
            <a:ext cx="10868745" cy="464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Agenda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828753" y="1325563"/>
            <a:ext cx="19050" cy="4859139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4" name="Shape 2"/>
          <p:cNvSpPr/>
          <p:nvPr/>
        </p:nvSpPr>
        <p:spPr>
          <a:xfrm>
            <a:off x="977032" y="1483320"/>
            <a:ext cx="446275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5" name="Shape 3"/>
          <p:cNvSpPr/>
          <p:nvPr/>
        </p:nvSpPr>
        <p:spPr>
          <a:xfrm>
            <a:off x="661425" y="1325563"/>
            <a:ext cx="334656" cy="334665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7135" y="1353393"/>
            <a:ext cx="223137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572677" y="1376660"/>
            <a:ext cx="9957543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Fundamentos de Foundational Models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72677" y="1665188"/>
            <a:ext cx="9957543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Ventana de contexto, tokens, limitaciones y modelos mentales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77032" y="2204244"/>
            <a:ext cx="446275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10" name="Shape 8"/>
          <p:cNvSpPr/>
          <p:nvPr/>
        </p:nvSpPr>
        <p:spPr>
          <a:xfrm>
            <a:off x="661425" y="2046486"/>
            <a:ext cx="334656" cy="334665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7135" y="2074317"/>
            <a:ext cx="223137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2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572677" y="2097584"/>
            <a:ext cx="9957543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Ingeniería de Prompts Estructurada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572677" y="2386112"/>
            <a:ext cx="9957543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componentes, XML tags, salidas JSON y optimización por modelo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77032" y="2925167"/>
            <a:ext cx="446275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15" name="Shape 13"/>
          <p:cNvSpPr/>
          <p:nvPr/>
        </p:nvSpPr>
        <p:spPr>
          <a:xfrm>
            <a:off x="661425" y="2767409"/>
            <a:ext cx="334656" cy="334665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7135" y="2795240"/>
            <a:ext cx="223137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3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572677" y="2818507"/>
            <a:ext cx="9957543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In-Context Learning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572677" y="3107035"/>
            <a:ext cx="9957543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Zero-shot, Few-shot y Many-shot con ejemplos clínicos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77032" y="3646091"/>
            <a:ext cx="446275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20" name="Shape 18"/>
          <p:cNvSpPr/>
          <p:nvPr/>
        </p:nvSpPr>
        <p:spPr>
          <a:xfrm>
            <a:off x="661425" y="3488333"/>
            <a:ext cx="334656" cy="334665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7135" y="3516164"/>
            <a:ext cx="223137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4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1572677" y="3539430"/>
            <a:ext cx="9957543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Técnicas Avanzadas de Prompting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572677" y="3827959"/>
            <a:ext cx="9957543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CoT, Self-Consistency, Extended Thinking y Prompt Chaining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77032" y="4367014"/>
            <a:ext cx="446275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25" name="Shape 23"/>
          <p:cNvSpPr/>
          <p:nvPr/>
        </p:nvSpPr>
        <p:spPr>
          <a:xfrm>
            <a:off x="661425" y="4209256"/>
            <a:ext cx="334656" cy="334665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7135" y="4237087"/>
            <a:ext cx="223137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5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1572677" y="4260354"/>
            <a:ext cx="9957543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Selección de Modelos y Costos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572677" y="4548882"/>
            <a:ext cx="9957543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Framework de decisión, prompt caching, model cascading y TOON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77032" y="5087938"/>
            <a:ext cx="446275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30" name="Shape 28"/>
          <p:cNvSpPr/>
          <p:nvPr/>
        </p:nvSpPr>
        <p:spPr>
          <a:xfrm>
            <a:off x="661425" y="4930180"/>
            <a:ext cx="334656" cy="334665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7135" y="4958011"/>
            <a:ext cx="223137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6</a:t>
            </a: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1572677" y="4981277"/>
            <a:ext cx="9957543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Foundational Models en Medicina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1572677" y="5269805"/>
            <a:ext cx="9957543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Aplicaciones reales, recorrido del paciente, research biomédica y marco ético OMS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77032" y="5808861"/>
            <a:ext cx="446275" cy="19050"/>
          </a:xfrm>
          <a:prstGeom prst="roundRect">
            <a:avLst>
              <a:gd name="adj" fmla="val 39999"/>
            </a:avLst>
          </a:prstGeom>
          <a:solidFill>
            <a:srgbClr val="F33447"/>
          </a:solidFill>
          <a:ln/>
        </p:spPr>
      </p:sp>
      <p:sp>
        <p:nvSpPr>
          <p:cNvPr id="35" name="Shape 33"/>
          <p:cNvSpPr/>
          <p:nvPr/>
        </p:nvSpPr>
        <p:spPr>
          <a:xfrm>
            <a:off x="661425" y="5651103"/>
            <a:ext cx="334656" cy="334665"/>
          </a:xfrm>
          <a:prstGeom prst="roundRect">
            <a:avLst>
              <a:gd name="adj" fmla="val 2277"/>
            </a:avLst>
          </a:prstGeom>
          <a:solidFill>
            <a:srgbClr val="DA1B2E"/>
          </a:solidFill>
          <a:ln w="6350">
            <a:solidFill>
              <a:srgbClr val="F3344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7135" y="5678934"/>
            <a:ext cx="223137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7</a:t>
            </a:r>
            <a:endParaRPr lang="en-US" sz="1750" dirty="0"/>
          </a:p>
        </p:txBody>
      </p:sp>
      <p:sp>
        <p:nvSpPr>
          <p:cNvPr id="37" name="Text 35"/>
          <p:cNvSpPr/>
          <p:nvPr/>
        </p:nvSpPr>
        <p:spPr>
          <a:xfrm>
            <a:off x="1572677" y="5702201"/>
            <a:ext cx="9957543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Resumen y Práctica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1572677" y="5990729"/>
            <a:ext cx="9957543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Módulos interactivos de aitutorial.dev + sistema de triage con LLM</a:t>
            </a:r>
            <a:endParaRPr lang="en-US" sz="11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86693"/>
            <a:ext cx="1683303" cy="269180"/>
          </a:xfrm>
          <a:prstGeom prst="roundRect">
            <a:avLst>
              <a:gd name="adj" fmla="val 2831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67735" y="739775"/>
            <a:ext cx="2080367" cy="163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RESUMEN Y PRÁCTICA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1008955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¡A Practicar!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661475" y="1762026"/>
            <a:ext cx="1147833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Completa los siguientes módulos interactivos en </a:t>
            </a:r>
            <a:pPr algn="l" indent="0" marL="0">
              <a:lnSpc>
                <a:spcPct val="117000"/>
              </a:lnSpc>
              <a:buNone/>
            </a:pPr>
            <a:r>
              <a:rPr lang="en-US" sz="13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aitutorial.dev</a:t>
            </a:r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Tiempo estimado: </a:t>
            </a:r>
            <a:pPr algn="l" indent="0" marL="0">
              <a:lnSpc>
                <a:spcPct val="117000"/>
              </a:lnSpc>
              <a:buNone/>
            </a:pPr>
            <a:r>
              <a:rPr lang="en-US" sz="13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45-60 minutos</a:t>
            </a:r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3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308920"/>
            <a:ext cx="5218280" cy="16659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0575" y="2505174"/>
            <a:ext cx="4870130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Foundational Models Fundamentals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90575" y="2914948"/>
            <a:ext cx="4870130" cy="863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900"/>
              </a:spcAft>
              <a:buNone/>
            </a:pPr>
            <a:r>
              <a:rPr lang="en-US" sz="1350" b="1" u="sng" dirty="0">
                <a:solidFill>
                  <a:srgbClr val="DA1B2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aitutorial.dev/prompting/llm-foundamentals</a:t>
            </a:r>
            <a:endParaRPr lang="en-US" sz="13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Ventana de contexto, tokens, limitaciones y modelo mental del completado.</a:t>
            </a:r>
            <a:endParaRPr lang="en-US" sz="13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7275" y="4107755"/>
            <a:ext cx="4952479" cy="166598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56376" y="4304010"/>
            <a:ext cx="4604329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Structured Prompt Engineering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256376" y="4713784"/>
            <a:ext cx="4604329" cy="863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900"/>
              </a:spcAft>
              <a:buNone/>
            </a:pPr>
            <a:r>
              <a:rPr lang="en-US" sz="1350" b="1" u="sng" dirty="0">
                <a:solidFill>
                  <a:srgbClr val="DA1B2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aitutorial.dev/prompting/structured-prompt-engineering</a:t>
            </a:r>
            <a:endParaRPr lang="en-US" sz="13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6 componentes, XML tags y salidas JSON en la práctica.</a:t>
            </a:r>
            <a:endParaRPr lang="en-US" sz="13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18290" y="2308920"/>
            <a:ext cx="5218280" cy="166598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647391" y="2505174"/>
            <a:ext cx="4870130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Técnicas Avanzadas de Prompting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6647391" y="2914948"/>
            <a:ext cx="4870130" cy="863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900"/>
              </a:spcAft>
              <a:buNone/>
            </a:pPr>
            <a:r>
              <a:rPr lang="en-US" sz="1350" b="1" u="sng" dirty="0">
                <a:solidFill>
                  <a:srgbClr val="DA1B2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aitutorial.dev/prompting/advanced-techniques</a:t>
            </a:r>
            <a:endParaRPr lang="en-US" sz="13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CoT, Self-Consistency, Extended Thinking y Prompt Chaining aplicados.</a:t>
            </a:r>
            <a:endParaRPr lang="en-US" sz="13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84091" y="4107755"/>
            <a:ext cx="4952479" cy="191402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13191" y="4304010"/>
            <a:ext cx="4604329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Prompt Optimization &amp; Testing</a:t>
            </a:r>
            <a:endParaRPr lang="en-US" sz="1700" dirty="0"/>
          </a:p>
        </p:txBody>
      </p:sp>
      <p:sp>
        <p:nvSpPr>
          <p:cNvPr id="17" name="Text 11"/>
          <p:cNvSpPr/>
          <p:nvPr/>
        </p:nvSpPr>
        <p:spPr>
          <a:xfrm>
            <a:off x="6913191" y="4713784"/>
            <a:ext cx="4604329" cy="1111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900"/>
              </a:spcAft>
              <a:buNone/>
            </a:pPr>
            <a:r>
              <a:rPr lang="en-US" sz="1350" b="1" u="sng" dirty="0">
                <a:solidFill>
                  <a:srgbClr val="DA1B2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aitutorial.dev/prompting/prompt-optimization-and-testing</a:t>
            </a:r>
            <a:endParaRPr lang="en-US" sz="13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Evaluar, iterar y llevar prompts a producción de forma rigurosa.</a:t>
            </a:r>
            <a:endParaRPr lang="en-US" sz="13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07727"/>
            <a:ext cx="2405002" cy="233263"/>
          </a:xfrm>
          <a:prstGeom prst="roundRect">
            <a:avLst>
              <a:gd name="adj" fmla="val 3267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53548" y="753765"/>
            <a:ext cx="2830442" cy="141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TÉCNICAS AVANZADAS DE PROMPTING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980877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Versionado de Prompts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61475" y="1710333"/>
            <a:ext cx="524705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¿Por qué versionar prompts?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61475" y="2050058"/>
            <a:ext cx="5247052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prompt es código. Debe tratarse con el mismo rigor que el código fuente: control de versiones, historial de cambios, rollback ante regresiones.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567682"/>
            <a:ext cx="5247052" cy="10902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0210" y="2740223"/>
            <a:ext cx="482578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Trazabilidad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0210" y="3079948"/>
            <a:ext cx="4825780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Saber exactamente qué prompt generó qué output en producción. Crítico para auditorías clínicas y regulatorias.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757712"/>
            <a:ext cx="5247052" cy="10902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0210" y="3930253"/>
            <a:ext cx="482578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Rollback seguro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910210" y="4269978"/>
            <a:ext cx="4825780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 una nueva versión degrada las métricas, revertir en segundos al prompt anterior.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947741"/>
            <a:ext cx="5247052" cy="109021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10210" y="5120283"/>
            <a:ext cx="482578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A/B Testing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910210" y="5460008"/>
            <a:ext cx="4825780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Comparar dos versiones del prompt en producción con tráfico real antes de hacer el cambio definitivo.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289518" y="1710333"/>
            <a:ext cx="524705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Herramientas y prácticas</a:t>
            </a:r>
            <a:endParaRPr lang="en-US" sz="15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89518" y="2062460"/>
            <a:ext cx="307074" cy="30708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21307" y="2115245"/>
            <a:ext cx="4815263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Git para prompts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6721307" y="2454970"/>
            <a:ext cx="4815263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Guardar prompts en archivos .txt o .md versionados en Git. Simple y efectivo para equipos pequeños.</a:t>
            </a:r>
            <a:endParaRPr lang="en-US" sz="12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89518" y="3060005"/>
            <a:ext cx="307074" cy="30708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721307" y="3112790"/>
            <a:ext cx="4815263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LangSmith (LangChain)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6721307" y="3452515"/>
            <a:ext cx="4815263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Plataforma de observabilidad: traza cada llamada LLM, versiona prompts y compara métricas entre versiones.</a:t>
            </a:r>
            <a:endParaRPr lang="en-US" sz="12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89518" y="4057551"/>
            <a:ext cx="307074" cy="30708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721307" y="4110335"/>
            <a:ext cx="4815263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PromptLayer</a:t>
            </a:r>
            <a:endParaRPr lang="en-US" sz="1500" dirty="0"/>
          </a:p>
        </p:txBody>
      </p:sp>
      <p:sp>
        <p:nvSpPr>
          <p:cNvPr id="25" name="Text 17"/>
          <p:cNvSpPr/>
          <p:nvPr/>
        </p:nvSpPr>
        <p:spPr>
          <a:xfrm>
            <a:off x="6721307" y="4450060"/>
            <a:ext cx="4815263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Logging y versionado de prompts con dashboard de métricas. Integración directa con OpenAI y Anthropic.</a:t>
            </a:r>
            <a:endParaRPr lang="en-US" sz="12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289518" y="5055096"/>
            <a:ext cx="307074" cy="30708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721307" y="5107880"/>
            <a:ext cx="4815263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Weights &amp; Biases (W&amp;B)</a:t>
            </a:r>
            <a:endParaRPr lang="en-US" sz="1500" dirty="0"/>
          </a:p>
        </p:txBody>
      </p:sp>
      <p:sp>
        <p:nvSpPr>
          <p:cNvPr id="28" name="Text 19"/>
          <p:cNvSpPr/>
          <p:nvPr/>
        </p:nvSpPr>
        <p:spPr>
          <a:xfrm>
            <a:off x="6721307" y="5447605"/>
            <a:ext cx="4815263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Usado en ML tradicional, ahora con soporte para experimentos de prompts y evaluación de LLMs.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19733"/>
            <a:ext cx="2105468" cy="204192"/>
          </a:xfrm>
          <a:prstGeom prst="roundRect">
            <a:avLst>
              <a:gd name="adj" fmla="val 3732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42038" y="760016"/>
            <a:ext cx="2553926" cy="123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TÉCNICAS AVANZADAS DE PROMPTING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954484"/>
            <a:ext cx="10868745" cy="419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Self-Consistency: Ejemplo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1475" y="1565374"/>
            <a:ext cx="5270467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¿Cómo funciona?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1851720"/>
            <a:ext cx="5270467" cy="337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 lugar de confiar en una sola respuesta, se generan múltiples respuestas independientes y se selecciona la más frecuente.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61475" y="2265263"/>
            <a:ext cx="5270467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Cuándo usar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1475" y="2551609"/>
            <a:ext cx="5270467" cy="363835"/>
          </a:xfrm>
          <a:prstGeom prst="rect">
            <a:avLst/>
          </a:prstGeom>
          <a:noFill/>
          <a:ln/>
        </p:spPr>
        <p:txBody>
          <a:bodyPr wrap="square" lIns="0" tIns="53752" rIns="0" bIns="0" rtlCol="0" anchor="t">
            <a:normAutofit/>
          </a:bodyPr>
          <a:lstStyle/>
          <a:p>
            <a:pPr algn="l" marL="213360" indent="-213360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Decisiones de alto riesgo (médicas, financieras, legales).</a:t>
            </a:r>
            <a:endParaRPr lang="en-US" sz="1050" dirty="0"/>
          </a:p>
          <a:p>
            <a:pPr algn="l" marL="213360" indent="-213360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Razonamiento complejo donde los errores son costosos.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61475" y="2991842"/>
            <a:ext cx="5270467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Consideración de costo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1475" y="3278188"/>
            <a:ext cx="5270467" cy="363835"/>
          </a:xfrm>
          <a:prstGeom prst="rect">
            <a:avLst/>
          </a:prstGeom>
          <a:noFill/>
          <a:ln/>
        </p:spPr>
        <p:txBody>
          <a:bodyPr wrap="square" lIns="0" tIns="53752" rIns="0" bIns="0" rtlCol="0" anchor="t">
            <a:normAutofit/>
          </a:bodyPr>
          <a:lstStyle/>
          <a:p>
            <a:pPr algn="l" marL="213360" indent="-213360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3-5 llamadas al modelo = 3-5x costo.</a:t>
            </a:r>
            <a:endParaRPr lang="en-US" sz="1050" dirty="0"/>
          </a:p>
          <a:p>
            <a:pPr algn="l" marL="213360" indent="-213360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Usar solo cuando la precisión lo justifica.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66103" y="1565374"/>
            <a:ext cx="5270467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Ejemplo: Votación por Mayoría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6103" y="1861245"/>
            <a:ext cx="5270467" cy="3936603"/>
          </a:xfrm>
          <a:prstGeom prst="roundRect">
            <a:avLst>
              <a:gd name="adj" fmla="val 194"/>
            </a:avLst>
          </a:prstGeom>
          <a:solidFill>
            <a:srgbClr val="F9D2D6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441" y="1980605"/>
            <a:ext cx="167973" cy="13434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702753" y="1971179"/>
            <a:ext cx="4699478" cy="3707209"/>
          </a:xfrm>
          <a:prstGeom prst="roundRect">
            <a:avLst>
              <a:gd name="adj" fmla="val 206"/>
            </a:avLst>
          </a:prstGeom>
          <a:solidFill>
            <a:srgbClr val="F2F2F2"/>
          </a:solidFill>
          <a:ln/>
        </p:spPr>
      </p:sp>
      <p:sp>
        <p:nvSpPr>
          <p:cNvPr id="15" name="Text 12"/>
          <p:cNvSpPr/>
          <p:nvPr/>
        </p:nvSpPr>
        <p:spPr>
          <a:xfrm>
            <a:off x="6863980" y="2105521"/>
            <a:ext cx="4377025" cy="3438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CASO CLÍNICO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Paciente: 45M, dolor abdominal derecho, fiebre 38.5°C, náuseas 12h.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1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Diagnóstico: Apendicitis aguda → Urgencia: ALTA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2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Diagnóstico: Apendicitis aguda → Urgencia: ALTA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3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Diagnóstico: Cólico renal → Urgencia: MEDIA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RESULTADO (votación)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Apendicitis aguda — ALTA urgencia (2/3 votos)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Confianza: 67%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61475" y="5969695"/>
            <a:ext cx="11478330" cy="168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Ejemplo: </a:t>
            </a:r>
            <a:pPr algn="l" indent="0" marL="0">
              <a:lnSpc>
                <a:spcPct val="105000"/>
              </a:lnSpc>
              <a:buNone/>
            </a:pPr>
            <a:r>
              <a:rPr lang="en-US" sz="1050" b="1" u="sng" dirty="0">
                <a:solidFill>
                  <a:srgbClr val="DA1B2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aitutorial.dev/prompting/advanced-techniques</a:t>
            </a:r>
            <a:endParaRPr lang="en-US" sz="10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31540"/>
            <a:ext cx="3332178" cy="323056"/>
          </a:xfrm>
          <a:prstGeom prst="roundRect">
            <a:avLst>
              <a:gd name="adj" fmla="val 2359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88968" y="795238"/>
            <a:ext cx="3686777" cy="195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TÉCNICAS AVANZADAS DE PROMPTING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1131094"/>
            <a:ext cx="10868745" cy="664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1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Extended Thinking (Anthropic)</a:t>
            </a:r>
            <a:endParaRPr lang="en-US" sz="4150" dirty="0"/>
          </a:p>
        </p:txBody>
      </p:sp>
      <p:sp>
        <p:nvSpPr>
          <p:cNvPr id="5" name="Text 3"/>
          <p:cNvSpPr/>
          <p:nvPr/>
        </p:nvSpPr>
        <p:spPr>
          <a:xfrm>
            <a:off x="661475" y="2082602"/>
            <a:ext cx="10868745" cy="659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modelos Claude con extended thinking exponen el proceso interno de razonamiento mediante tags </a:t>
            </a:r>
            <a:pPr algn="l" indent="0" marL="0">
              <a:lnSpc>
                <a:spcPct val="127000"/>
              </a:lnSpc>
              <a:buNone/>
            </a:pPr>
            <a:r>
              <a:rPr lang="en-US" sz="1650" dirty="0">
                <a:solidFill>
                  <a:srgbClr val="3B353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&lt;thinking&gt;</a:t>
            </a:r>
            <a:pPr algn="l" indent="0" marL="0">
              <a:lnSpc>
                <a:spcPct val="1270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habilitando capacidades avanzadas para aplicaciones críticas:</a:t>
            </a:r>
            <a:endParaRPr lang="en-US" sz="16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956917"/>
            <a:ext cx="531601" cy="5316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1475" y="3727748"/>
            <a:ext cx="3463441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Debugging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661475" y="4174728"/>
            <a:ext cx="3463441" cy="19516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Revela exactamente dónde falló el razonamiento del modelo. Los bloques </a:t>
            </a:r>
            <a:pPr algn="l" indent="0" marL="0">
              <a:lnSpc>
                <a:spcPct val="127000"/>
              </a:lnSpc>
              <a:buNone/>
            </a:pPr>
            <a:r>
              <a:rPr lang="en-US" sz="1650" dirty="0">
                <a:solidFill>
                  <a:srgbClr val="3B353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&lt;thinking&gt;</a:t>
            </a:r>
            <a:pPr algn="l" indent="0" marL="0">
              <a:lnSpc>
                <a:spcPct val="1270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exponen el proceso interno paso a paso, permitiendo identificar y corregir errores sistemáticos.</a:t>
            </a:r>
            <a:endParaRPr lang="en-US" sz="16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4127" y="2956917"/>
            <a:ext cx="531601" cy="53161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64127" y="3727748"/>
            <a:ext cx="3463441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Calidad</a:t>
            </a:r>
            <a:endParaRPr lang="en-US" sz="2050" dirty="0"/>
          </a:p>
        </p:txBody>
      </p:sp>
      <p:sp>
        <p:nvSpPr>
          <p:cNvPr id="11" name="Text 7"/>
          <p:cNvSpPr/>
          <p:nvPr/>
        </p:nvSpPr>
        <p:spPr>
          <a:xfrm>
            <a:off x="4364127" y="4174728"/>
            <a:ext cx="3463441" cy="1938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Fuerza al modelo a pensar deliberadamente antes de responder. Ejemplo en análisis de contratos: analizar documento → identificar obligaciones → evaluar riesgos → generar recomendación.</a:t>
            </a:r>
            <a:endParaRPr lang="en-US" sz="16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6779" y="2956917"/>
            <a:ext cx="531601" cy="53161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66779" y="3727748"/>
            <a:ext cx="3463441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Transparencia</a:t>
            </a:r>
            <a:endParaRPr lang="en-US" sz="2050" dirty="0"/>
          </a:p>
        </p:txBody>
      </p:sp>
      <p:sp>
        <p:nvSpPr>
          <p:cNvPr id="14" name="Text 9"/>
          <p:cNvSpPr/>
          <p:nvPr/>
        </p:nvSpPr>
        <p:spPr>
          <a:xfrm>
            <a:off x="8066779" y="4174728"/>
            <a:ext cx="3463441" cy="1615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Habilita audit trails completos para decisiones críticas. El contenido de thinking se almacena separadamente para compliance regulatorio y revisión clínica.</a:t>
            </a:r>
            <a:endParaRPr lang="en-US" sz="16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54844"/>
            <a:ext cx="2330987" cy="226020"/>
          </a:xfrm>
          <a:prstGeom prst="roundRect">
            <a:avLst>
              <a:gd name="adj" fmla="val 3371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50670" y="699393"/>
            <a:ext cx="2762181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TÉCNICAS AVANZADAS DE PROMPTING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918270"/>
            <a:ext cx="10868745" cy="464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Extended Thinking: Ejemplo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1475" y="1617365"/>
            <a:ext cx="5252906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Prompt con &lt;thinking&gt;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1955105"/>
            <a:ext cx="5252906" cy="4142581"/>
          </a:xfrm>
          <a:prstGeom prst="roundRect">
            <a:avLst>
              <a:gd name="adj" fmla="val 184"/>
            </a:avLst>
          </a:prstGeom>
          <a:solidFill>
            <a:srgbClr val="F9D2D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200" y="2101751"/>
            <a:ext cx="185931" cy="14872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144857" y="2085876"/>
            <a:ext cx="4620799" cy="3869333"/>
          </a:xfrm>
          <a:prstGeom prst="roundRect">
            <a:avLst>
              <a:gd name="adj" fmla="val 197"/>
            </a:avLst>
          </a:prstGeom>
          <a:solidFill>
            <a:srgbClr val="F2F2F2"/>
          </a:solidFill>
          <a:ln/>
        </p:spPr>
      </p:sp>
      <p:sp>
        <p:nvSpPr>
          <p:cNvPr id="9" name="Text 6"/>
          <p:cNvSpPr/>
          <p:nvPr/>
        </p:nvSpPr>
        <p:spPr>
          <a:xfrm>
            <a:off x="1323347" y="2234605"/>
            <a:ext cx="4263819" cy="3571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&lt;document&gt;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Paciente: 45M, dolor abdominal derecho, fiebre 38.5°C, náuseas 12h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&lt;/document&gt;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&lt;thinking&gt;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Necesito analizar este caso para: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Síntomas principales y su duración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Diagnósticos diferenciales posibles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Nivel de urgencia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Próximos pasos recomendados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Déjame trabajar cada sección...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&lt;/thinking&gt;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Responde en JSON with: diagnosis, urgency, next_steps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283664" y="1617365"/>
            <a:ext cx="5252906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¿Por qué importa?</a:t>
            </a:r>
            <a:endParaRPr lang="en-US" sz="14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3664" y="1955105"/>
            <a:ext cx="297550" cy="29755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83664" y="2369741"/>
            <a:ext cx="5252906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Debugging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283664" y="2695773"/>
            <a:ext cx="5252906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 exactamente dónde falló el razonamiento</a:t>
            </a:r>
            <a:endParaRPr lang="en-US" sz="11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3664" y="3077071"/>
            <a:ext cx="297550" cy="29755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83664" y="3491706"/>
            <a:ext cx="5252906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Calidad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6283664" y="3817739"/>
            <a:ext cx="5252906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Fuerza al modelo a pensar antes de responder</a:t>
            </a:r>
            <a:endParaRPr lang="en-US" sz="11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83664" y="4199037"/>
            <a:ext cx="297550" cy="29755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283664" y="4613672"/>
            <a:ext cx="5252906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Transparencia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6283664" y="4939705"/>
            <a:ext cx="5252906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clientes pueden auditar las decisiones de IA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283664" y="5239048"/>
            <a:ext cx="5252906" cy="630634"/>
          </a:xfrm>
          <a:prstGeom prst="roundRect">
            <a:avLst>
              <a:gd name="adj" fmla="val 1208"/>
            </a:avLst>
          </a:prstGeom>
          <a:solidFill>
            <a:srgbClr val="F9D2D6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2389" y="5385693"/>
            <a:ext cx="185931" cy="14872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767046" y="5360392"/>
            <a:ext cx="4620799" cy="387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bloque &lt;thinking&gt; se puede guardar como trazabilidad para cumplimiento normativo (compliance) en aplicaciones clínicas.</a:t>
            </a:r>
            <a:endParaRPr lang="en-US" sz="11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70533"/>
            <a:ext cx="2961110" cy="287139"/>
          </a:xfrm>
          <a:prstGeom prst="roundRect">
            <a:avLst>
              <a:gd name="adj" fmla="val 2654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827187"/>
            <a:ext cx="334388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TÉCNICAS AVANZADAS DE PROMPTING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11809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Tree of Thought (ToT)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086769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Más allá del CoT lineal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2533253"/>
            <a:ext cx="5203794" cy="816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 extiende CoT explorando </a:t>
            </a:r>
            <a:pPr algn="l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múltiples caminos de razonamiento en paralelo</a:t>
            </a:r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como ramas de un árbol de decisión.</a:t>
            </a:r>
            <a:endParaRPr lang="en-US" sz="14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477" y="3519785"/>
            <a:ext cx="4039690" cy="23976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055160" y="5264541"/>
            <a:ext cx="1004172" cy="386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Seleccionar camino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789629" y="5264541"/>
            <a:ext cx="1004171" cy="386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Evaluar ramas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503463" y="5264541"/>
            <a:ext cx="1004172" cy="386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Generar ramas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332776" y="2086769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Analogía médica</a:t>
            </a:r>
            <a:endParaRPr lang="en-US" sz="1850" dirty="0"/>
          </a:p>
        </p:txBody>
      </p:sp>
      <p:sp>
        <p:nvSpPr>
          <p:cNvPr id="12" name="Shape 9"/>
          <p:cNvSpPr/>
          <p:nvPr/>
        </p:nvSpPr>
        <p:spPr>
          <a:xfrm>
            <a:off x="6332776" y="2552105"/>
            <a:ext cx="5203794" cy="1455142"/>
          </a:xfrm>
          <a:prstGeom prst="roundRect">
            <a:avLst>
              <a:gd name="adj" fmla="val 524"/>
            </a:avLst>
          </a:prstGeom>
          <a:solidFill>
            <a:srgbClr val="F9D2D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783" y="2781995"/>
            <a:ext cx="236234" cy="1890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47024" y="2735362"/>
            <a:ext cx="4400539" cy="1088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 es similar al </a:t>
            </a:r>
            <a:pPr algn="l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diagnóstico diferencial clínico</a:t>
            </a:r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considerar múltiples hipótesis, evaluar la evidencia disponible para cada una y descartar las menos probables.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332776" y="417730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Limitaciones</a:t>
            </a:r>
            <a:endParaRPr lang="en-US" sz="1850" dirty="0"/>
          </a:p>
        </p:txBody>
      </p:sp>
      <p:sp>
        <p:nvSpPr>
          <p:cNvPr id="16" name="Text 12"/>
          <p:cNvSpPr/>
          <p:nvPr/>
        </p:nvSpPr>
        <p:spPr>
          <a:xfrm>
            <a:off x="6332776" y="4623792"/>
            <a:ext cx="5203794" cy="1247279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20000"/>
              </a:lnSpc>
              <a:buSzPct val="100000"/>
              <a:buChar char="•"/>
            </a:pPr>
            <a:r>
              <a:rPr lang="en-US" sz="14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Mayor coste computacional</a:t>
            </a:r>
            <a:pPr algn="l" marL="294640" indent="-294640">
              <a:lnSpc>
                <a:spcPct val="120000"/>
              </a:lnSpc>
              <a:buSzPct val="100000"/>
              <a:buChar char="•"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que CoT lineal.</a:t>
            </a:r>
            <a:endParaRPr lang="en-US" sz="1450" dirty="0"/>
          </a:p>
          <a:p>
            <a:pPr algn="l" marL="294640" indent="-294640">
              <a:lnSpc>
                <a:spcPct val="120000"/>
              </a:lnSpc>
              <a:buSzPct val="100000"/>
              <a:buChar char="•"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Mayor complejidad de implementación.</a:t>
            </a:r>
            <a:endParaRPr lang="en-US" sz="1450" dirty="0"/>
          </a:p>
          <a:p>
            <a:pPr algn="l" marL="294640" indent="-294640">
              <a:lnSpc>
                <a:spcPct val="120000"/>
              </a:lnSpc>
              <a:buSzPct val="100000"/>
              <a:buChar char="•"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Útil para problemas con múltiples soluciones posibles.</a:t>
            </a:r>
            <a:endParaRPr lang="en-US" sz="1450" dirty="0"/>
          </a:p>
          <a:p>
            <a:pPr algn="l" marL="294640" indent="-294640">
              <a:lnSpc>
                <a:spcPct val="120000"/>
              </a:lnSpc>
              <a:buSzPct val="100000"/>
              <a:buChar char="•"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siempre justifica el overhead en tareas simples.</a:t>
            </a:r>
            <a:endParaRPr lang="en-US" sz="14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74191"/>
            <a:ext cx="2294079" cy="222349"/>
          </a:xfrm>
          <a:prstGeom prst="roundRect">
            <a:avLst>
              <a:gd name="adj" fmla="val 3427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49281" y="718046"/>
            <a:ext cx="2728051" cy="134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TÉCNICAS AVANZADAS DE PROMPTING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932755"/>
            <a:ext cx="10868745" cy="457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Tree of Thought (ToT): Ejemplo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61475" y="1616869"/>
            <a:ext cx="5255883" cy="228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¿Cómo funciona?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61475" y="1936254"/>
            <a:ext cx="5255883" cy="568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 extiende CoT explorando múltiples caminos de razonamiento en paralelo, como ramas de un árbol. El modelo evalúa cada rama y selecciona la más prometedora.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61475" y="2595761"/>
            <a:ext cx="5255883" cy="228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Razonamiento del modelo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926457"/>
            <a:ext cx="439131" cy="9525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91290" y="3072805"/>
            <a:ext cx="4726068" cy="228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Rama A: TEP (Tromboembolismo Pulmonar)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91290" y="3392190"/>
            <a:ext cx="4726068" cy="37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Viaje largo, disnea, taquicardia → Score Wells: 6 (alta probabilidad). Rama seleccionada.</a:t>
            </a:r>
            <a:endParaRPr lang="en-US" sz="11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040" y="4008438"/>
            <a:ext cx="439131" cy="9525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0855" y="4154785"/>
            <a:ext cx="4506502" cy="228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Rama B: Neumotórax espontáneo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410855" y="4474170"/>
            <a:ext cx="4506502" cy="37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Posible, pero sin trauma ni factores de riesgo claros. Probabilidad media-baja.</a:t>
            </a:r>
            <a:endParaRPr lang="en-US" sz="11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606" y="5090418"/>
            <a:ext cx="439131" cy="9525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30421" y="5236766"/>
            <a:ext cx="4286937" cy="228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Rama C: SCA (Síndrome Coronario Agudo)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630421" y="5556151"/>
            <a:ext cx="4286937" cy="37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Dolor torácico compatible, pero perfil joven sin factores cardiovasculares. Descartado.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6280687" y="1616869"/>
            <a:ext cx="5255883" cy="228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Ejemplo: Caso Clínico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280687" y="1947565"/>
            <a:ext cx="5255883" cy="3836591"/>
          </a:xfrm>
          <a:prstGeom prst="roundRect">
            <a:avLst>
              <a:gd name="adj" fmla="val 199"/>
            </a:avLst>
          </a:prstGeom>
          <a:solidFill>
            <a:srgbClr val="F9D2D6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7031" y="2086372"/>
            <a:ext cx="182955" cy="14634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756330" y="2074763"/>
            <a:ext cx="4633896" cy="3570883"/>
          </a:xfrm>
          <a:prstGeom prst="roundRect">
            <a:avLst>
              <a:gd name="adj" fmla="val 213"/>
            </a:avLst>
          </a:prstGeom>
          <a:solidFill>
            <a:srgbClr val="F2F2F2"/>
          </a:solidFill>
          <a:ln/>
        </p:spPr>
      </p:sp>
      <p:sp>
        <p:nvSpPr>
          <p:cNvPr id="21" name="Text 15"/>
          <p:cNvSpPr/>
          <p:nvPr/>
        </p:nvSpPr>
        <p:spPr>
          <a:xfrm>
            <a:off x="6931943" y="2221111"/>
            <a:ext cx="4282670" cy="3278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005CC5"/>
                </a:solidFill>
                <a:latin typeface="Consolas Bold" pitchFamily="34" charset="0"/>
                <a:ea typeface="Consolas Bold" pitchFamily="34" charset="-122"/>
                <a:cs typeface="Consolas Bold" pitchFamily="34" charset="-120"/>
              </a:rPr>
              <a:t># CASO CLÍNICO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005CC5"/>
                </a:solidFill>
                <a:latin typeface="Consolas Bold" pitchFamily="34" charset="0"/>
                <a:ea typeface="Consolas Bold" pitchFamily="34" charset="-122"/>
                <a:cs typeface="Consolas Bold" pitchFamily="34" charset="-120"/>
              </a:rPr>
              <a:t>Paciente: 35F, dolor torácico agudo, disnea,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005CC5"/>
                </a:solidFill>
                <a:latin typeface="Consolas Bold" pitchFamily="34" charset="0"/>
                <a:ea typeface="Consolas Bold" pitchFamily="34" charset="-122"/>
                <a:cs typeface="Consolas Bold" pitchFamily="34" charset="-120"/>
              </a:rPr>
              <a:t>taquicardia 110bpm, viaje largo en avión hace 48h.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005CC5"/>
                </a:solidFill>
                <a:latin typeface="Consolas Bold" pitchFamily="34" charset="0"/>
                <a:ea typeface="Consolas Bold" pitchFamily="34" charset="-122"/>
                <a:cs typeface="Consolas Bold" pitchFamily="34" charset="-120"/>
              </a:rPr>
              <a:t># INSTRUCCIÓN (Tree of Thought)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005CC5"/>
                </a:solidFill>
                <a:latin typeface="Consolas Bold" pitchFamily="34" charset="0"/>
                <a:ea typeface="Consolas Bold" pitchFamily="34" charset="-122"/>
                <a:cs typeface="Consolas Bold" pitchFamily="34" charset="-120"/>
              </a:rPr>
              <a:t>1. Genera 3 hipótesis diagnósticas posibles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005CC5"/>
                </a:solidFill>
                <a:latin typeface="Consolas Bold" pitchFamily="34" charset="0"/>
                <a:ea typeface="Consolas Bold" pitchFamily="34" charset="-122"/>
                <a:cs typeface="Consolas Bold" pitchFamily="34" charset="-120"/>
              </a:rPr>
              <a:t>2. Evalúa la evidencia a favor y en contra de cada una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005CC5"/>
                </a:solidFill>
                <a:latin typeface="Consolas Bold" pitchFamily="34" charset="0"/>
                <a:ea typeface="Consolas Bold" pitchFamily="34" charset="-122"/>
                <a:cs typeface="Consolas Bold" pitchFamily="34" charset="-120"/>
              </a:rPr>
              <a:t>3. Selecciona el diagnóstico más probable con justificación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005CC5"/>
                </a:solidFill>
                <a:latin typeface="Consolas Bold" pitchFamily="34" charset="0"/>
                <a:ea typeface="Consolas Bold" pitchFamily="34" charset="-122"/>
                <a:cs typeface="Consolas Bold" pitchFamily="34" charset="-120"/>
              </a:rPr>
              <a:t># RESULTADO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005CC5"/>
                </a:solidFill>
                <a:latin typeface="Consolas Bold" pitchFamily="34" charset="0"/>
                <a:ea typeface="Consolas Bold" pitchFamily="34" charset="-122"/>
                <a:cs typeface="Consolas Bold" pitchFamily="34" charset="-120"/>
              </a:rPr>
              <a:t>→ Diagnóstico prioritario: TEP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005CC5"/>
                </a:solidFill>
                <a:latin typeface="Consolas Bold" pitchFamily="34" charset="0"/>
                <a:ea typeface="Consolas Bold" pitchFamily="34" charset="-122"/>
                <a:cs typeface="Consolas Bold" pitchFamily="34" charset="-120"/>
              </a:rPr>
              <a:t>→ Recomendación: angioTC pulmonar urgente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005CC5"/>
                </a:solidFill>
                <a:latin typeface="Consolas Bold" pitchFamily="34" charset="0"/>
                <a:ea typeface="Consolas Bold" pitchFamily="34" charset="-122"/>
                <a:cs typeface="Consolas Bold" pitchFamily="34" charset="-120"/>
              </a:rPr>
              <a:t>→ Transparencia: razonamiento auditable para decisión clínica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005CC5"/>
                </a:solidFill>
                <a:latin typeface="Consolas Bold" pitchFamily="34" charset="0"/>
                <a:ea typeface="Consolas Bold" pitchFamily="34" charset="-122"/>
                <a:cs typeface="Consolas Bold" pitchFamily="34" charset="-120"/>
              </a:rPr>
              <a:t>          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DA1B2E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63</Slides>
  <Notes>63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2026-08-14T16:27:13Z</dcterms:created>
  <dcterms:modified xsi:type="dcterms:W3CDTF">2026-08-14T16:27:13Z</dcterms:modified>
</cp:coreProperties>
</file>