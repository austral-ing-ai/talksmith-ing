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Medium"/>
      <p:regular r:id="rId201315"/>
    </p:embeddedFont>
    <p:embeddedFont>
      <p:font typeface="Roboto Bold"/>
      <p:regular r:id="rId201316"/>
    </p:embeddedFont>
    <p:embeddedFont>
      <p:font typeface="Roboto Mono"/>
      <p:regular r:id="rId201317"/>
    </p:embeddedFont>
    <p:embeddedFont>
      <p:font typeface="Roboto Mono Medium"/>
      <p:regular r:id="rId201318"/>
    </p:embeddedFont>
    <p:embeddedFont>
      <p:font typeface="Roboto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es/what-is/gan/" TargetMode="External"/><Relationship Id="rId1" Type="http://schemas.openxmlformats.org/officeDocument/2006/relationships/image" Target="../media/image-15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L11aMN5KY8&amp;t=16s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1.png"/><Relationship Id="rId4" Type="http://schemas.openxmlformats.org/officeDocument/2006/relationships/image" Target="../media/image-32-2.svg"/><Relationship Id="rId5" Type="http://schemas.openxmlformats.org/officeDocument/2006/relationships/image" Target="../media/image-32-1.png"/><Relationship Id="rId6" Type="http://schemas.openxmlformats.org/officeDocument/2006/relationships/image" Target="../media/image-32-2.svg"/><Relationship Id="rId7" Type="http://schemas.openxmlformats.org/officeDocument/2006/relationships/image" Target="../media/image-32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1.png"/><Relationship Id="rId4" Type="http://schemas.openxmlformats.org/officeDocument/2006/relationships/image" Target="../media/image-39-2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5.png"/><Relationship Id="rId8" Type="http://schemas.openxmlformats.org/officeDocument/2006/relationships/image" Target="../media/image-39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4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image" Target="../media/image-42-5.png"/><Relationship Id="rId6" Type="http://schemas.openxmlformats.org/officeDocument/2006/relationships/image" Target="../media/image-4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svg"/><Relationship Id="rId4" Type="http://schemas.openxmlformats.org/officeDocument/2006/relationships/image" Target="../media/image-43-4.png"/><Relationship Id="rId5" Type="http://schemas.openxmlformats.org/officeDocument/2006/relationships/image" Target="../media/image-43-5.svg"/><Relationship Id="rId6" Type="http://schemas.openxmlformats.org/officeDocument/2006/relationships/image" Target="../media/image-43-6.png"/><Relationship Id="rId7" Type="http://schemas.openxmlformats.org/officeDocument/2006/relationships/image" Target="../media/image-4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svg"/><Relationship Id="rId4" Type="http://schemas.openxmlformats.org/officeDocument/2006/relationships/image" Target="../media/image-49-2.png"/><Relationship Id="rId5" Type="http://schemas.openxmlformats.org/officeDocument/2006/relationships/image" Target="../media/image-49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image" Target="../media/image-50-3.png"/><Relationship Id="rId4" Type="http://schemas.openxmlformats.org/officeDocument/2006/relationships/image" Target="../media/image-50-4.svg"/><Relationship Id="rId5" Type="http://schemas.openxmlformats.org/officeDocument/2006/relationships/image" Target="../media/image-50-5.png"/><Relationship Id="rId6" Type="http://schemas.openxmlformats.org/officeDocument/2006/relationships/image" Target="../media/image-5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0193"/>
            <a:ext cx="10868745" cy="229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Inteligencia Artificial Generativa Aplicada en Biomedicina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61475" y="3242072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Clase 8: Vision Generativa / 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661475" y="373816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Generative Adversarial Networks (GANs)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4500066"/>
            <a:ext cx="4427129" cy="61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Autor: Paulo Veiga/Marcos Sanchez Sorondo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Última Modificación: Abril, 2026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8223" y="4529931"/>
            <a:ext cx="1728248" cy="14283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7953"/>
            <a:ext cx="2703147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813991"/>
            <a:ext cx="3128587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PANORAMA DE LA IA GENERATIVA DE VISIÓN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041102"/>
            <a:ext cx="10868745" cy="1324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Panorama de la IA Generativa de Visión</a:t>
            </a:r>
            <a:endParaRPr lang="en-US" sz="4150" dirty="0"/>
          </a:p>
        </p:txBody>
      </p:sp>
      <p:sp>
        <p:nvSpPr>
          <p:cNvPr id="5" name="Shape 3"/>
          <p:cNvSpPr/>
          <p:nvPr/>
        </p:nvSpPr>
        <p:spPr>
          <a:xfrm>
            <a:off x="834210" y="2515394"/>
            <a:ext cx="19050" cy="3574653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987896" y="2678609"/>
            <a:ext cx="460661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515394"/>
            <a:ext cx="345471" cy="345480"/>
          </a:xfrm>
          <a:prstGeom prst="roundRect">
            <a:avLst>
              <a:gd name="adj" fmla="val 2206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9070" y="2544167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2045" y="2568178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Panorama de la IA Generativa de Visión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2045" y="2867918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discriminativa vs. generativa, línea de tiempo histórica y modelos del curso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7896" y="3433465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3270250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070" y="3299023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2045" y="3323034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Introducción a las GANs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2045" y="3622774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Origen (Goodfellow 2014), intuición del falsificador y el detective, arquitectura básica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896" y="4188321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4025106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070" y="4053880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2045" y="4077891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Ejemplo de Slanted Land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2045" y="4377630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la intuición a los números: Discriminador, Generador y sus pesos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7896" y="4943177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4779963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070" y="4808736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2045" y="4832747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Tipos de GANs y Aplicaciones en Biomedicina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2045" y="5132487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Vanilla GAN, StyleGAN, fortalezas clínicas y generación de datos sintéticos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7896" y="5698034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475" y="5534819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070" y="5563592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02045" y="5587603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 y Cierre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02045" y="5887343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Problemas de entrenamiento, evaluación, sesgo y próximos pasos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62819"/>
            <a:ext cx="4160634" cy="358973"/>
          </a:xfrm>
          <a:prstGeom prst="roundRect">
            <a:avLst>
              <a:gd name="adj" fmla="val 2123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803156" y="1033661"/>
            <a:ext cx="448685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PANORAMA DE LA IA GENERATIVA DE VISIÓN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416248"/>
            <a:ext cx="10868745" cy="73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IA Generativa de Visión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661475" y="2508945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152676"/>
            <a:ext cx="4724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61475" y="3522464"/>
            <a:ext cx="3465426" cy="317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3704034"/>
            <a:ext cx="3465426" cy="73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hace diferente a la IA generativa?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61475" y="4584105"/>
            <a:ext cx="3465426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qué se distingue conceptualmente de otros tipos de IA visual.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63135" y="3152676"/>
            <a:ext cx="4724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4363135" y="3522464"/>
            <a:ext cx="3465426" cy="317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4363135" y="3704034"/>
            <a:ext cx="3465426" cy="73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importa en Biomedicina?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363135" y="4584105"/>
            <a:ext cx="3465426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Qué problemas reales resuelve en el contexto clínico e investigador.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64794" y="3152676"/>
            <a:ext cx="4724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064794" y="3522464"/>
            <a:ext cx="3465426" cy="3175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064794" y="3704034"/>
            <a:ext cx="3465426" cy="73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modelos existen?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064794" y="4584105"/>
            <a:ext cx="3465426" cy="1133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mapa de GANs, Diffusion Networks y SAM — y cuándo usar cada uno.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32259"/>
            <a:ext cx="3328210" cy="287139"/>
          </a:xfrm>
          <a:prstGeom prst="roundRect">
            <a:avLst>
              <a:gd name="adj" fmla="val 265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88913"/>
            <a:ext cx="37109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PANORAMA DE LA IA GENERATIVA DE VISIÓN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798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es la IA Generativa de Visión?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97286"/>
            <a:ext cx="10868745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 parte de una distinción fundamental. Históricamente, la IA visual se diseñó para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analizar lo que ya existe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clasificar radiografías, detectar tumores, medir estructuras. Eso es la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 discriminativa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aprende a distinguir entre categorías. La IA generativa hace algo cualitativamente distinto: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aprende a crear contenido visual nuevo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no existía antes.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083818"/>
            <a:ext cx="10868745" cy="2841823"/>
          </a:xfrm>
          <a:prstGeom prst="roundRect">
            <a:avLst>
              <a:gd name="adj" fmla="val 26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355957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03215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504730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977309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544988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839074" y="3083818"/>
            <a:ext cx="11814" cy="28418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81472" y="3083818"/>
            <a:ext cx="11814" cy="28418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6931" y="3187204"/>
            <a:ext cx="23995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Aspecto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31255" y="3187204"/>
            <a:ext cx="456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 Discriminativa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73654" y="3187204"/>
            <a:ext cx="457079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 Generativa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6931" y="3659783"/>
            <a:ext cx="23995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¿Qué hace?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31255" y="3659783"/>
            <a:ext cx="456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 y clasifica lo que ya existe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73654" y="3659783"/>
            <a:ext cx="457079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 contenido nuevo que no existía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56931" y="4132362"/>
            <a:ext cx="23995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Pregunta típica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031255" y="4132362"/>
            <a:ext cx="456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"¿Esto es un tumor maligno o benigno?"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73654" y="4132362"/>
            <a:ext cx="457079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"Genera una imagen de un tumor maligno"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6931" y="4604941"/>
            <a:ext cx="23995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que aprende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031255" y="4604941"/>
            <a:ext cx="456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distinguir entre categorías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73654" y="4604941"/>
            <a:ext cx="457079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estructura interna de los datos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56931" y="5077520"/>
            <a:ext cx="23995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Salida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031255" y="5077520"/>
            <a:ext cx="456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etiqueta o un número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73654" y="5077520"/>
            <a:ext cx="457079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imagen, un sonido, un texto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6931" y="5550098"/>
            <a:ext cx="23995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Ejemplo en medicina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031255" y="5550098"/>
            <a:ext cx="456761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Clasificador de histología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373654" y="5550098"/>
            <a:ext cx="457079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Generador de imágenes histológicas sintéticas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3290"/>
            <a:ext cx="3328210" cy="287139"/>
          </a:xfrm>
          <a:prstGeom prst="roundRect">
            <a:avLst>
              <a:gd name="adj" fmla="val 265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19944"/>
            <a:ext cx="371098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PANORAMA DE LA IA GENERATIVA DE VISIÓN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108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importa en Biomedicina?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28316"/>
            <a:ext cx="1086874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Entrenar un buen modelo de diagnóstico por imágenes requiere miles — a veces decenas de miles — de imágenes etiquetadas por expertos. En la práctica, esto enfrenta tres barreras que casi siempre aparecen juntas: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642691"/>
            <a:ext cx="378014" cy="3780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8496" y="2707580"/>
            <a:ext cx="292985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Escasez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228496" y="3093541"/>
            <a:ext cx="2929856" cy="108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Ciertas patologías son tan raras que simplemente no existen suficientes casos documentados para entrenar modelos robustos.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642691"/>
            <a:ext cx="378014" cy="3780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14380" y="2707580"/>
            <a:ext cx="292985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Privacidad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914380" y="3093541"/>
            <a:ext cx="2929856" cy="1360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datos de pacientes están protegidos por regulaciones estrictas: HIPAA, GDPR y legislaciones locales limitan el acceso y la distribución.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642691"/>
            <a:ext cx="378014" cy="3780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00265" y="2707580"/>
            <a:ext cx="292985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Coste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600265" y="3093541"/>
            <a:ext cx="2929856" cy="108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Etiquetar imágenes médicas requiere tiempo de especialistas altamente cualificados — un recurso escaso y caro.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61475" y="4624388"/>
            <a:ext cx="10868745" cy="1470323"/>
          </a:xfrm>
          <a:prstGeom prst="roundRect">
            <a:avLst>
              <a:gd name="adj" fmla="val 518"/>
            </a:avLst>
          </a:prstGeom>
          <a:solidFill>
            <a:srgbClr val="B6D6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4841577"/>
            <a:ext cx="236234" cy="1890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75723" y="4822825"/>
            <a:ext cx="10065490" cy="108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 que la IA Generativa hace posible: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aumentación de datos sintéticos, síntesis de casos raros, traducción entre modalidades (MRI→CT), anonimización con realismo clínico y restauración de imágenes con artefactos. Una U-Net entrenada combinando imágenes reales y sintéticas de MRI logró un Dice score de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0.9524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frente a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0.9459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entrenando solo con datos reales.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1363"/>
            <a:ext cx="2703147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787400"/>
            <a:ext cx="3128587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PANORAMA DE LA IA GENERATIVA DE VISIÓN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014512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Línea de tiempo: el camino hasta hoy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644154"/>
            <a:ext cx="11478330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Tres eras, un campo en aceleración constante. Este curso arranca con el hito más influyente de la segunda era.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6323" y="1959074"/>
            <a:ext cx="19050" cy="3576439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5481500" y="2122289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8" name="Shape 6"/>
          <p:cNvSpPr/>
          <p:nvPr/>
        </p:nvSpPr>
        <p:spPr>
          <a:xfrm>
            <a:off x="5923112" y="1959074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0707" y="1987848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1475" y="2011859"/>
            <a:ext cx="466653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Era Estadística · 1950s–2000s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475" y="2311598"/>
            <a:ext cx="4666538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Redes neuronales, backpropagation. Resultados prometedores en teoría, pero muy limitados visualmente en la práctica.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9533" y="2936180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5923112" y="2772966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0707" y="2801739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63682" y="2825750"/>
            <a:ext cx="466653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Era de las GANs · 2014–2020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63682" y="3125490"/>
            <a:ext cx="4666538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Ian Goodfellow publica la GAN original. Primera generación fotorrealista de imágenes. El campo explota en variantes y aplicaciones.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1500" y="3676650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5923112" y="3513435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0707" y="3542209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1475" y="3566220"/>
            <a:ext cx="466653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Era de la Difusión · 2020–hoy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1475" y="3865959"/>
            <a:ext cx="4666538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DALL·E, Stable Diffusion, Midjourney. Control por texto, generación de vídeo, modelos de base masivos.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49533" y="4417219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5923112" y="4254004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0707" y="4282777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63682" y="4306788"/>
            <a:ext cx="466653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SAM &amp; Modelos de Segmentación · 2023–hoy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63682" y="4606528"/>
            <a:ext cx="4666538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 lanza Segment Anything Model (SAM). Segmentación interactiva de cualquier objeto en cualquier imagen. Prompteable con puntos, cajas o máscaras — sin reentrenamiento.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1475" y="5647730"/>
            <a:ext cx="10868745" cy="468908"/>
          </a:xfrm>
          <a:prstGeom prst="roundRect">
            <a:avLst>
              <a:gd name="adj" fmla="val 1625"/>
            </a:avLst>
          </a:prstGeom>
          <a:solidFill>
            <a:srgbClr val="F9D2D6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62" y="5791200"/>
            <a:ext cx="191884" cy="15349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60334" y="5785842"/>
            <a:ext cx="10825983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curso empieza con el hito más influyente de la segunda era: las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Generative Adversarial Networks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23541"/>
            <a:ext cx="3120451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1076623"/>
            <a:ext cx="3517514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PANORAMA DE LA IA GENERATIVA DE VISIÓN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345803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Los modelos que veremos en el curso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2098873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Tres familias de redes generativas — tres bloques temáticos dedicados. Cada modelo responde una pregunta diferente: al final del curso, sabremos cuándo usar cada uno.</a:t>
            </a:r>
            <a:endParaRPr lang="en-US" sz="13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44391"/>
            <a:ext cx="3534282" cy="30900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3923" y="2940645"/>
            <a:ext cx="3065584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GANs — Generative Adversarial Networks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3923" y="3574157"/>
            <a:ext cx="3065584" cy="1816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 redes que compiten: una genera, la otra evalúa. Motor de los deepfakes, StyleGAN y la síntesis de imágenes médicas.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Pregunta: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¿Cómo generar imágenes realistas que "engañen" a un evaluador?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8607" y="2744391"/>
            <a:ext cx="3534381" cy="30900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1055" y="2940645"/>
            <a:ext cx="306568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Diffusion Networks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01055" y="3297238"/>
            <a:ext cx="3065683" cy="1567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Aprenden a reconstruir una imagen desde el ruido, paso a paso. Motor de Stable Diffusion, DALL·E y Midjourney.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Pregunta: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¿Cómo generar imágenes diversas y controlables a partir de una descripción?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5839" y="2744391"/>
            <a:ext cx="3534381" cy="30900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68287" y="2940645"/>
            <a:ext cx="3065683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SAM — Segment Anything Model (Meta, 2023)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268287" y="3574157"/>
            <a:ext cx="3065683" cy="206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genera imágenes — las entiende. Puede segmentar cualquier objeto en cualquier imagen con precisión quirúrgica. Es prompteable: se guía con puntos, cajas o máscaras.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Pregunta: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¿Cómo identificar y aislar estructuras en imágenes médicas de forma automatizada e interactiva?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64307"/>
            <a:ext cx="2912990" cy="251420"/>
          </a:xfrm>
          <a:prstGeom prst="roundRect">
            <a:avLst>
              <a:gd name="adj" fmla="val 30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013916"/>
            <a:ext cx="332414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PANORAMA DE LA IA GENERATIVA DE VISIÓN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2619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Tabla comparativa rápida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952327"/>
            <a:ext cx="11478330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tabla no es para memorizar — es para </a:t>
            </a:r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consultar</a:t>
            </a:r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cuando tengas un problema real y necesites decidir qué herramienta usar.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307431"/>
            <a:ext cx="10868745" cy="3586262"/>
          </a:xfrm>
          <a:prstGeom prst="roundRect">
            <a:avLst>
              <a:gd name="adj" fmla="val 21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693491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52623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90912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292005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67489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528270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056357" y="2307431"/>
            <a:ext cx="10337" cy="358626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878862" y="2307431"/>
            <a:ext cx="10337" cy="358626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701366" y="2307431"/>
            <a:ext cx="10337" cy="358626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68122" y="2313781"/>
            <a:ext cx="2388235" cy="379710"/>
          </a:xfrm>
          <a:custGeom>
            <a:avLst/>
            <a:gdLst/>
            <a:ahLst/>
            <a:cxnLst/>
            <a:rect l="l" t="t" r="r" b="b"/>
            <a:pathLst>
              <a:path w="2388235" h="379710">
                <a:moveTo>
                  <a:pt x="6350" y="0"/>
                </a:moveTo>
                <a:lnTo>
                  <a:pt x="2388235" y="0"/>
                </a:lnTo>
                <a:lnTo>
                  <a:pt x="2388235" y="379710"/>
                </a:lnTo>
                <a:lnTo>
                  <a:pt x="0" y="379710"/>
                </a:lnTo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833417" y="2389584"/>
            <a:ext cx="266405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Criterio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56357" y="2313781"/>
            <a:ext cx="2822504" cy="37971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3224826" y="2389584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GANs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78862" y="2313781"/>
            <a:ext cx="2822504" cy="37971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1" name="Text 19"/>
          <p:cNvSpPr/>
          <p:nvPr/>
        </p:nvSpPr>
        <p:spPr>
          <a:xfrm>
            <a:off x="6047331" y="2389584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Diffusion Networks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01366" y="2313781"/>
            <a:ext cx="2822504" cy="379710"/>
          </a:xfrm>
          <a:custGeom>
            <a:avLst/>
            <a:gdLst/>
            <a:ahLst/>
            <a:cxnLst/>
            <a:rect l="l" t="t" r="r" b="b"/>
            <a:pathLst>
              <a:path w="2822504" h="379710">
                <a:moveTo>
                  <a:pt x="0" y="0"/>
                </a:moveTo>
                <a:lnTo>
                  <a:pt x="2816155" y="0"/>
                </a:lnTo>
                <a:arcTo hR="6350" wR="6350" stAng="16200000" swAng="5400000"/>
                <a:lnTo>
                  <a:pt x="2822504" y="379710"/>
                </a:lnTo>
                <a:lnTo>
                  <a:pt x="0" y="379710"/>
                </a:lnTo>
                <a:lnTo>
                  <a:pt x="0" y="0"/>
                </a:lnTo>
                <a:close/>
              </a:path>
            </a:pathLst>
          </a:custGeom>
          <a:solidFill>
            <a:srgbClr val="DA1B2E"/>
          </a:solidFill>
          <a:ln/>
        </p:spPr>
      </p:sp>
      <p:sp>
        <p:nvSpPr>
          <p:cNvPr id="23" name="Text 21"/>
          <p:cNvSpPr/>
          <p:nvPr/>
        </p:nvSpPr>
        <p:spPr>
          <a:xfrm>
            <a:off x="8869835" y="2389584"/>
            <a:ext cx="309832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3417" y="2772470"/>
            <a:ext cx="266405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¿Para qué sirve?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24826" y="2772470"/>
            <a:ext cx="2485566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Generar imágenes realistas, transformar modalidades, aumentar datos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47331" y="2772470"/>
            <a:ext cx="2485566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Generar imágenes desde texto o guías visuales con alta diversidad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835" y="2772470"/>
            <a:ext cx="2488741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Segmentar y aislar estructuras en imágenes existentes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3417" y="3605213"/>
            <a:ext cx="266405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Velocidad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24826" y="3605213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Muy rápida (una pasada)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47331" y="3605213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Lenta (muchos pasos iterativos)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69835" y="3605213"/>
            <a:ext cx="309832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Muy rápida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417" y="3988098"/>
            <a:ext cx="266405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Control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24826" y="3988098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Moderado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47331" y="3988098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Alto (guiado por texto)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69835" y="3988098"/>
            <a:ext cx="309832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Alto (guiado por puntos o cajas)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3417" y="4370983"/>
            <a:ext cx="266405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Fortaleza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24826" y="4370983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Velocidad + realismo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47331" y="4370983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Diversidad + controlabilidad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69835" y="4370983"/>
            <a:ext cx="309832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Precisión de segmentación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3417" y="4753868"/>
            <a:ext cx="266405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Limitación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224826" y="4753868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Inestabilidad, mode collapse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047331" y="4753868"/>
            <a:ext cx="2485566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Lento, costoso computacionalmente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869835" y="4753868"/>
            <a:ext cx="309832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genera contenido nuevo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33417" y="5361682"/>
            <a:ext cx="266405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Caso en biomedicina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24826" y="5361682"/>
            <a:ext cx="309515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Síntesis histológica, MRI→CT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047331" y="5361682"/>
            <a:ext cx="2485566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Generación desde descripciones clínicas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869835" y="5361682"/>
            <a:ext cx="2488741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Segmentación de tumores, órganos, células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9511"/>
            <a:ext cx="1915568" cy="251420"/>
          </a:xfrm>
          <a:prstGeom prst="roundRect">
            <a:avLst>
              <a:gd name="adj" fmla="val 30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899120"/>
            <a:ext cx="232672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A LAS GANS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47167"/>
            <a:ext cx="1086874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Introducción a las GANs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847505" y="2033984"/>
            <a:ext cx="19050" cy="3974405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1014486" y="2210495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033984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485" y="206499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74473" y="2090837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Panorama de la IA Generativa de Visión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74473" y="2418755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discriminativa vs. generativa, línea de tiempo histórica y modelos del curso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14486" y="3051671"/>
            <a:ext cx="496081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2875161"/>
            <a:ext cx="372061" cy="372070"/>
          </a:xfrm>
          <a:prstGeom prst="roundRect">
            <a:avLst>
              <a:gd name="adj" fmla="val 2048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485" y="290616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74473" y="2932013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Introducción a las GANs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74473" y="3259931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Origen (Goodfellow 2014), intuición del falsificador y el detective, arquitectura básica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4486" y="3892848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3716338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485" y="374734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674473" y="3773190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Ejemplo de Slanted Land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74473" y="4101108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la intuición a los números: Discriminador, Generador y sus pesos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14486" y="4734024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4557514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485" y="458852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74473" y="4614366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Tipos de GANs y Aplicaciones en Biomedicina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74473" y="4942284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Vanilla GAN, StyleGAN, fortalezas clínicas y generación de datos sintéticos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14486" y="5575201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475" y="5398691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485" y="542969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674473" y="5455543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 y Cierre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74473" y="5783461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Problemas de entrenamiento, evaluación, sesgo y próximos pasos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047577"/>
            <a:ext cx="2735988" cy="358973"/>
          </a:xfrm>
          <a:prstGeom prst="roundRect">
            <a:avLst>
              <a:gd name="adj" fmla="val 2123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803156" y="2118420"/>
            <a:ext cx="306221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A LAS GANS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501007"/>
            <a:ext cx="10868745" cy="1476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Generative Adversarial Networks (GANs)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661475" y="4072037"/>
            <a:ext cx="10868745" cy="738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4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0951"/>
            <a:ext cx="2326423" cy="305098"/>
          </a:xfrm>
          <a:prstGeom prst="roundRect">
            <a:avLst>
              <a:gd name="adj" fmla="val 249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1923" y="841177"/>
            <a:ext cx="2695111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A LAS GANS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154311"/>
            <a:ext cx="10868745" cy="62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Punto de partida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962695" y="2229842"/>
            <a:ext cx="1117710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"¿Cómo enseñarle a una máquina a crear algo que nunca ha visto?"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2037854"/>
            <a:ext cx="25399" cy="681137"/>
          </a:xfrm>
          <a:prstGeom prst="roundRect">
            <a:avLst>
              <a:gd name="adj" fmla="val 50001"/>
            </a:avLst>
          </a:prstGeom>
          <a:solidFill>
            <a:srgbClr val="DA1B2E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910979"/>
            <a:ext cx="1086874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es la pregunta que </a:t>
            </a:r>
            <a:pPr algn="l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Ian Goodfellow</a:t>
            </a:r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 hizo en 2014. La respuesta que encontró cambió el campo de la inteligencia artificial para siempre y puso en marcha una de las líneas de investigación más prolíficas de la historia de la IA.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16917" y="3697288"/>
            <a:ext cx="5478524" cy="2379762"/>
          </a:xfrm>
          <a:prstGeom prst="roundRect">
            <a:avLst>
              <a:gd name="adj" fmla="val 1266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17730" y="3867944"/>
            <a:ext cx="507689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idea central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17730" y="4352330"/>
            <a:ext cx="5076896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lugar de enseñarle a una red a crear directamente, haz que compita contra otra red que aprende a detectar sus errores. La presión de la competencia hace que ambas mejoren continuamente.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47162" y="3867944"/>
            <a:ext cx="5189408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recorrido de este capítulo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347162" y="4352330"/>
            <a:ext cx="5189408" cy="1664990"/>
          </a:xfrm>
          <a:prstGeom prst="rect">
            <a:avLst/>
          </a:prstGeom>
          <a:noFill/>
          <a:ln/>
        </p:spPr>
        <p:txBody>
          <a:bodyPr wrap="square" lIns="0" tIns="80333" rIns="0" bIns="0" rtlCol="0" anchor="t">
            <a:normAutofit/>
          </a:bodyPr>
          <a:lstStyle/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dónde vienen las GANs y cómo evolucionaron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funcionan por dentro — sin fórmulas, con intuición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qué sirven y dónde tienen límites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Cómo se aplican concretamente en Biomedicina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0" y="132854"/>
            <a:ext cx="4394685" cy="65921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774601"/>
            <a:ext cx="2051991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5" name="Text 2"/>
          <p:cNvSpPr/>
          <p:nvPr/>
        </p:nvSpPr>
        <p:spPr>
          <a:xfrm>
            <a:off x="5339621" y="827683"/>
            <a:ext cx="2449054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A LAS GANS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33360" y="1096863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origen: una noche en un bar (2014)</a:t>
            </a:r>
            <a:endParaRPr lang="en-US" sz="3450" dirty="0"/>
          </a:p>
        </p:txBody>
      </p:sp>
      <p:sp>
        <p:nvSpPr>
          <p:cNvPr id="7" name="Text 4"/>
          <p:cNvSpPr/>
          <p:nvPr/>
        </p:nvSpPr>
        <p:spPr>
          <a:xfrm>
            <a:off x="5233360" y="2523232"/>
            <a:ext cx="3605222" cy="210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Montreal, junio de 2014.</a:t>
            </a:r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Ian Goodfellow, 27 años, propone en una conversación de bar una idea aparentemente simple: ¿y si en lugar de una sola red, usamos dos? Una que genera, otra que evalúa. Que compitan.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 colegas son escépticos. Esa misma noche implementa el prototipo.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Funciona en el primer intento.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559487" y="2641699"/>
            <a:ext cx="1694515" cy="584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70K+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9277118" y="3414712"/>
            <a:ext cx="2259353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Citas del paper original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277118" y="4117975"/>
            <a:ext cx="2259353" cy="1815902"/>
          </a:xfrm>
          <a:prstGeom prst="roundRect">
            <a:avLst>
              <a:gd name="adj" fmla="val 420"/>
            </a:avLst>
          </a:prstGeom>
          <a:solidFill>
            <a:srgbClr val="B6FC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318" y="4324152"/>
            <a:ext cx="221451" cy="1772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52969" y="4281785"/>
            <a:ext cx="1506301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"La idea más interesante en machine learning en los últimos 20 años." — Yann LeCun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27187"/>
            <a:ext cx="2188612" cy="287139"/>
          </a:xfrm>
          <a:prstGeom prst="roundRect">
            <a:avLst>
              <a:gd name="adj" fmla="val 265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83841"/>
            <a:ext cx="25713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A LAS GANS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747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Modelo Mental Para Entenderlo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92213"/>
            <a:ext cx="10868745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experimento mental: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 mundo de los rostros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Imaginad una sociedad donde existen miles de rostros reales con características reconocibles. En esa sociedad aparecen dos personajes con objetivos opuestos: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706588"/>
            <a:ext cx="10868745" cy="2228155"/>
          </a:xfrm>
          <a:prstGeom prst="roundRect">
            <a:avLst>
              <a:gd name="adj" fmla="val 342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825" y="2712938"/>
            <a:ext cx="5428023" cy="2215455"/>
          </a:xfrm>
          <a:custGeom>
            <a:avLst/>
            <a:gdLst/>
            <a:ahLst/>
            <a:cxnLst/>
            <a:rect l="l" t="t" r="r" b="b"/>
            <a:pathLst>
              <a:path w="5428023" h="2215455">
                <a:moveTo>
                  <a:pt x="6350" y="0"/>
                </a:moveTo>
                <a:lnTo>
                  <a:pt x="5428023" y="0"/>
                </a:lnTo>
                <a:lnTo>
                  <a:pt x="5428023" y="2215455"/>
                </a:lnTo>
                <a:lnTo>
                  <a:pt x="6350" y="2215455"/>
                </a:lnTo>
                <a:arcTo hR="6350" wR="6350" stAng="5400000" swAng="5400000"/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56832" y="290195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Falsificador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56832" y="3287911"/>
            <a:ext cx="5050009" cy="1451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Objetivo:</a:t>
            </a:r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crear rostros que parezcan pertenecer a ese mundo.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Método: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prueba y error. Genera un rostro, recibe feedback, ajusta, repite. Puede estudiar todos los rostros reales que quiera, pero no sabe cómo se fabrican.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95848" y="2712938"/>
            <a:ext cx="5428023" cy="2215455"/>
          </a:xfrm>
          <a:custGeom>
            <a:avLst/>
            <a:gdLst/>
            <a:ahLst/>
            <a:cxnLst/>
            <a:rect l="l" t="t" r="r" b="b"/>
            <a:pathLst>
              <a:path w="5428023" h="2215455">
                <a:moveTo>
                  <a:pt x="0" y="0"/>
                </a:moveTo>
                <a:lnTo>
                  <a:pt x="5421673" y="0"/>
                </a:lnTo>
                <a:arcTo hR="6350" wR="6350" stAng="16200000" swAng="5400000"/>
                <a:lnTo>
                  <a:pt x="5428023" y="2209105"/>
                </a:lnTo>
                <a:arcTo hR="6350" wR="6350" stAng="0" swAng="5400000"/>
                <a:lnTo>
                  <a:pt x="0" y="2215455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6095848" y="2712938"/>
            <a:ext cx="25399" cy="2215455"/>
          </a:xfrm>
          <a:prstGeom prst="roundRect">
            <a:avLst>
              <a:gd name="adj" fmla="val 30000"/>
            </a:avLst>
          </a:prstGeom>
          <a:solidFill>
            <a:srgbClr val="D8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6284854" y="290195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Detective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284854" y="3287911"/>
            <a:ext cx="5050009" cy="1179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Objetivo:</a:t>
            </a:r>
            <a:pPr algn="l"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distinguir los rostros reales de los falsos.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Ventaja: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 ambos tipos — los reales del dataset y los que produce el falsificador. Como el falsificador mejora constantemente, él también tiene que mejorar.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5104805"/>
            <a:ext cx="10868745" cy="926009"/>
          </a:xfrm>
          <a:prstGeom prst="roundRect">
            <a:avLst>
              <a:gd name="adj" fmla="val 823"/>
            </a:avLst>
          </a:prstGeom>
          <a:solidFill>
            <a:srgbClr val="F9D2D6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321995"/>
            <a:ext cx="236234" cy="18901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75723" y="5303242"/>
            <a:ext cx="10065490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¿Qué pasa cuando estos dos compiten durante miles — o millones — de rondas? Los dos se vuelven extraordinariamente buenos en lo suyo.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7225"/>
            <a:ext cx="1360950" cy="178594"/>
          </a:xfrm>
          <a:prstGeom prst="roundRect">
            <a:avLst>
              <a:gd name="adj" fmla="val 4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2018" y="692448"/>
            <a:ext cx="1829449" cy="108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A LAS GANS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59135"/>
            <a:ext cx="10868745" cy="36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Arquitectura de una GAN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61475" y="1314252"/>
            <a:ext cx="11478330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que acabamos de describir con el falsificador y el detective tiene una arquitectura técnica precisa. Cada elemento de la analogía corresponde a un componente real de la red: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475" y="1520825"/>
            <a:ext cx="10868745" cy="1385689"/>
          </a:xfrm>
          <a:prstGeom prst="roundRect">
            <a:avLst>
              <a:gd name="adj" fmla="val 55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1753890"/>
            <a:ext cx="10868745" cy="73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1983780"/>
            <a:ext cx="10868745" cy="73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2213670"/>
            <a:ext cx="10868745" cy="73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2443559"/>
            <a:ext cx="10868745" cy="73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2673449"/>
            <a:ext cx="10868745" cy="73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056258" y="1520825"/>
            <a:ext cx="7349" cy="138568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770220" y="1520825"/>
            <a:ext cx="7349" cy="138568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85594" y="1568549"/>
            <a:ext cx="2759502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Analogía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77004" y="1568549"/>
            <a:ext cx="3082054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Componente técnico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0966" y="1568549"/>
            <a:ext cx="6124918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Función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5594" y="1798439"/>
            <a:ext cx="2759502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Falsificador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77004" y="1798439"/>
            <a:ext cx="3082054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Generador (G)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90966" y="1798439"/>
            <a:ext cx="6124918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 ruido aleatorio en imágenes sintéticas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5594" y="2028329"/>
            <a:ext cx="2759502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rostros falsos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77004" y="2028329"/>
            <a:ext cx="3082054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Imágenes generadas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90966" y="2028329"/>
            <a:ext cx="6124918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del Generador — al principio, puro ruido visual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5594" y="2258219"/>
            <a:ext cx="2759502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Detective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77004" y="2258219"/>
            <a:ext cx="3082054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Discriminador (D)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90966" y="2258219"/>
            <a:ext cx="6124918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Clasifica cada imagen como "real" o "falsa" con un score entre 0 y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5594" y="2488109"/>
            <a:ext cx="2759502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veredicto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77004" y="2488109"/>
            <a:ext cx="3082054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Señal de pérdida (loss)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90966" y="2488109"/>
            <a:ext cx="6124918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Número que mide el error de cada red y guía su aprendizaje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5594" y="2717998"/>
            <a:ext cx="2759502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rondas de competencia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77004" y="2717998"/>
            <a:ext cx="3082054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Épocas de entrenamiento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90966" y="2717998"/>
            <a:ext cx="6124918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Ciclos en los que ambas redes actualizan sus parámetros internos</a:t>
            </a:r>
            <a:endParaRPr lang="en-US" sz="9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9795" y="2972296"/>
            <a:ext cx="4772005" cy="322838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650021" y="4335251"/>
            <a:ext cx="868924" cy="39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Arquitectura GAN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948659" y="5254090"/>
            <a:ext cx="1292679" cy="39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Salida sintética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6948659" y="5707991"/>
            <a:ext cx="1292679" cy="118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Imágenes generadas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919238" y="5293939"/>
            <a:ext cx="1292679" cy="198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Discriminador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3919238" y="5549148"/>
            <a:ext cx="1292679" cy="237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Recibe reales y generadas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3919238" y="3438930"/>
            <a:ext cx="1292679" cy="198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Clasificación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3919238" y="3694139"/>
            <a:ext cx="1292679" cy="118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Salida: real o falso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956939" y="3438930"/>
            <a:ext cx="1292679" cy="198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Generador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956939" y="3694139"/>
            <a:ext cx="1292679" cy="118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Recibe ruido aleatorio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1937"/>
            <a:ext cx="2326423" cy="305098"/>
          </a:xfrm>
          <a:prstGeom prst="roundRect">
            <a:avLst>
              <a:gd name="adj" fmla="val 249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1923" y="792163"/>
            <a:ext cx="2695111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A LAS GANS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105297"/>
            <a:ext cx="10868745" cy="62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Arquitectura de una "Vanilla" GAN</a:t>
            </a:r>
            <a:endParaRPr lang="en-US" sz="3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88840"/>
            <a:ext cx="9238424" cy="31588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339655"/>
            <a:ext cx="10868745" cy="786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500"/>
              </a:spcAft>
              <a:buNone/>
            </a:pPr>
            <a:r>
              <a:rPr lang="en-US" sz="1550" b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¿Qué es una GAN? - Explicación sobre las redes generativas antagónicas - AWS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2547"/>
            <a:ext cx="1417007" cy="186035"/>
          </a:xfrm>
          <a:prstGeom prst="roundRect">
            <a:avLst>
              <a:gd name="adj" fmla="val 4096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4895" y="729258"/>
            <a:ext cx="1879751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INTRODUCCIÓN A LAS GANS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03883"/>
            <a:ext cx="10868745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Entrenamiento paso a paso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81423"/>
            <a:ext cx="1147833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Cuatro pasos que se repiten miles de veces — así es como una GAN aprende a engañar.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45025" y="2090638"/>
            <a:ext cx="3397066" cy="122337"/>
          </a:xfrm>
          <a:prstGeom prst="roundRect">
            <a:avLst>
              <a:gd name="adj" fmla="val 6229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1968302"/>
            <a:ext cx="367100" cy="367109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3250" y="2060079"/>
            <a:ext cx="183550" cy="1835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3809" y="2398713"/>
            <a:ext cx="3336048" cy="382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1 — El Generador produce su primer intento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3809" y="2819102"/>
            <a:ext cx="3336048" cy="1077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Recibe como entrada un vector de ruido aleatorio — números al azar que representan un punto en un espacio de posibilidades. Con ese ruido como semilla, produce una imagen. Al principio del entrenamiento, esa imagen es literalmente ruido visual — manchas sin forma ni sentido.</a:t>
            </a:r>
            <a:endParaRPr lang="en-US" sz="9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9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Analogía: el falsificador en su primer día. No sabe nada de los rostros reales — produce garabatos.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489040" y="1907084"/>
            <a:ext cx="3397066" cy="122337"/>
          </a:xfrm>
          <a:prstGeom prst="roundRect">
            <a:avLst>
              <a:gd name="adj" fmla="val 6229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05490" y="1784747"/>
            <a:ext cx="367100" cy="367109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7265" y="1876524"/>
            <a:ext cx="183550" cy="1835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27824" y="2215158"/>
            <a:ext cx="3336048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2 — El Discriminador evalúa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27824" y="2444353"/>
            <a:ext cx="3336048" cy="9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spcAft>
                <a:spcPts val="2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Recibe dos tipos de inputs en cada ronda: imágenes reales del dataset de entrenamiento e imágenes falsas producidas por el Generador en el Paso 1. Su tarea: asignar a cada imagen una probabilidad de ser real (entre 0 y 1).</a:t>
            </a:r>
            <a:endParaRPr lang="en-US" sz="9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9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principio tiene la tarea fácil — las imágenes del Generador son obviamente falsas.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133055" y="1723529"/>
            <a:ext cx="3397066" cy="122337"/>
          </a:xfrm>
          <a:prstGeom prst="roundRect">
            <a:avLst>
              <a:gd name="adj" fmla="val 6229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949505" y="1601192"/>
            <a:ext cx="367100" cy="367109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1280" y="1692970"/>
            <a:ext cx="183550" cy="18355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71839" y="2031603"/>
            <a:ext cx="3336048" cy="382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3 — El Discriminador emite su veredicto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071839" y="2451993"/>
            <a:ext cx="3336048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 un número entre 0 y 1: cerca de 1 → "Esto es real"; cerca de 0 → "Esto es claramente falso"; cerca de 0.5 → "No tengo idea". Cuando el Generador logra que el Discriminador dé 0.5 de forma consistente, es el éxito.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45025" y="4571901"/>
            <a:ext cx="3397066" cy="122337"/>
          </a:xfrm>
          <a:prstGeom prst="roundRect">
            <a:avLst>
              <a:gd name="adj" fmla="val 6229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61475" y="4449564"/>
            <a:ext cx="367100" cy="367109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3250" y="4541341"/>
            <a:ext cx="183550" cy="18355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3809" y="4879975"/>
            <a:ext cx="3336048" cy="382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4 — Ambos aprenden del resultado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83809" y="5300365"/>
            <a:ext cx="3336048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veredicto se convierte en señal de aprendizaje: el Generador ajusta sus parámetros para engañar mejor la próxima vez; el Discriminador ajusta los suyos para detectar mejor. Ambos actualizan simultáneamente — cada uno aprende del error del otro.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489040" y="4388346"/>
            <a:ext cx="3397066" cy="122337"/>
          </a:xfrm>
          <a:prstGeom prst="roundRect">
            <a:avLst>
              <a:gd name="adj" fmla="val 6229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305490" y="4266009"/>
            <a:ext cx="367100" cy="367109"/>
          </a:xfrm>
          <a:prstGeom prst="ellipse">
            <a:avLst/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97265" y="4357787"/>
            <a:ext cx="183550" cy="18355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427824" y="4696420"/>
            <a:ext cx="3336048" cy="382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Paso 5 — El ciclo se repite miles de veces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427824" y="5116810"/>
            <a:ext cx="3336048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Generar → evaluar → aprender. Este loop puede repetirse cientos de miles de veces. Con cada iteración, el Generador produce imágenes más convincentes y el Discriminador se vuelve más exigente. Al final, el ojo humano no puede distinguir lo real de lo generado.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9511"/>
            <a:ext cx="2128784" cy="251420"/>
          </a:xfrm>
          <a:prstGeom prst="roundRect">
            <a:avLst>
              <a:gd name="adj" fmla="val 30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899120"/>
            <a:ext cx="253993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47167"/>
            <a:ext cx="1086874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Ejemplo de Slanted Land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847505" y="2033984"/>
            <a:ext cx="19050" cy="3974405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1014486" y="2210495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033984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485" y="206499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74473" y="2090837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Panorama de la IA Generativa de Visión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74473" y="2418755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discriminativa vs. generativa, línea de tiempo histórica y modelos del curso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14486" y="3051671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2875161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485" y="290616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74473" y="2932013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Introducción a las GANs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74473" y="3259931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Origen (Goodfellow 2014), intuición del falsificador y el detective, arquitectura básica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4486" y="3892848"/>
            <a:ext cx="496081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3716338"/>
            <a:ext cx="372061" cy="372070"/>
          </a:xfrm>
          <a:prstGeom prst="roundRect">
            <a:avLst>
              <a:gd name="adj" fmla="val 2048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485" y="374734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674473" y="3773190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Ejemplo de Slanted Land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74473" y="4101108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la intuición a los números: Discriminador, Generador y sus pesos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14486" y="4734024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4557514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485" y="458852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74473" y="4614366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Tipos de GANs y Aplicaciones en Biomedicina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74473" y="4942284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Vanilla GAN, StyleGAN, fortalezas clínicas y generación de datos sintéticos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14486" y="5575201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475" y="5398691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485" y="542969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674473" y="5455543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 y Cierre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74473" y="5783461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Problemas de entrenamiento, evaluación, sesgo y próximos pasos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313" y="1218505"/>
            <a:ext cx="4420878" cy="44209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653256"/>
            <a:ext cx="1945135" cy="229691"/>
          </a:xfrm>
          <a:prstGeom prst="roundRect">
            <a:avLst>
              <a:gd name="adj" fmla="val 3317"/>
            </a:avLst>
          </a:prstGeom>
          <a:solidFill>
            <a:srgbClr val="F9D2D6"/>
          </a:solidFill>
          <a:ln/>
        </p:spPr>
      </p:sp>
      <p:sp>
        <p:nvSpPr>
          <p:cNvPr id="5" name="Text 2"/>
          <p:cNvSpPr/>
          <p:nvPr/>
        </p:nvSpPr>
        <p:spPr>
          <a:xfrm>
            <a:off x="752159" y="698599"/>
            <a:ext cx="237335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1475" y="921544"/>
            <a:ext cx="6296860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Problema: ¡Bienvenidos a Slanted Land! 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🌀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661475" y="2030413"/>
            <a:ext cx="6296860" cy="1100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Imagina un mundo peculiar llamado Slanted Land, donde absolutamente todo se inclina: los árboles, las casas, las personas e incluso la pizza que comen los gatos. En este universo, la norma es la inclinación.</a:t>
            </a:r>
            <a:endParaRPr lang="en-US" sz="11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habitantes de Slanted Land solo conocen rostros con una ligera inclinación. Para ellos, un rostro completamente recto sería una anomalía, algo totalmente extraño e incomprensible.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3239591"/>
            <a:ext cx="6296860" cy="1052413"/>
          </a:xfrm>
          <a:prstGeom prst="roundRect">
            <a:avLst>
              <a:gd name="adj" fmla="val 724"/>
            </a:avLst>
          </a:prstGeom>
          <a:solidFill>
            <a:srgbClr val="F9D2D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81" y="3381375"/>
            <a:ext cx="188908" cy="151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595" y="3373934"/>
            <a:ext cx="5654633" cy="793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problema urgente: la app de citas de Slanted Land, </a:t>
            </a:r>
            <a:pPr algn="l" indent="0" marL="0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TiltedTinder</a:t>
            </a:r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necesita generar fotos de perfil para sus usuarios. Pero solo tienen 4 fotos reales en toda su base de datos. Con tan pocos datos, nadie encuentra pareja. ¡La supervivencia romántica de toda una civilización inclinada depende de nuestra GAN! </a:t>
            </a:r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💘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61475" y="4400748"/>
            <a:ext cx="3100112" cy="1229519"/>
          </a:xfrm>
          <a:prstGeom prst="roundRect">
            <a:avLst>
              <a:gd name="adj" fmla="val 6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31631" y="4570909"/>
            <a:ext cx="275980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Universo Inclinado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31631" y="4865092"/>
            <a:ext cx="2759800" cy="595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Todo, desde la gravedad hasta las cejas de sus habitantes, está en un ángulo distintivo.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858223" y="4400748"/>
            <a:ext cx="3100112" cy="1229519"/>
          </a:xfrm>
          <a:prstGeom prst="roundRect">
            <a:avLst>
              <a:gd name="adj" fmla="val 6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028379" y="4570909"/>
            <a:ext cx="275980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Rostros "Normales"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028379" y="4865092"/>
            <a:ext cx="2759800" cy="595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existen los rostros inclinados; un rostro recto les resulta completamente alienígena.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61475" y="5739011"/>
            <a:ext cx="6906444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61475" y="6046093"/>
            <a:ext cx="6906444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Basado en el tutorial de Rowel Atienza — ver video: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i="1" u="sng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https://www.youtube.com/watch?v=8L11aMN5KY8&amp;t=16s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7316"/>
            <a:ext cx="2280387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800398"/>
            <a:ext cx="2677450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6957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mundo de Slanted Land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661475" y="1822648"/>
            <a:ext cx="3534282" cy="1715889"/>
          </a:xfrm>
          <a:prstGeom prst="roundRect">
            <a:avLst>
              <a:gd name="adj" fmla="val 444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025" y="2006203"/>
            <a:ext cx="31671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Imágenes 2×2 píxeles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5025" y="2362795"/>
            <a:ext cx="3167182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imagen se representa como una pantalla con 4 celdas — cada celda tiene un valor entre 0 (blanco) y 1 (negro).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8607" y="1822648"/>
            <a:ext cx="3534381" cy="1715889"/>
          </a:xfrm>
          <a:prstGeom prst="roundRect">
            <a:avLst>
              <a:gd name="adj" fmla="val 444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2157" y="2006203"/>
            <a:ext cx="316728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Dataset real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12157" y="2362795"/>
            <a:ext cx="3167281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Son imágenes de personas inclinadas. El Generador va a aprender a producir imágenes que se parezcan a esas personas.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95839" y="1822648"/>
            <a:ext cx="3534381" cy="1715889"/>
          </a:xfrm>
          <a:prstGeom prst="roundRect">
            <a:avLst>
              <a:gd name="adj" fmla="val 444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9389" y="2006203"/>
            <a:ext cx="316728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Red de una sola capa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79389" y="2362795"/>
            <a:ext cx="316728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arquitectura más simple posible — ideal para entender los fundamentos sin complejidad adicional.</a:t>
            </a:r>
            <a:endParaRPr lang="en-US" sz="13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135" y="3687961"/>
            <a:ext cx="8149426" cy="24226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9727"/>
            <a:ext cx="1419785" cy="167580"/>
          </a:xfrm>
          <a:prstGeom prst="roundRect">
            <a:avLst>
              <a:gd name="adj" fmla="val 454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27652" y="702766"/>
            <a:ext cx="1897015" cy="101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857845"/>
            <a:ext cx="10868745" cy="34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Los datos reales: caras con patrón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661475" y="1280021"/>
            <a:ext cx="11478330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"caras" de Slanted Land, codificadas como píxeles, tienen un </a:t>
            </a:r>
            <a:pPr algn="l" indent="0" marL="0">
              <a:lnSpc>
                <a:spcPct val="98000"/>
              </a:lnSpc>
              <a:buNone/>
            </a:pPr>
            <a:r>
              <a:rPr lang="en-US" sz="8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patrón consistente</a:t>
            </a:r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1475" y="1467545"/>
            <a:ext cx="10868745" cy="277118"/>
          </a:xfrm>
          <a:prstGeom prst="rect">
            <a:avLst/>
          </a:prstGeom>
          <a:noFill/>
          <a:ln/>
        </p:spPr>
        <p:txBody>
          <a:bodyPr wrap="square" lIns="0" tIns="44154" rIns="0" bIns="0" rtlCol="0" anchor="t">
            <a:normAutofit/>
          </a:bodyPr>
          <a:lstStyle/>
          <a:p>
            <a:pPr algn="l" marL="172720" indent="-172720">
              <a:lnSpc>
                <a:spcPct val="98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Esquinas oscuras en la </a:t>
            </a:r>
            <a:pPr algn="l" marL="172720" indent="-172720">
              <a:lnSpc>
                <a:spcPct val="98000"/>
              </a:lnSpc>
              <a:buSzPct val="100000"/>
              <a:buChar char="•"/>
            </a:pPr>
            <a:r>
              <a:rPr lang="en-US" sz="8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diagonal principal</a:t>
            </a:r>
            <a:pPr algn="l" marL="172720" indent="-172720">
              <a:lnSpc>
                <a:spcPct val="98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(arriba-izquierda y abajo-derecha): valor alto</a:t>
            </a:r>
            <a:endParaRPr lang="en-US" sz="850" dirty="0"/>
          </a:p>
          <a:p>
            <a:pPr algn="l" marL="172720" indent="-172720">
              <a:lnSpc>
                <a:spcPct val="98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Esquinas claras en la </a:t>
            </a:r>
            <a:pPr algn="l" marL="172720" indent="-172720">
              <a:lnSpc>
                <a:spcPct val="98000"/>
              </a:lnSpc>
              <a:buSzPct val="100000"/>
              <a:buChar char="•"/>
            </a:pPr>
            <a:r>
              <a:rPr lang="en-US" sz="8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diagonal secundaria</a:t>
            </a:r>
            <a:pPr algn="l" marL="172720" indent="-172720">
              <a:lnSpc>
                <a:spcPct val="98000"/>
              </a:lnSpc>
              <a:buSzPct val="100000"/>
              <a:buChar char="•"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(arriba-derecha y abajo-izquierda): valor bajo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1475" y="1802606"/>
            <a:ext cx="11478330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Ese patrón diagonal es la "firma" de una cara real. El Discriminador tiene que aprenderlo para poder distinguirla del ruido.</a:t>
            </a:r>
            <a:endParaRPr lang="en-US" sz="8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209" y="1990130"/>
            <a:ext cx="5079278" cy="41980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2980"/>
            <a:ext cx="1822206" cy="215205"/>
          </a:xfrm>
          <a:prstGeom prst="roundRect">
            <a:avLst>
              <a:gd name="adj" fmla="val 354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6404" y="705445"/>
            <a:ext cx="2261932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12118"/>
            <a:ext cx="10868745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Caras vs. ruido: los dos tipos de imágenes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59580" y="1481634"/>
            <a:ext cx="5465527" cy="829370"/>
          </a:xfrm>
          <a:prstGeom prst="roundRect">
            <a:avLst>
              <a:gd name="adj" fmla="val 2561"/>
            </a:avLst>
          </a:prstGeom>
          <a:solidFill>
            <a:srgbClr val="F9D2D6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1062" y="1566466"/>
            <a:ext cx="5182562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Caras (imágenes reales)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01062" y="1872555"/>
            <a:ext cx="5182562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Valores altos en la diagonal principal, bajos en la secundaria. Patrón estructurado y reconocible.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74834" y="1566466"/>
            <a:ext cx="5261736" cy="22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Ruido (imágenes falsas)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74834" y="1872555"/>
            <a:ext cx="526173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Valores sin patrón, distribuidos aleatoriamente. Sin estructura diagonal. El Discriminador debe aprender a distinguirlos a partir de esos valores numéricos.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550" y="2406352"/>
            <a:ext cx="7064595" cy="37885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5842"/>
            <a:ext cx="1362239" cy="160933"/>
          </a:xfrm>
          <a:prstGeom prst="roundRect">
            <a:avLst>
              <a:gd name="adj" fmla="val 4735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24973" y="737592"/>
            <a:ext cx="1844827" cy="97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885726"/>
            <a:ext cx="10868745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Construyendo el Discriminador 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661475" y="1235770"/>
            <a:ext cx="10868745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píxeles importan?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61475" y="1638102"/>
            <a:ext cx="11478330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Discriminador aprende que en las caras de Slanted Land: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1475" y="1814215"/>
            <a:ext cx="10868745" cy="262037"/>
          </a:xfrm>
          <a:prstGeom prst="rect">
            <a:avLst/>
          </a:prstGeom>
          <a:noFill/>
          <a:ln/>
        </p:spPr>
        <p:txBody>
          <a:bodyPr wrap="square" lIns="0" tIns="42382" rIns="0" bIns="0" rtlCol="0" anchor="t">
            <a:normAutofit/>
          </a:bodyPr>
          <a:lstStyle/>
          <a:p>
            <a:pPr algn="l" marL="162560" indent="-162560">
              <a:lnSpc>
                <a:spcPct val="97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píxeles de la </a:t>
            </a:r>
            <a:pPr algn="l" marL="162560" indent="-162560">
              <a:lnSpc>
                <a:spcPct val="97000"/>
              </a:lnSpc>
              <a:buSzPct val="100000"/>
              <a:buChar char="•"/>
            </a:pPr>
            <a:r>
              <a:rPr lang="en-US" sz="8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diagonal principal</a:t>
            </a:r>
            <a:pPr algn="l" marL="162560" indent="-162560">
              <a:lnSpc>
                <a:spcPct val="97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son grandes → reciben </a:t>
            </a:r>
            <a:pPr algn="l" marL="162560" indent="-162560">
              <a:lnSpc>
                <a:spcPct val="97000"/>
              </a:lnSpc>
              <a:buSzPct val="100000"/>
              <a:buChar char="•"/>
            </a:pPr>
            <a:r>
              <a:rPr lang="en-US" sz="8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peso positivo (+1)</a:t>
            </a:r>
            <a:endParaRPr lang="en-US" sz="800" dirty="0"/>
          </a:p>
          <a:p>
            <a:pPr algn="l" marL="162560" indent="-162560">
              <a:lnSpc>
                <a:spcPct val="97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píxeles de la </a:t>
            </a:r>
            <a:pPr algn="l" marL="162560" indent="-162560">
              <a:lnSpc>
                <a:spcPct val="97000"/>
              </a:lnSpc>
              <a:buSzPct val="100000"/>
              <a:buChar char="•"/>
            </a:pPr>
            <a:r>
              <a:rPr lang="en-US" sz="8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diagonal secundaria</a:t>
            </a:r>
            <a:pPr algn="l" marL="162560" indent="-162560">
              <a:lnSpc>
                <a:spcPct val="97000"/>
              </a:lnSpc>
              <a:buSzPct val="100000"/>
              <a:buChar char="•"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son pequeños → reciben </a:t>
            </a:r>
            <a:pPr algn="l" marL="162560" indent="-162560">
              <a:lnSpc>
                <a:spcPct val="97000"/>
              </a:lnSpc>
              <a:buSzPct val="100000"/>
              <a:buChar char="•"/>
            </a:pPr>
            <a:r>
              <a:rPr lang="en-US" sz="8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peso negativo (−1)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1475" y="2129631"/>
            <a:ext cx="11478330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Asigna estos pesos a cada posición: +1 para las que caracterizan una cara, −1 para las que no la caracterizan.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8600" y="2305745"/>
            <a:ext cx="4874495" cy="384631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1576"/>
            <a:ext cx="1574661" cy="186035"/>
          </a:xfrm>
          <a:prstGeom prst="roundRect">
            <a:avLst>
              <a:gd name="adj" fmla="val 4096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4895" y="738287"/>
            <a:ext cx="2037406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12912"/>
            <a:ext cx="10868745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Construyendo el Discriminador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20701"/>
            <a:ext cx="10868745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Calculo del Score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1475" y="1798241"/>
            <a:ext cx="11478330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</a:t>
            </a:r>
            <a:pPr algn="l" indent="0" marL="0">
              <a:lnSpc>
                <a:spcPct val="101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score</a:t>
            </a:r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una imagen = suma ponderada de sus valores de píxel × pesos aprendidos: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73371" y="2018010"/>
            <a:ext cx="5461359" cy="790476"/>
          </a:xfrm>
          <a:prstGeom prst="roundRect">
            <a:avLst>
              <a:gd name="adj" fmla="val 2322"/>
            </a:avLst>
          </a:prstGeom>
          <a:solidFill>
            <a:srgbClr val="F9D2D6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95704" y="2081312"/>
            <a:ext cx="5216692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Cara prototipo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5704" y="2335808"/>
            <a:ext cx="5826277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highlight>
                  <a:srgbClr val="ECC5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1×(+1) + 0×(−1) + 0×(−1) + 1×(+1) =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5704" y="2553990"/>
            <a:ext cx="5216692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Score &gt; 1 → Real 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51419" y="2081312"/>
            <a:ext cx="528515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Imagen de ruido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1419" y="2335808"/>
            <a:ext cx="5894736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0.25×(+1) + 1×(−1) + 0.5×(−1) + 0.75×(+1) = −0.5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51419" y="2553990"/>
            <a:ext cx="5285151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Score &lt; 1 → Falsa ✓Score &gt; 1 → Real ✓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273" y="2879725"/>
            <a:ext cx="5627150" cy="32766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9684"/>
            <a:ext cx="987003" cy="116582"/>
          </a:xfrm>
          <a:prstGeom prst="roundRect">
            <a:avLst>
              <a:gd name="adj" fmla="val 6536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07511" y="672703"/>
            <a:ext cx="1504515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661475" y="776188"/>
            <a:ext cx="1086874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Discriminador Como red neuronal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475" y="1053505"/>
            <a:ext cx="11478330" cy="81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la cara prototipo: </a:t>
            </a:r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σ(1×(+1) + 0×(−1) + 0×(−1) + 1×(+1) − 1) = σ(1)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661475" y="1162844"/>
            <a:ext cx="3606313" cy="382191"/>
          </a:xfrm>
          <a:prstGeom prst="roundRect">
            <a:avLst>
              <a:gd name="adj" fmla="val 1994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4519" y="1245890"/>
            <a:ext cx="3440225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Entradas (z)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44519" y="1380629"/>
            <a:ext cx="3440225" cy="81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z₁=1, z₂=0, z₃=0, z₄=1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4292691" y="1162844"/>
            <a:ext cx="3606313" cy="382191"/>
          </a:xfrm>
          <a:prstGeom prst="roundRect">
            <a:avLst>
              <a:gd name="adj" fmla="val 1994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5735" y="1245890"/>
            <a:ext cx="3440225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Pesos (w)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375735" y="1380629"/>
            <a:ext cx="3440225" cy="81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w₁=+1, w₂=−1, w₃=−1, w₄=+1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7923907" y="1162844"/>
            <a:ext cx="3606313" cy="382191"/>
          </a:xfrm>
          <a:prstGeom prst="roundRect">
            <a:avLst>
              <a:gd name="adj" fmla="val 1994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6951" y="1245890"/>
            <a:ext cx="3440225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Bias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006951" y="1380629"/>
            <a:ext cx="3440225" cy="81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 fijo = 1, peso = −1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661475" y="1569938"/>
            <a:ext cx="5421871" cy="382191"/>
          </a:xfrm>
          <a:prstGeom prst="roundRect">
            <a:avLst>
              <a:gd name="adj" fmla="val 1994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4519" y="1652984"/>
            <a:ext cx="5255783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Suma ponderada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44519" y="1787723"/>
            <a:ext cx="5255783" cy="81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1(+1)+0(−1)+0(−1)+1(+1)+1(−1) = 1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108250" y="1569938"/>
            <a:ext cx="5421971" cy="382191"/>
          </a:xfrm>
          <a:prstGeom prst="roundRect">
            <a:avLst>
              <a:gd name="adj" fmla="val 1994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1294" y="1652984"/>
            <a:ext cx="5255883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Sigmoid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91294" y="1787723"/>
            <a:ext cx="5255883" cy="81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σ(1) ≈ 0.73 → imagen real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661475" y="1980109"/>
            <a:ext cx="10868745" cy="190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spcAft>
                <a:spcPts val="200"/>
              </a:spcAft>
              <a:buNone/>
            </a:pPr>
            <a:endParaRPr lang="en-US" sz="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550" y="2198787"/>
            <a:ext cx="7064595" cy="856575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4877"/>
            <a:ext cx="1975495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810915"/>
            <a:ext cx="2400934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038027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Función Sigmoid: la activación del Discriminador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2147590"/>
            <a:ext cx="10868745" cy="506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función sigmoid convierte cualquier número real en una probabilidad entre 0 y 1. Es la función de activación que usa el Discriminador para emitir su veredicto.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2892921"/>
            <a:ext cx="2437248" cy="437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92921"/>
            <a:ext cx="2437248" cy="43705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453" y="2878832"/>
            <a:ext cx="5231178" cy="205511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50849" y="5158383"/>
            <a:ext cx="2657409" cy="934740"/>
          </a:xfrm>
          <a:prstGeom prst="roundRect">
            <a:avLst>
              <a:gd name="adj" fmla="val 2464"/>
            </a:avLst>
          </a:prstGeom>
          <a:solidFill>
            <a:srgbClr val="FDECEA">
              <a:alpha val="9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704336" y="5258197"/>
            <a:ext cx="235043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Rango acotado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04336" y="5597922"/>
            <a:ext cx="235043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Devuelve valores entre 0 y 1; se lee como probabilidad.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67995" y="5158383"/>
            <a:ext cx="2657409" cy="934740"/>
          </a:xfrm>
          <a:prstGeom prst="roundRect">
            <a:avLst>
              <a:gd name="adj" fmla="val 2464"/>
            </a:avLst>
          </a:prstGeom>
          <a:solidFill>
            <a:srgbClr val="F5E6E8">
              <a:alpha val="9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3521483" y="5258197"/>
            <a:ext cx="235043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Diferenciable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21483" y="5597922"/>
            <a:ext cx="235043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suave en todo punto; permite backpropagation.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85142" y="5158383"/>
            <a:ext cx="2657409" cy="934740"/>
          </a:xfrm>
          <a:prstGeom prst="roundRect">
            <a:avLst>
              <a:gd name="adj" fmla="val 2464"/>
            </a:avLst>
          </a:prstGeom>
          <a:solidFill>
            <a:srgbClr val="FDECEA">
              <a:alpha val="9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338630" y="5258197"/>
            <a:ext cx="235043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Monótona creciente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38630" y="5597922"/>
            <a:ext cx="235043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sube la entrada, sube la salida; conserva el orden.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002289" y="5158383"/>
            <a:ext cx="2657409" cy="934740"/>
          </a:xfrm>
          <a:prstGeom prst="roundRect">
            <a:avLst>
              <a:gd name="adj" fmla="val 2464"/>
            </a:avLst>
          </a:prstGeom>
          <a:solidFill>
            <a:srgbClr val="F5E6E8">
              <a:alpha val="9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9155776" y="5258197"/>
            <a:ext cx="235043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Punto medio en 0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9155776" y="5597922"/>
            <a:ext cx="235043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σ(0) = 0.5; umbral natural de decisión.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7827"/>
            <a:ext cx="2432287" cy="287139"/>
          </a:xfrm>
          <a:prstGeom prst="roundRect">
            <a:avLst>
              <a:gd name="adj" fmla="val 265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4480"/>
            <a:ext cx="28150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553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Pongamos todo junto del Discriminador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08882"/>
            <a:ext cx="5203794" cy="1360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Cuando la cara prototipo pasa por la red completa:</a:t>
            </a:r>
            <a:endParaRPr lang="en-US" sz="1450" dirty="0"/>
          </a:p>
          <a:p>
            <a:pPr algn="l" indent="0" marL="0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σ(1) = 0.73</a:t>
            </a:r>
            <a:pPr algn="l" indent="0" marL="0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"Estoy un 73% seguro de que esto es real"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0.73 &gt; 0.5, clasifica correctamente la imagen como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real ✓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539629"/>
            <a:ext cx="4163015" cy="22983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32776" y="2008882"/>
            <a:ext cx="5203794" cy="1632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Cuando la imagen de ruido pasa por la misma red:</a:t>
            </a:r>
            <a:endParaRPr lang="en-US" sz="1450" dirty="0"/>
          </a:p>
          <a:p>
            <a:pPr algn="l" indent="0" marL="0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σ(-0.5) = 0.37</a:t>
            </a:r>
            <a:pPr algn="l" indent="0" marL="0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"Estoy solo un 37% seguro de que esto sea real"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0.37 &lt; 0.5, clasifica correctamente la imagen como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DA1B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falsa ✓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776" y="3811786"/>
            <a:ext cx="4163015" cy="216822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9684"/>
            <a:ext cx="1140094" cy="134441"/>
          </a:xfrm>
          <a:prstGeom prst="roundRect">
            <a:avLst>
              <a:gd name="adj" fmla="val 5668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14556" y="676176"/>
            <a:ext cx="1643517" cy="81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797322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Construyendo el Generador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61475" y="1087437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objetivo opuesto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1414165"/>
            <a:ext cx="1086874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spcAft>
                <a:spcPts val="250"/>
              </a:spcAft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Generador recibe un número aleatorio </a:t>
            </a:r>
            <a:pPr algn="l" indent="0" marL="0">
              <a:lnSpc>
                <a:spcPct val="92000"/>
              </a:lnSpc>
              <a:spcAft>
                <a:spcPts val="250"/>
              </a:spcAft>
              <a:buNone/>
            </a:pPr>
            <a:r>
              <a:rPr lang="en-US" sz="6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</a:t>
            </a:r>
            <a:pPr algn="l" indent="0" marL="0">
              <a:lnSpc>
                <a:spcPct val="92000"/>
              </a:lnSpc>
              <a:spcAft>
                <a:spcPts val="250"/>
              </a:spcAft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(entre 0 y 1 — el "ruido latente") y tiene que producir una imagen de 2×2 píxeles. Su objetivo: producir imágenes que el Discriminador clasifique como reales (output cercano a 1).</a:t>
            </a:r>
            <a:endParaRPr lang="en-US" sz="65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estructura es la </a:t>
            </a:r>
            <a:pPr algn="l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inversa</a:t>
            </a:r>
            <a:pPr algn="l" indent="0" marL="0">
              <a:lnSpc>
                <a:spcPct val="92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 Discriminador: de 1 número → 4 píxeles. En redes reales, esto se implementa con capas de </a:t>
            </a:r>
            <a:pPr algn="l" indent="0" marL="0">
              <a:lnSpc>
                <a:spcPct val="92000"/>
              </a:lnSpc>
              <a:buNone/>
            </a:pPr>
            <a:r>
              <a:rPr lang="en-US" sz="6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upsampling</a:t>
            </a:r>
            <a:pPr algn="l" indent="0" marL="0">
              <a:lnSpc>
                <a:spcPct val="92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</a:t>
            </a:r>
            <a:pPr algn="l" indent="0" marL="0">
              <a:lnSpc>
                <a:spcPct val="92000"/>
              </a:lnSpc>
              <a:buNone/>
            </a:pPr>
            <a:r>
              <a:rPr lang="en-US" sz="65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convoluciones transpuestas</a:t>
            </a:r>
            <a:pPr algn="l" indent="0" marL="0">
              <a:lnSpc>
                <a:spcPct val="92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0043" y="1683643"/>
            <a:ext cx="8151509" cy="45840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6877"/>
            <a:ext cx="1574661" cy="186035"/>
          </a:xfrm>
          <a:prstGeom prst="roundRect">
            <a:avLst>
              <a:gd name="adj" fmla="val 4096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4895" y="763588"/>
            <a:ext cx="2037406" cy="112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38212"/>
            <a:ext cx="10868745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Construyendo el Generador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346002"/>
            <a:ext cx="10868745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Generador en acción: z = 0.7 → imagen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1475" y="1823541"/>
            <a:ext cx="1086874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1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</a:t>
            </a:r>
            <a:pPr algn="l" indent="0" marL="0">
              <a:lnSpc>
                <a:spcPct val="101000"/>
              </a:lnSpc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 = 0.7</a:t>
            </a:r>
            <a:pPr algn="l" indent="0" marL="0">
              <a:lnSpc>
                <a:spcPct val="101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como entrada y los pesos aprendidos, el Generador produce una imagen que </a:t>
            </a:r>
            <a:pPr algn="l" indent="0" marL="0">
              <a:lnSpc>
                <a:spcPct val="101000"/>
              </a:lnSpc>
              <a:spcAft>
                <a:spcPts val="550"/>
              </a:spcAft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reproduce el patrón diagonal</a:t>
            </a:r>
            <a:pPr algn="l" indent="0" marL="0">
              <a:lnSpc>
                <a:spcPct val="101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las caras reales. El Generador aprendió a engañar al Discriminador.</a:t>
            </a:r>
            <a:endParaRPr lang="en-US" sz="9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resultado muestra el patrón diagonal característico de las caras de Slanted Land: valores altos en la diagonal principal, bajos en la secundaria. El Generador internalizó la estructura del dataset real.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550" y="2263080"/>
            <a:ext cx="7064595" cy="38679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0383"/>
            <a:ext cx="2280387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893465"/>
            <a:ext cx="2677450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16264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Proceso de Entrenamiento 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915716"/>
            <a:ext cx="10868745" cy="114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los slides anteriores definimos los pesos del Discriminador y el Generador a mano (+1, −1, Bias). En la práctica, la red debe aprender esos pesos sola. Para eso necesitamos una forma de medir cuánto se equivocó — esa es la función de error.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que ambas redes aprendan, necesitamos medir exactamente cuánto se equivocaron. La función que hace eso en las GANs se llama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log-loss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(binary cross-entropy):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3206750"/>
            <a:ext cx="5367898" cy="1824434"/>
          </a:xfrm>
          <a:prstGeom prst="roundRect">
            <a:avLst>
              <a:gd name="adj" fmla="val 41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025" y="3390305"/>
            <a:ext cx="5000798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Cuando queremos que la predicción sea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5025" y="4023816"/>
            <a:ext cx="5000798" cy="823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 = </a:t>
            </a:r>
            <a:pPr algn="l"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−ln(predicción)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usa cuando la imagen es real y el Discriminador debe acercarse a 1.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62223" y="3206750"/>
            <a:ext cx="5367997" cy="1824434"/>
          </a:xfrm>
          <a:prstGeom prst="roundRect">
            <a:avLst>
              <a:gd name="adj" fmla="val 41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773" y="3390305"/>
            <a:ext cx="5000897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Cuando queremos que la predicción sea 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45773" y="4023816"/>
            <a:ext cx="5000897" cy="823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 = </a:t>
            </a:r>
            <a:pPr algn="l" indent="0" marL="0">
              <a:lnSpc>
                <a:spcPct val="117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−ln(1 − predicción)</a:t>
            </a:r>
            <a:endParaRPr lang="en-US" sz="13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usa cuando la imagen es falsa y el Discriminador debe acercarse a 0.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1475" y="5180608"/>
            <a:ext cx="10868745" cy="837009"/>
          </a:xfrm>
          <a:prstGeom prst="roundRect">
            <a:avLst>
              <a:gd name="adj" fmla="val 910"/>
            </a:avLst>
          </a:prstGeom>
          <a:solidFill>
            <a:srgbClr val="B6D6F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5" y="5374084"/>
            <a:ext cx="221451" cy="17720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7326" y="5357713"/>
            <a:ext cx="1011569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propiedad clave: el error es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grande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cuando la predicción está lejos del objetivo, y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pequeño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cuando está cerca. Esto guía el aprendizaje en la dirección correcta.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9577"/>
            <a:ext cx="2585378" cy="305098"/>
          </a:xfrm>
          <a:prstGeom prst="roundRect">
            <a:avLst>
              <a:gd name="adj" fmla="val 249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1923" y="799802"/>
            <a:ext cx="2954065" cy="18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112937"/>
            <a:ext cx="10868745" cy="62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Log-loss: los dos casos</a:t>
            </a:r>
            <a:endParaRPr lang="en-US" sz="3950" dirty="0"/>
          </a:p>
        </p:txBody>
      </p:sp>
      <p:sp>
        <p:nvSpPr>
          <p:cNvPr id="5" name="Shape 3"/>
          <p:cNvSpPr/>
          <p:nvPr/>
        </p:nvSpPr>
        <p:spPr>
          <a:xfrm>
            <a:off x="516917" y="1996480"/>
            <a:ext cx="5478524" cy="2910880"/>
          </a:xfrm>
          <a:prstGeom prst="roundRect">
            <a:avLst>
              <a:gd name="adj" fmla="val 1035"/>
            </a:avLst>
          </a:prstGeom>
          <a:solidFill>
            <a:srgbClr val="F9D2D6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7730" y="2167136"/>
            <a:ext cx="507689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Label = 1 — Imagen Real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17730" y="2651522"/>
            <a:ext cx="5076896" cy="1495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🔍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Discriminador entrenando con imagen real. Debe acercarse a 1.</a:t>
            </a:r>
            <a:endParaRPr lang="en-US" sz="15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Predicción = 0.9 → −ln(0.9) ≈ 0.1 → Error pequeño</a:t>
            </a:r>
            <a:endParaRPr lang="en-US" sz="15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Predicción = 0.1 → −ln(0.1) ≈ 2.3 → Error enorme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7730" y="4363343"/>
            <a:ext cx="5686481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endParaRPr lang="en-US" sz="1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730" y="4363343"/>
            <a:ext cx="5076896" cy="32801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02604" y="1996480"/>
            <a:ext cx="5478524" cy="2910880"/>
          </a:xfrm>
          <a:prstGeom prst="roundRect">
            <a:avLst>
              <a:gd name="adj" fmla="val 1035"/>
            </a:avLst>
          </a:prstGeom>
          <a:solidFill>
            <a:srgbClr val="F2F2F2">
              <a:alpha val="9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403418" y="2167136"/>
            <a:ext cx="507689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Label = 0 — Imagen Falsa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403418" y="2651522"/>
            <a:ext cx="5076896" cy="1495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🎨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Generador entrenando: el Discriminador debe acercarse a 0 (detectar la imagen como falsa).</a:t>
            </a:r>
            <a:endParaRPr lang="en-US" sz="15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Predicción = 0.1 → −ln(0.9) ≈ 0.1 → Error pequeño</a:t>
            </a:r>
            <a:endParaRPr lang="en-US" sz="15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Predicción = 0.9 → −ln(0.1) ≈ 2.3 → Error enorme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03418" y="4363343"/>
            <a:ext cx="5686481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endParaRPr lang="en-US" sz="17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418" y="4363343"/>
            <a:ext cx="5076896" cy="32801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61475" y="5099348"/>
            <a:ext cx="10868745" cy="1018977"/>
          </a:xfrm>
          <a:prstGeom prst="roundRect">
            <a:avLst>
              <a:gd name="adj" fmla="val 748"/>
            </a:avLst>
          </a:prstGeom>
          <a:solidFill>
            <a:srgbClr val="B6D6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89" y="5347692"/>
            <a:ext cx="251017" cy="2008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14119" y="5320209"/>
            <a:ext cx="1001528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propiedad clave: el error es </a:t>
            </a:r>
            <a:pPr algn="l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grande</a:t>
            </a:r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cuando la predicción está lejos del objetivo, y </a:t>
            </a:r>
            <a:pPr algn="l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pequeño</a:t>
            </a:r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cuando está cerca. Esto guía el aprendizaje en la dirección correcta.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01873"/>
            <a:ext cx="1234548" cy="145852"/>
          </a:xfrm>
          <a:prstGeom prst="roundRect">
            <a:avLst>
              <a:gd name="adj" fmla="val 522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19020" y="730647"/>
            <a:ext cx="1729042" cy="88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863302"/>
            <a:ext cx="10868745" cy="299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Loss Function Visualmente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592321" y="1221680"/>
            <a:ext cx="5455605" cy="4934347"/>
          </a:xfrm>
          <a:prstGeom prst="roundRect">
            <a:avLst>
              <a:gd name="adj" fmla="val 292"/>
            </a:avLst>
          </a:prstGeom>
          <a:solidFill>
            <a:srgbClr val="F9D2D6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8263" y="1256705"/>
            <a:ext cx="5873305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🔍</a:t>
            </a:r>
            <a:pPr algn="l" indent="0" marL="0">
              <a:lnSpc>
                <a:spcPct val="94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Discriminador — imagen real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7529" y="1408410"/>
            <a:ext cx="1685089" cy="44530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8263" y="5905302"/>
            <a:ext cx="5263721" cy="2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Predicción = 1 (imagen real).</a:t>
            </a:r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Error = −ln(predicción). Predicción baja → alto error. Predicción alta → bajo error. El Discriminador quiere acercarse a 1 cuando ve imágenes reales.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150119" y="1221680"/>
            <a:ext cx="5455605" cy="4934347"/>
          </a:xfrm>
          <a:prstGeom prst="roundRect">
            <a:avLst>
              <a:gd name="adj" fmla="val 292"/>
            </a:avLst>
          </a:prstGeom>
          <a:solidFill>
            <a:srgbClr val="F2F2F2">
              <a:alpha val="9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246061" y="1256705"/>
            <a:ext cx="5873305" cy="107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🎨</a:t>
            </a:r>
            <a:pPr algn="l" indent="0" marL="0">
              <a:lnSpc>
                <a:spcPct val="94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Generador — imagen falsa</a:t>
            </a:r>
            <a:endParaRPr lang="en-US" sz="7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792" y="1408410"/>
            <a:ext cx="1676259" cy="43166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46061" y="5768876"/>
            <a:ext cx="5263721" cy="215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Predicción = 0 (imagen falsa).</a:t>
            </a:r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Error = −ln(1−predicción). Predicción alta → alto error. El Generador quiere que el Discriminador le asigne score alto (cercano a 1) — lo opuesto al objetivo del Discriminador.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3383"/>
            <a:ext cx="1759898" cy="207764"/>
          </a:xfrm>
          <a:prstGeom prst="roundRect">
            <a:avLst>
              <a:gd name="adj" fmla="val 3668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43527" y="754360"/>
            <a:ext cx="2205379" cy="12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52798"/>
            <a:ext cx="10868745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Backpropagation: del error al ajuste de pesos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498997"/>
            <a:ext cx="11478330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vez calculado el error, la red lo "propaga hacia atrás" para ajustar cada peso: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2770" y="1764953"/>
            <a:ext cx="205080" cy="2050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5865" y="1760736"/>
            <a:ext cx="3112514" cy="427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Pesos con alta contribución al error → se ajustan más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8591" y="1764953"/>
            <a:ext cx="205080" cy="2050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61686" y="1760736"/>
            <a:ext cx="3112613" cy="427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Pesos con baja contribución al error → se ajustan poco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4513" y="1764953"/>
            <a:ext cx="205080" cy="2050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7607" y="1760736"/>
            <a:ext cx="3112613" cy="427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dirección del ajuste apunta siempre a reducir el error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61475" y="2276971"/>
            <a:ext cx="11478330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proceso ocurre </a:t>
            </a:r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simultáneamente</a:t>
            </a:r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el Generador y el Discriminador en cada iteración.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3550" y="2538710"/>
            <a:ext cx="7064595" cy="360590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3972"/>
            <a:ext cx="2432287" cy="287139"/>
          </a:xfrm>
          <a:prstGeom prst="roundRect">
            <a:avLst>
              <a:gd name="adj" fmla="val 265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20626"/>
            <a:ext cx="28150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1153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Backpropagation: el procedimiento paso a paso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1964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715518"/>
            <a:ext cx="3522078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860774"/>
            <a:ext cx="35220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Calcular el error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246735"/>
            <a:ext cx="3522078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función log-loss da un número que mide qué tan lejos estuvo la red de la respuesta correcta.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34759" y="241964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34759" y="2715518"/>
            <a:ext cx="3522078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1" name="Text 9"/>
          <p:cNvSpPr/>
          <p:nvPr/>
        </p:nvSpPr>
        <p:spPr>
          <a:xfrm>
            <a:off x="4334759" y="2860774"/>
            <a:ext cx="35220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Derivar la sensibilidad de cada peso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334759" y="3542010"/>
            <a:ext cx="3522078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la regla de la cadena se calcula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∂E/∂w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cada peso: si subo este peso un poco, ¿el error sube o baja?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08043" y="241964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08043" y="2715518"/>
            <a:ext cx="3522178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8008043" y="2860774"/>
            <a:ext cx="3522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Actualizar en la dirección opuesta al gradiente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08043" y="3837285"/>
            <a:ext cx="3522178" cy="822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w_nuevo = w_actual − α · (∂E/∂w)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α (learning rate) controla el tamaño del paso.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49530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5248870"/>
            <a:ext cx="10868745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39412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Repetir para todos los pesos, en ambas redes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61475" y="5780087"/>
            <a:ext cx="108687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cálculo se ejecuta para cada peso del Discriminador y del Generador de forma simultánea.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4886"/>
            <a:ext cx="2544004" cy="300335"/>
          </a:xfrm>
          <a:prstGeom prst="roundRect">
            <a:avLst>
              <a:gd name="adj" fmla="val 253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0038" y="734120"/>
            <a:ext cx="2916462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041301"/>
            <a:ext cx="10868745" cy="1235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Backpropagation: ejemplo con Slanted Land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661475" y="2524820"/>
            <a:ext cx="10868745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el error del Discriminador = 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1.14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output 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D(G(z)) = 0.68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calculamos el ajuste concreto usando la derivada 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∂E/∂wᵢ = −[1 − D(x)] · xᵢ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3304580"/>
            <a:ext cx="10868745" cy="2111375"/>
          </a:xfrm>
          <a:prstGeom prst="roundRect">
            <a:avLst>
              <a:gd name="adj" fmla="val 36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3815755"/>
            <a:ext cx="10868745" cy="1235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614267"/>
            <a:ext cx="10868745" cy="1235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2084" y="3304580"/>
            <a:ext cx="12356" cy="21113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10422" y="3304580"/>
            <a:ext cx="12356" cy="21113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24383" y="3304580"/>
            <a:ext cx="12356" cy="21113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52721" y="3304580"/>
            <a:ext cx="12356" cy="21113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65761" y="3416498"/>
            <a:ext cx="2925094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Píxel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82898" y="3416498"/>
            <a:ext cx="1836295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Valor xᵢ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211235" y="3416498"/>
            <a:ext cx="2921919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∂E/∂w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25197" y="3416498"/>
            <a:ext cx="1836295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α = 0.1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553534" y="3416498"/>
            <a:ext cx="2382282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w_nuevo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5761" y="3924498"/>
            <a:ext cx="2925094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Arriba-izq (diagonal)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582898" y="3924498"/>
            <a:ext cx="1836295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0.25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211235" y="3924498"/>
            <a:ext cx="2921919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−0.32 × 0.25 = −0.08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925197" y="3924498"/>
            <a:ext cx="1836295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−0.1 × (−0.08)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553534" y="3924498"/>
            <a:ext cx="1772697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+ 0.008 = 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1.008 ↑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65761" y="4723011"/>
            <a:ext cx="2925094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Arriba-der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582898" y="4723011"/>
            <a:ext cx="1836295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1.00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211235" y="4723011"/>
            <a:ext cx="2921919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−0.32 × 1.00 = −0.32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925197" y="4723011"/>
            <a:ext cx="1836295" cy="29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−0.1 × (−0.32)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553534" y="4723011"/>
            <a:ext cx="1772697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−1 + 0.032 = 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−0.968 ↑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61475" y="5601990"/>
            <a:ext cx="10868745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pesos se mueven en la dirección que hace al Discriminador más exigente: en la próxima iteración dará un score más bajo a imágenes similares.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1293"/>
            <a:ext cx="1481993" cy="175022"/>
          </a:xfrm>
          <a:prstGeom prst="roundRect">
            <a:avLst>
              <a:gd name="adj" fmla="val 435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0529" y="695821"/>
            <a:ext cx="1953469" cy="105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58738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ciclo completo: Generador y Discriminador juntos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475" y="1302742"/>
            <a:ext cx="11478330" cy="137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</a:t>
            </a:r>
            <a:pPr algn="l" indent="0" marL="0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 = 0.7</a:t>
            </a:r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el Generador produce una imagen → el Discriminador la evalúa → output: </a:t>
            </a:r>
            <a:pPr algn="l" indent="0" marL="0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0.68</a:t>
            </a:r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Este único número conecta los dos errores: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78530" y="1502866"/>
            <a:ext cx="5459772" cy="616545"/>
          </a:xfrm>
          <a:prstGeom prst="roundRect">
            <a:avLst>
              <a:gd name="adj" fmla="val 2802"/>
            </a:avLst>
          </a:prstGeom>
          <a:solidFill>
            <a:srgbClr val="F9D2D6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3621" y="1558925"/>
            <a:ext cx="5229590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Error del Discriminador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3621" y="1794867"/>
            <a:ext cx="5839175" cy="137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Recibió 0.68 cuando quería dar 0 → </a:t>
            </a:r>
            <a:pPr algn="l" indent="0" marL="0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 equivocó</a:t>
            </a:r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Debe ajustar sus pesos para detectar mejor.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42688" y="1558925"/>
            <a:ext cx="5293882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Error del Generador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42688" y="1794867"/>
            <a:ext cx="5293882" cy="274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Recibió 0.68 cuando quería que diera 1 → </a:t>
            </a:r>
            <a:pPr algn="l" indent="0" marL="0">
              <a:lnSpc>
                <a:spcPct val="99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casi lo engañó, pero no del todo</a:t>
            </a:r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Debe ajustar para engañar más.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82" y="2182515"/>
            <a:ext cx="11478330" cy="137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9000"/>
              </a:lnSpc>
              <a:buNone/>
            </a:pPr>
            <a:endParaRPr lang="en-US" sz="9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82639"/>
            <a:ext cx="7064595" cy="381396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3476"/>
            <a:ext cx="1606411" cy="189508"/>
          </a:xfrm>
          <a:prstGeom prst="roundRect">
            <a:avLst>
              <a:gd name="adj" fmla="val 402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36284" y="700881"/>
            <a:ext cx="2066377" cy="11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79277"/>
            <a:ext cx="10868745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error del Discriminador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61475" y="1368028"/>
            <a:ext cx="11478330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Discriminador recibió una imagen falsa pero le asignó un score de </a:t>
            </a:r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0.68</a:t>
            </a:r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(quería dar 0):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1603871"/>
            <a:ext cx="11478330" cy="203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03871"/>
            <a:ext cx="10868745" cy="2037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1891010"/>
            <a:ext cx="11478330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error considerable. El Discriminador va a ajustar sus pesos para clasificar mejor estas imágenes en la próxima iteración — volviéndose más exigente y difícil de engañar.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56682" y="2117626"/>
            <a:ext cx="11478330" cy="15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550" y="2344241"/>
            <a:ext cx="7064595" cy="385028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6431"/>
            <a:ext cx="1296757" cy="152995"/>
          </a:xfrm>
          <a:prstGeom prst="roundRect">
            <a:avLst>
              <a:gd name="adj" fmla="val 4980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21898" y="686594"/>
            <a:ext cx="1785496" cy="92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EJEMPLO DE SLANTED LAND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826591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Para los curiosos: la derivada del error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1206004"/>
            <a:ext cx="11478330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derivada del error del Discriminador respecto a sus pesos permite calcular exactamente cuánto ajustar cada uno: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61475" y="1375370"/>
            <a:ext cx="10868745" cy="30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75370"/>
            <a:ext cx="10868745" cy="302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1732558"/>
            <a:ext cx="11478330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cálculo es lo que backpropagation ejecuta automáticamente en cada iteración, para todas las capas y todos los pesos de la red. La regla de la cadena lo hace computacionalmente eficiente incluso con millones de parámetros.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61475" y="1895872"/>
            <a:ext cx="10868745" cy="246757"/>
          </a:xfrm>
          <a:prstGeom prst="roundRect">
            <a:avLst>
              <a:gd name="adj" fmla="val 3088"/>
            </a:avLst>
          </a:prstGeom>
          <a:solidFill>
            <a:srgbClr val="F9D2D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79" y="1963936"/>
            <a:ext cx="125905" cy="1007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8789" y="1963936"/>
            <a:ext cx="11050311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opcional — para quien quiera profundizar en la matemática. Fuente: A Friendly Introduction to Generative Adversarial Networks — Luis Serrano Academy.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550" y="2190948"/>
            <a:ext cx="7064595" cy="40106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67953"/>
            <a:ext cx="3024806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813991"/>
            <a:ext cx="3450246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041102"/>
            <a:ext cx="10868745" cy="1324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Tipos de GANs y Aplicaciones en Biomedicina</a:t>
            </a:r>
            <a:endParaRPr lang="en-US" sz="4150" dirty="0"/>
          </a:p>
        </p:txBody>
      </p:sp>
      <p:sp>
        <p:nvSpPr>
          <p:cNvPr id="5" name="Shape 3"/>
          <p:cNvSpPr/>
          <p:nvPr/>
        </p:nvSpPr>
        <p:spPr>
          <a:xfrm>
            <a:off x="834210" y="2515394"/>
            <a:ext cx="19050" cy="3574653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987896" y="2678609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515394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9070" y="2544167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2045" y="2568178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Panorama de la IA Generativa de Visión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2045" y="2867918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discriminativa vs. generativa, línea de tiempo histórica y modelos del curso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87896" y="3433465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3270250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070" y="3299023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2045" y="3323034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Introducción a las GANs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2045" y="3622774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Origen (Goodfellow 2014), intuición del falsificador y el detective, arquitectura básica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87896" y="4188321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4025106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070" y="4053880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2045" y="4077891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Ejemplo de Slanted Land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2045" y="4377630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la intuición a los números: Discriminador, Generador y sus pesos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7896" y="4943177"/>
            <a:ext cx="460661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4779963"/>
            <a:ext cx="345471" cy="345480"/>
          </a:xfrm>
          <a:prstGeom prst="roundRect">
            <a:avLst>
              <a:gd name="adj" fmla="val 2206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070" y="4808736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2045" y="4832747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Tipos de GANs y Aplicaciones en Biomedicina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2045" y="5132487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Vanilla GAN, StyleGAN, fortalezas clínicas y generación de datos sintéticos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7896" y="5698034"/>
            <a:ext cx="46066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475" y="5534819"/>
            <a:ext cx="345471" cy="345480"/>
          </a:xfrm>
          <a:prstGeom prst="roundRect">
            <a:avLst>
              <a:gd name="adj" fmla="val 22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070" y="5563592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02045" y="5587603"/>
            <a:ext cx="99281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 y Cierre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02045" y="5887343"/>
            <a:ext cx="992817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Problemas de entrenamiento, evaluación, sesgo y próximos pasos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5325"/>
            <a:ext cx="3208158" cy="247352"/>
          </a:xfrm>
          <a:prstGeom prst="roundRect">
            <a:avLst>
              <a:gd name="adj" fmla="val 308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744141"/>
            <a:ext cx="3622485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87524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Tipos de GANs: el punto de partida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664494"/>
            <a:ext cx="1086874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 lo que describimos corresponde a la </a:t>
            </a:r>
            <a:pPr algn="l" indent="0" marL="0">
              <a:lnSpc>
                <a:spcPct val="11300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Vanilla GAN</a:t>
            </a:r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el modelo original de Goodfellow (2014). Pero ese modelo base tiene limitaciones importantes, y surgieron variantes especializadas que resuelven problemas concretos.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30636"/>
            <a:ext cx="5378315" cy="2037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3239" y="2850158"/>
            <a:ext cx="501478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Vanilla GAN · Goodfellow et al. 2014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3239" y="3171726"/>
            <a:ext cx="5014787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Generador produce imágenes desde ruido aleatorio. Sin control sobre el resultado. Inestable y de baja calidad visual. Uso: punto de partida teórico.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1905" y="2230636"/>
            <a:ext cx="5378315" cy="20370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33669" y="2850158"/>
            <a:ext cx="5014787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Conditional GAN (cGAN) · Mirza &amp; Osindero, 2014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33669" y="3426023"/>
            <a:ext cx="5014787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Generador y Discriminador reciben etiquetas de clase como condición. "Genera una imagen histológica de carcinoma ductal." Uso: síntesis por patología, aumentación controlada.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79813"/>
            <a:ext cx="5378315" cy="17827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3239" y="4999335"/>
            <a:ext cx="501478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DCGAN · Radford et al., 2015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43239" y="5320903"/>
            <a:ext cx="5014787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Reemplaza capas densas con redes convolucionales. Entrenamiento estable, imágenes nítidas. Uso: base estándar para generación de imágenes de calidad.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1905" y="4379813"/>
            <a:ext cx="5378315" cy="17827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33669" y="4999335"/>
            <a:ext cx="501478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SRGAN · Ledig et al., 2017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333669" y="5320903"/>
            <a:ext cx="5014787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Especializado en ampliar imágenes de baja a alta resolución. Infiere detalles finos que no estaban en la imagen original. Uso: mejora de imágenes médicas de menor calidad.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80716"/>
            <a:ext cx="3024806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53548" y="1326753"/>
            <a:ext cx="3450246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553865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salto que lo cambió todo: StyleGAN (2018)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2183507"/>
            <a:ext cx="10868745" cy="923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problema que nadie había resuelto en cuatro años: las GANs generaban imágenes, pero no podías pedirle "genera una cara joven, con pelo castaño y expresión neutral". El Generador mezclaba todos los atributos juntos sin control.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¿Qué cambió exactamente en StyleGAN?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una GAN clásica, el ruido entra directamente y todo (forma, color, textura) sale del mismo vector mezclado. StyleGAN lo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separa en capas independientes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3218755"/>
            <a:ext cx="10868745" cy="1574701"/>
          </a:xfrm>
          <a:prstGeom prst="roundRect">
            <a:avLst>
              <a:gd name="adj" fmla="val 48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3563342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904754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246166"/>
            <a:ext cx="10868745" cy="95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924698" y="3218755"/>
            <a:ext cx="9599" cy="157470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24284" y="3218755"/>
            <a:ext cx="9599" cy="157470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1411" y="3291284"/>
            <a:ext cx="3556209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Componente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81360" y="3291284"/>
            <a:ext cx="4095846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Qué hace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80947" y="3291284"/>
            <a:ext cx="4099021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Qué controla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1411" y="3632696"/>
            <a:ext cx="3556209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de mapeo (mapping network)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81360" y="3632696"/>
            <a:ext cx="4095846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 el ruido en un vector de estilo (w)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80947" y="3632696"/>
            <a:ext cx="4099021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las características globales de la imagen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1411" y="3974108"/>
            <a:ext cx="3556209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Síntesis por capas (AdaIN)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81360" y="3974108"/>
            <a:ext cx="4095846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Inyecta el estilo en distintas capas de la 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80947" y="3974108"/>
            <a:ext cx="4099021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capa controla una escala diferente de detalle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1411" y="4315520"/>
            <a:ext cx="3556209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Ruido estocástico por capa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81360" y="4315520"/>
            <a:ext cx="4095846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Añade variación aleatoria capa a capa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80947" y="4315520"/>
            <a:ext cx="3489436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Controla variaciones finas: poros, pelo suelto, arrugas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1475" y="4905673"/>
            <a:ext cx="10868745" cy="671612"/>
          </a:xfrm>
          <a:prstGeom prst="roundRect">
            <a:avLst>
              <a:gd name="adj" fmla="val 1135"/>
            </a:avLst>
          </a:prstGeom>
          <a:solidFill>
            <a:srgbClr val="B6D6FC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962" y="5049143"/>
            <a:ext cx="191884" cy="1534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60334" y="5043785"/>
            <a:ext cx="10216398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Style mixing: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StyleGAN permite tomar la estructura de una cara (pose, forma) y el estilo de otra (color de pelo, edad) para generar una cara completamente nueva con coherencia total. Esto no era posible en ninguna GAN anterior.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5680"/>
            <a:ext cx="3491817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728762"/>
            <a:ext cx="3888881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97942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StyleGAN: arquitectura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883866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Dos redes en lugar de una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2293640"/>
            <a:ext cx="582786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StyleGAN separa el proceso en dos redes: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2661245"/>
            <a:ext cx="5218280" cy="1038622"/>
          </a:xfrm>
          <a:prstGeom prst="rect">
            <a:avLst/>
          </a:prstGeom>
          <a:noFill/>
          <a:ln/>
        </p:spPr>
        <p:txBody>
          <a:bodyPr wrap="square" lIns="0" tIns="70882" rIns="0" bIns="0" rtlCol="0" anchor="t">
            <a:normAutofit/>
          </a:bodyPr>
          <a:lstStyle/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🔀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Mapping Network: transforma el ruido z en un vector de estilo w (512 dimensiones)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🎨</a:t>
            </a:r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Synthesis Network: genera la imagen progresivamente, inyectando el estilo w en cada capa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1475" y="3819426"/>
            <a:ext cx="521828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 permite controlar atributos separados en cada nivel de resolución: pose y forma en capas bajas, textura y color en capas altas.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1475" y="4712990"/>
            <a:ext cx="5218280" cy="1319808"/>
          </a:xfrm>
          <a:prstGeom prst="roundRect">
            <a:avLst>
              <a:gd name="adj" fmla="val 577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5" y="4919166"/>
            <a:ext cx="221451" cy="1772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7326" y="4876800"/>
            <a:ext cx="446522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   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 clave: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estilo se inyecta en cada capa mediante AdaIN (Adaptive Instance Normalization), no solo al inicio. Esto da control granular sobre cada aspecto visual.           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13498" y="1870571"/>
            <a:ext cx="582786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Caras fotorrealistas generadas por StyleGAN (NVIDIA, 2019)</a:t>
            </a:r>
            <a:endParaRPr lang="en-US" sz="13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24" y="2268041"/>
            <a:ext cx="3910212" cy="19526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13498" y="4370090"/>
            <a:ext cx="582786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80393"/>
            <a:ext cx="3491817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1133475"/>
            <a:ext cx="3888881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40265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StyleGAN: Innovaciones Clave (Resumen)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2155726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StyleGAN (NVIDIA) redefine la generación de imágenes al modificar únicamente el Generador, manteniendo el Discriminador estándar. Sus tres innovaciones arquitectónicas permiten control fino sobre el estilo y alta calidad visual.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2801243"/>
            <a:ext cx="3534282" cy="2628404"/>
          </a:xfrm>
          <a:prstGeom prst="roundRect">
            <a:avLst>
              <a:gd name="adj" fmla="val 29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025" y="2984798"/>
            <a:ext cx="531601" cy="531614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171" y="3130947"/>
            <a:ext cx="239210" cy="239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025" y="3649266"/>
            <a:ext cx="316718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Progressive Growing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5025" y="4005858"/>
            <a:ext cx="3167182" cy="124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Entrena comenzando con imágenes de 4×4 píxeles y agrega capas progresivamente hasta 1024×1024. Mejora la estabilidad del entrenamiento y la calidad final.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28607" y="2801243"/>
            <a:ext cx="3534381" cy="2628404"/>
          </a:xfrm>
          <a:prstGeom prst="roundRect">
            <a:avLst>
              <a:gd name="adj" fmla="val 29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12157" y="2984798"/>
            <a:ext cx="531601" cy="531614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8303" y="3130947"/>
            <a:ext cx="239210" cy="239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2157" y="3649266"/>
            <a:ext cx="316728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Bi-linear Sampling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12157" y="4005858"/>
            <a:ext cx="3167281" cy="124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Reemplaza el muestreo nearest-neighbor por bi-linear sampling en up/downsampling, reduciendo artefactos y logrando transiciones más suaves.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995839" y="2801243"/>
            <a:ext cx="3534381" cy="2628404"/>
          </a:xfrm>
          <a:prstGeom prst="roundRect">
            <a:avLst>
              <a:gd name="adj" fmla="val 29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79389" y="2984798"/>
            <a:ext cx="531601" cy="531614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5535" y="3130947"/>
            <a:ext cx="239210" cy="239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79389" y="3649266"/>
            <a:ext cx="316728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Mapping Network + AdaIN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179389" y="4005858"/>
            <a:ext cx="3167281" cy="124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red de 8 capas transforma el vector latente z en un vector intermedio w, que modula las características vía AdaIN. Permite controlar textura, iluminación y estilo de forma independiente por nivel.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61475" y="5579070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Fuente: GeeksforGeeks — StyleGAN: Style Generative Adversarial Networks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853" y="124520"/>
            <a:ext cx="4405798" cy="660886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662384"/>
            <a:ext cx="3274137" cy="252512"/>
          </a:xfrm>
          <a:prstGeom prst="roundRect">
            <a:avLst>
              <a:gd name="adj" fmla="val 3018"/>
            </a:avLst>
          </a:prstGeom>
          <a:solidFill>
            <a:srgbClr val="F9D2D6"/>
          </a:solidFill>
          <a:ln/>
        </p:spPr>
      </p:sp>
      <p:sp>
        <p:nvSpPr>
          <p:cNvPr id="5" name="Text 2"/>
          <p:cNvSpPr/>
          <p:nvPr/>
        </p:nvSpPr>
        <p:spPr>
          <a:xfrm>
            <a:off x="761088" y="712192"/>
            <a:ext cx="368449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961529"/>
            <a:ext cx="629686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Fortaleza 1: Generación de imágenes realistas</a:t>
            </a:r>
            <a:endParaRPr lang="en-US" sz="3250" dirty="0"/>
          </a:p>
        </p:txBody>
      </p:sp>
      <p:sp>
        <p:nvSpPr>
          <p:cNvPr id="7" name="Text 4"/>
          <p:cNvSpPr/>
          <p:nvPr/>
        </p:nvSpPr>
        <p:spPr>
          <a:xfrm>
            <a:off x="661475" y="2174875"/>
            <a:ext cx="629686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resultado más sorprendente de las GANs: imágenes que el ojo humano no puede distinguir de las reales. Después de millones de rondas de entrenamiento, el Generador aprendió la </a:t>
            </a:r>
            <a:pPr algn="l"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estructura profunda</a:t>
            </a:r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cómo lucen esas imágenes — proporciones, distribución de luz, imperfecciones que hacen que algo parezca real.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11116"/>
            <a:ext cx="332176" cy="332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9598" y="3268166"/>
            <a:ext cx="5818736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ThisPersonDoesNotExist.com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39598" y="3597771"/>
            <a:ext cx="581873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recarga genera un rostro humano completamente inventado con StyleGAN. Ninguno existe en el mundo real.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283770"/>
            <a:ext cx="332176" cy="332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9598" y="4340820"/>
            <a:ext cx="5818736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Imágenes médicas sintéticas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39598" y="4670425"/>
            <a:ext cx="581873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GANs entrenadas con resonancias magnéticas generan imágenes de cerebro que neurorradiólogos no pueden distinguir de las reales en estudios ciegos.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356423"/>
            <a:ext cx="332176" cy="332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39598" y="5413474"/>
            <a:ext cx="5818736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Videojuegos y entretenimiento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139598" y="5743079"/>
            <a:ext cx="581873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GANs generan texturas, escenarios y personajes con un nivel de detalle que antes requería artistas trabajando manualmente durante días.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5933"/>
            <a:ext cx="3491817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849015"/>
            <a:ext cx="3888881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118195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Fortaleza 2: Transformación de imágenes (Image Translation)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2425005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GANs pueden transformar una imagen en otra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preservando la estructura subyacente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Aplicación clínica clave: MRI → CT sin necesitar al mismo paciente escaneado dos veces — reduce costes, tiempo y exposición a radiación.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3070523"/>
            <a:ext cx="10868745" cy="2991445"/>
          </a:xfrm>
          <a:prstGeom prst="roundRect">
            <a:avLst>
              <a:gd name="adj" fmla="val 25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3500140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926582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353024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779466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5205909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5632351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924698" y="3070523"/>
            <a:ext cx="11075" cy="2991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181472" y="3070523"/>
            <a:ext cx="11075" cy="2991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45124" y="3162895"/>
            <a:ext cx="35087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05073" y="3162895"/>
            <a:ext cx="35056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61847" y="3162895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5124" y="3589337"/>
            <a:ext cx="35087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Boceto de un edificio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05073" y="3589337"/>
            <a:ext cx="35056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 del edificio terminado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61847" y="3589337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Pix2Pix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5124" y="4015780"/>
            <a:ext cx="35087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 de día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105073" y="4015780"/>
            <a:ext cx="35056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misma foto de noche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61847" y="4015780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CycleGAN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45124" y="4442222"/>
            <a:ext cx="35087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 de un caballo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105073" y="4442222"/>
            <a:ext cx="35056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misma imagen con una cebra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61847" y="4442222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CycleGAN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5124" y="4868664"/>
            <a:ext cx="35087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 de baja resolución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105073" y="4868664"/>
            <a:ext cx="35056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 resolución (super-resolución)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61847" y="4868664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SRGAN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45124" y="5295106"/>
            <a:ext cx="35087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 en blanco y negro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105073" y="5295106"/>
            <a:ext cx="35056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misma imagen en color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361847" y="5295106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DeOldify / CycleGAN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5124" y="5721548"/>
            <a:ext cx="350878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MRI de cerebro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105073" y="5721548"/>
            <a:ext cx="35056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Imagen equivalente de CT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361847" y="5721548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CycleGAN médico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504" y="114995"/>
            <a:ext cx="4418497" cy="6627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878681"/>
            <a:ext cx="3024806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5" name="Text 2"/>
          <p:cNvSpPr/>
          <p:nvPr/>
        </p:nvSpPr>
        <p:spPr>
          <a:xfrm>
            <a:off x="753548" y="924719"/>
            <a:ext cx="3450246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61475" y="1151830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Fortaleza 3: Completado de imágenes (Image Inpainting)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61475" y="2261394"/>
            <a:ext cx="6296860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GANs pueden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reconstruir regiones faltantes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forma coherente con el contexto. La red recibe una imagen con una región enmascarada e infiere el contenido más probable basándose en colores, texturas y estructuras adyacentes. No copia píxeles cercanos — entiende el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contenido semántico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la escena completa.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1475" y="3184426"/>
            <a:ext cx="3098524" cy="1670149"/>
          </a:xfrm>
          <a:prstGeom prst="roundRect">
            <a:avLst>
              <a:gd name="adj" fmla="val 45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1312" y="3344267"/>
            <a:ext cx="2778849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Artefactos de movimiento en MRI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1312" y="3883918"/>
            <a:ext cx="2778849" cy="810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Reconstruye la imagen original estimada eliminando las distorsiones causadas por el movimiento del paciente durante la adquisición.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59810" y="3184426"/>
            <a:ext cx="3098524" cy="1670149"/>
          </a:xfrm>
          <a:prstGeom prst="roundRect">
            <a:avLst>
              <a:gd name="adj" fmla="val 45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19648" y="3344267"/>
            <a:ext cx="2778849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Biopsias con burbujas o pliegues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019648" y="3883918"/>
            <a:ext cx="2778849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Completa el tejido faltante en preparaciones histológicas con defectos de proceso o manipulación.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1475" y="4954389"/>
            <a:ext cx="6296860" cy="1024830"/>
          </a:xfrm>
          <a:prstGeom prst="roundRect">
            <a:avLst>
              <a:gd name="adj" fmla="val 744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1312" y="5114230"/>
            <a:ext cx="59771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Tomografías con dosis reducida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1312" y="5413970"/>
            <a:ext cx="597718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Recupera la información sacrificada en protocolos de baja radiación, protegiendo al paciente sin perder calidad diagnóstica.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42355"/>
            <a:ext cx="3724182" cy="287139"/>
          </a:xfrm>
          <a:prstGeom prst="roundRect">
            <a:avLst>
              <a:gd name="adj" fmla="val 2654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99009"/>
            <a:ext cx="410695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8991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Fortaleza 4: Generación de datos sintéticos para entrenamiento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498030"/>
            <a:ext cx="4909519" cy="3617615"/>
          </a:xfrm>
          <a:prstGeom prst="roundRect">
            <a:avLst>
              <a:gd name="adj" fmla="val 784"/>
            </a:avLst>
          </a:prstGeom>
          <a:solidFill>
            <a:srgbClr val="DA1B2E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649240"/>
            <a:ext cx="45315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cuello de botella en IA médica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3390999"/>
            <a:ext cx="4531505" cy="108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Enfermedades raras → pocos casos documentados. Datos de pacientes → protegidos por regulaciones estrictas. Etiquetado → requiere especialistas, es caro y lento.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766251" y="2649240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solución con GANs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766251" y="3095724"/>
            <a:ext cx="5770220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Entrenar con las pocas imágenes reales disponibles y generar miles de imágenes sintéticas adicionales para ampliar el dataset.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766251" y="3810099"/>
            <a:ext cx="5770220" cy="1455142"/>
          </a:xfrm>
          <a:prstGeom prst="roundRect">
            <a:avLst>
              <a:gd name="adj" fmla="val 524"/>
            </a:avLst>
          </a:prstGeom>
          <a:solidFill>
            <a:srgbClr val="B6FCB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258" y="4039989"/>
            <a:ext cx="236234" cy="1890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80499" y="3993356"/>
            <a:ext cx="4966965" cy="108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GAN entrenada con biopsias histológicas de tumores de mama generó imágenes indistinguibles de las reales para patólogos. Combinando datos reales y sintéticos, la precisión del clasificador mejoró un </a:t>
            </a:r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30%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766251" y="5435302"/>
            <a:ext cx="5770220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Bonus: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los datos sintéticos no corresponden a ningún paciente real → no están sujetos a restricciones de privacidad (HIPAA, GDPR).</a:t>
            </a:r>
            <a:endParaRPr lang="en-US" sz="14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9159"/>
            <a:ext cx="3491817" cy="269180"/>
          </a:xfrm>
          <a:prstGeom prst="roundRect">
            <a:avLst>
              <a:gd name="adj" fmla="val 28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782241"/>
            <a:ext cx="3888881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TIPOS DE GANS Y APLICACIONES EN BIOMEDICINA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51421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dataset importa: lo que le das es lo que obtenés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2358231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GAN solo puede generar lo que aprendió. Si el dataset mezcla clases sin etiquetas, el Generador produce </a:t>
            </a:r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híbridos incoherentes</a:t>
            </a:r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inútiles para entrenar clasificadores. En Biomedicina, el dataset debe ser homogéneo dentro de cada clase — o usar una Conditional GAN.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3003748"/>
            <a:ext cx="10868745" cy="2138561"/>
          </a:xfrm>
          <a:prstGeom prst="roundRect">
            <a:avLst>
              <a:gd name="adj" fmla="val 35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3433366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859808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286250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712692"/>
            <a:ext cx="10868745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10322" y="3003748"/>
            <a:ext cx="11075" cy="213856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45124" y="3096121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Tipo de dataset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90697" y="3096121"/>
            <a:ext cx="676555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 que genera la GAN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5124" y="3522563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imágenes de gatos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90697" y="3522563"/>
            <a:ext cx="676555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Gatos variados y realistas ✓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5124" y="3949005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imágenes de perros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90697" y="3949005"/>
            <a:ext cx="676555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Perros variados y realistas 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5124" y="4375448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Gatos + perros sin etiqueta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90697" y="4375448"/>
            <a:ext cx="676555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Híbridos incoherentes ✗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5124" y="4801890"/>
            <a:ext cx="459440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Gatos + perros con etiqueta (cGAN)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190697" y="4801890"/>
            <a:ext cx="676555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Puede generar cada clase por separado ✓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1475" y="5291733"/>
            <a:ext cx="10868745" cy="837009"/>
          </a:xfrm>
          <a:prstGeom prst="roundRect">
            <a:avLst>
              <a:gd name="adj" fmla="val 910"/>
            </a:avLst>
          </a:prstGeom>
          <a:solidFill>
            <a:srgbClr val="FCF2B5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5" y="5485209"/>
            <a:ext cx="221451" cy="17720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37326" y="5468838"/>
            <a:ext cx="10115694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aplicaciones médicas reales, asegurate de que el dataset de entrenamiento esté limpio, bien etiquetado y sea homogéneo dentro de cada clase patológica antes de empezar a entrenar.</a:t>
            </a:r>
            <a:endParaRPr lang="en-US" sz="13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9511"/>
            <a:ext cx="1656118" cy="251420"/>
          </a:xfrm>
          <a:prstGeom prst="roundRect">
            <a:avLst>
              <a:gd name="adj" fmla="val 3031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899120"/>
            <a:ext cx="206727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LIMITACIONES Y CIERRE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47167"/>
            <a:ext cx="1086874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 y Cierre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847505" y="2033984"/>
            <a:ext cx="19050" cy="3974405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1014486" y="2210495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033984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485" y="206499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74473" y="2090837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Panorama de la IA Generativa de Visión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74473" y="2418755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discriminativa vs. generativa, línea de tiempo histórica y modelos del curso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14486" y="3051671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2875161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3485" y="290616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674473" y="2932013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Introducción a las GANs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74473" y="3259931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Origen (Goodfellow 2014), intuición del falsificador y el detective, arquitectura básica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4486" y="3892848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3716338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485" y="374734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674473" y="3773190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Ejemplo de Slanted Land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74473" y="4101108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la intuición a los números: Discriminador, Generador y sus pesos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14486" y="4734024"/>
            <a:ext cx="496081" cy="19050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1475" y="4557514"/>
            <a:ext cx="372061" cy="372070"/>
          </a:xfrm>
          <a:prstGeom prst="roundRect">
            <a:avLst>
              <a:gd name="adj" fmla="val 204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485" y="458852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674473" y="4614366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Tipos de GANs y Aplicaciones en Biomedicina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74473" y="4942284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Vanilla GAN, StyleGAN, fortalezas clínicas y generación de datos sintéticos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14486" y="5575201"/>
            <a:ext cx="496081" cy="19050"/>
          </a:xfrm>
          <a:prstGeom prst="roundRect">
            <a:avLst>
              <a:gd name="adj" fmla="val 39999"/>
            </a:avLst>
          </a:prstGeom>
          <a:solidFill>
            <a:srgbClr val="F33447"/>
          </a:solidFill>
          <a:ln/>
        </p:spPr>
      </p:sp>
      <p:sp>
        <p:nvSpPr>
          <p:cNvPr id="27" name="Shape 25"/>
          <p:cNvSpPr/>
          <p:nvPr/>
        </p:nvSpPr>
        <p:spPr>
          <a:xfrm>
            <a:off x="661475" y="5398691"/>
            <a:ext cx="372061" cy="372070"/>
          </a:xfrm>
          <a:prstGeom prst="roundRect">
            <a:avLst>
              <a:gd name="adj" fmla="val 2048"/>
            </a:avLst>
          </a:prstGeom>
          <a:solidFill>
            <a:srgbClr val="DA1B2E"/>
          </a:solidFill>
          <a:ln w="6350">
            <a:solidFill>
              <a:srgbClr val="F334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485" y="542969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674473" y="5455543"/>
            <a:ext cx="98557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 y Cierre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74473" y="5783461"/>
            <a:ext cx="985574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Problemas de entrenamiento, evaluación, sesgo y próximos pasos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94" y="114995"/>
            <a:ext cx="4418497" cy="6627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1251843"/>
            <a:ext cx="1536860" cy="233263"/>
          </a:xfrm>
          <a:prstGeom prst="roundRect">
            <a:avLst>
              <a:gd name="adj" fmla="val 3267"/>
            </a:avLst>
          </a:prstGeom>
          <a:solidFill>
            <a:srgbClr val="F9D2D6"/>
          </a:solidFill>
          <a:ln/>
        </p:spPr>
      </p:sp>
      <p:sp>
        <p:nvSpPr>
          <p:cNvPr id="5" name="Text 2"/>
          <p:cNvSpPr/>
          <p:nvPr/>
        </p:nvSpPr>
        <p:spPr>
          <a:xfrm>
            <a:off x="5325433" y="1297880"/>
            <a:ext cx="1962299" cy="141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LIMITACIONES Y CIERRE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233360" y="1524992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 (1 de 2): los problemas de entrenamiento</a:t>
            </a:r>
            <a:endParaRPr lang="en-US" sz="3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634555"/>
            <a:ext cx="3098524" cy="29716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2096" y="2807097"/>
            <a:ext cx="267725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Mode Collapse — el más común y frustrante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2096" y="3346748"/>
            <a:ext cx="2677252" cy="2086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45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Generador descubre un "truco": produce siempre el mismo tipo de imagen que engaña al Discriminador, en lugar de aprender toda la variedad posible.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Analogía: el falsificador que solo falsifica un tipo de billete. En medicina: una GAN para síntesis de tumores que solo genera un tipo de morfología produce datos sintéticos inútiles.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1696" y="2634555"/>
            <a:ext cx="3098524" cy="29716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0431" y="2807097"/>
            <a:ext cx="2677252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Inestabilidad en el entrenamiento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680431" y="3346748"/>
            <a:ext cx="2677252" cy="1621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balance entre Generador y Discriminador es frágil. Si el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Discriminador es demasiado bueno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el Generador no recibe señal útil y el gradiente "desaparece". Si el </a:t>
            </a:r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Discriminador es demasiado malo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el Generador aprende trucos baratos en lugar de aprender la distribución real.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0761"/>
            <a:ext cx="1979166" cy="300335"/>
          </a:xfrm>
          <a:prstGeom prst="roundRect">
            <a:avLst>
              <a:gd name="adj" fmla="val 2537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80038" y="749995"/>
            <a:ext cx="2351624" cy="18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LIMITACIONES Y 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057176"/>
            <a:ext cx="10868745" cy="1235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Limitaciones (2 de 2): evaluación, coste y sesgo</a:t>
            </a:r>
            <a:endParaRPr lang="en-US" sz="3850" dirty="0"/>
          </a:p>
        </p:txBody>
      </p:sp>
      <p:sp>
        <p:nvSpPr>
          <p:cNvPr id="5" name="Shape 3"/>
          <p:cNvSpPr/>
          <p:nvPr/>
        </p:nvSpPr>
        <p:spPr>
          <a:xfrm>
            <a:off x="661475" y="2540695"/>
            <a:ext cx="3512653" cy="3626445"/>
          </a:xfrm>
          <a:prstGeom prst="roundRect">
            <a:avLst>
              <a:gd name="adj" fmla="val 21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5464" y="2744688"/>
            <a:ext cx="593016" cy="593030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575" y="2907705"/>
            <a:ext cx="266793" cy="2667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5464" y="3503116"/>
            <a:ext cx="3104675" cy="617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Dificultad para evaluar la calidad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5464" y="4220071"/>
            <a:ext cx="3104675" cy="145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existe una métrica universal. Las más usadas — FID e Inception Score (IS) — son aproximaciones imperfectas que no reemplazan la evaluación humana experta.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339521" y="2540695"/>
            <a:ext cx="3512653" cy="3626445"/>
          </a:xfrm>
          <a:prstGeom prst="roundRect">
            <a:avLst>
              <a:gd name="adj" fmla="val 21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43510" y="2744688"/>
            <a:ext cx="593016" cy="593030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6621" y="2907705"/>
            <a:ext cx="266793" cy="26679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3510" y="3503116"/>
            <a:ext cx="3104675" cy="617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Alta demanda computacional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543510" y="4220071"/>
            <a:ext cx="3104675" cy="174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Entrenar una GAN de calidad requiere GPUs potentes, datasets grandes y horas o días de entrenamiento. Una barrera real para equipos con recursos limitados.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8017567" y="2540695"/>
            <a:ext cx="3512653" cy="3626445"/>
          </a:xfrm>
          <a:prstGeom prst="roundRect">
            <a:avLst>
              <a:gd name="adj" fmla="val 217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1556" y="2744688"/>
            <a:ext cx="593016" cy="593030"/>
          </a:xfrm>
          <a:prstGeom prst="ellipse">
            <a:avLst/>
          </a:prstGeom>
          <a:solidFill>
            <a:srgbClr val="DA1B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668" y="2907705"/>
            <a:ext cx="266793" cy="26679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1556" y="3503116"/>
            <a:ext cx="3104675" cy="617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Sesgo heredado del dataset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221556" y="4220071"/>
            <a:ext cx="3104675" cy="174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los datos tienen sesgos — subrepresentación de grupos demográficos o patologías concretas — las imágenes generadas van a 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heredar y amplificar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esos sesgos.</a:t>
            </a:r>
            <a:endParaRPr lang="en-US" sz="15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0698"/>
            <a:ext cx="1863579" cy="282674"/>
          </a:xfrm>
          <a:prstGeom prst="roundRect">
            <a:avLst>
              <a:gd name="adj" fmla="val 2696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773093" y="716459"/>
            <a:ext cx="224992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LIMITACIONES Y CIERRE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01911"/>
            <a:ext cx="10868745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Cierre: lo que aprendimos y lo que sigue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2384524"/>
            <a:ext cx="11478330" cy="266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este capítulo construimos la comprensión de las GANs desde cero, siguiendo una narrativa completa: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815332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3106142"/>
            <a:ext cx="3525253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3249910"/>
            <a:ext cx="352525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intuición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475" y="3628529"/>
            <a:ext cx="3525253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falsificador y el detective, compitiendo para mejorar mutuamente.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333171" y="2815332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33171" y="3106142"/>
            <a:ext cx="3525253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4333171" y="3249910"/>
            <a:ext cx="352525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arquitectura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33171" y="3628529"/>
            <a:ext cx="3525253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Generador y Discriminador como implementación técnica de esa intuición.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04868" y="2815332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004868" y="3106142"/>
            <a:ext cx="3525253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004868" y="3249910"/>
            <a:ext cx="352525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 entrenamiento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04868" y="3628529"/>
            <a:ext cx="3525253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ciclo de cinco pasos que hace converger al sistema, con el ejemplo de Slanted Land.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4712494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1475" y="5003304"/>
            <a:ext cx="5361052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5147072"/>
            <a:ext cx="536105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La lógica matemática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1475" y="5525691"/>
            <a:ext cx="5361052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juego minimax como marco conceptual, log-loss y backpropagation.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168970" y="4712494"/>
            <a:ext cx="37206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68970" y="5003304"/>
            <a:ext cx="5361151" cy="2540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24" name="Text 22"/>
          <p:cNvSpPr/>
          <p:nvPr/>
        </p:nvSpPr>
        <p:spPr>
          <a:xfrm>
            <a:off x="6168970" y="5147072"/>
            <a:ext cx="536115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Fortalezas y limitaciones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68970" y="5525691"/>
            <a:ext cx="5361151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Cuatro capacidades concretas en Biomedicina y los problemas reales antes de usar GANs en producción.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A1B2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2026-08-14T16:25:28Z</dcterms:created>
  <dcterms:modified xsi:type="dcterms:W3CDTF">2026-08-14T16:25:28Z</dcterms:modified>
</cp:coreProperties>
</file>