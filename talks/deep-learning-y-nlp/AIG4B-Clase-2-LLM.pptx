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embeddedFontLst>
    <p:embeddedFont>
      <p:font typeface="Roboto"/>
      <p:regular r:id="rId201314"/>
    </p:embeddedFont>
    <p:embeddedFont>
      <p:font typeface="Roboto Medium"/>
      <p:regular r:id="rId201315"/>
    </p:embeddedFont>
    <p:embeddedFont>
      <p:font typeface="Roboto Bold"/>
      <p:regular r:id="rId201316"/>
    </p:embeddedFont>
    <p:embeddedFont>
      <p:font typeface="Roboto Mono"/>
      <p:regular r:id="rId201317"/>
    </p:embeddedFont>
    <p:embeddedFont>
      <p:font typeface="Roboto Mono Medium"/>
      <p:regular r:id="rId201318"/>
    </p:embeddedFont>
    <p:embeddedFont>
      <p:font typeface="Roboto Mono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Discurso Sugerido: "Bienvenidos. Hoy vamos a desmitificar la Inteligencia Artificial. Intuitivamente, solemos pensar en la IA como 'máquinas haciendo cosas que requerirían inteligencia si las hiciera un humano'. Pero si queremos ser rigurosos, como proponen Russell y Norvig, la IA es el diseño de agentes racionales: sistemas que perciben su entorno y toman acciones para maximizar sus posibilidades de éxito en un objetivo dado. No se trata de crear humanos sintéticos, sino de resolver problemas complejos con matemáticas a gran escala."
Contexto Técnico Profundo: La definición de agente racional evita el debate filosófico sobre la "conciencia" y se centra en la función matemática que mapea secuencias de percepciones a acciones (arquitectura de agentes).
Enlace Recomendado: Sitio oficial del libro "Artificial Intelligence: A Modern Approach" (Russell &amp; Norvig)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eg"/><Relationship Id="rId3" Type="http://schemas.openxmlformats.org/officeDocument/2006/relationships/image" Target="../media/image-5-3.png"/><Relationship Id="rId4" Type="http://schemas.openxmlformats.org/officeDocument/2006/relationships/image" Target="../media/image-5-4.jpe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678557"/>
            <a:ext cx="10868745" cy="665956"/>
          </a:xfrm>
          <a:prstGeom prst="rect">
            <a:avLst/>
          </a:prstGeom>
          <a:noFill/>
          <a:ln/>
        </p:spPr>
        <p:txBody>
          <a:bodyPr wrap="square" lIns="0" tIns="0" rIns="0" bIns="0" rtlCol="0" anchor="t"/>
          <a:lstStyle/>
          <a:p>
            <a:pPr algn="l" indent="0" marL="0">
              <a:lnSpc>
                <a:spcPct val="110000"/>
              </a:lnSpc>
              <a:spcAft>
                <a:spcPts val="700"/>
              </a:spcAft>
              <a:buNone/>
            </a:pPr>
            <a:endParaRPr lang="en-US" sz="950" dirty="0"/>
          </a:p>
          <a:p>
            <a:pPr algn="l" indent="0" marL="0">
              <a:lnSpc>
                <a:spcPct val="110000"/>
              </a:lnSpc>
              <a:spcAft>
                <a:spcPts val="700"/>
              </a:spcAft>
              <a:buNone/>
            </a:pPr>
            <a:endParaRPr lang="en-US" sz="950" dirty="0"/>
          </a:p>
        </p:txBody>
      </p:sp>
      <p:sp>
        <p:nvSpPr>
          <p:cNvPr id="3" name="Text 1"/>
          <p:cNvSpPr/>
          <p:nvPr/>
        </p:nvSpPr>
        <p:spPr>
          <a:xfrm>
            <a:off x="661475" y="1464270"/>
            <a:ext cx="10868745" cy="1059656"/>
          </a:xfrm>
          <a:prstGeom prst="rect">
            <a:avLst/>
          </a:prstGeom>
          <a:noFill/>
          <a:ln/>
        </p:spPr>
        <p:txBody>
          <a:bodyPr wrap="square" lIns="0" tIns="0" rIns="0" bIns="0" rtlCol="0" anchor="t">
            <a:normAutofit/>
          </a:bodyPr>
          <a:lstStyle/>
          <a:p>
            <a:pPr algn="l" indent="0" marL="0">
              <a:lnSpc>
                <a:spcPct val="104000"/>
              </a:lnSpc>
              <a:buNone/>
            </a:pPr>
            <a:r>
              <a:rPr lang="en-US" sz="3300" dirty="0">
                <a:solidFill>
                  <a:srgbClr val="1F1E1E"/>
                </a:solidFill>
                <a:latin typeface="Roboto Mono Medium" pitchFamily="34" charset="0"/>
                <a:ea typeface="Roboto Mono Medium" pitchFamily="34" charset="-122"/>
                <a:cs typeface="Roboto Mono Medium" pitchFamily="34" charset="-120"/>
              </a:rPr>
              <a:t>Inteligencia Artificial Generativa Aplicada en Biomedicina</a:t>
            </a:r>
            <a:endParaRPr lang="en-US" sz="3300" dirty="0"/>
          </a:p>
        </p:txBody>
      </p:sp>
      <p:sp>
        <p:nvSpPr>
          <p:cNvPr id="4" name="Text 2"/>
          <p:cNvSpPr/>
          <p:nvPr/>
        </p:nvSpPr>
        <p:spPr>
          <a:xfrm>
            <a:off x="661475" y="2643684"/>
            <a:ext cx="11478330" cy="162123"/>
          </a:xfrm>
          <a:prstGeom prst="rect">
            <a:avLst/>
          </a:prstGeom>
          <a:noFill/>
          <a:ln/>
        </p:spPr>
        <p:txBody>
          <a:bodyPr wrap="none" lIns="0" tIns="0" rIns="0" bIns="0" rtlCol="0" anchor="t"/>
          <a:lstStyle/>
          <a:p>
            <a:pPr algn="l" indent="0" marL="0">
              <a:lnSpc>
                <a:spcPct val="110000"/>
              </a:lnSpc>
              <a:buNone/>
            </a:pPr>
            <a:endParaRPr lang="en-US" sz="950" dirty="0"/>
          </a:p>
        </p:txBody>
      </p:sp>
      <p:sp>
        <p:nvSpPr>
          <p:cNvPr id="5" name="Text 3"/>
          <p:cNvSpPr/>
          <p:nvPr/>
        </p:nvSpPr>
        <p:spPr>
          <a:xfrm>
            <a:off x="661475" y="2925564"/>
            <a:ext cx="10868745" cy="614363"/>
          </a:xfrm>
          <a:prstGeom prst="rect">
            <a:avLst/>
          </a:prstGeom>
          <a:noFill/>
          <a:ln/>
        </p:spPr>
        <p:txBody>
          <a:bodyPr wrap="square" lIns="0" tIns="0" rIns="0" bIns="0" rtlCol="0" anchor="t">
            <a:normAutofit/>
          </a:bodyPr>
          <a:lstStyle/>
          <a:p>
            <a:pPr algn="l" indent="0" marL="0">
              <a:lnSpc>
                <a:spcPct val="104000"/>
              </a:lnSpc>
              <a:buNone/>
            </a:pPr>
            <a:r>
              <a:rPr lang="en-US" sz="1900" dirty="0">
                <a:solidFill>
                  <a:srgbClr val="1F1E1E"/>
                </a:solidFill>
                <a:latin typeface="Roboto Mono Medium" pitchFamily="34" charset="0"/>
                <a:ea typeface="Roboto Mono Medium" pitchFamily="34" charset="-122"/>
                <a:cs typeface="Roboto Mono Medium" pitchFamily="34" charset="-120"/>
              </a:rPr>
              <a:t>Clase 2: Introducción al Deep Learning y el Procesamiento del Lenguaje Natural</a:t>
            </a:r>
            <a:endParaRPr lang="en-US" sz="1900" dirty="0"/>
          </a:p>
        </p:txBody>
      </p:sp>
      <p:sp>
        <p:nvSpPr>
          <p:cNvPr id="6" name="Text 4"/>
          <p:cNvSpPr/>
          <p:nvPr/>
        </p:nvSpPr>
        <p:spPr>
          <a:xfrm>
            <a:off x="661475" y="3731518"/>
            <a:ext cx="4502732" cy="1799828"/>
          </a:xfrm>
          <a:prstGeom prst="rect">
            <a:avLst/>
          </a:prstGeom>
          <a:noFill/>
          <a:ln/>
        </p:spPr>
        <p:txBody>
          <a:bodyPr wrap="square" lIns="0" tIns="0" rIns="0" bIns="0" rtlCol="0" anchor="t"/>
          <a:lstStyle/>
          <a:p>
            <a:pPr algn="l" indent="0" marL="0">
              <a:lnSpc>
                <a:spcPct val="110000"/>
              </a:lnSpc>
              <a:spcAft>
                <a:spcPts val="550"/>
              </a:spcAft>
              <a:buNone/>
            </a:pPr>
            <a:endParaRPr lang="en-US" sz="950" dirty="0"/>
          </a:p>
          <a:p>
            <a:pPr algn="l" indent="0" marL="0">
              <a:lnSpc>
                <a:spcPct val="110000"/>
              </a:lnSpc>
              <a:spcAft>
                <a:spcPts val="550"/>
              </a:spcAft>
              <a:buNone/>
            </a:pPr>
            <a:endParaRPr lang="en-US" sz="950" dirty="0"/>
          </a:p>
          <a:p>
            <a:pPr algn="l" indent="0" marL="0">
              <a:lnSpc>
                <a:spcPct val="110000"/>
              </a:lnSpc>
              <a:spcAft>
                <a:spcPts val="550"/>
              </a:spcAft>
              <a:buNone/>
            </a:pPr>
            <a:endParaRPr lang="en-US" sz="950" dirty="0"/>
          </a:p>
          <a:p>
            <a:pPr algn="l" indent="0" marL="0">
              <a:lnSpc>
                <a:spcPct val="110000"/>
              </a:lnSpc>
              <a:spcAft>
                <a:spcPts val="550"/>
              </a:spcAft>
              <a:buNone/>
            </a:pPr>
            <a:endParaRPr lang="en-US" sz="950" dirty="0"/>
          </a:p>
          <a:p>
            <a:pPr algn="l" indent="0" marL="0">
              <a:lnSpc>
                <a:spcPct val="110000"/>
              </a:lnSpc>
              <a:spcAft>
                <a:spcPts val="550"/>
              </a:spcAft>
              <a:buNone/>
            </a:pPr>
            <a:endParaRPr lang="en-US" sz="950" dirty="0"/>
          </a:p>
          <a:p>
            <a:pPr algn="l" indent="0" marL="0">
              <a:lnSpc>
                <a:spcPct val="110000"/>
              </a:lnSpc>
              <a:spcAft>
                <a:spcPts val="550"/>
              </a:spcAft>
              <a:buNone/>
            </a:pPr>
            <a:endParaRPr lang="en-US" sz="950" dirty="0"/>
          </a:p>
          <a:p>
            <a:pPr algn="l" indent="0" marL="0">
              <a:lnSpc>
                <a:spcPct val="110000"/>
              </a:lnSpc>
              <a:spcAft>
                <a:spcPts val="550"/>
              </a:spcAft>
              <a:buNone/>
            </a:pPr>
            <a:r>
              <a:rPr lang="en-US" sz="950" dirty="0">
                <a:solidFill>
                  <a:srgbClr val="3B3535"/>
                </a:solidFill>
                <a:latin typeface="Roboto" pitchFamily="34" charset="0"/>
                <a:ea typeface="Roboto" pitchFamily="34" charset="-122"/>
                <a:cs typeface="Roboto" pitchFamily="34" charset="-120"/>
              </a:rPr>
              <a:t>Autor: Marcos Sorondo</a:t>
            </a:r>
            <a:endParaRPr lang="en-US" sz="950" dirty="0"/>
          </a:p>
          <a:p>
            <a:pPr algn="l" indent="0" marL="0">
              <a:lnSpc>
                <a:spcPct val="110000"/>
              </a:lnSpc>
              <a:buNone/>
            </a:pPr>
            <a:r>
              <a:rPr lang="en-US" sz="950" dirty="0">
                <a:solidFill>
                  <a:srgbClr val="3B3535"/>
                </a:solidFill>
                <a:latin typeface="Roboto" pitchFamily="34" charset="0"/>
                <a:ea typeface="Roboto" pitchFamily="34" charset="-122"/>
                <a:cs typeface="Roboto" pitchFamily="34" charset="-120"/>
              </a:rPr>
              <a:t>Ultima Modification: Marzo, 2026</a:t>
            </a:r>
            <a:endParaRPr lang="en-US" sz="950" dirty="0"/>
          </a:p>
        </p:txBody>
      </p:sp>
      <p:sp>
        <p:nvSpPr>
          <p:cNvPr id="7" name="Text 5"/>
          <p:cNvSpPr/>
          <p:nvPr/>
        </p:nvSpPr>
        <p:spPr>
          <a:xfrm>
            <a:off x="5470190" y="3731518"/>
            <a:ext cx="6066281" cy="1097955"/>
          </a:xfrm>
          <a:prstGeom prst="rect">
            <a:avLst/>
          </a:prstGeom>
          <a:noFill/>
          <a:ln/>
        </p:spPr>
        <p:txBody>
          <a:bodyPr wrap="square" lIns="0" tIns="0" rIns="0" bIns="0" rtlCol="0" anchor="t"/>
          <a:lstStyle/>
          <a:p>
            <a:pPr algn="l" indent="0" marL="0">
              <a:lnSpc>
                <a:spcPct val="110000"/>
              </a:lnSpc>
              <a:spcAft>
                <a:spcPts val="550"/>
              </a:spcAft>
              <a:buNone/>
            </a:pPr>
            <a:endParaRPr lang="en-US" sz="950" dirty="0"/>
          </a:p>
          <a:p>
            <a:pPr algn="l" indent="0" marL="0">
              <a:lnSpc>
                <a:spcPct val="110000"/>
              </a:lnSpc>
              <a:spcAft>
                <a:spcPts val="550"/>
              </a:spcAft>
              <a:buNone/>
            </a:pPr>
            <a:endParaRPr lang="en-US" sz="950" dirty="0"/>
          </a:p>
          <a:p>
            <a:pPr algn="l" indent="0" marL="0">
              <a:lnSpc>
                <a:spcPct val="110000"/>
              </a:lnSpc>
              <a:spcAft>
                <a:spcPts val="550"/>
              </a:spcAft>
              <a:buNone/>
            </a:pPr>
            <a:endParaRPr lang="en-US" sz="950" dirty="0"/>
          </a:p>
          <a:p>
            <a:pPr algn="l" indent="0" marL="0">
              <a:lnSpc>
                <a:spcPct val="110000"/>
              </a:lnSpc>
              <a:spcAft>
                <a:spcPts val="550"/>
              </a:spcAft>
              <a:buNone/>
            </a:pPr>
            <a:endParaRPr lang="en-US" sz="950" dirty="0"/>
          </a:p>
        </p:txBody>
      </p:sp>
      <p:pic>
        <p:nvPicPr>
          <p:cNvPr id="8" name="Image 0" descr="preencoded.png">    </p:cNvPr>
          <p:cNvPicPr>
            <a:picLocks noChangeAspect="1"/>
          </p:cNvPicPr>
          <p:nvPr/>
        </p:nvPicPr>
        <p:blipFill>
          <a:blip r:embed="rId1"/>
          <a:stretch>
            <a:fillRect/>
          </a:stretch>
        </p:blipFill>
        <p:spPr>
          <a:xfrm>
            <a:off x="10338236" y="4919266"/>
            <a:ext cx="1198235" cy="990302"/>
          </a:xfrm>
          <a:prstGeom prst="rect">
            <a:avLst/>
          </a:prstGeom>
        </p:spPr>
      </p:pic>
      <p:sp>
        <p:nvSpPr>
          <p:cNvPr id="9" name="Text 6"/>
          <p:cNvSpPr/>
          <p:nvPr/>
        </p:nvSpPr>
        <p:spPr>
          <a:xfrm>
            <a:off x="661475" y="6089154"/>
            <a:ext cx="11478330" cy="162123"/>
          </a:xfrm>
          <a:prstGeom prst="rect">
            <a:avLst/>
          </a:prstGeom>
          <a:noFill/>
          <a:ln/>
        </p:spPr>
        <p:txBody>
          <a:bodyPr wrap="none" lIns="0" tIns="0" rIns="0" bIns="0" rtlCol="0" anchor="t"/>
          <a:lstStyle/>
          <a:p>
            <a:pPr algn="l" indent="0" marL="0">
              <a:lnSpc>
                <a:spcPct val="110000"/>
              </a:lnSpc>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520230"/>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Roboto Mono Medium" pitchFamily="34" charset="0"/>
                <a:ea typeface="Roboto Mono Medium" pitchFamily="34" charset="-122"/>
                <a:cs typeface="Roboto Mono Medium" pitchFamily="34" charset="-120"/>
              </a:rPr>
              <a:t>Agenda</a:t>
            </a:r>
            <a:endParaRPr lang="en-US" sz="3700" dirty="0"/>
          </a:p>
        </p:txBody>
      </p:sp>
      <p:sp>
        <p:nvSpPr>
          <p:cNvPr id="3" name="Text 1"/>
          <p:cNvSpPr/>
          <p:nvPr/>
        </p:nvSpPr>
        <p:spPr>
          <a:xfrm>
            <a:off x="661475" y="2186484"/>
            <a:ext cx="10868745" cy="354409"/>
          </a:xfrm>
          <a:prstGeom prst="rect">
            <a:avLst/>
          </a:prstGeom>
          <a:noFill/>
          <a:ln/>
        </p:spPr>
        <p:txBody>
          <a:bodyPr wrap="none" lIns="0" tIns="0" rIns="0" bIns="0" rtlCol="0" anchor="t"/>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Objetivo: Entender cómo se puede generar texto automáticamente.</a:t>
            </a:r>
            <a:endParaRPr lang="en-US" sz="2200" dirty="0"/>
          </a:p>
        </p:txBody>
      </p:sp>
      <p:sp>
        <p:nvSpPr>
          <p:cNvPr id="4" name="Text 2"/>
          <p:cNvSpPr/>
          <p:nvPr/>
        </p:nvSpPr>
        <p:spPr>
          <a:xfrm>
            <a:off x="661475" y="2824361"/>
            <a:ext cx="10868745" cy="2513409"/>
          </a:xfrm>
          <a:prstGeom prst="rect">
            <a:avLst/>
          </a:prstGeom>
          <a:noFill/>
          <a:ln/>
        </p:spPr>
        <p:txBody>
          <a:bodyPr wrap="square" lIns="0" tIns="0" rIns="0" bIns="0" rtlCol="0" anchor="t">
            <a:normAutofit/>
          </a:bodyPr>
          <a:lstStyle/>
          <a:p>
            <a:pPr algn="l" marL="294640" indent="-294640">
              <a:lnSpc>
                <a:spcPct val="133000"/>
              </a:lnSpc>
              <a:buSzPct val="100000"/>
              <a:buFont typeface="+mj-lt"/>
              <a:buAutoNum type="arabicPeriod" startAt="1"/>
            </a:pPr>
            <a:r>
              <a:rPr lang="en-US" sz="1450" dirty="0">
                <a:solidFill>
                  <a:srgbClr val="3B3535"/>
                </a:solidFill>
                <a:latin typeface="Roboto" pitchFamily="34" charset="0"/>
                <a:ea typeface="Roboto" pitchFamily="34" charset="-122"/>
                <a:cs typeface="Roboto" pitchFamily="34" charset="-120"/>
              </a:rPr>
              <a:t>Problemas clásicos de ML</a:t>
            </a:r>
            <a:endParaRPr lang="en-US" sz="1450" dirty="0"/>
          </a:p>
          <a:p>
            <a:pPr algn="l" marL="294640" indent="-294640">
              <a:lnSpc>
                <a:spcPct val="133000"/>
              </a:lnSpc>
              <a:buSzPct val="100000"/>
              <a:buFont typeface="+mj-lt"/>
              <a:buAutoNum type="arabicPeriod" startAt="2"/>
            </a:pPr>
            <a:r>
              <a:rPr lang="en-US" sz="1450" dirty="0">
                <a:solidFill>
                  <a:srgbClr val="3B3535"/>
                </a:solidFill>
                <a:latin typeface="Roboto" pitchFamily="34" charset="0"/>
                <a:ea typeface="Roboto" pitchFamily="34" charset="-122"/>
                <a:cs typeface="Roboto" pitchFamily="34" charset="-120"/>
              </a:rPr>
              <a:t>NLP: motivación y problemas</a:t>
            </a:r>
            <a:endParaRPr lang="en-US" sz="1450" dirty="0"/>
          </a:p>
          <a:p>
            <a:pPr algn="l" lvl="1" marL="589280" indent="-294640">
              <a:lnSpc>
                <a:spcPct val="133000"/>
              </a:lnSpc>
              <a:buSzPct val="100000"/>
              <a:buFont typeface="+mj-lt"/>
              <a:buAutoNum type="alphaLcPeriod" startAt="1"/>
            </a:pPr>
            <a:r>
              <a:rPr lang="en-US" sz="1450" dirty="0">
                <a:solidFill>
                  <a:srgbClr val="3B3535"/>
                </a:solidFill>
                <a:latin typeface="Roboto" pitchFamily="34" charset="0"/>
                <a:ea typeface="Roboto" pitchFamily="34" charset="-122"/>
                <a:cs typeface="Roboto" pitchFamily="34" charset="-120"/>
              </a:rPr>
              <a:t>Language Modelling: predecir la siguiente palabra</a:t>
            </a:r>
            <a:endParaRPr lang="en-US" sz="1450" dirty="0"/>
          </a:p>
          <a:p>
            <a:pPr algn="l" lvl="1" marL="589280" indent="-294640">
              <a:lnSpc>
                <a:spcPct val="133000"/>
              </a:lnSpc>
              <a:buSzPct val="100000"/>
              <a:buFont typeface="+mj-lt"/>
              <a:buAutoNum type="alphaLcPeriod" startAt="2"/>
            </a:pPr>
            <a:r>
              <a:rPr lang="en-US" sz="1450" dirty="0">
                <a:solidFill>
                  <a:srgbClr val="3B3535"/>
                </a:solidFill>
                <a:latin typeface="Roboto" pitchFamily="34" charset="0"/>
                <a:ea typeface="Roboto" pitchFamily="34" charset="-122"/>
                <a:cs typeface="Roboto" pitchFamily="34" charset="-120"/>
              </a:rPr>
              <a:t>Representación de texto: tokens, vocabulario y embeddings</a:t>
            </a:r>
            <a:endParaRPr lang="en-US" sz="1450" dirty="0"/>
          </a:p>
          <a:p>
            <a:pPr algn="l" marL="294640" indent="-294640">
              <a:lnSpc>
                <a:spcPct val="133000"/>
              </a:lnSpc>
              <a:buSzPct val="100000"/>
              <a:buFont typeface="+mj-lt"/>
              <a:buAutoNum type="arabicPeriod" startAt="3"/>
            </a:pPr>
            <a:r>
              <a:rPr lang="en-US" sz="1450" dirty="0">
                <a:solidFill>
                  <a:srgbClr val="3B3535"/>
                </a:solidFill>
                <a:latin typeface="Roboto" pitchFamily="34" charset="0"/>
                <a:ea typeface="Roboto" pitchFamily="34" charset="-122"/>
                <a:cs typeface="Roboto" pitchFamily="34" charset="-120"/>
              </a:rPr>
              <a:t>Redes neuronales: del perceptrón al deep learning</a:t>
            </a:r>
            <a:endParaRPr lang="en-US" sz="1450" dirty="0"/>
          </a:p>
          <a:p>
            <a:pPr algn="l" marL="294640" indent="-294640">
              <a:lnSpc>
                <a:spcPct val="133000"/>
              </a:lnSpc>
              <a:buSzPct val="100000"/>
              <a:buFont typeface="+mj-lt"/>
              <a:buAutoNum type="arabicPeriod" startAt="4"/>
            </a:pPr>
            <a:r>
              <a:rPr lang="en-US" sz="1450" dirty="0">
                <a:solidFill>
                  <a:srgbClr val="3B3535"/>
                </a:solidFill>
                <a:latin typeface="Roboto" pitchFamily="34" charset="0"/>
                <a:ea typeface="Roboto" pitchFamily="34" charset="-122"/>
                <a:cs typeface="Roboto" pitchFamily="34" charset="-120"/>
              </a:rPr>
              <a:t>De RNNs a Transformers: el rol de attention</a:t>
            </a:r>
            <a:endParaRPr lang="en-US" sz="1450" dirty="0"/>
          </a:p>
          <a:p>
            <a:pPr algn="l" marL="294640" indent="-294640">
              <a:lnSpc>
                <a:spcPct val="133000"/>
              </a:lnSpc>
              <a:buSzPct val="100000"/>
              <a:buFont typeface="+mj-lt"/>
              <a:buAutoNum type="arabicPeriod" startAt="5"/>
            </a:pPr>
            <a:r>
              <a:rPr lang="en-US" sz="1450" dirty="0">
                <a:solidFill>
                  <a:srgbClr val="3B3535"/>
                </a:solidFill>
                <a:latin typeface="Roboto" pitchFamily="34" charset="0"/>
                <a:ea typeface="Roboto" pitchFamily="34" charset="-122"/>
                <a:cs typeface="Roboto" pitchFamily="34" charset="-120"/>
              </a:rPr>
              <a:t>Transformers: Cómo funciona un LLM</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922834"/>
            <a:ext cx="1853161" cy="229691"/>
          </a:xfrm>
          <a:prstGeom prst="roundRect">
            <a:avLst>
              <a:gd name="adj" fmla="val 3317"/>
            </a:avLst>
          </a:prstGeom>
          <a:solidFill>
            <a:srgbClr val="F9D2D6"/>
          </a:solidFill>
          <a:ln/>
        </p:spPr>
      </p:sp>
      <p:sp>
        <p:nvSpPr>
          <p:cNvPr id="3" name="Text 1"/>
          <p:cNvSpPr/>
          <p:nvPr/>
        </p:nvSpPr>
        <p:spPr>
          <a:xfrm>
            <a:off x="752159" y="968177"/>
            <a:ext cx="2281379" cy="139005"/>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PROBLEMAS CLÁSICOS DE ML</a:t>
            </a:r>
            <a:endParaRPr lang="en-US" sz="950" dirty="0"/>
          </a:p>
        </p:txBody>
      </p:sp>
      <p:sp>
        <p:nvSpPr>
          <p:cNvPr id="4" name="Text 2"/>
          <p:cNvSpPr/>
          <p:nvPr/>
        </p:nvSpPr>
        <p:spPr>
          <a:xfrm>
            <a:off x="661475" y="1200845"/>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1F1E1E"/>
                </a:solidFill>
                <a:latin typeface="Roboto Mono Medium" pitchFamily="34" charset="0"/>
                <a:ea typeface="Roboto Mono Medium" pitchFamily="34" charset="-122"/>
                <a:cs typeface="Roboto Mono Medium" pitchFamily="34" charset="-120"/>
              </a:rPr>
              <a:t>La Taxonomía de Problemas de IA</a:t>
            </a:r>
            <a:endParaRPr lang="en-US" sz="2950" dirty="0"/>
          </a:p>
        </p:txBody>
      </p:sp>
      <p:sp>
        <p:nvSpPr>
          <p:cNvPr id="5" name="Text 3"/>
          <p:cNvSpPr/>
          <p:nvPr/>
        </p:nvSpPr>
        <p:spPr>
          <a:xfrm>
            <a:off x="661475" y="1721644"/>
            <a:ext cx="10868745" cy="283468"/>
          </a:xfrm>
          <a:prstGeom prst="rect">
            <a:avLst/>
          </a:prstGeom>
          <a:noFill/>
          <a:ln/>
        </p:spPr>
        <p:txBody>
          <a:bodyPr wrap="none" lIns="0" tIns="0" rIns="0" bIns="0" rtlCol="0" anchor="t"/>
          <a:lstStyle/>
          <a:p>
            <a:pPr algn="l" indent="0" marL="0">
              <a:lnSpc>
                <a:spcPct val="104000"/>
              </a:lnSpc>
              <a:buNone/>
            </a:pPr>
            <a:r>
              <a:rPr lang="en-US" sz="1750" dirty="0">
                <a:solidFill>
                  <a:srgbClr val="1F1E1E"/>
                </a:solidFill>
                <a:latin typeface="Roboto Mono Medium" pitchFamily="34" charset="0"/>
                <a:ea typeface="Roboto Mono Medium" pitchFamily="34" charset="-122"/>
                <a:cs typeface="Roboto Mono Medium" pitchFamily="34" charset="-120"/>
              </a:rPr>
              <a:t>¿Qué tipos de problemas resuelve la IA?</a:t>
            </a:r>
            <a:endParaRPr lang="en-US" sz="1750" dirty="0"/>
          </a:p>
        </p:txBody>
      </p:sp>
      <p:pic>
        <p:nvPicPr>
          <p:cNvPr id="6" name="Image 0" descr="preencoded.png">    </p:cNvPr>
          <p:cNvPicPr>
            <a:picLocks noChangeAspect="1"/>
          </p:cNvPicPr>
          <p:nvPr/>
        </p:nvPicPr>
        <p:blipFill>
          <a:blip r:embed="rId1"/>
          <a:stretch>
            <a:fillRect/>
          </a:stretch>
        </p:blipFill>
        <p:spPr>
          <a:xfrm>
            <a:off x="661475" y="2186484"/>
            <a:ext cx="302411" cy="302419"/>
          </a:xfrm>
          <a:prstGeom prst="rect">
            <a:avLst/>
          </a:prstGeom>
        </p:spPr>
      </p:pic>
      <p:sp>
        <p:nvSpPr>
          <p:cNvPr id="7" name="Text 4"/>
          <p:cNvSpPr/>
          <p:nvPr/>
        </p:nvSpPr>
        <p:spPr>
          <a:xfrm>
            <a:off x="1115092" y="2238375"/>
            <a:ext cx="3068462"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Predicción</a:t>
            </a:r>
            <a:endParaRPr lang="en-US" sz="1450" dirty="0"/>
          </a:p>
        </p:txBody>
      </p:sp>
      <p:sp>
        <p:nvSpPr>
          <p:cNvPr id="8" name="Text 5"/>
          <p:cNvSpPr/>
          <p:nvPr/>
        </p:nvSpPr>
        <p:spPr>
          <a:xfrm>
            <a:off x="1115092" y="2547144"/>
            <a:ext cx="3068462"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Aprender X → Y a partir de datos etiquetados. Incluye clasificación y regresión.</a:t>
            </a:r>
            <a:endParaRPr lang="en-US" sz="1150" dirty="0"/>
          </a:p>
        </p:txBody>
      </p:sp>
      <p:pic>
        <p:nvPicPr>
          <p:cNvPr id="9" name="Image 1" descr="preencoded.png">    </p:cNvPr>
          <p:cNvPicPr>
            <a:picLocks noChangeAspect="1"/>
          </p:cNvPicPr>
          <p:nvPr/>
        </p:nvPicPr>
        <p:blipFill>
          <a:blip r:embed="rId2"/>
          <a:stretch>
            <a:fillRect/>
          </a:stretch>
        </p:blipFill>
        <p:spPr>
          <a:xfrm>
            <a:off x="4334759" y="2186484"/>
            <a:ext cx="302411" cy="302419"/>
          </a:xfrm>
          <a:prstGeom prst="rect">
            <a:avLst/>
          </a:prstGeom>
        </p:spPr>
      </p:pic>
      <p:sp>
        <p:nvSpPr>
          <p:cNvPr id="10" name="Text 6"/>
          <p:cNvSpPr/>
          <p:nvPr/>
        </p:nvSpPr>
        <p:spPr>
          <a:xfrm>
            <a:off x="4788376" y="2238375"/>
            <a:ext cx="3068462"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Percepción</a:t>
            </a:r>
            <a:endParaRPr lang="en-US" sz="1450" dirty="0"/>
          </a:p>
        </p:txBody>
      </p:sp>
      <p:sp>
        <p:nvSpPr>
          <p:cNvPr id="11" name="Text 7"/>
          <p:cNvSpPr/>
          <p:nvPr/>
        </p:nvSpPr>
        <p:spPr>
          <a:xfrm>
            <a:off x="4788376" y="2547144"/>
            <a:ext cx="3068462"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Extraer estructura de señales sensoriales: imagen, audio, video.</a:t>
            </a:r>
            <a:endParaRPr lang="en-US" sz="1150" dirty="0"/>
          </a:p>
        </p:txBody>
      </p:sp>
      <p:pic>
        <p:nvPicPr>
          <p:cNvPr id="12" name="Image 2" descr="preencoded.png">    </p:cNvPr>
          <p:cNvPicPr>
            <a:picLocks noChangeAspect="1"/>
          </p:cNvPicPr>
          <p:nvPr/>
        </p:nvPicPr>
        <p:blipFill>
          <a:blip r:embed="rId3"/>
          <a:stretch>
            <a:fillRect/>
          </a:stretch>
        </p:blipFill>
        <p:spPr>
          <a:xfrm>
            <a:off x="8008043" y="2186484"/>
            <a:ext cx="302411" cy="302419"/>
          </a:xfrm>
          <a:prstGeom prst="rect">
            <a:avLst/>
          </a:prstGeom>
        </p:spPr>
      </p:pic>
      <p:sp>
        <p:nvSpPr>
          <p:cNvPr id="13" name="Text 8"/>
          <p:cNvSpPr/>
          <p:nvPr/>
        </p:nvSpPr>
        <p:spPr>
          <a:xfrm>
            <a:off x="8461659" y="2238375"/>
            <a:ext cx="3068561"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Representación</a:t>
            </a:r>
            <a:endParaRPr lang="en-US" sz="1450" dirty="0"/>
          </a:p>
        </p:txBody>
      </p:sp>
      <p:sp>
        <p:nvSpPr>
          <p:cNvPr id="14" name="Text 9"/>
          <p:cNvSpPr/>
          <p:nvPr/>
        </p:nvSpPr>
        <p:spPr>
          <a:xfrm>
            <a:off x="8461659" y="2547144"/>
            <a:ext cx="3068561"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Aprender embeddings y espacios latentes que capturan relaciones entre datos.</a:t>
            </a:r>
            <a:endParaRPr lang="en-US" sz="1150" dirty="0"/>
          </a:p>
        </p:txBody>
      </p:sp>
      <p:pic>
        <p:nvPicPr>
          <p:cNvPr id="15" name="Image 3" descr="preencoded.png">    </p:cNvPr>
          <p:cNvPicPr>
            <a:picLocks noChangeAspect="1"/>
          </p:cNvPicPr>
          <p:nvPr/>
        </p:nvPicPr>
        <p:blipFill>
          <a:blip r:embed="rId4"/>
          <a:stretch>
            <a:fillRect/>
          </a:stretch>
        </p:blipFill>
        <p:spPr>
          <a:xfrm>
            <a:off x="661475" y="3224411"/>
            <a:ext cx="302411" cy="302419"/>
          </a:xfrm>
          <a:prstGeom prst="rect">
            <a:avLst/>
          </a:prstGeom>
        </p:spPr>
      </p:pic>
      <p:sp>
        <p:nvSpPr>
          <p:cNvPr id="16" name="Text 10"/>
          <p:cNvSpPr/>
          <p:nvPr/>
        </p:nvSpPr>
        <p:spPr>
          <a:xfrm>
            <a:off x="1115092" y="3276302"/>
            <a:ext cx="3068462"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Decisión Secuencial</a:t>
            </a:r>
            <a:endParaRPr lang="en-US" sz="1450" dirty="0"/>
          </a:p>
        </p:txBody>
      </p:sp>
      <p:sp>
        <p:nvSpPr>
          <p:cNvPr id="17" name="Text 11"/>
          <p:cNvSpPr/>
          <p:nvPr/>
        </p:nvSpPr>
        <p:spPr>
          <a:xfrm>
            <a:off x="1115092" y="3585071"/>
            <a:ext cx="3068462"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Maximizar recompensa acumulada. Formalizado como Reinforcement Learning.</a:t>
            </a:r>
            <a:endParaRPr lang="en-US" sz="1150" dirty="0"/>
          </a:p>
        </p:txBody>
      </p:sp>
      <p:pic>
        <p:nvPicPr>
          <p:cNvPr id="18" name="Image 4" descr="preencoded.png">    </p:cNvPr>
          <p:cNvPicPr>
            <a:picLocks noChangeAspect="1"/>
          </p:cNvPicPr>
          <p:nvPr/>
        </p:nvPicPr>
        <p:blipFill>
          <a:blip r:embed="rId5"/>
          <a:stretch>
            <a:fillRect/>
          </a:stretch>
        </p:blipFill>
        <p:spPr>
          <a:xfrm>
            <a:off x="4334759" y="3224411"/>
            <a:ext cx="302411" cy="302419"/>
          </a:xfrm>
          <a:prstGeom prst="rect">
            <a:avLst/>
          </a:prstGeom>
        </p:spPr>
      </p:pic>
      <p:sp>
        <p:nvSpPr>
          <p:cNvPr id="19" name="Text 12"/>
          <p:cNvSpPr/>
          <p:nvPr/>
        </p:nvSpPr>
        <p:spPr>
          <a:xfrm>
            <a:off x="4788376" y="3276302"/>
            <a:ext cx="3068462"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Búsqueda / Planificación</a:t>
            </a:r>
            <a:endParaRPr lang="en-US" sz="1450" dirty="0"/>
          </a:p>
        </p:txBody>
      </p:sp>
      <p:sp>
        <p:nvSpPr>
          <p:cNvPr id="20" name="Text 13"/>
          <p:cNvSpPr/>
          <p:nvPr/>
        </p:nvSpPr>
        <p:spPr>
          <a:xfrm>
            <a:off x="4788376" y="3585071"/>
            <a:ext cx="3068462"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Encontrar la mejor secuencia de acciones en un espacio de estados.</a:t>
            </a:r>
            <a:endParaRPr lang="en-US" sz="1150" dirty="0"/>
          </a:p>
        </p:txBody>
      </p:sp>
      <p:pic>
        <p:nvPicPr>
          <p:cNvPr id="21" name="Image 5" descr="preencoded.png">    </p:cNvPr>
          <p:cNvPicPr>
            <a:picLocks noChangeAspect="1"/>
          </p:cNvPicPr>
          <p:nvPr/>
        </p:nvPicPr>
        <p:blipFill>
          <a:blip r:embed="rId6"/>
          <a:stretch>
            <a:fillRect/>
          </a:stretch>
        </p:blipFill>
        <p:spPr>
          <a:xfrm>
            <a:off x="8008043" y="3224411"/>
            <a:ext cx="302411" cy="302419"/>
          </a:xfrm>
          <a:prstGeom prst="rect">
            <a:avLst/>
          </a:prstGeom>
        </p:spPr>
      </p:pic>
      <p:sp>
        <p:nvSpPr>
          <p:cNvPr id="22" name="Text 14"/>
          <p:cNvSpPr/>
          <p:nvPr/>
        </p:nvSpPr>
        <p:spPr>
          <a:xfrm>
            <a:off x="8461659" y="3276302"/>
            <a:ext cx="3068561"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Razonamiento Simbólico</a:t>
            </a:r>
            <a:endParaRPr lang="en-US" sz="1450" dirty="0"/>
          </a:p>
        </p:txBody>
      </p:sp>
      <p:sp>
        <p:nvSpPr>
          <p:cNvPr id="23" name="Text 15"/>
          <p:cNvSpPr/>
          <p:nvPr/>
        </p:nvSpPr>
        <p:spPr>
          <a:xfrm>
            <a:off x="8461659" y="3585071"/>
            <a:ext cx="3068561"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Manipular símbolos y reglas IF–THEN para derivar conclusiones lógicas.</a:t>
            </a:r>
            <a:endParaRPr lang="en-US" sz="1150" dirty="0"/>
          </a:p>
        </p:txBody>
      </p:sp>
      <p:pic>
        <p:nvPicPr>
          <p:cNvPr id="24" name="Image 6" descr="preencoded.png">    </p:cNvPr>
          <p:cNvPicPr>
            <a:picLocks noChangeAspect="1"/>
          </p:cNvPicPr>
          <p:nvPr/>
        </p:nvPicPr>
        <p:blipFill>
          <a:blip r:embed="rId7"/>
          <a:stretch>
            <a:fillRect/>
          </a:stretch>
        </p:blipFill>
        <p:spPr>
          <a:xfrm>
            <a:off x="661475" y="4262338"/>
            <a:ext cx="302411" cy="302419"/>
          </a:xfrm>
          <a:prstGeom prst="rect">
            <a:avLst/>
          </a:prstGeom>
        </p:spPr>
      </p:pic>
      <p:sp>
        <p:nvSpPr>
          <p:cNvPr id="25" name="Text 16"/>
          <p:cNvSpPr/>
          <p:nvPr/>
        </p:nvSpPr>
        <p:spPr>
          <a:xfrm>
            <a:off x="1115092" y="4314230"/>
            <a:ext cx="3068462"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Generación</a:t>
            </a:r>
            <a:endParaRPr lang="en-US" sz="1450" dirty="0"/>
          </a:p>
        </p:txBody>
      </p:sp>
      <p:sp>
        <p:nvSpPr>
          <p:cNvPr id="26" name="Text 17"/>
          <p:cNvSpPr/>
          <p:nvPr/>
        </p:nvSpPr>
        <p:spPr>
          <a:xfrm>
            <a:off x="1115092" y="4622998"/>
            <a:ext cx="3068462" cy="653058"/>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Producir nuevas muestras coherentes: texto, imagen, audio, código. Infinita cantidad de outputs.</a:t>
            </a:r>
            <a:endParaRPr lang="en-US" sz="1150" dirty="0"/>
          </a:p>
        </p:txBody>
      </p:sp>
      <p:sp>
        <p:nvSpPr>
          <p:cNvPr id="27" name="Shape 18"/>
          <p:cNvSpPr/>
          <p:nvPr/>
        </p:nvSpPr>
        <p:spPr>
          <a:xfrm>
            <a:off x="661475" y="5412085"/>
            <a:ext cx="10868745" cy="523081"/>
          </a:xfrm>
          <a:prstGeom prst="roundRect">
            <a:avLst>
              <a:gd name="adj" fmla="val 1457"/>
            </a:avLst>
          </a:prstGeom>
          <a:solidFill>
            <a:srgbClr val="F9D2D6"/>
          </a:solidFill>
          <a:ln/>
        </p:spPr>
      </p:sp>
      <p:pic>
        <p:nvPicPr>
          <p:cNvPr id="28" name="Image 7" descr="preencoded.png">    </p:cNvPr>
          <p:cNvPicPr>
            <a:picLocks noChangeAspect="1"/>
          </p:cNvPicPr>
          <p:nvPr/>
        </p:nvPicPr>
        <p:blipFill>
          <a:blip r:embed="rId8"/>
          <a:stretch>
            <a:fillRect/>
          </a:stretch>
        </p:blipFill>
        <p:spPr>
          <a:xfrm>
            <a:off x="812680" y="5584527"/>
            <a:ext cx="189007" cy="151209"/>
          </a:xfrm>
          <a:prstGeom prst="rect">
            <a:avLst/>
          </a:prstGeom>
        </p:spPr>
      </p:pic>
      <p:sp>
        <p:nvSpPr>
          <p:cNvPr id="29" name="Text 19"/>
          <p:cNvSpPr/>
          <p:nvPr/>
        </p:nvSpPr>
        <p:spPr>
          <a:xfrm>
            <a:off x="1152893" y="5570835"/>
            <a:ext cx="10835706" cy="217686"/>
          </a:xfrm>
          <a:prstGeom prst="rect">
            <a:avLst/>
          </a:prstGeom>
          <a:noFill/>
          <a:ln/>
        </p:spPr>
        <p:txBody>
          <a:bodyPr wrap="none" lIns="0" tIns="0" rIns="0" bIns="0" rtlCol="0" anchor="t"/>
          <a:lstStyle/>
          <a:p>
            <a:pPr algn="l" indent="0" marL="0">
              <a:lnSpc>
                <a:spcPct val="120000"/>
              </a:lnSpc>
              <a:buNone/>
            </a:pPr>
            <a:r>
              <a:rPr lang="en-US" sz="1150" dirty="0">
                <a:solidFill>
                  <a:srgbClr val="000000"/>
                </a:solidFill>
                <a:latin typeface="Roboto" pitchFamily="34" charset="0"/>
                <a:ea typeface="Roboto" pitchFamily="34" charset="-122"/>
                <a:cs typeface="Roboto" pitchFamily="34" charset="-120"/>
              </a:rPr>
              <a:t>💡</a:t>
            </a:r>
            <a:pPr algn="l" indent="0" marL="0">
              <a:lnSpc>
                <a:spcPct val="120000"/>
              </a:lnSpc>
              <a:buNone/>
            </a:pPr>
            <a:r>
              <a:rPr lang="en-US" sz="1150" dirty="0">
                <a:solidFill>
                  <a:srgbClr val="000000"/>
                </a:solidFill>
                <a:latin typeface="Roboto" pitchFamily="34" charset="0"/>
                <a:ea typeface="Roboto" pitchFamily="34" charset="-122"/>
                <a:cs typeface="Roboto" pitchFamily="34" charset="-120"/>
              </a:rPr>
              <a:t> Un auto autónomo combina percepción + decisión secuencial + planificación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558602"/>
            <a:ext cx="1936999" cy="240308"/>
          </a:xfrm>
          <a:prstGeom prst="roundRect">
            <a:avLst>
              <a:gd name="adj" fmla="val 3171"/>
            </a:avLst>
          </a:prstGeom>
          <a:solidFill>
            <a:srgbClr val="F9D2D6"/>
          </a:solidFill>
          <a:ln/>
        </p:spPr>
      </p:sp>
      <p:sp>
        <p:nvSpPr>
          <p:cNvPr id="3" name="Text 1"/>
          <p:cNvSpPr/>
          <p:nvPr/>
        </p:nvSpPr>
        <p:spPr>
          <a:xfrm>
            <a:off x="756326" y="606028"/>
            <a:ext cx="2356882" cy="145455"/>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PROBLEMAS CLÁSICOS DE ML</a:t>
            </a:r>
            <a:endParaRPr lang="en-US" sz="950" dirty="0"/>
          </a:p>
        </p:txBody>
      </p:sp>
      <p:sp>
        <p:nvSpPr>
          <p:cNvPr id="4" name="Text 2"/>
          <p:cNvSpPr/>
          <p:nvPr/>
        </p:nvSpPr>
        <p:spPr>
          <a:xfrm>
            <a:off x="661475" y="851793"/>
            <a:ext cx="10868745" cy="988417"/>
          </a:xfrm>
          <a:prstGeom prst="rect">
            <a:avLst/>
          </a:prstGeom>
          <a:noFill/>
          <a:ln/>
        </p:spPr>
        <p:txBody>
          <a:bodyPr wrap="square" lIns="0" tIns="0" rIns="0" bIns="0" rtlCol="0" anchor="t">
            <a:normAutofit/>
          </a:bodyPr>
          <a:lstStyle/>
          <a:p>
            <a:pPr algn="l" indent="0" marL="0">
              <a:lnSpc>
                <a:spcPct val="104000"/>
              </a:lnSpc>
              <a:buNone/>
            </a:pPr>
            <a:r>
              <a:rPr lang="en-US" sz="3100" dirty="0">
                <a:solidFill>
                  <a:srgbClr val="1F1E1E"/>
                </a:solidFill>
                <a:latin typeface="Roboto Mono Medium" pitchFamily="34" charset="0"/>
                <a:ea typeface="Roboto Mono Medium" pitchFamily="34" charset="-122"/>
                <a:cs typeface="Roboto Mono Medium" pitchFamily="34" charset="-120"/>
              </a:rPr>
              <a:t>Machine Learning: Cómo funciona la IA moAderna</a:t>
            </a:r>
            <a:endParaRPr lang="en-US" sz="3100" dirty="0"/>
          </a:p>
        </p:txBody>
      </p:sp>
      <p:pic>
        <p:nvPicPr>
          <p:cNvPr id="5" name="Image 0" descr="preencoded.png">    </p:cNvPr>
          <p:cNvPicPr>
            <a:picLocks noChangeAspect="1"/>
          </p:cNvPicPr>
          <p:nvPr/>
        </p:nvPicPr>
        <p:blipFill>
          <a:blip r:embed="rId1"/>
          <a:stretch>
            <a:fillRect/>
          </a:stretch>
        </p:blipFill>
        <p:spPr>
          <a:xfrm>
            <a:off x="2557101" y="2038648"/>
            <a:ext cx="7077394" cy="42606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651371"/>
            <a:ext cx="1620797" cy="201116"/>
          </a:xfrm>
          <a:prstGeom prst="roundRect">
            <a:avLst>
              <a:gd name="adj" fmla="val 3789"/>
            </a:avLst>
          </a:prstGeom>
          <a:solidFill>
            <a:srgbClr val="F9D2D6"/>
          </a:solidFill>
          <a:ln/>
        </p:spPr>
      </p:sp>
      <p:sp>
        <p:nvSpPr>
          <p:cNvPr id="3" name="Text 1"/>
          <p:cNvSpPr/>
          <p:nvPr/>
        </p:nvSpPr>
        <p:spPr>
          <a:xfrm>
            <a:off x="740848" y="691059"/>
            <a:ext cx="2071636" cy="121741"/>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Roboto" pitchFamily="34" charset="0"/>
                <a:ea typeface="Roboto" pitchFamily="34" charset="-122"/>
                <a:cs typeface="Roboto" pitchFamily="34" charset="-120"/>
              </a:rPr>
              <a:t>PROBLEMAS CLÁSICOS DE ML</a:t>
            </a:r>
            <a:endParaRPr lang="en-US" sz="800" dirty="0"/>
          </a:p>
        </p:txBody>
      </p:sp>
      <p:sp>
        <p:nvSpPr>
          <p:cNvPr id="4" name="Text 2"/>
          <p:cNvSpPr/>
          <p:nvPr/>
        </p:nvSpPr>
        <p:spPr>
          <a:xfrm>
            <a:off x="661475" y="889496"/>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Problemas clásicos de ML</a:t>
            </a:r>
            <a:endParaRPr lang="en-US" sz="2600" dirty="0"/>
          </a:p>
        </p:txBody>
      </p:sp>
      <p:sp>
        <p:nvSpPr>
          <p:cNvPr id="5" name="Text 3"/>
          <p:cNvSpPr/>
          <p:nvPr/>
        </p:nvSpPr>
        <p:spPr>
          <a:xfrm>
            <a:off x="661475" y="1339949"/>
            <a:ext cx="10868745" cy="248047"/>
          </a:xfrm>
          <a:prstGeom prst="rect">
            <a:avLst/>
          </a:prstGeom>
          <a:noFill/>
          <a:ln/>
        </p:spPr>
        <p:txBody>
          <a:bodyPr wrap="none" lIns="0" tIns="0" rIns="0" bIns="0" rtlCol="0" anchor="t"/>
          <a:lstStyle/>
          <a:p>
            <a:pPr algn="l" indent="0" marL="0">
              <a:lnSpc>
                <a:spcPct val="104000"/>
              </a:lnSpc>
              <a:buNone/>
            </a:pPr>
            <a:r>
              <a:rPr lang="en-US" sz="1550" dirty="0">
                <a:solidFill>
                  <a:srgbClr val="1F1E1E"/>
                </a:solidFill>
                <a:latin typeface="Roboto Mono Medium" pitchFamily="34" charset="0"/>
                <a:ea typeface="Roboto Mono Medium" pitchFamily="34" charset="-122"/>
                <a:cs typeface="Roboto Mono Medium" pitchFamily="34" charset="-120"/>
              </a:rPr>
              <a:t>¿Como se formulan concretamente los problemas vistos?</a:t>
            </a:r>
            <a:endParaRPr lang="en-US" sz="1550" dirty="0"/>
          </a:p>
        </p:txBody>
      </p:sp>
      <p:sp>
        <p:nvSpPr>
          <p:cNvPr id="6" name="Text 4"/>
          <p:cNvSpPr/>
          <p:nvPr/>
        </p:nvSpPr>
        <p:spPr>
          <a:xfrm>
            <a:off x="661475" y="1726902"/>
            <a:ext cx="10868745" cy="816967"/>
          </a:xfrm>
          <a:prstGeom prst="rect">
            <a:avLst/>
          </a:prstGeom>
          <a:noFill/>
          <a:ln/>
        </p:spPr>
        <p:txBody>
          <a:bodyPr wrap="square" lIns="0" tIns="52925" rIns="0" bIns="0" rtlCol="0" anchor="t">
            <a:normAutofit/>
          </a:bodyPr>
          <a:lstStyle/>
          <a:p>
            <a:pPr algn="l" marL="203200" indent="-203200">
              <a:lnSpc>
                <a:spcPct val="113000"/>
              </a:lnSpc>
              <a:buSzPct val="100000"/>
              <a:buChar char="•"/>
            </a:pPr>
            <a:r>
              <a:rPr lang="en-US" sz="1000" dirty="0">
                <a:solidFill>
                  <a:srgbClr val="3B3535"/>
                </a:solidFill>
                <a:latin typeface="Roboto" pitchFamily="34" charset="0"/>
                <a:ea typeface="Roboto" pitchFamily="34" charset="-122"/>
                <a:cs typeface="Roboto" pitchFamily="34" charset="-120"/>
              </a:rPr>
              <a:t>Clasificación (Prediccion) → ¿A qué categoría pertenece? (ej: ¿este email es spam o no?)</a:t>
            </a:r>
            <a:endParaRPr lang="en-US" sz="1000" dirty="0"/>
          </a:p>
          <a:p>
            <a:pPr algn="l" marL="203200" indent="-203200">
              <a:lnSpc>
                <a:spcPct val="113000"/>
              </a:lnSpc>
              <a:buSzPct val="100000"/>
              <a:buChar char="•"/>
            </a:pPr>
            <a:r>
              <a:rPr lang="en-US" sz="1000" dirty="0">
                <a:solidFill>
                  <a:srgbClr val="3B3535"/>
                </a:solidFill>
                <a:latin typeface="Roboto" pitchFamily="34" charset="0"/>
                <a:ea typeface="Roboto" pitchFamily="34" charset="-122"/>
                <a:cs typeface="Roboto" pitchFamily="34" charset="-120"/>
              </a:rPr>
              <a:t>Regresión (Prediccion) → ¿Qué valor va a tener? (ej: ¿cuánto va a costar esta casa?)</a:t>
            </a:r>
            <a:endParaRPr lang="en-US" sz="1000" dirty="0"/>
          </a:p>
          <a:p>
            <a:pPr algn="l" marL="203200" indent="-203200">
              <a:lnSpc>
                <a:spcPct val="113000"/>
              </a:lnSpc>
              <a:buSzPct val="100000"/>
              <a:buChar char="•"/>
            </a:pPr>
            <a:r>
              <a:rPr lang="en-US" sz="1000" dirty="0">
                <a:solidFill>
                  <a:srgbClr val="3B3535"/>
                </a:solidFill>
                <a:latin typeface="Roboto" pitchFamily="34" charset="0"/>
                <a:ea typeface="Roboto" pitchFamily="34" charset="-122"/>
                <a:cs typeface="Roboto" pitchFamily="34" charset="-120"/>
              </a:rPr>
              <a:t>Clustering (Representación) → ¿Qué datos se parecen entre sí? (ej: agrupar pacientes con síntomas similares)</a:t>
            </a:r>
            <a:endParaRPr lang="en-US" sz="1000" dirty="0"/>
          </a:p>
          <a:p>
            <a:pPr algn="l" marL="203200" indent="-203200">
              <a:lnSpc>
                <a:spcPct val="113000"/>
              </a:lnSpc>
              <a:buSzPct val="100000"/>
              <a:buChar char="•"/>
            </a:pPr>
            <a:r>
              <a:rPr lang="en-US" sz="1000" b="1" dirty="0">
                <a:solidFill>
                  <a:srgbClr val="3B3535"/>
                </a:solidFill>
                <a:latin typeface="Roboto Bold" pitchFamily="34" charset="0"/>
                <a:ea typeface="Roboto Bold" pitchFamily="34" charset="-122"/>
                <a:cs typeface="Roboto Bold" pitchFamily="34" charset="-120"/>
              </a:rPr>
              <a:t>Generación → ¿Puedo crear datos nuevos? (ej: generar imágenes, texto)</a:t>
            </a:r>
            <a:endParaRPr lang="en-US" sz="1000" dirty="0"/>
          </a:p>
        </p:txBody>
      </p:sp>
      <p:pic>
        <p:nvPicPr>
          <p:cNvPr id="7" name="Image 0" descr="preencoded.png">    </p:cNvPr>
          <p:cNvPicPr>
            <a:picLocks noChangeAspect="1"/>
          </p:cNvPicPr>
          <p:nvPr/>
        </p:nvPicPr>
        <p:blipFill>
          <a:blip r:embed="rId1"/>
          <a:stretch>
            <a:fillRect/>
          </a:stretch>
        </p:blipFill>
        <p:spPr>
          <a:xfrm>
            <a:off x="661475" y="2752229"/>
            <a:ext cx="3440126" cy="1184176"/>
          </a:xfrm>
          <a:prstGeom prst="rect">
            <a:avLst/>
          </a:prstGeom>
        </p:spPr>
      </p:pic>
      <p:pic>
        <p:nvPicPr>
          <p:cNvPr id="8" name="Image 1" descr="preencoded.png">    </p:cNvPr>
          <p:cNvPicPr>
            <a:picLocks noChangeAspect="1"/>
          </p:cNvPicPr>
          <p:nvPr/>
        </p:nvPicPr>
        <p:blipFill>
          <a:blip r:embed="rId2"/>
          <a:stretch>
            <a:fillRect/>
          </a:stretch>
        </p:blipFill>
        <p:spPr>
          <a:xfrm>
            <a:off x="661475" y="4040584"/>
            <a:ext cx="1968153" cy="1463080"/>
          </a:xfrm>
          <a:prstGeom prst="rect">
            <a:avLst/>
          </a:prstGeom>
        </p:spPr>
      </p:pic>
      <p:pic>
        <p:nvPicPr>
          <p:cNvPr id="9" name="Image 2" descr="preencoded.png">    </p:cNvPr>
          <p:cNvPicPr>
            <a:picLocks noChangeAspect="1"/>
          </p:cNvPicPr>
          <p:nvPr/>
        </p:nvPicPr>
        <p:blipFill>
          <a:blip r:embed="rId3"/>
          <a:stretch>
            <a:fillRect/>
          </a:stretch>
        </p:blipFill>
        <p:spPr>
          <a:xfrm>
            <a:off x="6263523" y="2752229"/>
            <a:ext cx="3034926" cy="1426369"/>
          </a:xfrm>
          <a:prstGeom prst="rect">
            <a:avLst/>
          </a:prstGeom>
        </p:spPr>
      </p:pic>
      <p:pic>
        <p:nvPicPr>
          <p:cNvPr id="10" name="Image 3" descr="preencoded.png">    </p:cNvPr>
          <p:cNvPicPr>
            <a:picLocks noChangeAspect="1"/>
          </p:cNvPicPr>
          <p:nvPr/>
        </p:nvPicPr>
        <p:blipFill>
          <a:blip r:embed="rId4"/>
          <a:stretch>
            <a:fillRect/>
          </a:stretch>
        </p:blipFill>
        <p:spPr>
          <a:xfrm>
            <a:off x="6263523" y="4282777"/>
            <a:ext cx="2728943" cy="1535509"/>
          </a:xfrm>
          <a:prstGeom prst="rect">
            <a:avLst/>
          </a:prstGeom>
        </p:spPr>
      </p:pic>
      <p:sp>
        <p:nvSpPr>
          <p:cNvPr id="11" name="Text 5"/>
          <p:cNvSpPr/>
          <p:nvPr/>
        </p:nvSpPr>
        <p:spPr>
          <a:xfrm>
            <a:off x="661475" y="6026646"/>
            <a:ext cx="11478330" cy="179983"/>
          </a:xfrm>
          <a:prstGeom prst="rect">
            <a:avLst/>
          </a:prstGeom>
          <a:noFill/>
          <a:ln/>
        </p:spPr>
        <p:txBody>
          <a:bodyPr wrap="none" lIns="0" tIns="0" rIns="0" bIns="0" rtlCol="0" anchor="t"/>
          <a:lstStyle/>
          <a:p>
            <a:pPr algn="l" indent="0" marL="0">
              <a:lnSpc>
                <a:spcPct val="113000"/>
              </a:lnSpc>
              <a:buNone/>
            </a:pPr>
            <a:r>
              <a:rPr lang="en-US" sz="1000" dirty="0">
                <a:solidFill>
                  <a:srgbClr val="3B3535"/>
                </a:solidFill>
                <a:latin typeface="Roboto" pitchFamily="34" charset="0"/>
                <a:ea typeface="Roboto" pitchFamily="34" charset="-122"/>
                <a:cs typeface="Roboto" pitchFamily="34" charset="-120"/>
              </a:rPr>
              <a:t>El modelo aprende patrones de los datos, no se programa con reglas explícitas.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623491"/>
            <a:ext cx="1968748" cy="243979"/>
          </a:xfrm>
          <a:prstGeom prst="roundRect">
            <a:avLst>
              <a:gd name="adj" fmla="val 3123"/>
            </a:avLst>
          </a:prstGeom>
          <a:solidFill>
            <a:srgbClr val="F9D2D6"/>
          </a:solidFill>
          <a:ln/>
        </p:spPr>
      </p:sp>
      <p:sp>
        <p:nvSpPr>
          <p:cNvPr id="3" name="Text 1"/>
          <p:cNvSpPr/>
          <p:nvPr/>
        </p:nvSpPr>
        <p:spPr>
          <a:xfrm>
            <a:off x="757814" y="671612"/>
            <a:ext cx="2385655" cy="147737"/>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PROBLEMAS CLÁSICOS DE ML</a:t>
            </a:r>
            <a:endParaRPr lang="en-US" sz="1000" dirty="0"/>
          </a:p>
        </p:txBody>
      </p:sp>
      <p:sp>
        <p:nvSpPr>
          <p:cNvPr id="4" name="Text 2"/>
          <p:cNvSpPr/>
          <p:nvPr/>
        </p:nvSpPr>
        <p:spPr>
          <a:xfrm>
            <a:off x="661475" y="922040"/>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1F1E1E"/>
                </a:solidFill>
                <a:latin typeface="Roboto Mono Medium" pitchFamily="34" charset="0"/>
                <a:ea typeface="Roboto Mono Medium" pitchFamily="34" charset="-122"/>
                <a:cs typeface="Roboto Mono Medium" pitchFamily="34" charset="-120"/>
              </a:rPr>
              <a:t>Problemas clásicos de ML aplicados a texto</a:t>
            </a:r>
            <a:endParaRPr lang="en-US" sz="3150" dirty="0"/>
          </a:p>
        </p:txBody>
      </p:sp>
      <p:sp>
        <p:nvSpPr>
          <p:cNvPr id="5" name="Text 3"/>
          <p:cNvSpPr/>
          <p:nvPr/>
        </p:nvSpPr>
        <p:spPr>
          <a:xfrm>
            <a:off x="661475" y="1478657"/>
            <a:ext cx="10868745" cy="301228"/>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Roboto Mono Medium" pitchFamily="34" charset="0"/>
                <a:ea typeface="Roboto Mono Medium" pitchFamily="34" charset="-122"/>
                <a:cs typeface="Roboto Mono Medium" pitchFamily="34" charset="-120"/>
              </a:rPr>
              <a:t>Cada problema clásico de ML tiene un equivalente cuando el input es texto.</a:t>
            </a:r>
            <a:endParaRPr lang="en-US" sz="1850" dirty="0"/>
          </a:p>
        </p:txBody>
      </p:sp>
      <p:sp>
        <p:nvSpPr>
          <p:cNvPr id="6" name="Shape 4"/>
          <p:cNvSpPr/>
          <p:nvPr/>
        </p:nvSpPr>
        <p:spPr>
          <a:xfrm>
            <a:off x="661475" y="1984673"/>
            <a:ext cx="10868745" cy="2497534"/>
          </a:xfrm>
          <a:prstGeom prst="roundRect">
            <a:avLst>
              <a:gd name="adj" fmla="val 305"/>
            </a:avLst>
          </a:prstGeom>
          <a:noFill/>
          <a:ln w="6350">
            <a:solidFill>
              <a:srgbClr val="000000">
                <a:alpha val="8000"/>
              </a:srgbClr>
            </a:solidFill>
            <a:prstDash val="solid"/>
          </a:ln>
        </p:spPr>
      </p:sp>
      <p:sp>
        <p:nvSpPr>
          <p:cNvPr id="7" name="Shape 5"/>
          <p:cNvSpPr/>
          <p:nvPr/>
        </p:nvSpPr>
        <p:spPr>
          <a:xfrm>
            <a:off x="667825" y="1991023"/>
            <a:ext cx="10856046" cy="414139"/>
          </a:xfrm>
          <a:prstGeom prst="rect">
            <a:avLst/>
          </a:prstGeom>
          <a:solidFill>
            <a:srgbClr val="FFFFFF">
              <a:alpha val="4000"/>
            </a:srgbClr>
          </a:solidFill>
          <a:ln/>
        </p:spPr>
      </p:sp>
      <p:sp>
        <p:nvSpPr>
          <p:cNvPr id="8" name="Text 6"/>
          <p:cNvSpPr/>
          <p:nvPr/>
        </p:nvSpPr>
        <p:spPr>
          <a:xfrm>
            <a:off x="828555" y="2079228"/>
            <a:ext cx="3904458" cy="237728"/>
          </a:xfrm>
          <a:prstGeom prst="rect">
            <a:avLst/>
          </a:prstGeom>
          <a:noFill/>
          <a:ln/>
        </p:spPr>
        <p:txBody>
          <a:bodyPr wrap="none" lIns="0" tIns="0" rIns="0" bIns="0" rtlCol="0" anchor="t"/>
          <a:lstStyle/>
          <a:p>
            <a:pPr algn="l" indent="0" marL="0">
              <a:lnSpc>
                <a:spcPct val="123000"/>
              </a:lnSpc>
              <a:buNone/>
            </a:pPr>
            <a:r>
              <a:rPr lang="en-US" sz="1250" b="1" dirty="0">
                <a:solidFill>
                  <a:srgbClr val="3B3535"/>
                </a:solidFill>
                <a:latin typeface="Roboto Bold" pitchFamily="34" charset="0"/>
                <a:ea typeface="Roboto Bold" pitchFamily="34" charset="-122"/>
                <a:cs typeface="Roboto Bold" pitchFamily="34" charset="-120"/>
              </a:rPr>
              <a:t>Problema ML</a:t>
            </a:r>
            <a:endParaRPr lang="en-US" sz="1250" dirty="0"/>
          </a:p>
        </p:txBody>
      </p:sp>
      <p:sp>
        <p:nvSpPr>
          <p:cNvPr id="9" name="Text 7"/>
          <p:cNvSpPr/>
          <p:nvPr/>
        </p:nvSpPr>
        <p:spPr>
          <a:xfrm>
            <a:off x="4451040" y="2079228"/>
            <a:ext cx="3900291" cy="237728"/>
          </a:xfrm>
          <a:prstGeom prst="rect">
            <a:avLst/>
          </a:prstGeom>
          <a:noFill/>
          <a:ln/>
        </p:spPr>
        <p:txBody>
          <a:bodyPr wrap="none" lIns="0" tIns="0" rIns="0" bIns="0" rtlCol="0" anchor="t"/>
          <a:lstStyle/>
          <a:p>
            <a:pPr algn="l" indent="0" marL="0">
              <a:lnSpc>
                <a:spcPct val="123000"/>
              </a:lnSpc>
              <a:buNone/>
            </a:pPr>
            <a:r>
              <a:rPr lang="en-US" sz="1250" b="1" dirty="0">
                <a:solidFill>
                  <a:srgbClr val="3B3535"/>
                </a:solidFill>
                <a:latin typeface="Roboto Bold" pitchFamily="34" charset="0"/>
                <a:ea typeface="Roboto Bold" pitchFamily="34" charset="-122"/>
                <a:cs typeface="Roboto Bold" pitchFamily="34" charset="-120"/>
              </a:rPr>
              <a:t>¿Qué resuelve?</a:t>
            </a:r>
            <a:endParaRPr lang="en-US" sz="1250" dirty="0"/>
          </a:p>
        </p:txBody>
      </p:sp>
      <p:sp>
        <p:nvSpPr>
          <p:cNvPr id="10" name="Text 8"/>
          <p:cNvSpPr/>
          <p:nvPr/>
        </p:nvSpPr>
        <p:spPr>
          <a:xfrm>
            <a:off x="8069358" y="2079228"/>
            <a:ext cx="3903466" cy="237728"/>
          </a:xfrm>
          <a:prstGeom prst="rect">
            <a:avLst/>
          </a:prstGeom>
          <a:noFill/>
          <a:ln/>
        </p:spPr>
        <p:txBody>
          <a:bodyPr wrap="none" lIns="0" tIns="0" rIns="0" bIns="0" rtlCol="0" anchor="t"/>
          <a:lstStyle/>
          <a:p>
            <a:pPr algn="l" indent="0" marL="0">
              <a:lnSpc>
                <a:spcPct val="123000"/>
              </a:lnSpc>
              <a:buNone/>
            </a:pPr>
            <a:r>
              <a:rPr lang="en-US" sz="1250" b="1" dirty="0">
                <a:solidFill>
                  <a:srgbClr val="3B3535"/>
                </a:solidFill>
                <a:latin typeface="Roboto Bold" pitchFamily="34" charset="0"/>
                <a:ea typeface="Roboto Bold" pitchFamily="34" charset="-122"/>
                <a:cs typeface="Roboto Bold" pitchFamily="34" charset="-120"/>
              </a:rPr>
              <a:t>Ejemplo con texto</a:t>
            </a:r>
            <a:endParaRPr lang="en-US" sz="1250" dirty="0"/>
          </a:p>
        </p:txBody>
      </p:sp>
      <p:sp>
        <p:nvSpPr>
          <p:cNvPr id="11" name="Shape 9"/>
          <p:cNvSpPr/>
          <p:nvPr/>
        </p:nvSpPr>
        <p:spPr>
          <a:xfrm>
            <a:off x="667825" y="2405162"/>
            <a:ext cx="10856046" cy="414139"/>
          </a:xfrm>
          <a:prstGeom prst="rect">
            <a:avLst/>
          </a:prstGeom>
          <a:solidFill>
            <a:srgbClr val="000000">
              <a:alpha val="4000"/>
            </a:srgbClr>
          </a:solidFill>
          <a:ln/>
        </p:spPr>
      </p:sp>
      <p:sp>
        <p:nvSpPr>
          <p:cNvPr id="12" name="Text 10"/>
          <p:cNvSpPr/>
          <p:nvPr/>
        </p:nvSpPr>
        <p:spPr>
          <a:xfrm>
            <a:off x="828555" y="2493367"/>
            <a:ext cx="3904458"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Clasificación</a:t>
            </a:r>
            <a:endParaRPr lang="en-US" sz="1250" dirty="0"/>
          </a:p>
        </p:txBody>
      </p:sp>
      <p:sp>
        <p:nvSpPr>
          <p:cNvPr id="13" name="Text 11"/>
          <p:cNvSpPr/>
          <p:nvPr/>
        </p:nvSpPr>
        <p:spPr>
          <a:xfrm>
            <a:off x="4451040" y="2493367"/>
            <a:ext cx="3900291"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Asignar una categoría</a:t>
            </a:r>
            <a:endParaRPr lang="en-US" sz="1250" dirty="0"/>
          </a:p>
        </p:txBody>
      </p:sp>
      <p:sp>
        <p:nvSpPr>
          <p:cNvPr id="14" name="Text 12"/>
          <p:cNvSpPr/>
          <p:nvPr/>
        </p:nvSpPr>
        <p:spPr>
          <a:xfrm>
            <a:off x="8069358" y="2493367"/>
            <a:ext cx="3903466"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¿Este review es positivo o negativo?</a:t>
            </a:r>
            <a:endParaRPr lang="en-US" sz="1250" dirty="0"/>
          </a:p>
        </p:txBody>
      </p:sp>
      <p:sp>
        <p:nvSpPr>
          <p:cNvPr id="15" name="Shape 13"/>
          <p:cNvSpPr/>
          <p:nvPr/>
        </p:nvSpPr>
        <p:spPr>
          <a:xfrm>
            <a:off x="667825" y="2819301"/>
            <a:ext cx="10856046" cy="414139"/>
          </a:xfrm>
          <a:prstGeom prst="rect">
            <a:avLst/>
          </a:prstGeom>
          <a:solidFill>
            <a:srgbClr val="FFFFFF">
              <a:alpha val="4000"/>
            </a:srgbClr>
          </a:solidFill>
          <a:ln/>
        </p:spPr>
      </p:sp>
      <p:sp>
        <p:nvSpPr>
          <p:cNvPr id="16" name="Text 14"/>
          <p:cNvSpPr/>
          <p:nvPr/>
        </p:nvSpPr>
        <p:spPr>
          <a:xfrm>
            <a:off x="828555" y="2907506"/>
            <a:ext cx="3904458"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Clasif. multiclase</a:t>
            </a:r>
            <a:endParaRPr lang="en-US" sz="1250" dirty="0"/>
          </a:p>
        </p:txBody>
      </p:sp>
      <p:sp>
        <p:nvSpPr>
          <p:cNvPr id="17" name="Text 15"/>
          <p:cNvSpPr/>
          <p:nvPr/>
        </p:nvSpPr>
        <p:spPr>
          <a:xfrm>
            <a:off x="4451040" y="2907506"/>
            <a:ext cx="3900291"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Elegir entre varias categorías</a:t>
            </a:r>
            <a:endParaRPr lang="en-US" sz="1250" dirty="0"/>
          </a:p>
        </p:txBody>
      </p:sp>
      <p:sp>
        <p:nvSpPr>
          <p:cNvPr id="18" name="Text 16"/>
          <p:cNvSpPr/>
          <p:nvPr/>
        </p:nvSpPr>
        <p:spPr>
          <a:xfrm>
            <a:off x="8069358" y="2907506"/>
            <a:ext cx="3903466"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¿En qué idioma está escrito?</a:t>
            </a:r>
            <a:endParaRPr lang="en-US" sz="1250" dirty="0"/>
          </a:p>
        </p:txBody>
      </p:sp>
      <p:sp>
        <p:nvSpPr>
          <p:cNvPr id="19" name="Shape 17"/>
          <p:cNvSpPr/>
          <p:nvPr/>
        </p:nvSpPr>
        <p:spPr>
          <a:xfrm>
            <a:off x="667825" y="3233440"/>
            <a:ext cx="10856046" cy="414139"/>
          </a:xfrm>
          <a:prstGeom prst="rect">
            <a:avLst/>
          </a:prstGeom>
          <a:solidFill>
            <a:srgbClr val="000000">
              <a:alpha val="4000"/>
            </a:srgbClr>
          </a:solidFill>
          <a:ln/>
        </p:spPr>
      </p:sp>
      <p:sp>
        <p:nvSpPr>
          <p:cNvPr id="20" name="Text 18"/>
          <p:cNvSpPr/>
          <p:nvPr/>
        </p:nvSpPr>
        <p:spPr>
          <a:xfrm>
            <a:off x="828555" y="3321645"/>
            <a:ext cx="3904458"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Clustering</a:t>
            </a:r>
            <a:endParaRPr lang="en-US" sz="1250" dirty="0"/>
          </a:p>
        </p:txBody>
      </p:sp>
      <p:sp>
        <p:nvSpPr>
          <p:cNvPr id="21" name="Text 19"/>
          <p:cNvSpPr/>
          <p:nvPr/>
        </p:nvSpPr>
        <p:spPr>
          <a:xfrm>
            <a:off x="4451040" y="3321645"/>
            <a:ext cx="3900291"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Agrupar datos similares</a:t>
            </a:r>
            <a:endParaRPr lang="en-US" sz="1250" dirty="0"/>
          </a:p>
        </p:txBody>
      </p:sp>
      <p:sp>
        <p:nvSpPr>
          <p:cNvPr id="22" name="Text 20"/>
          <p:cNvSpPr/>
          <p:nvPr/>
        </p:nvSpPr>
        <p:spPr>
          <a:xfrm>
            <a:off x="8069358" y="3321645"/>
            <a:ext cx="3903466"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Agrupar noticias por tema</a:t>
            </a:r>
            <a:endParaRPr lang="en-US" sz="1250" dirty="0"/>
          </a:p>
        </p:txBody>
      </p:sp>
      <p:sp>
        <p:nvSpPr>
          <p:cNvPr id="23" name="Shape 21"/>
          <p:cNvSpPr/>
          <p:nvPr/>
        </p:nvSpPr>
        <p:spPr>
          <a:xfrm>
            <a:off x="667825" y="3647579"/>
            <a:ext cx="10856046" cy="414139"/>
          </a:xfrm>
          <a:prstGeom prst="rect">
            <a:avLst/>
          </a:prstGeom>
          <a:solidFill>
            <a:srgbClr val="FFFFFF">
              <a:alpha val="4000"/>
            </a:srgbClr>
          </a:solidFill>
          <a:ln/>
        </p:spPr>
      </p:sp>
      <p:sp>
        <p:nvSpPr>
          <p:cNvPr id="24" name="Text 22"/>
          <p:cNvSpPr/>
          <p:nvPr/>
        </p:nvSpPr>
        <p:spPr>
          <a:xfrm>
            <a:off x="828555" y="3735784"/>
            <a:ext cx="3904458"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Predicción</a:t>
            </a:r>
            <a:endParaRPr lang="en-US" sz="1250" dirty="0"/>
          </a:p>
        </p:txBody>
      </p:sp>
      <p:sp>
        <p:nvSpPr>
          <p:cNvPr id="25" name="Text 23"/>
          <p:cNvSpPr/>
          <p:nvPr/>
        </p:nvSpPr>
        <p:spPr>
          <a:xfrm>
            <a:off x="4451040" y="3735784"/>
            <a:ext cx="3900291"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Completar información</a:t>
            </a:r>
            <a:endParaRPr lang="en-US" sz="1250" dirty="0"/>
          </a:p>
        </p:txBody>
      </p:sp>
      <p:sp>
        <p:nvSpPr>
          <p:cNvPr id="26" name="Text 24"/>
          <p:cNvSpPr/>
          <p:nvPr/>
        </p:nvSpPr>
        <p:spPr>
          <a:xfrm>
            <a:off x="8069358" y="3735784"/>
            <a:ext cx="3903466"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The ___ is on the mat → cat</a:t>
            </a:r>
            <a:endParaRPr lang="en-US" sz="1250" dirty="0"/>
          </a:p>
        </p:txBody>
      </p:sp>
      <p:sp>
        <p:nvSpPr>
          <p:cNvPr id="27" name="Shape 25"/>
          <p:cNvSpPr/>
          <p:nvPr/>
        </p:nvSpPr>
        <p:spPr>
          <a:xfrm>
            <a:off x="667825" y="4061718"/>
            <a:ext cx="10856046" cy="414139"/>
          </a:xfrm>
          <a:prstGeom prst="rect">
            <a:avLst/>
          </a:prstGeom>
          <a:solidFill>
            <a:srgbClr val="000000">
              <a:alpha val="4000"/>
            </a:srgbClr>
          </a:solidFill>
          <a:ln/>
        </p:spPr>
      </p:sp>
      <p:sp>
        <p:nvSpPr>
          <p:cNvPr id="28" name="Text 26"/>
          <p:cNvSpPr/>
          <p:nvPr/>
        </p:nvSpPr>
        <p:spPr>
          <a:xfrm>
            <a:off x="828555" y="4149923"/>
            <a:ext cx="3904458"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Generación</a:t>
            </a:r>
            <a:endParaRPr lang="en-US" sz="1250" dirty="0"/>
          </a:p>
        </p:txBody>
      </p:sp>
      <p:sp>
        <p:nvSpPr>
          <p:cNvPr id="29" name="Text 27"/>
          <p:cNvSpPr/>
          <p:nvPr/>
        </p:nvSpPr>
        <p:spPr>
          <a:xfrm>
            <a:off x="4451040" y="4149923"/>
            <a:ext cx="3900291"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Crear datos nuevos</a:t>
            </a:r>
            <a:endParaRPr lang="en-US" sz="1250" dirty="0"/>
          </a:p>
        </p:txBody>
      </p:sp>
      <p:sp>
        <p:nvSpPr>
          <p:cNvPr id="30" name="Text 28"/>
          <p:cNvSpPr/>
          <p:nvPr/>
        </p:nvSpPr>
        <p:spPr>
          <a:xfrm>
            <a:off x="8069358" y="4149923"/>
            <a:ext cx="3903466"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The cat is on the ___ → mat</a:t>
            </a:r>
            <a:endParaRPr lang="en-US" sz="1250" dirty="0"/>
          </a:p>
        </p:txBody>
      </p:sp>
      <p:sp>
        <p:nvSpPr>
          <p:cNvPr id="31" name="Text 29"/>
          <p:cNvSpPr/>
          <p:nvPr/>
        </p:nvSpPr>
        <p:spPr>
          <a:xfrm>
            <a:off x="661475" y="4635798"/>
            <a:ext cx="1086874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Sentimiento: "Qué bien comimos en el restaurante" → positivo</a:t>
            </a:r>
            <a:endParaRPr lang="en-US" sz="1250" dirty="0"/>
          </a:p>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"No vuelvo nunca más a comer" → negativo</a:t>
            </a:r>
            <a:endParaRPr lang="en-US" sz="1250" dirty="0"/>
          </a:p>
        </p:txBody>
      </p:sp>
      <p:sp>
        <p:nvSpPr>
          <p:cNvPr id="32" name="Shape 30"/>
          <p:cNvSpPr/>
          <p:nvPr/>
        </p:nvSpPr>
        <p:spPr>
          <a:xfrm>
            <a:off x="661475" y="5264845"/>
            <a:ext cx="10868745" cy="578247"/>
          </a:xfrm>
          <a:prstGeom prst="roundRect">
            <a:avLst>
              <a:gd name="adj" fmla="val 1318"/>
            </a:avLst>
          </a:prstGeom>
          <a:solidFill>
            <a:srgbClr val="F2F2F2"/>
          </a:solidFill>
          <a:ln/>
        </p:spPr>
      </p:sp>
      <p:sp>
        <p:nvSpPr>
          <p:cNvPr id="33" name="Text 31"/>
          <p:cNvSpPr/>
          <p:nvPr/>
        </p:nvSpPr>
        <p:spPr>
          <a:xfrm>
            <a:off x="854252" y="5425480"/>
            <a:ext cx="11092776" cy="256977"/>
          </a:xfrm>
          <a:prstGeom prst="rect">
            <a:avLst/>
          </a:prstGeom>
          <a:noFill/>
          <a:ln/>
        </p:spPr>
        <p:txBody>
          <a:bodyPr wrap="none" lIns="0" tIns="0" rIns="0" bIns="0" rtlCol="0" anchor="t"/>
          <a:lstStyle/>
          <a:p>
            <a:pPr algn="l" indent="0" marL="0">
              <a:lnSpc>
                <a:spcPct val="133000"/>
              </a:lnSpc>
              <a:buNone/>
            </a:pPr>
            <a:r>
              <a:rPr lang="en-US" sz="1250" dirty="0">
                <a:solidFill>
                  <a:srgbClr val="E36209"/>
                </a:solidFill>
                <a:latin typeface="Consolas" pitchFamily="34" charset="0"/>
                <a:ea typeface="Consolas" pitchFamily="34" charset="-122"/>
                <a:cs typeface="Consolas" pitchFamily="34" charset="-120"/>
              </a:rPr>
              <a:t>input (texto)  →  modelo  →  output</a:t>
            </a:r>
            <a:endParaRPr lang="en-US" sz="1250" dirty="0"/>
          </a:p>
        </p:txBody>
      </p:sp>
      <p:sp>
        <p:nvSpPr>
          <p:cNvPr id="34" name="Text 32"/>
          <p:cNvSpPr/>
          <p:nvPr/>
        </p:nvSpPr>
        <p:spPr>
          <a:xfrm>
            <a:off x="661475" y="5996682"/>
            <a:ext cx="11478330" cy="237728"/>
          </a:xfrm>
          <a:prstGeom prst="rect">
            <a:avLst/>
          </a:prstGeom>
          <a:noFill/>
          <a:ln/>
        </p:spPr>
        <p:txBody>
          <a:bodyPr wrap="none" lIns="0" tIns="0" rIns="0" bIns="0" rtlCol="0" anchor="t"/>
          <a:lstStyle/>
          <a:p>
            <a:pPr algn="l" indent="0" marL="0">
              <a:lnSpc>
                <a:spcPct val="123000"/>
              </a:lnSpc>
              <a:buNone/>
            </a:pPr>
            <a:r>
              <a:rPr lang="en-US" sz="1250" i="1" dirty="0">
                <a:solidFill>
                  <a:srgbClr val="3B3535"/>
                </a:solidFill>
                <a:latin typeface="Roboto" pitchFamily="34" charset="0"/>
                <a:ea typeface="Roboto" pitchFamily="34" charset="-122"/>
                <a:cs typeface="Roboto" pitchFamily="34" charset="-120"/>
              </a:rPr>
              <a:t>Todas requieren alguna manera de comprender el texto. ¿Cómo hacemos para que un modelo entienda texto?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1009154"/>
            <a:ext cx="2404804" cy="272752"/>
          </a:xfrm>
          <a:prstGeom prst="roundRect">
            <a:avLst>
              <a:gd name="adj" fmla="val 2794"/>
            </a:avLst>
          </a:prstGeom>
          <a:solidFill>
            <a:srgbClr val="F9D2D6"/>
          </a:solidFill>
          <a:ln/>
        </p:spPr>
      </p:sp>
      <p:sp>
        <p:nvSpPr>
          <p:cNvPr id="3" name="Text 1"/>
          <p:cNvSpPr/>
          <p:nvPr/>
        </p:nvSpPr>
        <p:spPr>
          <a:xfrm>
            <a:off x="769125" y="1062930"/>
            <a:ext cx="2799089" cy="165199"/>
          </a:xfrm>
          <a:prstGeom prst="rect">
            <a:avLst/>
          </a:prstGeom>
          <a:noFill/>
          <a:ln/>
        </p:spPr>
        <p:txBody>
          <a:bodyPr wrap="none" lIns="0" tIns="0" rIns="0" bIns="0" rtlCol="0" anchor="t"/>
          <a:lstStyle/>
          <a:p>
            <a:pPr algn="l" indent="0" marL="0">
              <a:lnSpc>
                <a:spcPct val="96000"/>
              </a:lnSpc>
              <a:buNone/>
            </a:pPr>
            <a:r>
              <a:rPr lang="en-US" sz="1100" dirty="0">
                <a:solidFill>
                  <a:srgbClr val="3B3535"/>
                </a:solidFill>
                <a:latin typeface="Roboto" pitchFamily="34" charset="0"/>
                <a:ea typeface="Roboto" pitchFamily="34" charset="-122"/>
                <a:cs typeface="Roboto" pitchFamily="34" charset="-120"/>
              </a:rPr>
              <a:t>NLP: MOTIVACIÓN Y PROBLEMAS</a:t>
            </a:r>
            <a:endParaRPr lang="en-US" sz="1100" dirty="0"/>
          </a:p>
        </p:txBody>
      </p:sp>
      <p:sp>
        <p:nvSpPr>
          <p:cNvPr id="4" name="Text 2"/>
          <p:cNvSpPr/>
          <p:nvPr/>
        </p:nvSpPr>
        <p:spPr>
          <a:xfrm>
            <a:off x="661475" y="1350070"/>
            <a:ext cx="10868745" cy="561181"/>
          </a:xfrm>
          <a:prstGeom prst="rect">
            <a:avLst/>
          </a:prstGeom>
          <a:noFill/>
          <a:ln/>
        </p:spPr>
        <p:txBody>
          <a:bodyPr wrap="none" lIns="0" tIns="0" rIns="0" bIns="0" rtlCol="0" anchor="t"/>
          <a:lstStyle/>
          <a:p>
            <a:pPr algn="l" indent="0" marL="0">
              <a:lnSpc>
                <a:spcPct val="104000"/>
              </a:lnSpc>
              <a:buNone/>
            </a:pPr>
            <a:r>
              <a:rPr lang="en-US" sz="3500" dirty="0">
                <a:solidFill>
                  <a:srgbClr val="1F1E1E"/>
                </a:solidFill>
                <a:latin typeface="Roboto Mono Medium" pitchFamily="34" charset="0"/>
                <a:ea typeface="Roboto Mono Medium" pitchFamily="34" charset="-122"/>
                <a:cs typeface="Roboto Mono Medium" pitchFamily="34" charset="-120"/>
              </a:rPr>
              <a:t>¿Por qué procesar texto automáticamente?</a:t>
            </a:r>
            <a:endParaRPr lang="en-US" sz="3500" dirty="0"/>
          </a:p>
        </p:txBody>
      </p:sp>
      <p:sp>
        <p:nvSpPr>
          <p:cNvPr id="5" name="Text 3"/>
          <p:cNvSpPr/>
          <p:nvPr/>
        </p:nvSpPr>
        <p:spPr>
          <a:xfrm>
            <a:off x="661475" y="1979414"/>
            <a:ext cx="10868745" cy="336649"/>
          </a:xfrm>
          <a:prstGeom prst="rect">
            <a:avLst/>
          </a:prstGeom>
          <a:noFill/>
          <a:ln/>
        </p:spPr>
        <p:txBody>
          <a:bodyPr wrap="none" lIns="0" tIns="0" rIns="0" bIns="0" rtlCol="0" anchor="t"/>
          <a:lstStyle/>
          <a:p>
            <a:pPr algn="l" indent="0" marL="0">
              <a:lnSpc>
                <a:spcPct val="104000"/>
              </a:lnSpc>
              <a:buNone/>
            </a:pPr>
            <a:r>
              <a:rPr lang="en-US" sz="2100" dirty="0">
                <a:solidFill>
                  <a:srgbClr val="1F1E1E"/>
                </a:solidFill>
                <a:latin typeface="Roboto Mono Medium" pitchFamily="34" charset="0"/>
                <a:ea typeface="Roboto Mono Medium" pitchFamily="34" charset="-122"/>
                <a:cs typeface="Roboto Mono Medium" pitchFamily="34" charset="-120"/>
              </a:rPr>
              <a:t>Cómo las máquinas pueden analizar grandes volúmenes de texto.</a:t>
            </a:r>
            <a:endParaRPr lang="en-US" sz="2100" dirty="0"/>
          </a:p>
        </p:txBody>
      </p:sp>
      <p:sp>
        <p:nvSpPr>
          <p:cNvPr id="6" name="Text 4"/>
          <p:cNvSpPr/>
          <p:nvPr/>
        </p:nvSpPr>
        <p:spPr>
          <a:xfrm>
            <a:off x="661475" y="2571948"/>
            <a:ext cx="10868745" cy="560189"/>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Vivimos rodeados de texto: emails, historias clínicas, papers, redes sociales, reportes. Hay demasiado texto para que un humano lo procese manualmente.</a:t>
            </a:r>
            <a:endParaRPr lang="en-US" sz="1400" dirty="0"/>
          </a:p>
        </p:txBody>
      </p:sp>
      <p:sp>
        <p:nvSpPr>
          <p:cNvPr id="7" name="Text 5"/>
          <p:cNvSpPr/>
          <p:nvPr/>
        </p:nvSpPr>
        <p:spPr>
          <a:xfrm>
            <a:off x="661475" y="3324027"/>
            <a:ext cx="10868745" cy="1638995"/>
          </a:xfrm>
          <a:prstGeom prst="rect">
            <a:avLst/>
          </a:prstGeom>
          <a:noFill/>
          <a:ln/>
        </p:spPr>
        <p:txBody>
          <a:bodyPr wrap="square" lIns="0" tIns="71827" rIns="0" bIns="0" rtlCol="0" anchor="t">
            <a:normAutofit/>
          </a:bodyPr>
          <a:lstStyle/>
          <a:p>
            <a:pPr algn="l" marL="284480" indent="-284480">
              <a:lnSpc>
                <a:spcPct val="130000"/>
              </a:lnSpc>
              <a:buSzPct val="100000"/>
              <a:buChar char="•"/>
            </a:pPr>
            <a:r>
              <a:rPr lang="en-US" sz="1400" dirty="0">
                <a:solidFill>
                  <a:srgbClr val="3B3535"/>
                </a:solidFill>
                <a:latin typeface="Roboto" pitchFamily="34" charset="0"/>
                <a:ea typeface="Roboto" pitchFamily="34" charset="-122"/>
                <a:cs typeface="Roboto" pitchFamily="34" charset="-120"/>
              </a:rPr>
              <a:t>Analizar opiniones de miles de pacientes sobre un tratamiento</a:t>
            </a:r>
            <a:endParaRPr lang="en-US" sz="1400" dirty="0"/>
          </a:p>
          <a:p>
            <a:pPr algn="l" marL="284480" indent="-284480">
              <a:lnSpc>
                <a:spcPct val="130000"/>
              </a:lnSpc>
              <a:buSzPct val="100000"/>
              <a:buChar char="•"/>
            </a:pPr>
            <a:r>
              <a:rPr lang="en-US" sz="1400" dirty="0">
                <a:solidFill>
                  <a:srgbClr val="3B3535"/>
                </a:solidFill>
                <a:latin typeface="Roboto" pitchFamily="34" charset="0"/>
                <a:ea typeface="Roboto" pitchFamily="34" charset="-122"/>
                <a:cs typeface="Roboto" pitchFamily="34" charset="-120"/>
              </a:rPr>
              <a:t>Clasificar papers científicos por área</a:t>
            </a:r>
            <a:endParaRPr lang="en-US" sz="1400" dirty="0"/>
          </a:p>
          <a:p>
            <a:pPr algn="l" marL="284480" indent="-284480">
              <a:lnSpc>
                <a:spcPct val="130000"/>
              </a:lnSpc>
              <a:buSzPct val="100000"/>
              <a:buChar char="•"/>
            </a:pPr>
            <a:r>
              <a:rPr lang="en-US" sz="1400" dirty="0">
                <a:solidFill>
                  <a:srgbClr val="3B3535"/>
                </a:solidFill>
                <a:latin typeface="Roboto" pitchFamily="34" charset="0"/>
                <a:ea typeface="Roboto" pitchFamily="34" charset="-122"/>
                <a:cs typeface="Roboto" pitchFamily="34" charset="-120"/>
              </a:rPr>
              <a:t>Detectar automáticamente el idioma de un documento</a:t>
            </a:r>
            <a:endParaRPr lang="en-US" sz="1400" dirty="0"/>
          </a:p>
          <a:p>
            <a:pPr algn="l" marL="284480" indent="-284480">
              <a:lnSpc>
                <a:spcPct val="130000"/>
              </a:lnSpc>
              <a:buSzPct val="100000"/>
              <a:buChar char="•"/>
            </a:pPr>
            <a:r>
              <a:rPr lang="en-US" sz="1400" dirty="0">
                <a:solidFill>
                  <a:srgbClr val="3B3535"/>
                </a:solidFill>
                <a:latin typeface="Roboto" pitchFamily="34" charset="0"/>
                <a:ea typeface="Roboto" pitchFamily="34" charset="-122"/>
                <a:cs typeface="Roboto" pitchFamily="34" charset="-120"/>
              </a:rPr>
              <a:t>Responder preguntas a partir de un texto largo</a:t>
            </a:r>
            <a:endParaRPr lang="en-US" sz="1400" dirty="0"/>
          </a:p>
          <a:p>
            <a:pPr algn="l" marL="284480" indent="-284480">
              <a:lnSpc>
                <a:spcPct val="130000"/>
              </a:lnSpc>
              <a:buSzPct val="100000"/>
              <a:buChar char="•"/>
            </a:pPr>
            <a:r>
              <a:rPr lang="en-US" sz="1400" dirty="0">
                <a:solidFill>
                  <a:srgbClr val="3B3535"/>
                </a:solidFill>
                <a:latin typeface="Roboto" pitchFamily="34" charset="0"/>
                <a:ea typeface="Roboto" pitchFamily="34" charset="-122"/>
                <a:cs typeface="Roboto" pitchFamily="34" charset="-120"/>
              </a:rPr>
              <a:t>Resumir un paper de 30 páginas en un párrafo</a:t>
            </a:r>
            <a:endParaRPr lang="en-US" sz="1400" dirty="0"/>
          </a:p>
        </p:txBody>
      </p:sp>
      <p:sp>
        <p:nvSpPr>
          <p:cNvPr id="8" name="Shape 6"/>
          <p:cNvSpPr/>
          <p:nvPr/>
        </p:nvSpPr>
        <p:spPr>
          <a:xfrm>
            <a:off x="661475" y="5154910"/>
            <a:ext cx="10868745" cy="693837"/>
          </a:xfrm>
          <a:prstGeom prst="roundRect">
            <a:avLst>
              <a:gd name="adj" fmla="val 1098"/>
            </a:avLst>
          </a:prstGeom>
          <a:solidFill>
            <a:srgbClr val="F9D2D6"/>
          </a:solidFill>
          <a:ln/>
        </p:spPr>
      </p:sp>
      <p:pic>
        <p:nvPicPr>
          <p:cNvPr id="9" name="Image 0" descr="preencoded.png">    </p:cNvPr>
          <p:cNvPicPr>
            <a:picLocks noChangeAspect="1"/>
          </p:cNvPicPr>
          <p:nvPr/>
        </p:nvPicPr>
        <p:blipFill>
          <a:blip r:embed="rId1"/>
          <a:stretch>
            <a:fillRect/>
          </a:stretch>
        </p:blipFill>
        <p:spPr>
          <a:xfrm>
            <a:off x="840957" y="5397401"/>
            <a:ext cx="224427" cy="179487"/>
          </a:xfrm>
          <a:prstGeom prst="rect">
            <a:avLst/>
          </a:prstGeom>
        </p:spPr>
      </p:pic>
      <p:sp>
        <p:nvSpPr>
          <p:cNvPr id="10" name="Text 7"/>
          <p:cNvSpPr/>
          <p:nvPr/>
        </p:nvSpPr>
        <p:spPr>
          <a:xfrm>
            <a:off x="1244867" y="5370314"/>
            <a:ext cx="10715456" cy="280095"/>
          </a:xfrm>
          <a:prstGeom prst="rect">
            <a:avLst/>
          </a:prstGeom>
          <a:noFill/>
          <a:ln/>
        </p:spPr>
        <p:txBody>
          <a:bodyPr wrap="none" lIns="0" tIns="0" rIns="0" bIns="0" rtlCol="0" anchor="t"/>
          <a:lstStyle/>
          <a:p>
            <a:pPr algn="l" indent="0" marL="0">
              <a:lnSpc>
                <a:spcPct val="130000"/>
              </a:lnSpc>
              <a:buNone/>
            </a:pPr>
            <a:r>
              <a:rPr lang="en-US" sz="1400" b="1" dirty="0">
                <a:solidFill>
                  <a:srgbClr val="000000"/>
                </a:solidFill>
                <a:latin typeface="Roboto Bold" pitchFamily="34" charset="0"/>
                <a:ea typeface="Roboto Bold" pitchFamily="34" charset="-122"/>
                <a:cs typeface="Roboto Bold" pitchFamily="34" charset="-120"/>
              </a:rPr>
              <a:t>El campo que se ocupa de esto se llama Procesamiento del Lenguaje Natural (NLP).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850801"/>
            <a:ext cx="2025897" cy="229691"/>
          </a:xfrm>
          <a:prstGeom prst="roundRect">
            <a:avLst>
              <a:gd name="adj" fmla="val 3317"/>
            </a:avLst>
          </a:prstGeom>
          <a:solidFill>
            <a:srgbClr val="F9D2D6"/>
          </a:solidFill>
          <a:ln/>
        </p:spPr>
      </p:sp>
      <p:sp>
        <p:nvSpPr>
          <p:cNvPr id="3" name="Text 1"/>
          <p:cNvSpPr/>
          <p:nvPr/>
        </p:nvSpPr>
        <p:spPr>
          <a:xfrm>
            <a:off x="752159" y="896144"/>
            <a:ext cx="2454114" cy="139005"/>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NLP: MOTIVACIÓN Y PROBLEMAS</a:t>
            </a:r>
            <a:endParaRPr lang="en-US" sz="950" dirty="0"/>
          </a:p>
        </p:txBody>
      </p:sp>
      <p:sp>
        <p:nvSpPr>
          <p:cNvPr id="4" name="Text 2"/>
          <p:cNvSpPr/>
          <p:nvPr/>
        </p:nvSpPr>
        <p:spPr>
          <a:xfrm>
            <a:off x="661475" y="1128812"/>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1F1E1E"/>
                </a:solidFill>
                <a:latin typeface="Roboto Mono Medium" pitchFamily="34" charset="0"/>
                <a:ea typeface="Roboto Mono Medium" pitchFamily="34" charset="-122"/>
                <a:cs typeface="Roboto Mono Medium" pitchFamily="34" charset="-120"/>
              </a:rPr>
              <a:t>Problemas de NLP</a:t>
            </a:r>
            <a:endParaRPr lang="en-US" sz="2950" dirty="0"/>
          </a:p>
        </p:txBody>
      </p:sp>
      <p:sp>
        <p:nvSpPr>
          <p:cNvPr id="5" name="Shape 3"/>
          <p:cNvSpPr/>
          <p:nvPr/>
        </p:nvSpPr>
        <p:spPr>
          <a:xfrm>
            <a:off x="661475" y="1782663"/>
            <a:ext cx="10868745" cy="4224536"/>
          </a:xfrm>
          <a:prstGeom prst="roundRect">
            <a:avLst>
              <a:gd name="adj" fmla="val 180"/>
            </a:avLst>
          </a:prstGeom>
          <a:noFill/>
          <a:ln w="6350">
            <a:solidFill>
              <a:srgbClr val="000000">
                <a:alpha val="8000"/>
              </a:srgbClr>
            </a:solidFill>
            <a:prstDash val="solid"/>
          </a:ln>
        </p:spPr>
      </p:sp>
      <p:sp>
        <p:nvSpPr>
          <p:cNvPr id="6" name="Shape 4"/>
          <p:cNvSpPr/>
          <p:nvPr/>
        </p:nvSpPr>
        <p:spPr>
          <a:xfrm>
            <a:off x="667825" y="1789013"/>
            <a:ext cx="10856046" cy="375444"/>
          </a:xfrm>
          <a:prstGeom prst="rect">
            <a:avLst/>
          </a:prstGeom>
          <a:solidFill>
            <a:srgbClr val="FFFFFF">
              <a:alpha val="4000"/>
            </a:srgbClr>
          </a:solidFill>
          <a:ln/>
        </p:spPr>
      </p:sp>
      <p:sp>
        <p:nvSpPr>
          <p:cNvPr id="7" name="Text 5"/>
          <p:cNvSpPr/>
          <p:nvPr/>
        </p:nvSpPr>
        <p:spPr>
          <a:xfrm>
            <a:off x="819328" y="1867892"/>
            <a:ext cx="2475148" cy="217686"/>
          </a:xfrm>
          <a:prstGeom prst="rect">
            <a:avLst/>
          </a:prstGeom>
          <a:noFill/>
          <a:ln/>
        </p:spPr>
        <p:txBody>
          <a:bodyPr wrap="none" lIns="0" tIns="0" rIns="0" bIns="0" rtlCol="0" anchor="t"/>
          <a:lstStyle/>
          <a:p>
            <a:pPr algn="l" indent="0" marL="0">
              <a:lnSpc>
                <a:spcPct val="120000"/>
              </a:lnSpc>
              <a:buNone/>
            </a:pPr>
            <a:r>
              <a:rPr lang="en-US" sz="1150" b="1" dirty="0">
                <a:solidFill>
                  <a:srgbClr val="3B3535"/>
                </a:solidFill>
                <a:latin typeface="Roboto Bold" pitchFamily="34" charset="0"/>
                <a:ea typeface="Roboto Bold" pitchFamily="34" charset="-122"/>
                <a:cs typeface="Roboto Bold" pitchFamily="34" charset="-120"/>
              </a:rPr>
              <a:t>Clasificación</a:t>
            </a:r>
            <a:endParaRPr lang="en-US" sz="1150" dirty="0"/>
          </a:p>
        </p:txBody>
      </p:sp>
      <p:sp>
        <p:nvSpPr>
          <p:cNvPr id="8" name="Text 6"/>
          <p:cNvSpPr/>
          <p:nvPr/>
        </p:nvSpPr>
        <p:spPr>
          <a:xfrm>
            <a:off x="2993652" y="1867892"/>
            <a:ext cx="2471973" cy="217686"/>
          </a:xfrm>
          <a:prstGeom prst="rect">
            <a:avLst/>
          </a:prstGeom>
          <a:noFill/>
          <a:ln/>
        </p:spPr>
        <p:txBody>
          <a:bodyPr wrap="none" lIns="0" tIns="0" rIns="0" bIns="0" rtlCol="0" anchor="t"/>
          <a:lstStyle/>
          <a:p>
            <a:pPr algn="l" indent="0" marL="0">
              <a:lnSpc>
                <a:spcPct val="120000"/>
              </a:lnSpc>
              <a:buNone/>
            </a:pPr>
            <a:r>
              <a:rPr lang="en-US" sz="1150" b="1" dirty="0">
                <a:solidFill>
                  <a:srgbClr val="3B3535"/>
                </a:solidFill>
                <a:latin typeface="Roboto Bold" pitchFamily="34" charset="0"/>
                <a:ea typeface="Roboto Bold" pitchFamily="34" charset="-122"/>
                <a:cs typeface="Roboto Bold" pitchFamily="34" charset="-120"/>
              </a:rPr>
              <a:t>Clasif. Multiclase</a:t>
            </a:r>
            <a:endParaRPr lang="en-US" sz="1150" dirty="0"/>
          </a:p>
        </p:txBody>
      </p:sp>
      <p:sp>
        <p:nvSpPr>
          <p:cNvPr id="9" name="Text 7"/>
          <p:cNvSpPr/>
          <p:nvPr/>
        </p:nvSpPr>
        <p:spPr>
          <a:xfrm>
            <a:off x="5164802" y="1867892"/>
            <a:ext cx="2471973" cy="217686"/>
          </a:xfrm>
          <a:prstGeom prst="rect">
            <a:avLst/>
          </a:prstGeom>
          <a:noFill/>
          <a:ln/>
        </p:spPr>
        <p:txBody>
          <a:bodyPr wrap="none" lIns="0" tIns="0" rIns="0" bIns="0" rtlCol="0" anchor="t"/>
          <a:lstStyle/>
          <a:p>
            <a:pPr algn="l" indent="0" marL="0">
              <a:lnSpc>
                <a:spcPct val="120000"/>
              </a:lnSpc>
              <a:buNone/>
            </a:pPr>
            <a:r>
              <a:rPr lang="en-US" sz="1150" b="1" dirty="0">
                <a:solidFill>
                  <a:srgbClr val="3B3535"/>
                </a:solidFill>
                <a:latin typeface="Roboto Bold" pitchFamily="34" charset="0"/>
                <a:ea typeface="Roboto Bold" pitchFamily="34" charset="-122"/>
                <a:cs typeface="Roboto Bold" pitchFamily="34" charset="-120"/>
              </a:rPr>
              <a:t>Clustering</a:t>
            </a:r>
            <a:endParaRPr lang="en-US" sz="1150" dirty="0"/>
          </a:p>
        </p:txBody>
      </p:sp>
      <p:sp>
        <p:nvSpPr>
          <p:cNvPr id="10" name="Text 8"/>
          <p:cNvSpPr/>
          <p:nvPr/>
        </p:nvSpPr>
        <p:spPr>
          <a:xfrm>
            <a:off x="7335952" y="1867892"/>
            <a:ext cx="2471973" cy="217686"/>
          </a:xfrm>
          <a:prstGeom prst="rect">
            <a:avLst/>
          </a:prstGeom>
          <a:noFill/>
          <a:ln/>
        </p:spPr>
        <p:txBody>
          <a:bodyPr wrap="none" lIns="0" tIns="0" rIns="0" bIns="0" rtlCol="0" anchor="t"/>
          <a:lstStyle/>
          <a:p>
            <a:pPr algn="l" indent="0" marL="0">
              <a:lnSpc>
                <a:spcPct val="120000"/>
              </a:lnSpc>
              <a:buNone/>
            </a:pPr>
            <a:r>
              <a:rPr lang="en-US" sz="1150" b="1" dirty="0">
                <a:solidFill>
                  <a:srgbClr val="3B3535"/>
                </a:solidFill>
                <a:latin typeface="Roboto Bold" pitchFamily="34" charset="0"/>
                <a:ea typeface="Roboto Bold" pitchFamily="34" charset="-122"/>
                <a:cs typeface="Roboto Bold" pitchFamily="34" charset="-120"/>
              </a:rPr>
              <a:t>Predicción</a:t>
            </a:r>
            <a:endParaRPr lang="en-US" sz="1150" dirty="0"/>
          </a:p>
        </p:txBody>
      </p:sp>
      <p:sp>
        <p:nvSpPr>
          <p:cNvPr id="11" name="Text 9"/>
          <p:cNvSpPr/>
          <p:nvPr/>
        </p:nvSpPr>
        <p:spPr>
          <a:xfrm>
            <a:off x="9507101" y="1867892"/>
            <a:ext cx="2475148" cy="217686"/>
          </a:xfrm>
          <a:prstGeom prst="rect">
            <a:avLst/>
          </a:prstGeom>
          <a:noFill/>
          <a:ln/>
        </p:spPr>
        <p:txBody>
          <a:bodyPr wrap="none" lIns="0" tIns="0" rIns="0" bIns="0" rtlCol="0" anchor="t"/>
          <a:lstStyle/>
          <a:p>
            <a:pPr algn="l" indent="0" marL="0">
              <a:lnSpc>
                <a:spcPct val="120000"/>
              </a:lnSpc>
              <a:buNone/>
            </a:pPr>
            <a:r>
              <a:rPr lang="en-US" sz="1150" b="1" dirty="0">
                <a:solidFill>
                  <a:srgbClr val="3B3535"/>
                </a:solidFill>
                <a:latin typeface="Roboto Bold" pitchFamily="34" charset="0"/>
                <a:ea typeface="Roboto Bold" pitchFamily="34" charset="-122"/>
                <a:cs typeface="Roboto Bold" pitchFamily="34" charset="-120"/>
              </a:rPr>
              <a:t>Generación</a:t>
            </a:r>
            <a:endParaRPr lang="en-US" sz="1150" dirty="0"/>
          </a:p>
        </p:txBody>
      </p:sp>
      <p:sp>
        <p:nvSpPr>
          <p:cNvPr id="12" name="Shape 10"/>
          <p:cNvSpPr/>
          <p:nvPr/>
        </p:nvSpPr>
        <p:spPr>
          <a:xfrm>
            <a:off x="667825" y="2164457"/>
            <a:ext cx="10856046" cy="593130"/>
          </a:xfrm>
          <a:prstGeom prst="rect">
            <a:avLst/>
          </a:prstGeom>
          <a:solidFill>
            <a:srgbClr val="000000">
              <a:alpha val="4000"/>
            </a:srgbClr>
          </a:solidFill>
          <a:ln/>
        </p:spPr>
      </p:sp>
      <p:sp>
        <p:nvSpPr>
          <p:cNvPr id="13" name="Text 11"/>
          <p:cNvSpPr/>
          <p:nvPr/>
        </p:nvSpPr>
        <p:spPr>
          <a:xfrm>
            <a:off x="819328" y="2243336"/>
            <a:ext cx="1865563"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Detección de spam (spam / no spam)</a:t>
            </a:r>
            <a:endParaRPr lang="en-US" sz="1150" dirty="0"/>
          </a:p>
        </p:txBody>
      </p:sp>
      <p:sp>
        <p:nvSpPr>
          <p:cNvPr id="14" name="Text 12"/>
          <p:cNvSpPr/>
          <p:nvPr/>
        </p:nvSpPr>
        <p:spPr>
          <a:xfrm>
            <a:off x="2993652" y="2243336"/>
            <a:ext cx="186238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Detección de idioma (español, inglés, francés...)</a:t>
            </a:r>
            <a:endParaRPr lang="en-US" sz="1150" dirty="0"/>
          </a:p>
        </p:txBody>
      </p:sp>
      <p:sp>
        <p:nvSpPr>
          <p:cNvPr id="15" name="Text 13"/>
          <p:cNvSpPr/>
          <p:nvPr/>
        </p:nvSpPr>
        <p:spPr>
          <a:xfrm>
            <a:off x="5164802" y="2243336"/>
            <a:ext cx="2471973"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Agrupar noticias por tema</a:t>
            </a:r>
            <a:endParaRPr lang="en-US" sz="1150" dirty="0"/>
          </a:p>
        </p:txBody>
      </p:sp>
      <p:sp>
        <p:nvSpPr>
          <p:cNvPr id="16" name="Text 14"/>
          <p:cNvSpPr/>
          <p:nvPr/>
        </p:nvSpPr>
        <p:spPr>
          <a:xfrm>
            <a:off x="7335952" y="2243336"/>
            <a:ext cx="186238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Autocompletar palabras en un buscador</a:t>
            </a:r>
            <a:endParaRPr lang="en-US" sz="1150" dirty="0"/>
          </a:p>
        </p:txBody>
      </p:sp>
      <p:sp>
        <p:nvSpPr>
          <p:cNvPr id="17" name="Text 15"/>
          <p:cNvSpPr/>
          <p:nvPr/>
        </p:nvSpPr>
        <p:spPr>
          <a:xfrm>
            <a:off x="9507101" y="2243336"/>
            <a:ext cx="1865563"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Resumen automático de textos</a:t>
            </a:r>
            <a:endParaRPr lang="en-US" sz="1150" dirty="0"/>
          </a:p>
        </p:txBody>
      </p:sp>
      <p:sp>
        <p:nvSpPr>
          <p:cNvPr id="18" name="Shape 16"/>
          <p:cNvSpPr/>
          <p:nvPr/>
        </p:nvSpPr>
        <p:spPr>
          <a:xfrm>
            <a:off x="667825" y="2757587"/>
            <a:ext cx="10856046" cy="810816"/>
          </a:xfrm>
          <a:prstGeom prst="rect">
            <a:avLst/>
          </a:prstGeom>
          <a:solidFill>
            <a:srgbClr val="FFFFFF">
              <a:alpha val="4000"/>
            </a:srgbClr>
          </a:solidFill>
          <a:ln/>
        </p:spPr>
      </p:sp>
      <p:sp>
        <p:nvSpPr>
          <p:cNvPr id="19" name="Text 17"/>
          <p:cNvSpPr/>
          <p:nvPr/>
        </p:nvSpPr>
        <p:spPr>
          <a:xfrm>
            <a:off x="819328" y="2836466"/>
            <a:ext cx="1865563"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Análisis de sentimiento (positivo / negativo)</a:t>
            </a:r>
            <a:endParaRPr lang="en-US" sz="1150" dirty="0"/>
          </a:p>
        </p:txBody>
      </p:sp>
      <p:sp>
        <p:nvSpPr>
          <p:cNvPr id="20" name="Text 18"/>
          <p:cNvSpPr/>
          <p:nvPr/>
        </p:nvSpPr>
        <p:spPr>
          <a:xfrm>
            <a:off x="2993652" y="2836466"/>
            <a:ext cx="1862389" cy="653058"/>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Clasificación de intención del usuario (comprar, preguntar, quejarse...)</a:t>
            </a:r>
            <a:endParaRPr lang="en-US" sz="1150" dirty="0"/>
          </a:p>
        </p:txBody>
      </p:sp>
      <p:sp>
        <p:nvSpPr>
          <p:cNvPr id="21" name="Text 19"/>
          <p:cNvSpPr/>
          <p:nvPr/>
        </p:nvSpPr>
        <p:spPr>
          <a:xfrm>
            <a:off x="5164802" y="2836466"/>
            <a:ext cx="186238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Agrupar reseñas similares de productos</a:t>
            </a:r>
            <a:endParaRPr lang="en-US" sz="1150" dirty="0"/>
          </a:p>
        </p:txBody>
      </p:sp>
      <p:sp>
        <p:nvSpPr>
          <p:cNvPr id="22" name="Text 20"/>
          <p:cNvSpPr/>
          <p:nvPr/>
        </p:nvSpPr>
        <p:spPr>
          <a:xfrm>
            <a:off x="7335952" y="2836466"/>
            <a:ext cx="186238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Predecir la siguiente palabra en una oración</a:t>
            </a:r>
            <a:endParaRPr lang="en-US" sz="1150" dirty="0"/>
          </a:p>
        </p:txBody>
      </p:sp>
      <p:sp>
        <p:nvSpPr>
          <p:cNvPr id="23" name="Text 21"/>
          <p:cNvSpPr/>
          <p:nvPr/>
        </p:nvSpPr>
        <p:spPr>
          <a:xfrm>
            <a:off x="9507101" y="2836466"/>
            <a:ext cx="2475148"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Traducción automática</a:t>
            </a:r>
            <a:endParaRPr lang="en-US" sz="1150" dirty="0"/>
          </a:p>
        </p:txBody>
      </p:sp>
      <p:sp>
        <p:nvSpPr>
          <p:cNvPr id="24" name="Shape 22"/>
          <p:cNvSpPr/>
          <p:nvPr/>
        </p:nvSpPr>
        <p:spPr>
          <a:xfrm>
            <a:off x="667825" y="3568402"/>
            <a:ext cx="10856046" cy="810816"/>
          </a:xfrm>
          <a:prstGeom prst="rect">
            <a:avLst/>
          </a:prstGeom>
          <a:solidFill>
            <a:srgbClr val="000000">
              <a:alpha val="4000"/>
            </a:srgbClr>
          </a:solidFill>
          <a:ln/>
        </p:spPr>
      </p:sp>
      <p:sp>
        <p:nvSpPr>
          <p:cNvPr id="25" name="Text 23"/>
          <p:cNvSpPr/>
          <p:nvPr/>
        </p:nvSpPr>
        <p:spPr>
          <a:xfrm>
            <a:off x="819328" y="3647281"/>
            <a:ext cx="1865563"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Detección de discurso de odio (sí / no)</a:t>
            </a:r>
            <a:endParaRPr lang="en-US" sz="1150" dirty="0"/>
          </a:p>
        </p:txBody>
      </p:sp>
      <p:sp>
        <p:nvSpPr>
          <p:cNvPr id="26" name="Text 24"/>
          <p:cNvSpPr/>
          <p:nvPr/>
        </p:nvSpPr>
        <p:spPr>
          <a:xfrm>
            <a:off x="2993652" y="3647281"/>
            <a:ext cx="1862389" cy="653058"/>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Etiquetado gramatical (sustantivo, verbo, adjetivo...)</a:t>
            </a:r>
            <a:endParaRPr lang="en-US" sz="1150" dirty="0"/>
          </a:p>
        </p:txBody>
      </p:sp>
      <p:sp>
        <p:nvSpPr>
          <p:cNvPr id="27" name="Text 25"/>
          <p:cNvSpPr/>
          <p:nvPr/>
        </p:nvSpPr>
        <p:spPr>
          <a:xfrm>
            <a:off x="5164802" y="3647281"/>
            <a:ext cx="186238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Segmentar clientes por estilo de escritura</a:t>
            </a:r>
            <a:endParaRPr lang="en-US" sz="1150" dirty="0"/>
          </a:p>
        </p:txBody>
      </p:sp>
      <p:sp>
        <p:nvSpPr>
          <p:cNvPr id="28" name="Text 26"/>
          <p:cNvSpPr/>
          <p:nvPr/>
        </p:nvSpPr>
        <p:spPr>
          <a:xfrm>
            <a:off x="7335952" y="3647281"/>
            <a:ext cx="186238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Completar huecos en texto (masked LM)</a:t>
            </a:r>
            <a:endParaRPr lang="en-US" sz="1150" dirty="0"/>
          </a:p>
        </p:txBody>
      </p:sp>
      <p:sp>
        <p:nvSpPr>
          <p:cNvPr id="29" name="Text 27"/>
          <p:cNvSpPr/>
          <p:nvPr/>
        </p:nvSpPr>
        <p:spPr>
          <a:xfrm>
            <a:off x="9507101" y="3647281"/>
            <a:ext cx="1865563"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Generación de respuestas en chatbots</a:t>
            </a:r>
            <a:endParaRPr lang="en-US" sz="1150" dirty="0"/>
          </a:p>
        </p:txBody>
      </p:sp>
      <p:sp>
        <p:nvSpPr>
          <p:cNvPr id="30" name="Shape 28"/>
          <p:cNvSpPr/>
          <p:nvPr/>
        </p:nvSpPr>
        <p:spPr>
          <a:xfrm>
            <a:off x="667825" y="4379218"/>
            <a:ext cx="10856046" cy="810816"/>
          </a:xfrm>
          <a:prstGeom prst="rect">
            <a:avLst/>
          </a:prstGeom>
          <a:solidFill>
            <a:srgbClr val="FFFFFF">
              <a:alpha val="4000"/>
            </a:srgbClr>
          </a:solidFill>
          <a:ln/>
        </p:spPr>
      </p:sp>
      <p:sp>
        <p:nvSpPr>
          <p:cNvPr id="31" name="Text 29"/>
          <p:cNvSpPr/>
          <p:nvPr/>
        </p:nvSpPr>
        <p:spPr>
          <a:xfrm>
            <a:off x="819328" y="4458097"/>
            <a:ext cx="1865563"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Detección de noticias falsas (real / falsa)</a:t>
            </a:r>
            <a:endParaRPr lang="en-US" sz="1150" dirty="0"/>
          </a:p>
        </p:txBody>
      </p:sp>
      <p:sp>
        <p:nvSpPr>
          <p:cNvPr id="32" name="Text 30"/>
          <p:cNvSpPr/>
          <p:nvPr/>
        </p:nvSpPr>
        <p:spPr>
          <a:xfrm>
            <a:off x="2993652" y="4458097"/>
            <a:ext cx="1862389" cy="653058"/>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Clasificación de emociones (alegría, tristeza, enojo, miedo...)</a:t>
            </a:r>
            <a:endParaRPr lang="en-US" sz="1150" dirty="0"/>
          </a:p>
        </p:txBody>
      </p:sp>
      <p:sp>
        <p:nvSpPr>
          <p:cNvPr id="33" name="Text 31"/>
          <p:cNvSpPr/>
          <p:nvPr/>
        </p:nvSpPr>
        <p:spPr>
          <a:xfrm>
            <a:off x="5164802" y="4458097"/>
            <a:ext cx="186238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Descubrir tópicos en un corpus (topic modeling)</a:t>
            </a:r>
            <a:endParaRPr lang="en-US" sz="1150" dirty="0"/>
          </a:p>
        </p:txBody>
      </p:sp>
      <p:sp>
        <p:nvSpPr>
          <p:cNvPr id="34" name="Text 32"/>
          <p:cNvSpPr/>
          <p:nvPr/>
        </p:nvSpPr>
        <p:spPr>
          <a:xfrm>
            <a:off x="7335952" y="4458097"/>
            <a:ext cx="186238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Predecir la puntuación de una reseña</a:t>
            </a:r>
            <a:endParaRPr lang="en-US" sz="1150" dirty="0"/>
          </a:p>
        </p:txBody>
      </p:sp>
      <p:sp>
        <p:nvSpPr>
          <p:cNvPr id="35" name="Text 33"/>
          <p:cNvSpPr/>
          <p:nvPr/>
        </p:nvSpPr>
        <p:spPr>
          <a:xfrm>
            <a:off x="9507101" y="4458097"/>
            <a:ext cx="1865563"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Generación de código a partir de texto</a:t>
            </a:r>
            <a:endParaRPr lang="en-US" sz="1150" dirty="0"/>
          </a:p>
        </p:txBody>
      </p:sp>
      <p:sp>
        <p:nvSpPr>
          <p:cNvPr id="36" name="Shape 34"/>
          <p:cNvSpPr/>
          <p:nvPr/>
        </p:nvSpPr>
        <p:spPr>
          <a:xfrm>
            <a:off x="667825" y="5190034"/>
            <a:ext cx="10856046" cy="810816"/>
          </a:xfrm>
          <a:prstGeom prst="rect">
            <a:avLst/>
          </a:prstGeom>
          <a:solidFill>
            <a:srgbClr val="000000">
              <a:alpha val="4000"/>
            </a:srgbClr>
          </a:solidFill>
          <a:ln/>
        </p:spPr>
      </p:sp>
      <p:sp>
        <p:nvSpPr>
          <p:cNvPr id="37" name="Text 35"/>
          <p:cNvSpPr/>
          <p:nvPr/>
        </p:nvSpPr>
        <p:spPr>
          <a:xfrm>
            <a:off x="819328" y="5268913"/>
            <a:ext cx="1865563"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Detección de paráfrasis (sí / no)</a:t>
            </a:r>
            <a:endParaRPr lang="en-US" sz="1150" dirty="0"/>
          </a:p>
        </p:txBody>
      </p:sp>
      <p:sp>
        <p:nvSpPr>
          <p:cNvPr id="38" name="Text 36"/>
          <p:cNvSpPr/>
          <p:nvPr/>
        </p:nvSpPr>
        <p:spPr>
          <a:xfrm>
            <a:off x="2993652" y="5268913"/>
            <a:ext cx="1862389" cy="653058"/>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Clasificación de tickets de soporte (facturación, técnico, ventas...)</a:t>
            </a:r>
            <a:endParaRPr lang="en-US" sz="1150" dirty="0"/>
          </a:p>
        </p:txBody>
      </p:sp>
      <p:sp>
        <p:nvSpPr>
          <p:cNvPr id="39" name="Text 37"/>
          <p:cNvSpPr/>
          <p:nvPr/>
        </p:nvSpPr>
        <p:spPr>
          <a:xfrm>
            <a:off x="5164802" y="5268913"/>
            <a:ext cx="1862389" cy="653058"/>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Agrupar documentos legales por área del derecho</a:t>
            </a:r>
            <a:endParaRPr lang="en-US" sz="1150" dirty="0"/>
          </a:p>
        </p:txBody>
      </p:sp>
      <p:sp>
        <p:nvSpPr>
          <p:cNvPr id="40" name="Text 38"/>
          <p:cNvSpPr/>
          <p:nvPr/>
        </p:nvSpPr>
        <p:spPr>
          <a:xfrm>
            <a:off x="7335952" y="5268913"/>
            <a:ext cx="1862389"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Predecir palabras faltantes en OCR dañado</a:t>
            </a:r>
            <a:endParaRPr lang="en-US" sz="1150" dirty="0"/>
          </a:p>
        </p:txBody>
      </p:sp>
      <p:sp>
        <p:nvSpPr>
          <p:cNvPr id="41" name="Text 39"/>
          <p:cNvSpPr/>
          <p:nvPr/>
        </p:nvSpPr>
        <p:spPr>
          <a:xfrm>
            <a:off x="9507101" y="5268913"/>
            <a:ext cx="1865563"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Parafraseo automático de oraciones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898426"/>
            <a:ext cx="2531305" cy="287139"/>
          </a:xfrm>
          <a:prstGeom prst="roundRect">
            <a:avLst>
              <a:gd name="adj" fmla="val 2654"/>
            </a:avLst>
          </a:prstGeom>
          <a:solidFill>
            <a:srgbClr val="F9D2D6"/>
          </a:solidFill>
          <a:ln/>
        </p:spPr>
      </p:sp>
      <p:sp>
        <p:nvSpPr>
          <p:cNvPr id="3" name="Text 1"/>
          <p:cNvSpPr/>
          <p:nvPr/>
        </p:nvSpPr>
        <p:spPr>
          <a:xfrm>
            <a:off x="774879" y="955080"/>
            <a:ext cx="2914081" cy="173831"/>
          </a:xfrm>
          <a:prstGeom prst="rect">
            <a:avLst/>
          </a:prstGeom>
          <a:noFill/>
          <a:ln/>
        </p:spPr>
        <p:txBody>
          <a:bodyPr wrap="none" lIns="0" tIns="0" rIns="0" bIns="0" rtlCol="0" anchor="t"/>
          <a:lstStyle/>
          <a:p>
            <a:pPr algn="l" indent="0" marL="0">
              <a:lnSpc>
                <a:spcPct val="96000"/>
              </a:lnSpc>
              <a:buNone/>
            </a:pPr>
            <a:r>
              <a:rPr lang="en-US" sz="1150" dirty="0">
                <a:solidFill>
                  <a:srgbClr val="3B3535"/>
                </a:solidFill>
                <a:latin typeface="Roboto" pitchFamily="34" charset="0"/>
                <a:ea typeface="Roboto" pitchFamily="34" charset="-122"/>
                <a:cs typeface="Roboto" pitchFamily="34" charset="-120"/>
              </a:rPr>
              <a:t>NLP: MOTIVACIÓN Y PROBLEMAS</a:t>
            </a:r>
            <a:endParaRPr lang="en-US" sz="1150" dirty="0"/>
          </a:p>
        </p:txBody>
      </p:sp>
      <p:sp>
        <p:nvSpPr>
          <p:cNvPr id="4" name="Text 2"/>
          <p:cNvSpPr/>
          <p:nvPr/>
        </p:nvSpPr>
        <p:spPr>
          <a:xfrm>
            <a:off x="661475" y="1261170"/>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Roboto Mono Medium" pitchFamily="34" charset="0"/>
                <a:ea typeface="Roboto Mono Medium" pitchFamily="34" charset="-122"/>
                <a:cs typeface="Roboto Mono Medium" pitchFamily="34" charset="-120"/>
              </a:rPr>
              <a:t>¿Cómo se resolvían estos problemas?</a:t>
            </a:r>
            <a:endParaRPr lang="en-US" sz="3700" dirty="0"/>
          </a:p>
        </p:txBody>
      </p:sp>
      <p:sp>
        <p:nvSpPr>
          <p:cNvPr id="5" name="Text 3"/>
          <p:cNvSpPr/>
          <p:nvPr/>
        </p:nvSpPr>
        <p:spPr>
          <a:xfrm>
            <a:off x="661475" y="1927423"/>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1F1E1E"/>
                </a:solidFill>
                <a:latin typeface="Roboto Mono Medium" pitchFamily="34" charset="0"/>
                <a:ea typeface="Roboto Mono Medium" pitchFamily="34" charset="-122"/>
                <a:cs typeface="Roboto Mono Medium" pitchFamily="34" charset="-120"/>
              </a:rPr>
              <a:t>Enfoque tradicional</a:t>
            </a:r>
            <a:endParaRPr lang="en-US" sz="2950" dirty="0"/>
          </a:p>
        </p:txBody>
      </p:sp>
      <p:sp>
        <p:nvSpPr>
          <p:cNvPr id="6" name="Text 4"/>
          <p:cNvSpPr/>
          <p:nvPr/>
        </p:nvSpPr>
        <p:spPr>
          <a:xfrm>
            <a:off x="661475" y="2683371"/>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3B3535"/>
                </a:solidFill>
                <a:latin typeface="Roboto" pitchFamily="34" charset="0"/>
                <a:ea typeface="Roboto" pitchFamily="34" charset="-122"/>
                <a:cs typeface="Roboto" pitchFamily="34" charset="-120"/>
              </a:rPr>
              <a:t>El trabajo del data scientist consistía en:</a:t>
            </a:r>
            <a:endParaRPr lang="en-US" sz="1450" dirty="0"/>
          </a:p>
        </p:txBody>
      </p:sp>
      <p:sp>
        <p:nvSpPr>
          <p:cNvPr id="7" name="Text 5"/>
          <p:cNvSpPr/>
          <p:nvPr/>
        </p:nvSpPr>
        <p:spPr>
          <a:xfrm>
            <a:off x="661475" y="3198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3B3535"/>
                </a:solidFill>
                <a:latin typeface="Roboto Mono Light" pitchFamily="34" charset="0"/>
                <a:ea typeface="Roboto Mono Light" pitchFamily="34" charset="-122"/>
                <a:cs typeface="Roboto Mono Light" pitchFamily="34" charset="-120"/>
              </a:rPr>
              <a:t>01</a:t>
            </a:r>
            <a:endParaRPr lang="en-US" sz="1450" dirty="0"/>
          </a:p>
        </p:txBody>
      </p:sp>
      <p:sp>
        <p:nvSpPr>
          <p:cNvPr id="8" name="Shape 6"/>
          <p:cNvSpPr/>
          <p:nvPr/>
        </p:nvSpPr>
        <p:spPr>
          <a:xfrm>
            <a:off x="661475" y="3494286"/>
            <a:ext cx="3496877" cy="25400"/>
          </a:xfrm>
          <a:prstGeom prst="rect">
            <a:avLst/>
          </a:prstGeom>
          <a:solidFill>
            <a:srgbClr val="DA1B2E"/>
          </a:solidFill>
          <a:ln/>
        </p:spPr>
      </p:sp>
      <p:sp>
        <p:nvSpPr>
          <p:cNvPr id="9" name="Text 7"/>
          <p:cNvSpPr/>
          <p:nvPr/>
        </p:nvSpPr>
        <p:spPr>
          <a:xfrm>
            <a:off x="661475" y="3639542"/>
            <a:ext cx="34968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3B3535"/>
                </a:solidFill>
                <a:latin typeface="Roboto" pitchFamily="34" charset="0"/>
                <a:ea typeface="Roboto" pitchFamily="34" charset="-122"/>
                <a:cs typeface="Roboto" pitchFamily="34" charset="-120"/>
              </a:rPr>
              <a:t>Recolectar datos (conseguir textos relevantes)</a:t>
            </a:r>
            <a:endParaRPr lang="en-US" sz="1450" dirty="0"/>
          </a:p>
        </p:txBody>
      </p:sp>
      <p:sp>
        <p:nvSpPr>
          <p:cNvPr id="10" name="Text 8"/>
          <p:cNvSpPr/>
          <p:nvPr/>
        </p:nvSpPr>
        <p:spPr>
          <a:xfrm>
            <a:off x="4347359" y="3198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3B3535"/>
                </a:solidFill>
                <a:latin typeface="Roboto Mono Light" pitchFamily="34" charset="0"/>
                <a:ea typeface="Roboto Mono Light" pitchFamily="34" charset="-122"/>
                <a:cs typeface="Roboto Mono Light" pitchFamily="34" charset="-120"/>
              </a:rPr>
              <a:t>02</a:t>
            </a:r>
            <a:endParaRPr lang="en-US" sz="1450" dirty="0"/>
          </a:p>
        </p:txBody>
      </p:sp>
      <p:sp>
        <p:nvSpPr>
          <p:cNvPr id="11" name="Shape 9"/>
          <p:cNvSpPr/>
          <p:nvPr/>
        </p:nvSpPr>
        <p:spPr>
          <a:xfrm>
            <a:off x="4347359" y="3494286"/>
            <a:ext cx="3496877" cy="25400"/>
          </a:xfrm>
          <a:prstGeom prst="rect">
            <a:avLst/>
          </a:prstGeom>
          <a:solidFill>
            <a:srgbClr val="DA1B2E"/>
          </a:solidFill>
          <a:ln/>
        </p:spPr>
      </p:sp>
      <p:sp>
        <p:nvSpPr>
          <p:cNvPr id="12" name="Text 10"/>
          <p:cNvSpPr/>
          <p:nvPr/>
        </p:nvSpPr>
        <p:spPr>
          <a:xfrm>
            <a:off x="4347359" y="3639542"/>
            <a:ext cx="34968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3B3535"/>
                </a:solidFill>
                <a:latin typeface="Roboto" pitchFamily="34" charset="0"/>
                <a:ea typeface="Roboto" pitchFamily="34" charset="-122"/>
                <a:cs typeface="Roboto" pitchFamily="34" charset="-120"/>
              </a:rPr>
              <a:t>Etiquetar datos (un humano marca: "esto es positivo", "esto es negativo")</a:t>
            </a:r>
            <a:endParaRPr lang="en-US" sz="1450" dirty="0"/>
          </a:p>
        </p:txBody>
      </p:sp>
      <p:sp>
        <p:nvSpPr>
          <p:cNvPr id="13" name="Text 11"/>
          <p:cNvSpPr/>
          <p:nvPr/>
        </p:nvSpPr>
        <p:spPr>
          <a:xfrm>
            <a:off x="8033244" y="3198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3B3535"/>
                </a:solidFill>
                <a:latin typeface="Roboto Mono Light" pitchFamily="34" charset="0"/>
                <a:ea typeface="Roboto Mono Light" pitchFamily="34" charset="-122"/>
                <a:cs typeface="Roboto Mono Light" pitchFamily="34" charset="-120"/>
              </a:rPr>
              <a:t>03</a:t>
            </a:r>
            <a:endParaRPr lang="en-US" sz="1450" dirty="0"/>
          </a:p>
        </p:txBody>
      </p:sp>
      <p:sp>
        <p:nvSpPr>
          <p:cNvPr id="14" name="Shape 12"/>
          <p:cNvSpPr/>
          <p:nvPr/>
        </p:nvSpPr>
        <p:spPr>
          <a:xfrm>
            <a:off x="8033244" y="3494286"/>
            <a:ext cx="3496877" cy="25400"/>
          </a:xfrm>
          <a:prstGeom prst="rect">
            <a:avLst/>
          </a:prstGeom>
          <a:solidFill>
            <a:srgbClr val="DA1B2E"/>
          </a:solidFill>
          <a:ln/>
        </p:spPr>
      </p:sp>
      <p:sp>
        <p:nvSpPr>
          <p:cNvPr id="15" name="Text 13"/>
          <p:cNvSpPr/>
          <p:nvPr/>
        </p:nvSpPr>
        <p:spPr>
          <a:xfrm>
            <a:off x="8033244" y="3639542"/>
            <a:ext cx="34968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3B3535"/>
                </a:solidFill>
                <a:latin typeface="Roboto" pitchFamily="34" charset="0"/>
                <a:ea typeface="Roboto" pitchFamily="34" charset="-122"/>
                <a:cs typeface="Roboto" pitchFamily="34" charset="-120"/>
              </a:rPr>
              <a:t>Entrenar un modelo específico para cada tarea</a:t>
            </a:r>
            <a:endParaRPr lang="en-US" sz="1450" dirty="0"/>
          </a:p>
        </p:txBody>
      </p:sp>
      <p:sp>
        <p:nvSpPr>
          <p:cNvPr id="16" name="Shape 14"/>
          <p:cNvSpPr/>
          <p:nvPr/>
        </p:nvSpPr>
        <p:spPr>
          <a:xfrm>
            <a:off x="661475" y="4598690"/>
            <a:ext cx="10868745" cy="1360785"/>
          </a:xfrm>
          <a:prstGeom prst="roundRect">
            <a:avLst>
              <a:gd name="adj" fmla="val 560"/>
            </a:avLst>
          </a:prstGeom>
          <a:solidFill>
            <a:srgbClr val="F9D2D6"/>
          </a:solidFill>
          <a:ln/>
        </p:spPr>
      </p:sp>
      <p:pic>
        <p:nvPicPr>
          <p:cNvPr id="17" name="Image 0" descr="preencoded.png">    </p:cNvPr>
          <p:cNvPicPr>
            <a:picLocks noChangeAspect="1"/>
          </p:cNvPicPr>
          <p:nvPr/>
        </p:nvPicPr>
        <p:blipFill>
          <a:blip r:embed="rId1"/>
          <a:stretch>
            <a:fillRect/>
          </a:stretch>
        </p:blipFill>
        <p:spPr>
          <a:xfrm>
            <a:off x="850482" y="4866382"/>
            <a:ext cx="236234" cy="189012"/>
          </a:xfrm>
          <a:prstGeom prst="rect">
            <a:avLst/>
          </a:prstGeom>
        </p:spPr>
      </p:pic>
      <p:sp>
        <p:nvSpPr>
          <p:cNvPr id="18" name="Text 15"/>
          <p:cNvSpPr/>
          <p:nvPr/>
        </p:nvSpPr>
        <p:spPr>
          <a:xfrm>
            <a:off x="1275723" y="4834930"/>
            <a:ext cx="10065490"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Roboto" pitchFamily="34" charset="0"/>
                <a:ea typeface="Roboto" pitchFamily="34" charset="-122"/>
                <a:cs typeface="Roboto" pitchFamily="34" charset="-120"/>
              </a:rPr>
              <a:t>Un modelo para sentimiento, otro para traducción, otro para NER...</a:t>
            </a:r>
            <a:endParaRPr lang="en-US" sz="1450" dirty="0"/>
          </a:p>
          <a:p>
            <a:pPr algn="l" indent="0" marL="0">
              <a:lnSpc>
                <a:spcPct val="133000"/>
              </a:lnSpc>
              <a:buNone/>
            </a:pPr>
            <a:r>
              <a:rPr lang="en-US" sz="1450" dirty="0">
                <a:solidFill>
                  <a:srgbClr val="000000"/>
                </a:solidFill>
                <a:latin typeface="Roboto" pitchFamily="34" charset="0"/>
                <a:ea typeface="Roboto" pitchFamily="34" charset="-122"/>
                <a:cs typeface="Roboto" pitchFamily="34" charset="-120"/>
              </a:rPr>
              <a:t>Cada tarea requería su propio pipeline, sus propios datos etiquetados, su propio modelo.</a:t>
            </a:r>
            <a:endParaRPr lang="en-US" sz="1450" dirty="0"/>
          </a:p>
          <a:p>
            <a:pPr algn="l" indent="0" marL="0">
              <a:lnSpc>
                <a:spcPct val="133000"/>
              </a:lnSpc>
              <a:buNone/>
            </a:pPr>
            <a:r>
              <a:rPr lang="en-US" sz="1450" dirty="0">
                <a:solidFill>
                  <a:srgbClr val="000000"/>
                </a:solidFill>
                <a:latin typeface="Roboto" pitchFamily="34" charset="0"/>
                <a:ea typeface="Roboto" pitchFamily="34" charset="-122"/>
                <a:cs typeface="Roboto" pitchFamily="34" charset="-120"/>
              </a:rPr>
              <a:t>Era costoso y lento.</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724495"/>
            <a:ext cx="2152199" cy="243979"/>
          </a:xfrm>
          <a:prstGeom prst="roundRect">
            <a:avLst>
              <a:gd name="adj" fmla="val 3123"/>
            </a:avLst>
          </a:prstGeom>
          <a:solidFill>
            <a:srgbClr val="F9D2D6"/>
          </a:solidFill>
          <a:ln/>
        </p:spPr>
      </p:sp>
      <p:sp>
        <p:nvSpPr>
          <p:cNvPr id="3" name="Text 1"/>
          <p:cNvSpPr/>
          <p:nvPr/>
        </p:nvSpPr>
        <p:spPr>
          <a:xfrm>
            <a:off x="757814" y="772616"/>
            <a:ext cx="2569106" cy="147737"/>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NLP: MOTIVACIÓN Y PROBLEMAS</a:t>
            </a:r>
            <a:endParaRPr lang="en-US" sz="1000" dirty="0"/>
          </a:p>
        </p:txBody>
      </p:sp>
      <p:sp>
        <p:nvSpPr>
          <p:cNvPr id="4" name="Text 2"/>
          <p:cNvSpPr/>
          <p:nvPr/>
        </p:nvSpPr>
        <p:spPr>
          <a:xfrm>
            <a:off x="661475" y="1023045"/>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1F1E1E"/>
                </a:solidFill>
                <a:latin typeface="Roboto Mono Medium" pitchFamily="34" charset="0"/>
                <a:ea typeface="Roboto Mono Medium" pitchFamily="34" charset="-122"/>
                <a:cs typeface="Roboto Mono Medium" pitchFamily="34" charset="-120"/>
              </a:rPr>
              <a:t>Modelos de Generación de Palabras</a:t>
            </a:r>
            <a:endParaRPr lang="en-US" sz="3150" dirty="0"/>
          </a:p>
        </p:txBody>
      </p:sp>
      <p:sp>
        <p:nvSpPr>
          <p:cNvPr id="5" name="Text 3"/>
          <p:cNvSpPr/>
          <p:nvPr/>
        </p:nvSpPr>
        <p:spPr>
          <a:xfrm>
            <a:off x="661475" y="1579662"/>
            <a:ext cx="10868745" cy="301228"/>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Roboto Mono Medium" pitchFamily="34" charset="0"/>
                <a:ea typeface="Roboto Mono Medium" pitchFamily="34" charset="-122"/>
                <a:cs typeface="Roboto Mono Medium" pitchFamily="34" charset="-120"/>
              </a:rPr>
              <a:t>Problema de Language Modelling.</a:t>
            </a:r>
            <a:endParaRPr lang="en-US" sz="1850" dirty="0"/>
          </a:p>
        </p:txBody>
      </p:sp>
      <p:sp>
        <p:nvSpPr>
          <p:cNvPr id="6" name="Text 4"/>
          <p:cNvSpPr/>
          <p:nvPr/>
        </p:nvSpPr>
        <p:spPr>
          <a:xfrm>
            <a:off x="661475" y="2085677"/>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Dado:</a:t>
            </a:r>
            <a:endParaRPr lang="en-US" sz="1250" dirty="0"/>
          </a:p>
        </p:txBody>
      </p:sp>
      <p:sp>
        <p:nvSpPr>
          <p:cNvPr id="7" name="Text 5"/>
          <p:cNvSpPr/>
          <p:nvPr/>
        </p:nvSpPr>
        <p:spPr>
          <a:xfrm>
            <a:off x="661475" y="2476996"/>
            <a:ext cx="10868745" cy="808633"/>
          </a:xfrm>
          <a:prstGeom prst="rect">
            <a:avLst/>
          </a:prstGeom>
          <a:noFill/>
          <a:ln/>
        </p:spPr>
        <p:txBody>
          <a:bodyPr wrap="square" lIns="0" tIns="64266" rIns="0" bIns="0" rtlCol="0" anchor="t">
            <a:normAutofit/>
          </a:bodyPr>
          <a:lstStyle/>
          <a:p>
            <a:pPr algn="l" marL="254000" indent="-254000">
              <a:lnSpc>
                <a:spcPct val="123000"/>
              </a:lnSpc>
              <a:buSzPct val="100000"/>
              <a:buChar char="•"/>
            </a:pPr>
            <a:r>
              <a:rPr lang="en-US" sz="1250" dirty="0">
                <a:solidFill>
                  <a:srgbClr val="3B3535"/>
                </a:solidFill>
                <a:latin typeface="Roboto" pitchFamily="34" charset="0"/>
                <a:ea typeface="Roboto" pitchFamily="34" charset="-122"/>
                <a:cs typeface="Roboto" pitchFamily="34" charset="-120"/>
              </a:rPr>
              <a:t>un vocabulario V</a:t>
            </a:r>
            <a:endParaRPr lang="en-US" sz="1250" dirty="0"/>
          </a:p>
          <a:p>
            <a:pPr algn="l" marL="254000" indent="-254000">
              <a:lnSpc>
                <a:spcPct val="123000"/>
              </a:lnSpc>
              <a:buSzPct val="100000"/>
              <a:buChar char="•"/>
            </a:pPr>
            <a:r>
              <a:rPr lang="en-US" sz="1250" dirty="0">
                <a:solidFill>
                  <a:srgbClr val="3B3535"/>
                </a:solidFill>
                <a:latin typeface="Roboto" pitchFamily="34" charset="0"/>
                <a:ea typeface="Roboto" pitchFamily="34" charset="-122"/>
                <a:cs typeface="Roboto" pitchFamily="34" charset="-120"/>
              </a:rPr>
              <a:t>un corpus de texto T</a:t>
            </a:r>
            <a:endParaRPr lang="en-US" sz="1250" dirty="0"/>
          </a:p>
          <a:p>
            <a:pPr algn="l" marL="254000" indent="-254000">
              <a:lnSpc>
                <a:spcPct val="123000"/>
              </a:lnSpc>
              <a:buSzPct val="100000"/>
              <a:buChar char="•"/>
            </a:pPr>
            <a:r>
              <a:rPr lang="en-US" sz="1250" dirty="0">
                <a:solidFill>
                  <a:srgbClr val="3B3535"/>
                </a:solidFill>
                <a:latin typeface="Roboto" pitchFamily="34" charset="0"/>
                <a:ea typeface="Roboto" pitchFamily="34" charset="-122"/>
                <a:cs typeface="Roboto" pitchFamily="34" charset="-120"/>
              </a:rPr>
              <a:t>una frase incompleta P</a:t>
            </a:r>
            <a:endParaRPr lang="en-US" sz="1250" dirty="0"/>
          </a:p>
        </p:txBody>
      </p:sp>
      <p:sp>
        <p:nvSpPr>
          <p:cNvPr id="8" name="Shape 6"/>
          <p:cNvSpPr/>
          <p:nvPr/>
        </p:nvSpPr>
        <p:spPr>
          <a:xfrm>
            <a:off x="661475" y="3439220"/>
            <a:ext cx="10868745" cy="577255"/>
          </a:xfrm>
          <a:prstGeom prst="roundRect">
            <a:avLst>
              <a:gd name="adj" fmla="val 1320"/>
            </a:avLst>
          </a:prstGeom>
          <a:solidFill>
            <a:srgbClr val="F9D2D6"/>
          </a:solidFill>
          <a:ln/>
        </p:spPr>
      </p:sp>
      <p:pic>
        <p:nvPicPr>
          <p:cNvPr id="9" name="Image 0" descr="preencoded.png">    </p:cNvPr>
          <p:cNvPicPr>
            <a:picLocks noChangeAspect="1"/>
          </p:cNvPicPr>
          <p:nvPr/>
        </p:nvPicPr>
        <p:blipFill>
          <a:blip r:embed="rId1"/>
          <a:stretch>
            <a:fillRect/>
          </a:stretch>
        </p:blipFill>
        <p:spPr>
          <a:xfrm>
            <a:off x="822106" y="3633986"/>
            <a:ext cx="200814" cy="160635"/>
          </a:xfrm>
          <a:prstGeom prst="rect">
            <a:avLst/>
          </a:prstGeom>
        </p:spPr>
      </p:pic>
      <p:sp>
        <p:nvSpPr>
          <p:cNvPr id="10" name="Text 7"/>
          <p:cNvSpPr/>
          <p:nvPr/>
        </p:nvSpPr>
        <p:spPr>
          <a:xfrm>
            <a:off x="1183551" y="3615829"/>
            <a:ext cx="10795623" cy="237728"/>
          </a:xfrm>
          <a:prstGeom prst="rect">
            <a:avLst/>
          </a:prstGeom>
          <a:noFill/>
          <a:ln/>
        </p:spPr>
        <p:txBody>
          <a:bodyPr wrap="none" lIns="0" tIns="0" rIns="0" bIns="0" rtlCol="0" anchor="t"/>
          <a:lstStyle/>
          <a:p>
            <a:pPr algn="l" indent="0" marL="0">
              <a:lnSpc>
                <a:spcPct val="123000"/>
              </a:lnSpc>
              <a:buNone/>
            </a:pPr>
            <a:r>
              <a:rPr lang="en-US" sz="1250" b="1" dirty="0">
                <a:solidFill>
                  <a:srgbClr val="000000"/>
                </a:solidFill>
                <a:latin typeface="Roboto Bold" pitchFamily="34" charset="0"/>
                <a:ea typeface="Roboto Bold" pitchFamily="34" charset="-122"/>
                <a:cs typeface="Roboto Bold" pitchFamily="34" charset="-120"/>
              </a:rPr>
              <a:t>El objetivo es predecir cuál es la siguiente palabra más probable.</a:t>
            </a:r>
            <a:endParaRPr lang="en-US" sz="1250" dirty="0"/>
          </a:p>
        </p:txBody>
      </p:sp>
      <p:sp>
        <p:nvSpPr>
          <p:cNvPr id="11" name="Text 8"/>
          <p:cNvSpPr/>
          <p:nvPr/>
        </p:nvSpPr>
        <p:spPr>
          <a:xfrm>
            <a:off x="661475" y="4221262"/>
            <a:ext cx="10868745" cy="401638"/>
          </a:xfrm>
          <a:prstGeom prst="rect">
            <a:avLst/>
          </a:prstGeom>
          <a:noFill/>
          <a:ln/>
        </p:spPr>
        <p:txBody>
          <a:bodyPr wrap="none" lIns="0" tIns="0" rIns="0" bIns="0" rtlCol="0" anchor="t"/>
          <a:lstStyle/>
          <a:p>
            <a:pPr algn="l" indent="0" marL="0">
              <a:lnSpc>
                <a:spcPct val="104000"/>
              </a:lnSpc>
              <a:buNone/>
            </a:pPr>
            <a:r>
              <a:rPr lang="en-US" sz="2500" dirty="0">
                <a:solidFill>
                  <a:srgbClr val="1F1E1E"/>
                </a:solidFill>
                <a:latin typeface="Roboto Mono Medium" pitchFamily="34" charset="0"/>
                <a:ea typeface="Roboto Mono Medium" pitchFamily="34" charset="-122"/>
                <a:cs typeface="Roboto Mono Medium" pitchFamily="34" charset="-120"/>
              </a:rPr>
              <a:t>Importante</a:t>
            </a:r>
            <a:endParaRPr lang="en-US" sz="2500" dirty="0"/>
          </a:p>
        </p:txBody>
      </p:sp>
      <p:sp>
        <p:nvSpPr>
          <p:cNvPr id="12" name="Text 9"/>
          <p:cNvSpPr/>
          <p:nvPr/>
        </p:nvSpPr>
        <p:spPr>
          <a:xfrm>
            <a:off x="661475" y="4827687"/>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El modelo no devuelve directamente una palabra, sino un vector de probabilidades sobre todo el vocabulario.</a:t>
            </a:r>
            <a:endParaRPr lang="en-US" sz="1250" dirty="0"/>
          </a:p>
        </p:txBody>
      </p:sp>
      <p:sp>
        <p:nvSpPr>
          <p:cNvPr id="13" name="Text 10"/>
          <p:cNvSpPr/>
          <p:nvPr/>
        </p:nvSpPr>
        <p:spPr>
          <a:xfrm>
            <a:off x="661475" y="5219005"/>
            <a:ext cx="10868745" cy="523180"/>
          </a:xfrm>
          <a:prstGeom prst="rect">
            <a:avLst/>
          </a:prstGeom>
          <a:noFill/>
          <a:ln/>
        </p:spPr>
        <p:txBody>
          <a:bodyPr wrap="square" lIns="0" tIns="64266" rIns="0" bIns="0" rtlCol="0" anchor="t">
            <a:normAutofit/>
          </a:bodyPr>
          <a:lstStyle/>
          <a:p>
            <a:pPr algn="l" marL="254000" indent="-254000">
              <a:lnSpc>
                <a:spcPct val="123000"/>
              </a:lnSpc>
              <a:buSzPct val="100000"/>
              <a:buChar char="•"/>
            </a:pPr>
            <a:r>
              <a:rPr lang="en-US" sz="1250" dirty="0">
                <a:solidFill>
                  <a:srgbClr val="3B3535"/>
                </a:solidFill>
                <a:latin typeface="Roboto" pitchFamily="34" charset="0"/>
                <a:ea typeface="Roboto" pitchFamily="34" charset="-122"/>
                <a:cs typeface="Roboto" pitchFamily="34" charset="-120"/>
              </a:rPr>
              <a:t>una posición por cada palabra del vocabulario</a:t>
            </a:r>
            <a:endParaRPr lang="en-US" sz="1250" dirty="0"/>
          </a:p>
          <a:p>
            <a:pPr algn="l" marL="254000" indent="-254000">
              <a:lnSpc>
                <a:spcPct val="123000"/>
              </a:lnSpc>
              <a:buSzPct val="100000"/>
              <a:buChar char="•"/>
            </a:pPr>
            <a:r>
              <a:rPr lang="en-US" sz="1250" dirty="0">
                <a:solidFill>
                  <a:srgbClr val="3B3535"/>
                </a:solidFill>
                <a:latin typeface="Roboto" pitchFamily="34" charset="0"/>
                <a:ea typeface="Roboto" pitchFamily="34" charset="-122"/>
                <a:cs typeface="Roboto" pitchFamily="34" charset="-120"/>
              </a:rPr>
              <a:t>cada valor indica la probabilidad de que esa palabra sea la siguiente</a:t>
            </a:r>
            <a:endParaRPr lang="en-US" sz="1250" dirty="0"/>
          </a:p>
        </p:txBody>
      </p:sp>
      <p:sp>
        <p:nvSpPr>
          <p:cNvPr id="14" name="Text 11"/>
          <p:cNvSpPr/>
          <p:nvPr/>
        </p:nvSpPr>
        <p:spPr>
          <a:xfrm>
            <a:off x="661475" y="5895777"/>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La longitud del vector es |V|.</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542032"/>
            <a:ext cx="1839767" cy="208657"/>
          </a:xfrm>
          <a:prstGeom prst="roundRect">
            <a:avLst>
              <a:gd name="adj" fmla="val 3652"/>
            </a:avLst>
          </a:prstGeom>
          <a:solidFill>
            <a:srgbClr val="F9D2D6"/>
          </a:solidFill>
          <a:ln/>
        </p:spPr>
      </p:sp>
      <p:sp>
        <p:nvSpPr>
          <p:cNvPr id="3" name="Text 1"/>
          <p:cNvSpPr/>
          <p:nvPr/>
        </p:nvSpPr>
        <p:spPr>
          <a:xfrm>
            <a:off x="743824" y="583208"/>
            <a:ext cx="2284653" cy="126305"/>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NLP: MOTIVACIÓN Y PROBLEMAS</a:t>
            </a:r>
            <a:endParaRPr lang="en-US" sz="850" dirty="0"/>
          </a:p>
        </p:txBody>
      </p:sp>
      <p:sp>
        <p:nvSpPr>
          <p:cNvPr id="4" name="Text 2"/>
          <p:cNvSpPr/>
          <p:nvPr/>
        </p:nvSpPr>
        <p:spPr>
          <a:xfrm>
            <a:off x="661475" y="790575"/>
            <a:ext cx="10868745" cy="429121"/>
          </a:xfrm>
          <a:prstGeom prst="rect">
            <a:avLst/>
          </a:prstGeom>
          <a:noFill/>
          <a:ln/>
        </p:spPr>
        <p:txBody>
          <a:bodyPr wrap="none" lIns="0" tIns="0" rIns="0" bIns="0" rtlCol="0" anchor="t"/>
          <a:lstStyle/>
          <a:p>
            <a:pPr algn="l" indent="0" marL="0">
              <a:lnSpc>
                <a:spcPct val="104000"/>
              </a:lnSpc>
              <a:buNone/>
            </a:pPr>
            <a:r>
              <a:rPr lang="en-US" sz="2700" dirty="0">
                <a:solidFill>
                  <a:srgbClr val="1F1E1E"/>
                </a:solidFill>
                <a:latin typeface="Roboto Mono Medium" pitchFamily="34" charset="0"/>
                <a:ea typeface="Roboto Mono Medium" pitchFamily="34" charset="-122"/>
                <a:cs typeface="Roboto Mono Medium" pitchFamily="34" charset="-120"/>
              </a:rPr>
              <a:t>Modelos de Generación de Palabras — Ejemplo</a:t>
            </a:r>
            <a:endParaRPr lang="en-US" sz="2700" dirty="0"/>
          </a:p>
        </p:txBody>
      </p:sp>
      <p:sp>
        <p:nvSpPr>
          <p:cNvPr id="5" name="Shape 3"/>
          <p:cNvSpPr/>
          <p:nvPr/>
        </p:nvSpPr>
        <p:spPr>
          <a:xfrm>
            <a:off x="661475" y="1369318"/>
            <a:ext cx="10868745" cy="494308"/>
          </a:xfrm>
          <a:prstGeom prst="roundRect">
            <a:avLst>
              <a:gd name="adj" fmla="val 1542"/>
            </a:avLst>
          </a:prstGeom>
          <a:solidFill>
            <a:srgbClr val="F2F2F2"/>
          </a:solidFill>
          <a:ln/>
        </p:spPr>
      </p:sp>
      <p:sp>
        <p:nvSpPr>
          <p:cNvPr id="6" name="Text 4"/>
          <p:cNvSpPr/>
          <p:nvPr/>
        </p:nvSpPr>
        <p:spPr>
          <a:xfrm>
            <a:off x="826273" y="1506637"/>
            <a:ext cx="11148734" cy="219670"/>
          </a:xfrm>
          <a:prstGeom prst="rect">
            <a:avLst/>
          </a:prstGeom>
          <a:noFill/>
          <a:ln/>
        </p:spPr>
        <p:txBody>
          <a:bodyPr wrap="none" lIns="0" tIns="0" rIns="0" bIns="0" rtlCol="0" anchor="t"/>
          <a:lstStyle/>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V = { "a", "to", "on", "the", "sat", "cat", "dog", "bed", "ran", "mat", " ", "&lt;fin&gt;", ".", "," }</a:t>
            </a:r>
            <a:endParaRPr lang="en-US" sz="1050" dirty="0"/>
          </a:p>
        </p:txBody>
      </p:sp>
      <p:sp>
        <p:nvSpPr>
          <p:cNvPr id="7" name="Shape 5"/>
          <p:cNvSpPr/>
          <p:nvPr/>
        </p:nvSpPr>
        <p:spPr>
          <a:xfrm>
            <a:off x="661475" y="1975842"/>
            <a:ext cx="10868745" cy="1812330"/>
          </a:xfrm>
          <a:prstGeom prst="roundRect">
            <a:avLst>
              <a:gd name="adj" fmla="val 420"/>
            </a:avLst>
          </a:prstGeom>
          <a:solidFill>
            <a:srgbClr val="F2F2F2"/>
          </a:solidFill>
          <a:ln/>
        </p:spPr>
      </p:sp>
      <p:sp>
        <p:nvSpPr>
          <p:cNvPr id="8" name="Text 6"/>
          <p:cNvSpPr/>
          <p:nvPr/>
        </p:nvSpPr>
        <p:spPr>
          <a:xfrm>
            <a:off x="826273" y="2113161"/>
            <a:ext cx="10539149" cy="1537692"/>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T = {</a:t>
            </a:r>
            <a:endParaRPr lang="en-US" sz="1050" dirty="0"/>
          </a:p>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  "the cat sat on mat"</a:t>
            </a:r>
            <a:endParaRPr lang="en-US" sz="1050" dirty="0"/>
          </a:p>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  "a dog ran to bed"</a:t>
            </a:r>
            <a:endParaRPr lang="en-US" sz="1050" dirty="0"/>
          </a:p>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  "the dog sat on bed"</a:t>
            </a:r>
            <a:endParaRPr lang="en-US" sz="1050" dirty="0"/>
          </a:p>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  "a cat ran to mat"</a:t>
            </a:r>
            <a:endParaRPr lang="en-US" sz="1050" dirty="0"/>
          </a:p>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  "the cat ran to dog"</a:t>
            </a:r>
            <a:endParaRPr lang="en-US" sz="1050" dirty="0"/>
          </a:p>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a:t>
            </a:r>
            <a:endParaRPr lang="en-US" sz="1050" dirty="0"/>
          </a:p>
        </p:txBody>
      </p:sp>
      <p:sp>
        <p:nvSpPr>
          <p:cNvPr id="9" name="Text 7"/>
          <p:cNvSpPr/>
          <p:nvPr/>
        </p:nvSpPr>
        <p:spPr>
          <a:xfrm>
            <a:off x="661475" y="3900388"/>
            <a:ext cx="11478330" cy="189607"/>
          </a:xfrm>
          <a:prstGeom prst="rect">
            <a:avLst/>
          </a:prstGeom>
          <a:noFill/>
          <a:ln/>
        </p:spPr>
        <p:txBody>
          <a:bodyPr wrap="none" lIns="0" tIns="0" rIns="0" bIns="0" rtlCol="0" anchor="t"/>
          <a:lstStyle/>
          <a:p>
            <a:pPr algn="l" indent="0" marL="0">
              <a:lnSpc>
                <a:spcPct val="115000"/>
              </a:lnSpc>
              <a:buNone/>
            </a:pPr>
            <a:r>
              <a:rPr lang="en-US" sz="1050" dirty="0">
                <a:solidFill>
                  <a:srgbClr val="3B3535"/>
                </a:solidFill>
                <a:latin typeface="Roboto" pitchFamily="34" charset="0"/>
                <a:ea typeface="Roboto" pitchFamily="34" charset="-122"/>
                <a:cs typeface="Roboto" pitchFamily="34" charset="-120"/>
              </a:rPr>
              <a:t>P =</a:t>
            </a:r>
            <a:endParaRPr lang="en-US" sz="1050" dirty="0"/>
          </a:p>
        </p:txBody>
      </p:sp>
      <p:sp>
        <p:nvSpPr>
          <p:cNvPr id="10" name="Shape 8"/>
          <p:cNvSpPr/>
          <p:nvPr/>
        </p:nvSpPr>
        <p:spPr>
          <a:xfrm>
            <a:off x="661475" y="4202212"/>
            <a:ext cx="10868745" cy="494308"/>
          </a:xfrm>
          <a:prstGeom prst="roundRect">
            <a:avLst>
              <a:gd name="adj" fmla="val 1542"/>
            </a:avLst>
          </a:prstGeom>
          <a:solidFill>
            <a:srgbClr val="F2F2F2"/>
          </a:solidFill>
          <a:ln/>
        </p:spPr>
      </p:sp>
      <p:sp>
        <p:nvSpPr>
          <p:cNvPr id="11" name="Text 9"/>
          <p:cNvSpPr/>
          <p:nvPr/>
        </p:nvSpPr>
        <p:spPr>
          <a:xfrm>
            <a:off x="826273" y="4339530"/>
            <a:ext cx="11148734" cy="219670"/>
          </a:xfrm>
          <a:prstGeom prst="rect">
            <a:avLst/>
          </a:prstGeom>
          <a:noFill/>
          <a:ln/>
        </p:spPr>
        <p:txBody>
          <a:bodyPr wrap="none" lIns="0" tIns="0" rIns="0" bIns="0" rtlCol="0" anchor="t"/>
          <a:lstStyle/>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the dog sat on</a:t>
            </a:r>
            <a:endParaRPr lang="en-US" sz="1050" dirty="0"/>
          </a:p>
        </p:txBody>
      </p:sp>
      <p:sp>
        <p:nvSpPr>
          <p:cNvPr id="12" name="Text 10"/>
          <p:cNvSpPr/>
          <p:nvPr/>
        </p:nvSpPr>
        <p:spPr>
          <a:xfrm>
            <a:off x="661475" y="4808736"/>
            <a:ext cx="10868745" cy="681038"/>
          </a:xfrm>
          <a:prstGeom prst="rect">
            <a:avLst/>
          </a:prstGeom>
          <a:noFill/>
          <a:ln/>
        </p:spPr>
        <p:txBody>
          <a:bodyPr wrap="square" lIns="0" tIns="0" rIns="0" bIns="0" rtlCol="0" anchor="t">
            <a:normAutofit/>
          </a:bodyPr>
          <a:lstStyle/>
          <a:p>
            <a:pPr algn="l" indent="0" marL="0">
              <a:lnSpc>
                <a:spcPct val="115000"/>
              </a:lnSpc>
              <a:buNone/>
            </a:pPr>
            <a:r>
              <a:rPr lang="en-US" sz="1050" dirty="0">
                <a:solidFill>
                  <a:srgbClr val="3B3535"/>
                </a:solidFill>
                <a:latin typeface="Roboto" pitchFamily="34" charset="0"/>
                <a:ea typeface="Roboto" pitchFamily="34" charset="-122"/>
                <a:cs typeface="Roboto" pitchFamily="34" charset="-120"/>
              </a:rPr>
              <a:t>En el corpus, la palabra correcta corresponde a T[2] = "bed".</a:t>
            </a:r>
            <a:endParaRPr lang="en-US" sz="1050" dirty="0"/>
          </a:p>
          <a:p>
            <a:pPr algn="l" indent="0" marL="0">
              <a:lnSpc>
                <a:spcPct val="115000"/>
              </a:lnSpc>
              <a:spcAft>
                <a:spcPts val="850"/>
              </a:spcAft>
              <a:buNone/>
            </a:pPr>
            <a:r>
              <a:rPr lang="en-US" sz="1050" dirty="0">
                <a:solidFill>
                  <a:srgbClr val="3B3535"/>
                </a:solidFill>
                <a:latin typeface="Roboto" pitchFamily="34" charset="0"/>
                <a:ea typeface="Roboto" pitchFamily="34" charset="-122"/>
                <a:cs typeface="Roboto" pitchFamily="34" charset="-120"/>
              </a:rPr>
              <a:t>El vector objetivo tendrá un 1 en la posición correspondiente a "bed" y 0 en el resto.</a:t>
            </a:r>
            <a:endParaRPr lang="en-US" sz="1050" dirty="0"/>
          </a:p>
          <a:p>
            <a:pPr algn="l" indent="0" marL="0">
              <a:lnSpc>
                <a:spcPct val="115000"/>
              </a:lnSpc>
              <a:buNone/>
            </a:pPr>
            <a:r>
              <a:rPr lang="en-US" sz="1050" dirty="0">
                <a:solidFill>
                  <a:srgbClr val="3B3535"/>
                </a:solidFill>
                <a:latin typeface="Roboto" pitchFamily="34" charset="0"/>
                <a:ea typeface="Roboto" pitchFamily="34" charset="-122"/>
                <a:cs typeface="Roboto" pitchFamily="34" charset="-120"/>
              </a:rPr>
              <a:t>Salida del modelo (vector de probabilidades sobre el vocabulario):</a:t>
            </a:r>
            <a:endParaRPr lang="en-US" sz="1050" dirty="0"/>
          </a:p>
        </p:txBody>
      </p:sp>
      <p:sp>
        <p:nvSpPr>
          <p:cNvPr id="13" name="Shape 11"/>
          <p:cNvSpPr/>
          <p:nvPr/>
        </p:nvSpPr>
        <p:spPr>
          <a:xfrm>
            <a:off x="661475" y="5601990"/>
            <a:ext cx="10868745" cy="713978"/>
          </a:xfrm>
          <a:prstGeom prst="roundRect">
            <a:avLst>
              <a:gd name="adj" fmla="val 1067"/>
            </a:avLst>
          </a:prstGeom>
          <a:solidFill>
            <a:srgbClr val="F2F2F2"/>
          </a:solidFill>
          <a:ln/>
        </p:spPr>
      </p:sp>
      <p:sp>
        <p:nvSpPr>
          <p:cNvPr id="14" name="Text 12"/>
          <p:cNvSpPr/>
          <p:nvPr/>
        </p:nvSpPr>
        <p:spPr>
          <a:xfrm>
            <a:off x="826273" y="5739309"/>
            <a:ext cx="10539149" cy="439341"/>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[a: 0.01, to: 0.02, on: 0.03, the: 0.04, sat: 0.01, cat: 0.01, dog: 0.02,</a:t>
            </a:r>
            <a:endParaRPr lang="en-US" sz="1050" dirty="0"/>
          </a:p>
          <a:p>
            <a:pPr algn="l" indent="0" marL="0">
              <a:lnSpc>
                <a:spcPct val="133000"/>
              </a:lnSpc>
              <a:buNone/>
            </a:pPr>
            <a:r>
              <a:rPr lang="en-US" sz="1050" dirty="0">
                <a:solidFill>
                  <a:srgbClr val="24292E"/>
                </a:solidFill>
                <a:latin typeface="Consolas" pitchFamily="34" charset="0"/>
                <a:ea typeface="Consolas" pitchFamily="34" charset="-122"/>
                <a:cs typeface="Consolas" pitchFamily="34" charset="-120"/>
              </a:rPr>
              <a:t> bed: 0.78, ran: 0.03, mat: 0.04, " ": 0.01, &lt;fin&gt;: 0.00, ".": 0.00, ",": 0.00]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61475" y="2382838"/>
            <a:ext cx="2531305" cy="287139"/>
          </a:xfrm>
          <a:prstGeom prst="roundRect">
            <a:avLst>
              <a:gd name="adj" fmla="val 2654"/>
            </a:avLst>
          </a:prstGeom>
          <a:solidFill>
            <a:srgbClr val="F9D2D6"/>
          </a:solidFill>
          <a:ln/>
        </p:spPr>
      </p:sp>
      <p:sp>
        <p:nvSpPr>
          <p:cNvPr id="3" name="Text 1"/>
          <p:cNvSpPr/>
          <p:nvPr/>
        </p:nvSpPr>
        <p:spPr>
          <a:xfrm>
            <a:off x="774879" y="2439491"/>
            <a:ext cx="2914081" cy="173831"/>
          </a:xfrm>
          <a:prstGeom prst="rect">
            <a:avLst/>
          </a:prstGeom>
          <a:noFill/>
          <a:ln/>
        </p:spPr>
        <p:txBody>
          <a:bodyPr wrap="none" lIns="0" tIns="0" rIns="0" bIns="0" rtlCol="0" anchor="t"/>
          <a:lstStyle/>
          <a:p>
            <a:pPr algn="l" indent="0" marL="0">
              <a:lnSpc>
                <a:spcPct val="96000"/>
              </a:lnSpc>
              <a:buNone/>
            </a:pPr>
            <a:r>
              <a:rPr lang="en-US" sz="1150" dirty="0">
                <a:solidFill>
                  <a:srgbClr val="3B3535"/>
                </a:solidFill>
                <a:latin typeface="Roboto" pitchFamily="34" charset="0"/>
                <a:ea typeface="Roboto" pitchFamily="34" charset="-122"/>
                <a:cs typeface="Roboto" pitchFamily="34" charset="-120"/>
              </a:rPr>
              <a:t>NLP: MOTIVACIÓN Y PROBLEMAS</a:t>
            </a:r>
            <a:endParaRPr lang="en-US" sz="1150" dirty="0"/>
          </a:p>
        </p:txBody>
      </p:sp>
      <p:sp>
        <p:nvSpPr>
          <p:cNvPr id="4" name="Text 2"/>
          <p:cNvSpPr/>
          <p:nvPr/>
        </p:nvSpPr>
        <p:spPr>
          <a:xfrm>
            <a:off x="661475" y="2745581"/>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Roboto Mono Medium" pitchFamily="34" charset="0"/>
                <a:ea typeface="Roboto Mono Medium" pitchFamily="34" charset="-122"/>
                <a:cs typeface="Roboto Mono Medium" pitchFamily="34" charset="-120"/>
              </a:rPr>
              <a:t>Sidetrack: Aprendizaje (Learning)</a:t>
            </a:r>
            <a:endParaRPr lang="en-US" sz="3700" dirty="0"/>
          </a:p>
        </p:txBody>
      </p:sp>
      <p:sp>
        <p:nvSpPr>
          <p:cNvPr id="5" name="Text 3"/>
          <p:cNvSpPr/>
          <p:nvPr/>
        </p:nvSpPr>
        <p:spPr>
          <a:xfrm>
            <a:off x="661475" y="3411835"/>
            <a:ext cx="10868745" cy="1063228"/>
          </a:xfrm>
          <a:prstGeom prst="rect">
            <a:avLst/>
          </a:prstGeom>
          <a:noFill/>
          <a:ln/>
        </p:spPr>
        <p:txBody>
          <a:bodyPr wrap="square" lIns="0" tIns="0" rIns="0" bIns="0" rtlCol="0" anchor="t">
            <a:normAutofit/>
          </a:bodyPr>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Cómo los modelos aprenden a generar texto (y cómo aprenden a resolver todas las tareas que vimos) a partir de los datos (corpus T)?</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475" y="715169"/>
            <a:ext cx="1899595" cy="215305"/>
          </a:xfrm>
          <a:prstGeom prst="roundRect">
            <a:avLst>
              <a:gd name="adj" fmla="val 3539"/>
            </a:avLst>
          </a:prstGeom>
          <a:solidFill>
            <a:srgbClr val="F9D2D6"/>
          </a:solidFill>
          <a:ln/>
        </p:spPr>
      </p:sp>
      <p:sp>
        <p:nvSpPr>
          <p:cNvPr id="3" name="Text 1"/>
          <p:cNvSpPr/>
          <p:nvPr/>
        </p:nvSpPr>
        <p:spPr>
          <a:xfrm>
            <a:off x="746503" y="757634"/>
            <a:ext cx="2339123" cy="130373"/>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NLP: MOTIVACIÓN Y PROBLEMAS</a:t>
            </a:r>
            <a:endParaRPr lang="en-US" sz="850" dirty="0"/>
          </a:p>
        </p:txBody>
      </p:sp>
      <p:sp>
        <p:nvSpPr>
          <p:cNvPr id="4" name="Text 2"/>
          <p:cNvSpPr/>
          <p:nvPr/>
        </p:nvSpPr>
        <p:spPr>
          <a:xfrm>
            <a:off x="661475" y="972939"/>
            <a:ext cx="10868745" cy="443012"/>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Concepto: Entrenamiento</a:t>
            </a:r>
            <a:endParaRPr lang="en-US" sz="2750" dirty="0"/>
          </a:p>
        </p:txBody>
      </p:sp>
      <p:sp>
        <p:nvSpPr>
          <p:cNvPr id="5" name="Text 3"/>
          <p:cNvSpPr/>
          <p:nvPr/>
        </p:nvSpPr>
        <p:spPr>
          <a:xfrm>
            <a:off x="661475" y="1458416"/>
            <a:ext cx="10868745" cy="265708"/>
          </a:xfrm>
          <a:prstGeom prst="rect">
            <a:avLst/>
          </a:prstGeom>
          <a:noFill/>
          <a:ln/>
        </p:spPr>
        <p:txBody>
          <a:bodyPr wrap="none" lIns="0" tIns="0" rIns="0" bIns="0" rtlCol="0" anchor="t"/>
          <a:lstStyle/>
          <a:p>
            <a:pPr algn="l" indent="0" marL="0">
              <a:lnSpc>
                <a:spcPct val="104000"/>
              </a:lnSpc>
              <a:buNone/>
            </a:pPr>
            <a:r>
              <a:rPr lang="en-US" sz="1650" dirty="0">
                <a:solidFill>
                  <a:srgbClr val="1F1E1E"/>
                </a:solidFill>
                <a:latin typeface="Roboto Mono Medium" pitchFamily="34" charset="0"/>
                <a:ea typeface="Roboto Mono Medium" pitchFamily="34" charset="-122"/>
                <a:cs typeface="Roboto Mono Medium" pitchFamily="34" charset="-120"/>
              </a:rPr>
              <a:t>¿Cómo aprende un modelo a predecir la siguiente palabra a partir del corpus?</a:t>
            </a:r>
            <a:endParaRPr lang="en-US" sz="1650" dirty="0"/>
          </a:p>
        </p:txBody>
      </p:sp>
      <p:sp>
        <p:nvSpPr>
          <p:cNvPr id="6" name="Text 4"/>
          <p:cNvSpPr/>
          <p:nvPr/>
        </p:nvSpPr>
        <p:spPr>
          <a:xfrm>
            <a:off x="661475" y="1883569"/>
            <a:ext cx="11478330"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0. El modelo por dentro tiene "clavijas" (parámetros) internas que hay que ajustar para que predigan correctamente la siguiente palabra mas probable.</a:t>
            </a:r>
            <a:endParaRPr lang="en-US" sz="1100" dirty="0"/>
          </a:p>
        </p:txBody>
      </p:sp>
      <p:sp>
        <p:nvSpPr>
          <p:cNvPr id="7" name="Text 5"/>
          <p:cNvSpPr/>
          <p:nvPr/>
        </p:nvSpPr>
        <p:spPr>
          <a:xfrm>
            <a:off x="661475" y="2201565"/>
            <a:ext cx="283461" cy="177205"/>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Roboto Mono Light" pitchFamily="34" charset="0"/>
                <a:ea typeface="Roboto Mono Light" pitchFamily="34" charset="-122"/>
                <a:cs typeface="Roboto Mono Light" pitchFamily="34" charset="-120"/>
              </a:rPr>
              <a:t>01</a:t>
            </a:r>
            <a:endParaRPr lang="en-US" sz="1100" dirty="0"/>
          </a:p>
        </p:txBody>
      </p:sp>
      <p:sp>
        <p:nvSpPr>
          <p:cNvPr id="8" name="Shape 6"/>
          <p:cNvSpPr/>
          <p:nvPr/>
        </p:nvSpPr>
        <p:spPr>
          <a:xfrm>
            <a:off x="661475" y="2423418"/>
            <a:ext cx="3552042" cy="19050"/>
          </a:xfrm>
          <a:prstGeom prst="rect">
            <a:avLst/>
          </a:prstGeom>
          <a:solidFill>
            <a:srgbClr val="DA1B2E"/>
          </a:solidFill>
          <a:ln/>
        </p:spPr>
      </p:sp>
      <p:sp>
        <p:nvSpPr>
          <p:cNvPr id="9" name="Text 7"/>
          <p:cNvSpPr/>
          <p:nvPr/>
        </p:nvSpPr>
        <p:spPr>
          <a:xfrm>
            <a:off x="661475" y="2532360"/>
            <a:ext cx="3552042"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Input: el modelo recibe una frase incompleta → "El gato está en la"</a:t>
            </a:r>
            <a:endParaRPr lang="en-US" sz="1100" dirty="0"/>
          </a:p>
        </p:txBody>
      </p:sp>
      <p:sp>
        <p:nvSpPr>
          <p:cNvPr id="10" name="Text 8"/>
          <p:cNvSpPr/>
          <p:nvPr/>
        </p:nvSpPr>
        <p:spPr>
          <a:xfrm>
            <a:off x="4319777" y="2201565"/>
            <a:ext cx="283461" cy="177205"/>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Roboto Mono Light" pitchFamily="34" charset="0"/>
                <a:ea typeface="Roboto Mono Light" pitchFamily="34" charset="-122"/>
                <a:cs typeface="Roboto Mono Light" pitchFamily="34" charset="-120"/>
              </a:rPr>
              <a:t>02</a:t>
            </a:r>
            <a:endParaRPr lang="en-US" sz="1100" dirty="0"/>
          </a:p>
        </p:txBody>
      </p:sp>
      <p:sp>
        <p:nvSpPr>
          <p:cNvPr id="11" name="Shape 9"/>
          <p:cNvSpPr/>
          <p:nvPr/>
        </p:nvSpPr>
        <p:spPr>
          <a:xfrm>
            <a:off x="4319777" y="2423418"/>
            <a:ext cx="3552042" cy="19050"/>
          </a:xfrm>
          <a:prstGeom prst="rect">
            <a:avLst/>
          </a:prstGeom>
          <a:solidFill>
            <a:srgbClr val="DA1B2E"/>
          </a:solidFill>
          <a:ln/>
        </p:spPr>
      </p:sp>
      <p:sp>
        <p:nvSpPr>
          <p:cNvPr id="12" name="Text 10"/>
          <p:cNvSpPr/>
          <p:nvPr/>
        </p:nvSpPr>
        <p:spPr>
          <a:xfrm>
            <a:off x="4319777" y="2532360"/>
            <a:ext cx="3552042"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Predicción: genera una distribución de probabilidades</a:t>
            </a:r>
            <a:endParaRPr lang="en-US" sz="1100" dirty="0"/>
          </a:p>
        </p:txBody>
      </p:sp>
      <p:sp>
        <p:nvSpPr>
          <p:cNvPr id="13" name="Text 11"/>
          <p:cNvSpPr/>
          <p:nvPr/>
        </p:nvSpPr>
        <p:spPr>
          <a:xfrm>
            <a:off x="7978079" y="2201565"/>
            <a:ext cx="283461" cy="177205"/>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Roboto Mono Light" pitchFamily="34" charset="0"/>
                <a:ea typeface="Roboto Mono Light" pitchFamily="34" charset="-122"/>
                <a:cs typeface="Roboto Mono Light" pitchFamily="34" charset="-120"/>
              </a:rPr>
              <a:t>03</a:t>
            </a:r>
            <a:endParaRPr lang="en-US" sz="1100" dirty="0"/>
          </a:p>
        </p:txBody>
      </p:sp>
      <p:sp>
        <p:nvSpPr>
          <p:cNvPr id="14" name="Shape 12"/>
          <p:cNvSpPr/>
          <p:nvPr/>
        </p:nvSpPr>
        <p:spPr>
          <a:xfrm>
            <a:off x="7978079" y="2423418"/>
            <a:ext cx="3552042" cy="19050"/>
          </a:xfrm>
          <a:prstGeom prst="rect">
            <a:avLst/>
          </a:prstGeom>
          <a:solidFill>
            <a:srgbClr val="DA1B2E"/>
          </a:solidFill>
          <a:ln/>
        </p:spPr>
      </p:sp>
      <p:sp>
        <p:nvSpPr>
          <p:cNvPr id="15" name="Text 13"/>
          <p:cNvSpPr/>
          <p:nvPr/>
        </p:nvSpPr>
        <p:spPr>
          <a:xfrm>
            <a:off x="7978079" y="2532360"/>
            <a:ext cx="3552042"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Comparación: la palabra mas probable era "alfombra".</a:t>
            </a:r>
            <a:endParaRPr lang="en-US" sz="1100" dirty="0"/>
          </a:p>
        </p:txBody>
      </p:sp>
      <p:sp>
        <p:nvSpPr>
          <p:cNvPr id="16" name="Text 14"/>
          <p:cNvSpPr/>
          <p:nvPr/>
        </p:nvSpPr>
        <p:spPr>
          <a:xfrm>
            <a:off x="661475" y="3141762"/>
            <a:ext cx="283461" cy="177205"/>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Roboto Mono Light" pitchFamily="34" charset="0"/>
                <a:ea typeface="Roboto Mono Light" pitchFamily="34" charset="-122"/>
                <a:cs typeface="Roboto Mono Light" pitchFamily="34" charset="-120"/>
              </a:rPr>
              <a:t>04</a:t>
            </a:r>
            <a:endParaRPr lang="en-US" sz="1100" dirty="0"/>
          </a:p>
        </p:txBody>
      </p:sp>
      <p:sp>
        <p:nvSpPr>
          <p:cNvPr id="17" name="Shape 15"/>
          <p:cNvSpPr/>
          <p:nvPr/>
        </p:nvSpPr>
        <p:spPr>
          <a:xfrm>
            <a:off x="661475" y="3363615"/>
            <a:ext cx="3552042" cy="19050"/>
          </a:xfrm>
          <a:prstGeom prst="rect">
            <a:avLst/>
          </a:prstGeom>
          <a:solidFill>
            <a:srgbClr val="DA1B2E"/>
          </a:solidFill>
          <a:ln/>
        </p:spPr>
      </p:sp>
      <p:sp>
        <p:nvSpPr>
          <p:cNvPr id="18" name="Text 16"/>
          <p:cNvSpPr/>
          <p:nvPr/>
        </p:nvSpPr>
        <p:spPr>
          <a:xfrm>
            <a:off x="661475" y="3472557"/>
            <a:ext cx="3552042"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Error (Loss): se calcula qué tan lejos estuvo de la palabra mas probable.</a:t>
            </a:r>
            <a:endParaRPr lang="en-US" sz="1100" dirty="0"/>
          </a:p>
        </p:txBody>
      </p:sp>
      <p:sp>
        <p:nvSpPr>
          <p:cNvPr id="19" name="Text 17"/>
          <p:cNvSpPr/>
          <p:nvPr/>
        </p:nvSpPr>
        <p:spPr>
          <a:xfrm>
            <a:off x="4319777" y="3141762"/>
            <a:ext cx="283461" cy="177205"/>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Roboto Mono Light" pitchFamily="34" charset="0"/>
                <a:ea typeface="Roboto Mono Light" pitchFamily="34" charset="-122"/>
                <a:cs typeface="Roboto Mono Light" pitchFamily="34" charset="-120"/>
              </a:rPr>
              <a:t>05</a:t>
            </a:r>
            <a:endParaRPr lang="en-US" sz="1100" dirty="0"/>
          </a:p>
        </p:txBody>
      </p:sp>
      <p:sp>
        <p:nvSpPr>
          <p:cNvPr id="20" name="Shape 18"/>
          <p:cNvSpPr/>
          <p:nvPr/>
        </p:nvSpPr>
        <p:spPr>
          <a:xfrm>
            <a:off x="4319777" y="3363615"/>
            <a:ext cx="3552042" cy="19050"/>
          </a:xfrm>
          <a:prstGeom prst="rect">
            <a:avLst/>
          </a:prstGeom>
          <a:solidFill>
            <a:srgbClr val="DA1B2E"/>
          </a:solidFill>
          <a:ln/>
        </p:spPr>
      </p:sp>
      <p:sp>
        <p:nvSpPr>
          <p:cNvPr id="21" name="Text 19"/>
          <p:cNvSpPr/>
          <p:nvPr/>
        </p:nvSpPr>
        <p:spPr>
          <a:xfrm>
            <a:off x="4319777" y="3472557"/>
            <a:ext cx="3552042"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Ajuste: se modifican los parámetros para que el error sea menor</a:t>
            </a:r>
            <a:endParaRPr lang="en-US" sz="1100" dirty="0"/>
          </a:p>
        </p:txBody>
      </p:sp>
      <p:sp>
        <p:nvSpPr>
          <p:cNvPr id="22" name="Text 20"/>
          <p:cNvSpPr/>
          <p:nvPr/>
        </p:nvSpPr>
        <p:spPr>
          <a:xfrm>
            <a:off x="7978079" y="3141762"/>
            <a:ext cx="283461" cy="177205"/>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Roboto Mono Light" pitchFamily="34" charset="0"/>
                <a:ea typeface="Roboto Mono Light" pitchFamily="34" charset="-122"/>
                <a:cs typeface="Roboto Mono Light" pitchFamily="34" charset="-120"/>
              </a:rPr>
              <a:t>06</a:t>
            </a:r>
            <a:endParaRPr lang="en-US" sz="1100" dirty="0"/>
          </a:p>
        </p:txBody>
      </p:sp>
      <p:sp>
        <p:nvSpPr>
          <p:cNvPr id="23" name="Shape 21"/>
          <p:cNvSpPr/>
          <p:nvPr/>
        </p:nvSpPr>
        <p:spPr>
          <a:xfrm>
            <a:off x="7978079" y="3363615"/>
            <a:ext cx="3552042" cy="19050"/>
          </a:xfrm>
          <a:prstGeom prst="rect">
            <a:avLst/>
          </a:prstGeom>
          <a:solidFill>
            <a:srgbClr val="DA1B2E"/>
          </a:solidFill>
          <a:ln/>
        </p:spPr>
      </p:sp>
      <p:sp>
        <p:nvSpPr>
          <p:cNvPr id="24" name="Text 22"/>
          <p:cNvSpPr/>
          <p:nvPr/>
        </p:nvSpPr>
        <p:spPr>
          <a:xfrm>
            <a:off x="7978079" y="3472557"/>
            <a:ext cx="3552042"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Repetición: se hace millones de veces con millones de frases</a:t>
            </a:r>
            <a:endParaRPr lang="en-US" sz="1100" dirty="0"/>
          </a:p>
        </p:txBody>
      </p:sp>
      <p:sp>
        <p:nvSpPr>
          <p:cNvPr id="25" name="Text 23"/>
          <p:cNvSpPr/>
          <p:nvPr/>
        </p:nvSpPr>
        <p:spPr>
          <a:xfrm>
            <a:off x="661475" y="4081959"/>
            <a:ext cx="283461" cy="177205"/>
          </a:xfrm>
          <a:prstGeom prst="rect">
            <a:avLst/>
          </a:prstGeom>
          <a:noFill/>
          <a:ln/>
        </p:spPr>
        <p:txBody>
          <a:bodyPr wrap="none" lIns="0" tIns="0" rIns="0" bIns="0" rtlCol="0" anchor="ctr"/>
          <a:lstStyle/>
          <a:p>
            <a:pPr algn="l" indent="0" marL="0">
              <a:lnSpc>
                <a:spcPct val="100000"/>
              </a:lnSpc>
              <a:buNone/>
            </a:pPr>
            <a:r>
              <a:rPr lang="en-US" sz="1100" dirty="0">
                <a:solidFill>
                  <a:srgbClr val="3B3535"/>
                </a:solidFill>
                <a:latin typeface="Roboto Mono Light" pitchFamily="34" charset="0"/>
                <a:ea typeface="Roboto Mono Light" pitchFamily="34" charset="-122"/>
                <a:cs typeface="Roboto Mono Light" pitchFamily="34" charset="-120"/>
              </a:rPr>
              <a:t>07</a:t>
            </a:r>
            <a:endParaRPr lang="en-US" sz="1100" dirty="0"/>
          </a:p>
        </p:txBody>
      </p:sp>
      <p:sp>
        <p:nvSpPr>
          <p:cNvPr id="26" name="Shape 24"/>
          <p:cNvSpPr/>
          <p:nvPr/>
        </p:nvSpPr>
        <p:spPr>
          <a:xfrm>
            <a:off x="661475" y="4303812"/>
            <a:ext cx="10868646" cy="19050"/>
          </a:xfrm>
          <a:prstGeom prst="rect">
            <a:avLst/>
          </a:prstGeom>
          <a:solidFill>
            <a:srgbClr val="DA1B2E"/>
          </a:solidFill>
          <a:ln/>
        </p:spPr>
      </p:sp>
      <p:sp>
        <p:nvSpPr>
          <p:cNvPr id="27" name="Text 25"/>
          <p:cNvSpPr/>
          <p:nvPr/>
        </p:nvSpPr>
        <p:spPr>
          <a:xfrm>
            <a:off x="661475" y="4412754"/>
            <a:ext cx="10868646"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Resultado: un modelo que sabe "hablar".</a:t>
            </a:r>
            <a:endParaRPr lang="en-US" sz="1100" dirty="0"/>
          </a:p>
        </p:txBody>
      </p:sp>
      <p:sp>
        <p:nvSpPr>
          <p:cNvPr id="28" name="Text 26"/>
          <p:cNvSpPr/>
          <p:nvPr/>
        </p:nvSpPr>
        <p:spPr>
          <a:xfrm>
            <a:off x="661475" y="4837013"/>
            <a:ext cx="11478330"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Nos quedamos con los parámetros que minimizan el error.</a:t>
            </a:r>
            <a:endParaRPr lang="en-US" sz="1100" dirty="0"/>
          </a:p>
        </p:txBody>
      </p:sp>
      <p:sp>
        <p:nvSpPr>
          <p:cNvPr id="29" name="Text 27"/>
          <p:cNvSpPr/>
          <p:nvPr/>
        </p:nvSpPr>
        <p:spPr>
          <a:xfrm>
            <a:off x="661475" y="5194895"/>
            <a:ext cx="10868745" cy="354409"/>
          </a:xfrm>
          <a:prstGeom prst="rect">
            <a:avLst/>
          </a:prstGeom>
          <a:noFill/>
          <a:ln/>
        </p:spPr>
        <p:txBody>
          <a:bodyPr wrap="none" lIns="0" tIns="0" rIns="0" bIns="0" rtlCol="0" anchor="t"/>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Conceptos clave</a:t>
            </a:r>
            <a:endParaRPr lang="en-US" sz="2200" dirty="0"/>
          </a:p>
        </p:txBody>
      </p:sp>
      <p:sp>
        <p:nvSpPr>
          <p:cNvPr id="30" name="Text 28"/>
          <p:cNvSpPr/>
          <p:nvPr/>
        </p:nvSpPr>
        <p:spPr>
          <a:xfrm>
            <a:off x="661475" y="5708749"/>
            <a:ext cx="10868745" cy="434082"/>
          </a:xfrm>
          <a:prstGeom prst="rect">
            <a:avLst/>
          </a:prstGeom>
          <a:noFill/>
          <a:ln/>
        </p:spPr>
        <p:txBody>
          <a:bodyPr wrap="square" lIns="0" tIns="56706" rIns="0" bIns="0" rtlCol="0" anchor="t">
            <a:normAutofit/>
          </a:bodyPr>
          <a:lstStyle/>
          <a:p>
            <a:pPr algn="l" marL="223520" indent="-223520">
              <a:lnSpc>
                <a:spcPct val="117000"/>
              </a:lnSpc>
              <a:buSzPct val="100000"/>
              <a:buChar char="•"/>
            </a:pPr>
            <a:r>
              <a:rPr lang="en-US" sz="1100" b="1" dirty="0">
                <a:solidFill>
                  <a:srgbClr val="3B3535"/>
                </a:solidFill>
                <a:latin typeface="Roboto Bold" pitchFamily="34" charset="0"/>
                <a:ea typeface="Roboto Bold" pitchFamily="34" charset="-122"/>
                <a:cs typeface="Roboto Bold" pitchFamily="34" charset="-120"/>
              </a:rPr>
              <a:t>Loss (pérdida):</a:t>
            </a:r>
            <a:pPr algn="l" marL="223520" indent="-223520">
              <a:lnSpc>
                <a:spcPct val="117000"/>
              </a:lnSpc>
              <a:buSzPct val="100000"/>
              <a:buChar char="•"/>
            </a:pPr>
            <a:r>
              <a:rPr lang="en-US" sz="1100" dirty="0">
                <a:solidFill>
                  <a:srgbClr val="3B3535"/>
                </a:solidFill>
                <a:latin typeface="Roboto" pitchFamily="34" charset="0"/>
                <a:ea typeface="Roboto" pitchFamily="34" charset="-122"/>
                <a:cs typeface="Roboto" pitchFamily="34" charset="-120"/>
              </a:rPr>
              <a:t> número que mide qué tan equivocado estuvo el modelo</a:t>
            </a:r>
            <a:endParaRPr lang="en-US" sz="1100" dirty="0"/>
          </a:p>
          <a:p>
            <a:pPr algn="l" marL="223520" indent="-223520">
              <a:lnSpc>
                <a:spcPct val="117000"/>
              </a:lnSpc>
              <a:buSzPct val="100000"/>
              <a:buChar char="•"/>
            </a:pPr>
            <a:r>
              <a:rPr lang="en-US" sz="1100" b="1" dirty="0">
                <a:solidFill>
                  <a:srgbClr val="3B3535"/>
                </a:solidFill>
                <a:latin typeface="Roboto Bold" pitchFamily="34" charset="0"/>
                <a:ea typeface="Roboto Bold" pitchFamily="34" charset="-122"/>
                <a:cs typeface="Roboto Bold" pitchFamily="34" charset="-120"/>
              </a:rPr>
              <a:t>Optimización:</a:t>
            </a:r>
            <a:pPr algn="l" marL="223520" indent="-223520">
              <a:lnSpc>
                <a:spcPct val="117000"/>
              </a:lnSpc>
              <a:buSzPct val="100000"/>
              <a:buChar char="•"/>
            </a:pPr>
            <a:r>
              <a:rPr lang="en-US" sz="1100" dirty="0">
                <a:solidFill>
                  <a:srgbClr val="3B3535"/>
                </a:solidFill>
                <a:latin typeface="Roboto" pitchFamily="34" charset="0"/>
                <a:ea typeface="Roboto" pitchFamily="34" charset="-122"/>
                <a:cs typeface="Roboto" pitchFamily="34" charset="-120"/>
              </a:rPr>
              <a:t> proceso de ajustar los parámetros para reducir la loss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1475" y="1820565"/>
            <a:ext cx="2531305" cy="287139"/>
          </a:xfrm>
          <a:prstGeom prst="roundRect">
            <a:avLst>
              <a:gd name="adj" fmla="val 2654"/>
            </a:avLst>
          </a:prstGeom>
          <a:solidFill>
            <a:srgbClr val="F9D2D6"/>
          </a:solidFill>
          <a:ln/>
        </p:spPr>
      </p:sp>
      <p:sp>
        <p:nvSpPr>
          <p:cNvPr id="3" name="Text 1"/>
          <p:cNvSpPr/>
          <p:nvPr/>
        </p:nvSpPr>
        <p:spPr>
          <a:xfrm>
            <a:off x="774879" y="1877219"/>
            <a:ext cx="2914081" cy="173831"/>
          </a:xfrm>
          <a:prstGeom prst="rect">
            <a:avLst/>
          </a:prstGeom>
          <a:noFill/>
          <a:ln/>
        </p:spPr>
        <p:txBody>
          <a:bodyPr wrap="none" lIns="0" tIns="0" rIns="0" bIns="0" rtlCol="0" anchor="t"/>
          <a:lstStyle/>
          <a:p>
            <a:pPr algn="l" indent="0" marL="0">
              <a:lnSpc>
                <a:spcPct val="96000"/>
              </a:lnSpc>
              <a:buNone/>
            </a:pPr>
            <a:r>
              <a:rPr lang="en-US" sz="1150" dirty="0">
                <a:solidFill>
                  <a:srgbClr val="3B3535"/>
                </a:solidFill>
                <a:latin typeface="Roboto" pitchFamily="34" charset="0"/>
                <a:ea typeface="Roboto" pitchFamily="34" charset="-122"/>
                <a:cs typeface="Roboto" pitchFamily="34" charset="-120"/>
              </a:rPr>
              <a:t>NLP: MOTIVACIÓN Y PROBLEMAS</a:t>
            </a:r>
            <a:endParaRPr lang="en-US" sz="1150" dirty="0"/>
          </a:p>
        </p:txBody>
      </p:sp>
      <p:sp>
        <p:nvSpPr>
          <p:cNvPr id="4" name="Text 2"/>
          <p:cNvSpPr/>
          <p:nvPr/>
        </p:nvSpPr>
        <p:spPr>
          <a:xfrm>
            <a:off x="661475" y="2183309"/>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1F1E1E"/>
                </a:solidFill>
                <a:latin typeface="Roboto Mono Medium" pitchFamily="34" charset="0"/>
                <a:ea typeface="Roboto Mono Medium" pitchFamily="34" charset="-122"/>
                <a:cs typeface="Roboto Mono Medium" pitchFamily="34" charset="-120"/>
              </a:rPr>
              <a:t>¿Qué le vamos a enseñar a nuestro modelo?</a:t>
            </a:r>
            <a:endParaRPr lang="en-US" sz="3700" dirty="0"/>
          </a:p>
        </p:txBody>
      </p:sp>
      <p:sp>
        <p:nvSpPr>
          <p:cNvPr id="5" name="Text 3"/>
          <p:cNvSpPr/>
          <p:nvPr/>
        </p:nvSpPr>
        <p:spPr>
          <a:xfrm>
            <a:off x="661475" y="3440212"/>
            <a:ext cx="10868745" cy="708819"/>
          </a:xfrm>
          <a:prstGeom prst="rect">
            <a:avLst/>
          </a:prstGeom>
          <a:noFill/>
          <a:ln/>
        </p:spPr>
        <p:txBody>
          <a:bodyPr wrap="square" lIns="0" tIns="0" rIns="0" bIns="0" rtlCol="0" anchor="t">
            <a:normAutofit/>
          </a:bodyPr>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En nuestro caso: a generar palabras. Pero el mismo método sirve para resolver cualquiera de los problemas ya vistos.</a:t>
            </a:r>
            <a:endParaRPr lang="en-US" sz="2200" dirty="0"/>
          </a:p>
        </p:txBody>
      </p:sp>
      <p:sp>
        <p:nvSpPr>
          <p:cNvPr id="6" name="Text 4"/>
          <p:cNvSpPr/>
          <p:nvPr/>
        </p:nvSpPr>
        <p:spPr>
          <a:xfrm>
            <a:off x="661475" y="4432498"/>
            <a:ext cx="1086874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3B3535"/>
                </a:solidFill>
                <a:latin typeface="Roboto" pitchFamily="34" charset="0"/>
                <a:ea typeface="Roboto" pitchFamily="34" charset="-122"/>
                <a:cs typeface="Roboto" pitchFamily="34" charset="-120"/>
              </a:rPr>
              <a:t>El primer paso para generar palabras (o para cualquier tarea de NLP), es lograr que el modelo </a:t>
            </a:r>
            <a:pPr algn="l" indent="0" marL="0">
              <a:lnSpc>
                <a:spcPct val="133000"/>
              </a:lnSpc>
              <a:buNone/>
            </a:pPr>
            <a:r>
              <a:rPr lang="en-US" sz="1450" b="1" dirty="0">
                <a:solidFill>
                  <a:srgbClr val="3B3535"/>
                </a:solidFill>
                <a:latin typeface="Roboto Bold" pitchFamily="34" charset="0"/>
                <a:ea typeface="Roboto Bold" pitchFamily="34" charset="-122"/>
                <a:cs typeface="Roboto Bold" pitchFamily="34" charset="-120"/>
              </a:rPr>
              <a:t>entienda qué significa.</a:t>
            </a:r>
            <a:pPr algn="l" indent="0" marL="0">
              <a:lnSpc>
                <a:spcPct val="133000"/>
              </a:lnSpc>
              <a:buNone/>
            </a:pPr>
            <a:r>
              <a:rPr lang="en-US" sz="1450" dirty="0">
                <a:solidFill>
                  <a:srgbClr val="3B3535"/>
                </a:solidFill>
                <a:latin typeface="Roboto" pitchFamily="34" charset="0"/>
                <a:ea typeface="Roboto" pitchFamily="34" charset="-122"/>
                <a:cs typeface="Roboto" pitchFamily="34" charset="-120"/>
              </a:rPr>
              <a:t> Para eso, necesitamos representarlas como números (vectores).</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61475" y="566539"/>
            <a:ext cx="2025897" cy="229691"/>
          </a:xfrm>
          <a:prstGeom prst="roundRect">
            <a:avLst>
              <a:gd name="adj" fmla="val 3317"/>
            </a:avLst>
          </a:prstGeom>
          <a:solidFill>
            <a:srgbClr val="F9D2D6"/>
          </a:solidFill>
          <a:ln/>
        </p:spPr>
      </p:sp>
      <p:sp>
        <p:nvSpPr>
          <p:cNvPr id="3" name="Text 1"/>
          <p:cNvSpPr/>
          <p:nvPr/>
        </p:nvSpPr>
        <p:spPr>
          <a:xfrm>
            <a:off x="752159" y="611882"/>
            <a:ext cx="2454114" cy="139005"/>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NLP: MOTIVACIÓN Y PROBLEMAS</a:t>
            </a:r>
            <a:endParaRPr lang="en-US" sz="950" dirty="0"/>
          </a:p>
        </p:txBody>
      </p:sp>
      <p:sp>
        <p:nvSpPr>
          <p:cNvPr id="4" name="Text 2"/>
          <p:cNvSpPr/>
          <p:nvPr/>
        </p:nvSpPr>
        <p:spPr>
          <a:xfrm>
            <a:off x="661475" y="844550"/>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1F1E1E"/>
                </a:solidFill>
                <a:latin typeface="Roboto Mono Medium" pitchFamily="34" charset="0"/>
                <a:ea typeface="Roboto Mono Medium" pitchFamily="34" charset="-122"/>
                <a:cs typeface="Roboto Mono Medium" pitchFamily="34" charset="-120"/>
              </a:rPr>
              <a:t>Representación de palabras: Tokens</a:t>
            </a:r>
            <a:endParaRPr lang="en-US" sz="2950" dirty="0"/>
          </a:p>
        </p:txBody>
      </p:sp>
      <p:sp>
        <p:nvSpPr>
          <p:cNvPr id="5" name="Text 3"/>
          <p:cNvSpPr/>
          <p:nvPr/>
        </p:nvSpPr>
        <p:spPr>
          <a:xfrm>
            <a:off x="661475" y="1365349"/>
            <a:ext cx="10868745" cy="850404"/>
          </a:xfrm>
          <a:prstGeom prst="rect">
            <a:avLst/>
          </a:prstGeom>
          <a:noFill/>
          <a:ln/>
        </p:spPr>
        <p:txBody>
          <a:bodyPr wrap="square" lIns="0" tIns="0" rIns="0" bIns="0" rtlCol="0" anchor="t">
            <a:normAutofit/>
          </a:bodyPr>
          <a:lstStyle/>
          <a:p>
            <a:pPr algn="l" indent="0" marL="0">
              <a:lnSpc>
                <a:spcPct val="104000"/>
              </a:lnSpc>
              <a:buNone/>
            </a:pPr>
            <a:r>
              <a:rPr lang="en-US" sz="1750" dirty="0">
                <a:solidFill>
                  <a:srgbClr val="1F1E1E"/>
                </a:solidFill>
                <a:latin typeface="Roboto Mono Medium" pitchFamily="34" charset="0"/>
                <a:ea typeface="Roboto Mono Medium" pitchFamily="34" charset="-122"/>
                <a:cs typeface="Roboto Mono Medium" pitchFamily="34" charset="-120"/>
              </a:rPr>
              <a:t>Los modelos trabajan con números, no con letras. El primer paso es dividir el texto en tokens — las unidades mínimas que el modelo procesa. Cada token tendrá un vector asignado que lo identifica.</a:t>
            </a:r>
            <a:endParaRPr lang="en-US" sz="1750" dirty="0"/>
          </a:p>
        </p:txBody>
      </p:sp>
      <p:sp>
        <p:nvSpPr>
          <p:cNvPr id="6" name="Text 4"/>
          <p:cNvSpPr/>
          <p:nvPr/>
        </p:nvSpPr>
        <p:spPr>
          <a:xfrm>
            <a:off x="661475" y="2397125"/>
            <a:ext cx="11478330"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Un token puede ser: una palabra completa, parte de una palabra, o un signo de puntuación.</a:t>
            </a:r>
            <a:endParaRPr lang="en-US" sz="1150" dirty="0"/>
          </a:p>
        </p:txBody>
      </p:sp>
      <p:sp>
        <p:nvSpPr>
          <p:cNvPr id="7" name="Shape 5"/>
          <p:cNvSpPr/>
          <p:nvPr/>
        </p:nvSpPr>
        <p:spPr>
          <a:xfrm>
            <a:off x="661475" y="2750840"/>
            <a:ext cx="10868745" cy="786209"/>
          </a:xfrm>
          <a:prstGeom prst="roundRect">
            <a:avLst>
              <a:gd name="adj" fmla="val 969"/>
            </a:avLst>
          </a:prstGeom>
          <a:solidFill>
            <a:srgbClr val="F2F2F2"/>
          </a:solidFill>
          <a:ln/>
        </p:spPr>
      </p:sp>
      <p:sp>
        <p:nvSpPr>
          <p:cNvPr id="8" name="Text 6"/>
          <p:cNvSpPr/>
          <p:nvPr/>
        </p:nvSpPr>
        <p:spPr>
          <a:xfrm>
            <a:off x="842842" y="2902049"/>
            <a:ext cx="10506011" cy="483791"/>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"the cat sat on the mat"</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["the", "cat", "sat", "on", "the", "mat"]    (6 tokens)</a:t>
            </a:r>
            <a:endParaRPr lang="en-US" sz="1150" dirty="0"/>
          </a:p>
        </p:txBody>
      </p:sp>
      <p:sp>
        <p:nvSpPr>
          <p:cNvPr id="9" name="Text 7"/>
          <p:cNvSpPr/>
          <p:nvPr/>
        </p:nvSpPr>
        <p:spPr>
          <a:xfrm>
            <a:off x="661475" y="3718421"/>
            <a:ext cx="10868745" cy="378023"/>
          </a:xfrm>
          <a:prstGeom prst="rect">
            <a:avLst/>
          </a:prstGeom>
          <a:noFill/>
          <a:ln/>
        </p:spPr>
        <p:txBody>
          <a:bodyPr wrap="none" lIns="0" tIns="0" rIns="0" bIns="0" rtlCol="0" anchor="t"/>
          <a:lstStyle/>
          <a:p>
            <a:pPr algn="l" indent="0" marL="0">
              <a:lnSpc>
                <a:spcPct val="104000"/>
              </a:lnSpc>
              <a:buNone/>
            </a:pPr>
            <a:r>
              <a:rPr lang="en-US" sz="2350" dirty="0">
                <a:solidFill>
                  <a:srgbClr val="1F1E1E"/>
                </a:solidFill>
                <a:latin typeface="Roboto Mono Medium" pitchFamily="34" charset="0"/>
                <a:ea typeface="Roboto Mono Medium" pitchFamily="34" charset="-122"/>
                <a:cs typeface="Roboto Mono Medium" pitchFamily="34" charset="-120"/>
              </a:rPr>
              <a:t>Palabras vs Tokens</a:t>
            </a:r>
            <a:endParaRPr lang="en-US" sz="2350" dirty="0"/>
          </a:p>
        </p:txBody>
      </p:sp>
      <p:sp>
        <p:nvSpPr>
          <p:cNvPr id="10" name="Text 8"/>
          <p:cNvSpPr/>
          <p:nvPr/>
        </p:nvSpPr>
        <p:spPr>
          <a:xfrm>
            <a:off x="661475" y="4277816"/>
            <a:ext cx="11478330"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Los modelos modernos usan sub-palabras (o incluso caracteres):</a:t>
            </a:r>
            <a:endParaRPr lang="en-US" sz="1150" dirty="0"/>
          </a:p>
        </p:txBody>
      </p:sp>
      <p:sp>
        <p:nvSpPr>
          <p:cNvPr id="11" name="Shape 9"/>
          <p:cNvSpPr/>
          <p:nvPr/>
        </p:nvSpPr>
        <p:spPr>
          <a:xfrm>
            <a:off x="661475" y="4631531"/>
            <a:ext cx="10868745" cy="786209"/>
          </a:xfrm>
          <a:prstGeom prst="roundRect">
            <a:avLst>
              <a:gd name="adj" fmla="val 969"/>
            </a:avLst>
          </a:prstGeom>
          <a:solidFill>
            <a:srgbClr val="F2F2F2"/>
          </a:solidFill>
          <a:ln/>
        </p:spPr>
      </p:sp>
      <p:sp>
        <p:nvSpPr>
          <p:cNvPr id="12" name="Text 10"/>
          <p:cNvSpPr/>
          <p:nvPr/>
        </p:nvSpPr>
        <p:spPr>
          <a:xfrm>
            <a:off x="842842" y="4782741"/>
            <a:ext cx="10506011" cy="483791"/>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"unbelievable"</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["un", "believ", "able"]    (3 tokens)</a:t>
            </a:r>
            <a:endParaRPr lang="en-US" sz="1150" dirty="0"/>
          </a:p>
        </p:txBody>
      </p:sp>
      <p:sp>
        <p:nvSpPr>
          <p:cNvPr id="13" name="Text 11"/>
          <p:cNvSpPr/>
          <p:nvPr/>
        </p:nvSpPr>
        <p:spPr>
          <a:xfrm>
            <a:off x="661475" y="5553770"/>
            <a:ext cx="10868745" cy="737592"/>
          </a:xfrm>
          <a:prstGeom prst="rect">
            <a:avLst/>
          </a:prstGeom>
          <a:noFill/>
          <a:ln/>
        </p:spPr>
        <p:txBody>
          <a:bodyPr wrap="square" lIns="0" tIns="60486" rIns="0" bIns="0" rtlCol="0" anchor="t">
            <a:normAutofit/>
          </a:bodyPr>
          <a:lstStyle/>
          <a:p>
            <a:pPr algn="l" marL="233680" indent="-233680">
              <a:lnSpc>
                <a:spcPct val="120000"/>
              </a:lnSpc>
              <a:buSzPct val="100000"/>
              <a:buChar char="•"/>
            </a:pPr>
            <a:r>
              <a:rPr lang="en-US" sz="1150" dirty="0">
                <a:solidFill>
                  <a:srgbClr val="3B3535"/>
                </a:solidFill>
                <a:latin typeface="Roboto" pitchFamily="34" charset="0"/>
                <a:ea typeface="Roboto" pitchFamily="34" charset="-122"/>
                <a:cs typeface="Roboto" pitchFamily="34" charset="-120"/>
              </a:rPr>
              <a:t>Vocabularios más compactos (no necesita una entrada por cada palabra del idioma)</a:t>
            </a:r>
            <a:endParaRPr lang="en-US" sz="1150" dirty="0"/>
          </a:p>
          <a:p>
            <a:pPr algn="l" marL="233680" indent="-233680">
              <a:lnSpc>
                <a:spcPct val="120000"/>
              </a:lnSpc>
              <a:buSzPct val="100000"/>
              <a:buChar char="•"/>
            </a:pPr>
            <a:r>
              <a:rPr lang="en-US" sz="1150" dirty="0">
                <a:solidFill>
                  <a:srgbClr val="3B3535"/>
                </a:solidFill>
                <a:latin typeface="Roboto" pitchFamily="34" charset="0"/>
                <a:ea typeface="Roboto" pitchFamily="34" charset="-122"/>
                <a:cs typeface="Roboto" pitchFamily="34" charset="-120"/>
              </a:rPr>
              <a:t>Entiende palabras nuevas descomponiéndolas en partes conocidas</a:t>
            </a:r>
            <a:endParaRPr lang="en-US" sz="1150" dirty="0"/>
          </a:p>
          <a:p>
            <a:pPr algn="l" marL="233680" indent="-233680">
              <a:lnSpc>
                <a:spcPct val="120000"/>
              </a:lnSpc>
              <a:buSzPct val="100000"/>
              <a:buChar char="•"/>
            </a:pPr>
            <a:r>
              <a:rPr lang="en-US" sz="1150" dirty="0">
                <a:solidFill>
                  <a:srgbClr val="3B3535"/>
                </a:solidFill>
                <a:latin typeface="Roboto" pitchFamily="34" charset="0"/>
                <a:ea typeface="Roboto" pitchFamily="34" charset="-122"/>
                <a:cs typeface="Roboto" pitchFamily="34" charset="-120"/>
              </a:rPr>
              <a:t>Funciona en múltiples idiomas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61475" y="937518"/>
            <a:ext cx="1899595" cy="215305"/>
          </a:xfrm>
          <a:prstGeom prst="roundRect">
            <a:avLst>
              <a:gd name="adj" fmla="val 3539"/>
            </a:avLst>
          </a:prstGeom>
          <a:solidFill>
            <a:srgbClr val="F9D2D6"/>
          </a:solidFill>
          <a:ln/>
        </p:spPr>
      </p:sp>
      <p:sp>
        <p:nvSpPr>
          <p:cNvPr id="3" name="Text 1"/>
          <p:cNvSpPr/>
          <p:nvPr/>
        </p:nvSpPr>
        <p:spPr>
          <a:xfrm>
            <a:off x="746503" y="979984"/>
            <a:ext cx="2339123" cy="130373"/>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NLP: MOTIVACIÓN Y PROBLEMAS</a:t>
            </a:r>
            <a:endParaRPr lang="en-US" sz="850" dirty="0"/>
          </a:p>
        </p:txBody>
      </p:sp>
      <p:sp>
        <p:nvSpPr>
          <p:cNvPr id="4" name="Text 2"/>
          <p:cNvSpPr/>
          <p:nvPr/>
        </p:nvSpPr>
        <p:spPr>
          <a:xfrm>
            <a:off x="661475" y="1195288"/>
            <a:ext cx="10868745" cy="443012"/>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Vocabulario y Representaciones de Texto</a:t>
            </a:r>
            <a:endParaRPr lang="en-US" sz="2750" dirty="0"/>
          </a:p>
        </p:txBody>
      </p:sp>
      <p:sp>
        <p:nvSpPr>
          <p:cNvPr id="5" name="Text 3"/>
          <p:cNvSpPr/>
          <p:nvPr/>
        </p:nvSpPr>
        <p:spPr>
          <a:xfrm>
            <a:off x="661475" y="1797745"/>
            <a:ext cx="10868745"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El vocabulario V es el conjunto completo de tokens que el modelo conoce. Por eso predice un vector de probabilidades de tamaño |V|. Pero el token (texto) en sí no puede ser procesado con los parámetros del modelo (números) directamente. Hay que convertir los tokens en números…</a:t>
            </a:r>
            <a:endParaRPr lang="en-US" sz="1100" dirty="0"/>
          </a:p>
        </p:txBody>
      </p:sp>
      <p:sp>
        <p:nvSpPr>
          <p:cNvPr id="6" name="Text 4"/>
          <p:cNvSpPr/>
          <p:nvPr/>
        </p:nvSpPr>
        <p:spPr>
          <a:xfrm>
            <a:off x="661475" y="2354064"/>
            <a:ext cx="10868745" cy="354409"/>
          </a:xfrm>
          <a:prstGeom prst="rect">
            <a:avLst/>
          </a:prstGeom>
          <a:noFill/>
          <a:ln/>
        </p:spPr>
        <p:txBody>
          <a:bodyPr wrap="none" lIns="0" tIns="0" rIns="0" bIns="0" rtlCol="0" anchor="t"/>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Formas de representar texto numéricamente</a:t>
            </a:r>
            <a:endParaRPr lang="en-US" sz="2200" dirty="0"/>
          </a:p>
        </p:txBody>
      </p:sp>
      <p:sp>
        <p:nvSpPr>
          <p:cNvPr id="7" name="Shape 5"/>
          <p:cNvSpPr/>
          <p:nvPr/>
        </p:nvSpPr>
        <p:spPr>
          <a:xfrm>
            <a:off x="661475" y="2867918"/>
            <a:ext cx="10868745" cy="1226741"/>
          </a:xfrm>
          <a:prstGeom prst="roundRect">
            <a:avLst>
              <a:gd name="adj" fmla="val 621"/>
            </a:avLst>
          </a:prstGeom>
          <a:noFill/>
          <a:ln w="6350">
            <a:solidFill>
              <a:srgbClr val="000000">
                <a:alpha val="8000"/>
              </a:srgbClr>
            </a:solidFill>
            <a:prstDash val="solid"/>
          </a:ln>
        </p:spPr>
      </p:sp>
      <p:sp>
        <p:nvSpPr>
          <p:cNvPr id="8" name="Shape 6"/>
          <p:cNvSpPr/>
          <p:nvPr/>
        </p:nvSpPr>
        <p:spPr>
          <a:xfrm>
            <a:off x="667825" y="2874268"/>
            <a:ext cx="10856046" cy="338534"/>
          </a:xfrm>
          <a:prstGeom prst="rect">
            <a:avLst/>
          </a:prstGeom>
          <a:solidFill>
            <a:srgbClr val="FFFFFF">
              <a:alpha val="4000"/>
            </a:srgbClr>
          </a:solidFill>
          <a:ln/>
        </p:spPr>
      </p:sp>
      <p:sp>
        <p:nvSpPr>
          <p:cNvPr id="9" name="Text 7"/>
          <p:cNvSpPr/>
          <p:nvPr/>
        </p:nvSpPr>
        <p:spPr>
          <a:xfrm>
            <a:off x="809605" y="2944316"/>
            <a:ext cx="3579822" cy="198438"/>
          </a:xfrm>
          <a:prstGeom prst="rect">
            <a:avLst/>
          </a:prstGeom>
          <a:noFill/>
          <a:ln/>
        </p:spPr>
        <p:txBody>
          <a:bodyPr wrap="none" lIns="0" tIns="0" rIns="0" bIns="0" rtlCol="0" anchor="t"/>
          <a:lstStyle/>
          <a:p>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Bag of Words / TF-IDF</a:t>
            </a:r>
            <a:endParaRPr lang="en-US" sz="1100" dirty="0"/>
          </a:p>
        </p:txBody>
      </p:sp>
      <p:sp>
        <p:nvSpPr>
          <p:cNvPr id="10" name="Text 8"/>
          <p:cNvSpPr/>
          <p:nvPr/>
        </p:nvSpPr>
        <p:spPr>
          <a:xfrm>
            <a:off x="4069554" y="2944316"/>
            <a:ext cx="7922221"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Contar palabras. Ignora orden y significado.</a:t>
            </a:r>
            <a:endParaRPr lang="en-US" sz="1100" dirty="0"/>
          </a:p>
        </p:txBody>
      </p:sp>
      <p:sp>
        <p:nvSpPr>
          <p:cNvPr id="11" name="Shape 9"/>
          <p:cNvSpPr/>
          <p:nvPr/>
        </p:nvSpPr>
        <p:spPr>
          <a:xfrm>
            <a:off x="667825" y="3212802"/>
            <a:ext cx="10856046" cy="536972"/>
          </a:xfrm>
          <a:prstGeom prst="rect">
            <a:avLst/>
          </a:prstGeom>
          <a:solidFill>
            <a:srgbClr val="000000">
              <a:alpha val="4000"/>
            </a:srgbClr>
          </a:solidFill>
          <a:ln/>
        </p:spPr>
      </p:sp>
      <p:sp>
        <p:nvSpPr>
          <p:cNvPr id="12" name="Text 10"/>
          <p:cNvSpPr/>
          <p:nvPr/>
        </p:nvSpPr>
        <p:spPr>
          <a:xfrm>
            <a:off x="809605" y="3282851"/>
            <a:ext cx="3579822" cy="198438"/>
          </a:xfrm>
          <a:prstGeom prst="rect">
            <a:avLst/>
          </a:prstGeom>
          <a:noFill/>
          <a:ln/>
        </p:spPr>
        <p:txBody>
          <a:bodyPr wrap="none" lIns="0" tIns="0" rIns="0" bIns="0" rtlCol="0" anchor="t"/>
          <a:lstStyle/>
          <a:p>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One-Hot Encoding</a:t>
            </a:r>
            <a:endParaRPr lang="en-US" sz="1100" dirty="0"/>
          </a:p>
        </p:txBody>
      </p:sp>
      <p:sp>
        <p:nvSpPr>
          <p:cNvPr id="13" name="Text 11"/>
          <p:cNvSpPr/>
          <p:nvPr/>
        </p:nvSpPr>
        <p:spPr>
          <a:xfrm>
            <a:off x="4069554" y="3282851"/>
            <a:ext cx="7312636"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Vector con un solo 1. No captura similitud ("cat" y "dog" igual de lejos que "cat" y "refrigerator"). Cada vector canónico se corresponde con un token.</a:t>
            </a:r>
            <a:endParaRPr lang="en-US" sz="1100" dirty="0"/>
          </a:p>
        </p:txBody>
      </p:sp>
      <p:sp>
        <p:nvSpPr>
          <p:cNvPr id="14" name="Shape 12"/>
          <p:cNvSpPr/>
          <p:nvPr/>
        </p:nvSpPr>
        <p:spPr>
          <a:xfrm>
            <a:off x="667825" y="3749774"/>
            <a:ext cx="10856046" cy="338534"/>
          </a:xfrm>
          <a:prstGeom prst="rect">
            <a:avLst/>
          </a:prstGeom>
          <a:solidFill>
            <a:srgbClr val="FFFFFF">
              <a:alpha val="4000"/>
            </a:srgbClr>
          </a:solidFill>
          <a:ln/>
        </p:spPr>
      </p:sp>
      <p:sp>
        <p:nvSpPr>
          <p:cNvPr id="15" name="Text 13"/>
          <p:cNvSpPr/>
          <p:nvPr/>
        </p:nvSpPr>
        <p:spPr>
          <a:xfrm>
            <a:off x="809605" y="3819823"/>
            <a:ext cx="3579822" cy="198438"/>
          </a:xfrm>
          <a:prstGeom prst="rect">
            <a:avLst/>
          </a:prstGeom>
          <a:noFill/>
          <a:ln/>
        </p:spPr>
        <p:txBody>
          <a:bodyPr wrap="none" lIns="0" tIns="0" rIns="0" bIns="0" rtlCol="0" anchor="t"/>
          <a:lstStyle/>
          <a:p>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Embeddings</a:t>
            </a:r>
            <a:endParaRPr lang="en-US" sz="1100" dirty="0"/>
          </a:p>
        </p:txBody>
      </p:sp>
      <p:sp>
        <p:nvSpPr>
          <p:cNvPr id="16" name="Text 14"/>
          <p:cNvSpPr/>
          <p:nvPr/>
        </p:nvSpPr>
        <p:spPr>
          <a:xfrm>
            <a:off x="4069554" y="3819823"/>
            <a:ext cx="7922221"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Vectores donde tokens con significado similar tienen vectores similares. Es lo que usan los modelos modernos.</a:t>
            </a:r>
            <a:endParaRPr lang="en-US" sz="1100" dirty="0"/>
          </a:p>
        </p:txBody>
      </p:sp>
      <p:sp>
        <p:nvSpPr>
          <p:cNvPr id="17" name="Text 15"/>
          <p:cNvSpPr/>
          <p:nvPr/>
        </p:nvSpPr>
        <p:spPr>
          <a:xfrm>
            <a:off x="661475" y="4254103"/>
            <a:ext cx="10868745" cy="354409"/>
          </a:xfrm>
          <a:prstGeom prst="rect">
            <a:avLst/>
          </a:prstGeom>
          <a:noFill/>
          <a:ln/>
        </p:spPr>
        <p:txBody>
          <a:bodyPr wrap="none" lIns="0" tIns="0" rIns="0" bIns="0" rtlCol="0" anchor="t"/>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Word2Vec</a:t>
            </a:r>
            <a:endParaRPr lang="en-US" sz="2200" dirty="0"/>
          </a:p>
        </p:txBody>
      </p:sp>
      <p:sp>
        <p:nvSpPr>
          <p:cNvPr id="18" name="Text 16"/>
          <p:cNvSpPr/>
          <p:nvPr/>
        </p:nvSpPr>
        <p:spPr>
          <a:xfrm>
            <a:off x="661475" y="4767957"/>
            <a:ext cx="10868745" cy="1152426"/>
          </a:xfrm>
          <a:prstGeom prst="rect">
            <a:avLst/>
          </a:prstGeom>
          <a:noFill/>
          <a:ln/>
        </p:spPr>
        <p:txBody>
          <a:bodyPr wrap="square" lIns="0" tIns="0" rIns="0" bIns="0" rtlCol="0" anchor="t"/>
          <a:lstStyle/>
          <a:p>
            <a:pPr algn="l" indent="0" marL="0">
              <a:lnSpc>
                <a:spcPct val="117000"/>
              </a:lnSpc>
              <a:spcAft>
                <a:spcPts val="900"/>
              </a:spcAft>
              <a:buNone/>
            </a:pPr>
            <a:r>
              <a:rPr lang="en-US" sz="1100" dirty="0">
                <a:solidFill>
                  <a:srgbClr val="3B3535"/>
                </a:solidFill>
                <a:latin typeface="Roboto" pitchFamily="34" charset="0"/>
                <a:ea typeface="Roboto" pitchFamily="34" charset="-122"/>
                <a:cs typeface="Roboto" pitchFamily="34" charset="-120"/>
              </a:rPr>
              <a:t>Uno de los primeros métodos para aprender embeddings automáticamente.</a:t>
            </a:r>
            <a:endParaRPr lang="en-US" sz="1100" dirty="0"/>
          </a:p>
          <a:p>
            <a:pPr algn="l" indent="0" marL="0">
              <a:lnSpc>
                <a:spcPct val="117000"/>
              </a:lnSpc>
              <a:spcAft>
                <a:spcPts val="900"/>
              </a:spcAft>
              <a:buNone/>
            </a:pPr>
            <a:r>
              <a:rPr lang="en-US" sz="1100" b="1" dirty="0">
                <a:solidFill>
                  <a:srgbClr val="3B3535"/>
                </a:solidFill>
                <a:latin typeface="Roboto Bold" pitchFamily="34" charset="0"/>
                <a:ea typeface="Roboto Bold" pitchFamily="34" charset="-122"/>
                <a:cs typeface="Roboto Bold" pitchFamily="34" charset="-120"/>
              </a:rPr>
              <a:t>Idea</a:t>
            </a:r>
            <a:pPr algn="l" indent="0" marL="0">
              <a:lnSpc>
                <a:spcPct val="117000"/>
              </a:lnSpc>
              <a:spcAft>
                <a:spcPts val="900"/>
              </a:spcAft>
              <a:buNone/>
            </a:pPr>
            <a:r>
              <a:rPr lang="en-US" sz="1100" dirty="0">
                <a:solidFill>
                  <a:srgbClr val="3B3535"/>
                </a:solidFill>
                <a:latin typeface="Roboto" pitchFamily="34" charset="0"/>
                <a:ea typeface="Roboto" pitchFamily="34" charset="-122"/>
                <a:cs typeface="Roboto" pitchFamily="34" charset="-120"/>
              </a:rPr>
              <a:t>: "una palabra se define por la compañía que tiene".</a:t>
            </a:r>
            <a:endParaRPr lang="en-US" sz="1100" dirty="0"/>
          </a:p>
          <a:p>
            <a:pPr algn="l" indent="0" marL="0">
              <a:lnSpc>
                <a:spcPct val="117000"/>
              </a:lnSpc>
              <a:spcAft>
                <a:spcPts val="900"/>
              </a:spcAft>
              <a:buNone/>
            </a:pPr>
            <a:r>
              <a:rPr lang="en-US" sz="1100" b="1" dirty="0">
                <a:solidFill>
                  <a:srgbClr val="3B3535"/>
                </a:solidFill>
                <a:latin typeface="Roboto Bold" pitchFamily="34" charset="0"/>
                <a:ea typeface="Roboto Bold" pitchFamily="34" charset="-122"/>
                <a:cs typeface="Roboto Bold" pitchFamily="34" charset="-120"/>
              </a:rPr>
              <a:t>Funcionamiento</a:t>
            </a:r>
            <a:pPr algn="l" indent="0" marL="0">
              <a:lnSpc>
                <a:spcPct val="117000"/>
              </a:lnSpc>
              <a:spcAft>
                <a:spcPts val="900"/>
              </a:spcAft>
              <a:buNone/>
            </a:pPr>
            <a:r>
              <a:rPr lang="en-US" sz="1100" dirty="0">
                <a:solidFill>
                  <a:srgbClr val="3B3535"/>
                </a:solidFill>
                <a:latin typeface="Roboto" pitchFamily="34" charset="0"/>
                <a:ea typeface="Roboto" pitchFamily="34" charset="-122"/>
                <a:cs typeface="Roboto" pitchFamily="34" charset="-120"/>
              </a:rPr>
              <a:t>: Saca promedios de los vectores de las palabras que circundan a cada una en el corpus de texto en que aparece.</a:t>
            </a:r>
            <a:endParaRPr lang="en-US" sz="1100" dirty="0"/>
          </a:p>
          <a:p>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Importante</a:t>
            </a:r>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 Word2Vec </a:t>
            </a:r>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no es un modelo de lenguaje (no genera palabras)</a:t>
            </a:r>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 Es un método para obtener embeddings con significado real de palabras en su contexto.</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61475" y="610493"/>
            <a:ext cx="3720412" cy="243979"/>
          </a:xfrm>
          <a:prstGeom prst="roundRect">
            <a:avLst>
              <a:gd name="adj" fmla="val 3123"/>
            </a:avLst>
          </a:prstGeom>
          <a:solidFill>
            <a:srgbClr val="F9D2D6"/>
          </a:solidFill>
          <a:ln/>
        </p:spPr>
      </p:sp>
      <p:sp>
        <p:nvSpPr>
          <p:cNvPr id="3" name="Text 1"/>
          <p:cNvSpPr/>
          <p:nvPr/>
        </p:nvSpPr>
        <p:spPr>
          <a:xfrm>
            <a:off x="757814" y="658614"/>
            <a:ext cx="4137318" cy="147737"/>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REDES NEURONALES: DEL PERCEPTRÓN AL DEEP LEARNING</a:t>
            </a:r>
            <a:endParaRPr lang="en-US" sz="1000" dirty="0"/>
          </a:p>
        </p:txBody>
      </p:sp>
      <p:sp>
        <p:nvSpPr>
          <p:cNvPr id="4" name="Text 2"/>
          <p:cNvSpPr/>
          <p:nvPr/>
        </p:nvSpPr>
        <p:spPr>
          <a:xfrm>
            <a:off x="661475" y="909042"/>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1F1E1E"/>
                </a:solidFill>
                <a:latin typeface="Roboto Mono Medium" pitchFamily="34" charset="0"/>
                <a:ea typeface="Roboto Mono Medium" pitchFamily="34" charset="-122"/>
                <a:cs typeface="Roboto Mono Medium" pitchFamily="34" charset="-120"/>
              </a:rPr>
              <a:t>Embedding de Texto</a:t>
            </a:r>
            <a:endParaRPr lang="en-US" sz="3150" dirty="0"/>
          </a:p>
        </p:txBody>
      </p:sp>
      <p:sp>
        <p:nvSpPr>
          <p:cNvPr id="5" name="Text 3"/>
          <p:cNvSpPr/>
          <p:nvPr/>
        </p:nvSpPr>
        <p:spPr>
          <a:xfrm>
            <a:off x="661475" y="1465659"/>
            <a:ext cx="10868745" cy="301228"/>
          </a:xfrm>
          <a:prstGeom prst="rect">
            <a:avLst/>
          </a:prstGeom>
          <a:noFill/>
          <a:ln/>
        </p:spPr>
        <p:txBody>
          <a:bodyPr wrap="none" lIns="0" tIns="0" rIns="0" bIns="0" rtlCol="0" anchor="t"/>
          <a:lstStyle/>
          <a:p>
            <a:pPr algn="l" indent="0" marL="0">
              <a:lnSpc>
                <a:spcPct val="104000"/>
              </a:lnSpc>
              <a:buNone/>
            </a:pPr>
            <a:r>
              <a:rPr lang="en-US" sz="1850" b="1" dirty="0">
                <a:solidFill>
                  <a:srgbClr val="1F1E1E"/>
                </a:solidFill>
                <a:latin typeface="Roboto Mono Bold" pitchFamily="34" charset="0"/>
                <a:ea typeface="Roboto Mono Bold" pitchFamily="34" charset="-122"/>
                <a:cs typeface="Roboto Mono Bold" pitchFamily="34" charset="-120"/>
              </a:rPr>
              <a:t>Embedding de texto</a:t>
            </a:r>
            <a:pPr algn="l" indent="0" marL="0">
              <a:lnSpc>
                <a:spcPct val="104000"/>
              </a:lnSpc>
              <a:buNone/>
            </a:pPr>
            <a:r>
              <a:rPr lang="en-US" sz="1850" dirty="0">
                <a:solidFill>
                  <a:srgbClr val="1F1E1E"/>
                </a:solidFill>
                <a:latin typeface="Roboto Mono Medium" pitchFamily="34" charset="0"/>
                <a:ea typeface="Roboto Mono Medium" pitchFamily="34" charset="-122"/>
                <a:cs typeface="Roboto Mono Medium" pitchFamily="34" charset="-120"/>
              </a:rPr>
              <a:t>: vector que codifica el significado de una palabra.</a:t>
            </a:r>
            <a:endParaRPr lang="en-US" sz="1850" dirty="0"/>
          </a:p>
        </p:txBody>
      </p:sp>
      <p:sp>
        <p:nvSpPr>
          <p:cNvPr id="6" name="Text 4"/>
          <p:cNvSpPr/>
          <p:nvPr/>
        </p:nvSpPr>
        <p:spPr>
          <a:xfrm>
            <a:off x="661475" y="1971675"/>
            <a:ext cx="1086874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Palabras relacionadas y con significados similares se encuentran "cercanos" en el espacio.</a:t>
            </a:r>
            <a:endParaRPr lang="en-US" sz="1250" dirty="0"/>
          </a:p>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También codifican relaciones entre palabras: el vector que me lleva de "man" a "woman" es el mismo que me lleva de "king" a "queen"....</a:t>
            </a:r>
            <a:endParaRPr lang="en-US" sz="1250" dirty="0"/>
          </a:p>
        </p:txBody>
      </p:sp>
      <p:pic>
        <p:nvPicPr>
          <p:cNvPr id="7" name="Image 0" descr="preencoded.png">    </p:cNvPr>
          <p:cNvPicPr>
            <a:picLocks noChangeAspect="1"/>
          </p:cNvPicPr>
          <p:nvPr/>
        </p:nvPicPr>
        <p:blipFill>
          <a:blip r:embed="rId1"/>
          <a:stretch>
            <a:fillRect/>
          </a:stretch>
        </p:blipFill>
        <p:spPr>
          <a:xfrm>
            <a:off x="661475" y="2754313"/>
            <a:ext cx="4452628" cy="1697534"/>
          </a:xfrm>
          <a:prstGeom prst="rect">
            <a:avLst/>
          </a:prstGeom>
        </p:spPr>
      </p:pic>
      <p:pic>
        <p:nvPicPr>
          <p:cNvPr id="8" name="Image 1" descr="preencoded.png">    </p:cNvPr>
          <p:cNvPicPr>
            <a:picLocks noChangeAspect="1"/>
          </p:cNvPicPr>
          <p:nvPr/>
        </p:nvPicPr>
        <p:blipFill>
          <a:blip r:embed="rId2"/>
          <a:stretch>
            <a:fillRect/>
          </a:stretch>
        </p:blipFill>
        <p:spPr>
          <a:xfrm>
            <a:off x="661475" y="4605437"/>
            <a:ext cx="4452628" cy="1488480"/>
          </a:xfrm>
          <a:prstGeom prst="rect">
            <a:avLst/>
          </a:prstGeom>
        </p:spPr>
      </p:pic>
      <p:pic>
        <p:nvPicPr>
          <p:cNvPr id="9" name="Image 2" descr="preencoded.png">    </p:cNvPr>
          <p:cNvPicPr>
            <a:picLocks noChangeAspect="1"/>
          </p:cNvPicPr>
          <p:nvPr/>
        </p:nvPicPr>
        <p:blipFill>
          <a:blip r:embed="rId3"/>
          <a:stretch>
            <a:fillRect/>
          </a:stretch>
        </p:blipFill>
        <p:spPr>
          <a:xfrm>
            <a:off x="6298149" y="2754313"/>
            <a:ext cx="3273542" cy="33289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661475" y="691852"/>
            <a:ext cx="3283761" cy="215305"/>
          </a:xfrm>
          <a:prstGeom prst="roundRect">
            <a:avLst>
              <a:gd name="adj" fmla="val 3539"/>
            </a:avLst>
          </a:prstGeom>
          <a:solidFill>
            <a:srgbClr val="F9D2D6"/>
          </a:solidFill>
          <a:ln/>
        </p:spPr>
      </p:sp>
      <p:sp>
        <p:nvSpPr>
          <p:cNvPr id="3" name="Text 1"/>
          <p:cNvSpPr/>
          <p:nvPr/>
        </p:nvSpPr>
        <p:spPr>
          <a:xfrm>
            <a:off x="746503" y="734318"/>
            <a:ext cx="3723289" cy="130373"/>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REDES NEURONALES: DEL PERCEPTRÓN AL DEEP LEARNING</a:t>
            </a:r>
            <a:endParaRPr lang="en-US" sz="850" dirty="0"/>
          </a:p>
        </p:txBody>
      </p:sp>
      <p:sp>
        <p:nvSpPr>
          <p:cNvPr id="4" name="Text 2"/>
          <p:cNvSpPr/>
          <p:nvPr/>
        </p:nvSpPr>
        <p:spPr>
          <a:xfrm>
            <a:off x="661475" y="949623"/>
            <a:ext cx="10868745" cy="443012"/>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Redes Neuronales: Perceptrón</a:t>
            </a:r>
            <a:endParaRPr lang="en-US" sz="2750" dirty="0"/>
          </a:p>
        </p:txBody>
      </p:sp>
      <p:sp>
        <p:nvSpPr>
          <p:cNvPr id="5" name="Text 3"/>
          <p:cNvSpPr/>
          <p:nvPr/>
        </p:nvSpPr>
        <p:spPr>
          <a:xfrm>
            <a:off x="661475" y="1435100"/>
            <a:ext cx="10868745" cy="265708"/>
          </a:xfrm>
          <a:prstGeom prst="rect">
            <a:avLst/>
          </a:prstGeom>
          <a:noFill/>
          <a:ln/>
        </p:spPr>
        <p:txBody>
          <a:bodyPr wrap="none" lIns="0" tIns="0" rIns="0" bIns="0" rtlCol="0" anchor="t"/>
          <a:lstStyle/>
          <a:p>
            <a:pPr algn="l" indent="0" marL="0">
              <a:lnSpc>
                <a:spcPct val="104000"/>
              </a:lnSpc>
              <a:buNone/>
            </a:pPr>
            <a:r>
              <a:rPr lang="en-US" sz="1650" dirty="0">
                <a:solidFill>
                  <a:srgbClr val="1F1E1E"/>
                </a:solidFill>
                <a:latin typeface="Roboto Mono Medium" pitchFamily="34" charset="0"/>
                <a:ea typeface="Roboto Mono Medium" pitchFamily="34" charset="-122"/>
                <a:cs typeface="Roboto Mono Medium" pitchFamily="34" charset="-120"/>
              </a:rPr>
              <a:t>El bloque fundamental de las redes neuronales — la neurona artificial más simple.</a:t>
            </a:r>
            <a:endParaRPr lang="en-US" sz="1650" dirty="0"/>
          </a:p>
        </p:txBody>
      </p:sp>
      <p:sp>
        <p:nvSpPr>
          <p:cNvPr id="6" name="Text 4"/>
          <p:cNvSpPr/>
          <p:nvPr/>
        </p:nvSpPr>
        <p:spPr>
          <a:xfrm>
            <a:off x="661475" y="1966516"/>
            <a:ext cx="5261439" cy="354409"/>
          </a:xfrm>
          <a:prstGeom prst="rect">
            <a:avLst/>
          </a:prstGeom>
          <a:noFill/>
          <a:ln/>
        </p:spPr>
        <p:txBody>
          <a:bodyPr wrap="none" lIns="0" tIns="0" rIns="0" bIns="0" rtlCol="0" anchor="t"/>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¿Cómo funciona?</a:t>
            </a:r>
            <a:endParaRPr lang="en-US" sz="2200" dirty="0"/>
          </a:p>
        </p:txBody>
      </p:sp>
      <p:sp>
        <p:nvSpPr>
          <p:cNvPr id="7" name="Text 5"/>
          <p:cNvSpPr/>
          <p:nvPr/>
        </p:nvSpPr>
        <p:spPr>
          <a:xfrm>
            <a:off x="661475" y="2427188"/>
            <a:ext cx="5261439" cy="905371"/>
          </a:xfrm>
          <a:prstGeom prst="rect">
            <a:avLst/>
          </a:prstGeom>
          <a:noFill/>
          <a:ln/>
        </p:spPr>
        <p:txBody>
          <a:bodyPr wrap="square" lIns="0" tIns="0" rIns="0" bIns="0" rtlCol="0" anchor="t">
            <a:normAutofit/>
          </a:bodyPr>
          <a:lstStyle/>
          <a:p>
            <a:pPr algn="l" marL="223520" indent="-223520">
              <a:lnSpc>
                <a:spcPct val="117000"/>
              </a:lnSpc>
              <a:buSzPct val="100000"/>
              <a:buFont typeface="+mj-lt"/>
              <a:buAutoNum type="arabicPeriod" startAt="1"/>
            </a:pPr>
            <a:r>
              <a:rPr lang="en-US" sz="1100" dirty="0">
                <a:solidFill>
                  <a:srgbClr val="3B3535"/>
                </a:solidFill>
                <a:latin typeface="Roboto" pitchFamily="34" charset="0"/>
                <a:ea typeface="Roboto" pitchFamily="34" charset="-122"/>
                <a:cs typeface="Roboto" pitchFamily="34" charset="-120"/>
              </a:rPr>
              <a:t>Recibe varios inputs (números)</a:t>
            </a:r>
            <a:endParaRPr lang="en-US" sz="1100" dirty="0"/>
          </a:p>
          <a:p>
            <a:pPr algn="l" marL="223520" indent="-223520">
              <a:lnSpc>
                <a:spcPct val="117000"/>
              </a:lnSpc>
              <a:buSzPct val="100000"/>
              <a:buFont typeface="+mj-lt"/>
              <a:buAutoNum type="arabicPeriod" startAt="2"/>
            </a:pPr>
            <a:r>
              <a:rPr lang="en-US" sz="1100" dirty="0">
                <a:solidFill>
                  <a:srgbClr val="3B3535"/>
                </a:solidFill>
                <a:latin typeface="Roboto" pitchFamily="34" charset="0"/>
                <a:ea typeface="Roboto" pitchFamily="34" charset="-122"/>
                <a:cs typeface="Roboto" pitchFamily="34" charset="-120"/>
              </a:rPr>
              <a:t>Cada input se multiplica por un peso (importancia de ese input)</a:t>
            </a:r>
            <a:endParaRPr lang="en-US" sz="1100" dirty="0"/>
          </a:p>
          <a:p>
            <a:pPr algn="l" marL="223520" indent="-223520">
              <a:lnSpc>
                <a:spcPct val="117000"/>
              </a:lnSpc>
              <a:buSzPct val="100000"/>
              <a:buFont typeface="+mj-lt"/>
              <a:buAutoNum type="arabicPeriod" startAt="3"/>
            </a:pPr>
            <a:r>
              <a:rPr lang="en-US" sz="1100" dirty="0">
                <a:solidFill>
                  <a:srgbClr val="3B3535"/>
                </a:solidFill>
                <a:latin typeface="Roboto" pitchFamily="34" charset="0"/>
                <a:ea typeface="Roboto" pitchFamily="34" charset="-122"/>
                <a:cs typeface="Roboto" pitchFamily="34" charset="-120"/>
              </a:rPr>
              <a:t>Se suman todos los productos + un bias (valor de ajuste)</a:t>
            </a:r>
            <a:endParaRPr lang="en-US" sz="1100" dirty="0"/>
          </a:p>
          <a:p>
            <a:pPr algn="l" marL="223520" indent="-223520">
              <a:lnSpc>
                <a:spcPct val="117000"/>
              </a:lnSpc>
              <a:buSzPct val="100000"/>
              <a:buFont typeface="+mj-lt"/>
              <a:buAutoNum type="arabicPeriod" startAt="4"/>
            </a:pPr>
            <a:r>
              <a:rPr lang="en-US" sz="1100" dirty="0">
                <a:solidFill>
                  <a:srgbClr val="3B3535"/>
                </a:solidFill>
                <a:latin typeface="Roboto" pitchFamily="34" charset="0"/>
                <a:ea typeface="Roboto" pitchFamily="34" charset="-122"/>
                <a:cs typeface="Roboto" pitchFamily="34" charset="-120"/>
              </a:rPr>
              <a:t>El resultado pasa por una función de activación → output</a:t>
            </a:r>
            <a:endParaRPr lang="en-US" sz="1100" dirty="0"/>
          </a:p>
        </p:txBody>
      </p:sp>
      <p:sp>
        <p:nvSpPr>
          <p:cNvPr id="8" name="Shape 6"/>
          <p:cNvSpPr/>
          <p:nvPr/>
        </p:nvSpPr>
        <p:spPr>
          <a:xfrm>
            <a:off x="661475" y="3452118"/>
            <a:ext cx="5261439" cy="510183"/>
          </a:xfrm>
          <a:prstGeom prst="roundRect">
            <a:avLst>
              <a:gd name="adj" fmla="val 1494"/>
            </a:avLst>
          </a:prstGeom>
          <a:solidFill>
            <a:srgbClr val="F2F2F2"/>
          </a:solidFill>
          <a:ln/>
        </p:spPr>
      </p:sp>
      <p:sp>
        <p:nvSpPr>
          <p:cNvPr id="9" name="Text 7"/>
          <p:cNvSpPr/>
          <p:nvPr/>
        </p:nvSpPr>
        <p:spPr>
          <a:xfrm>
            <a:off x="831532" y="3593802"/>
            <a:ext cx="5530910" cy="226814"/>
          </a:xfrm>
          <a:prstGeom prst="rect">
            <a:avLst/>
          </a:prstGeom>
          <a:noFill/>
          <a:ln/>
        </p:spPr>
        <p:txBody>
          <a:bodyPr wrap="none" lIns="0" tIns="0" rIns="0" bIns="0" rtlCol="0" anchor="t"/>
          <a:lstStyle/>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output = activación( x₁·w₁ + x₂·w₂ + x₃·w₃ + bias )</a:t>
            </a:r>
            <a:endParaRPr lang="en-US" sz="1100" dirty="0"/>
          </a:p>
        </p:txBody>
      </p:sp>
      <p:pic>
        <p:nvPicPr>
          <p:cNvPr id="10" name="Image 0" descr="preencoded.png">    </p:cNvPr>
          <p:cNvPicPr>
            <a:picLocks noChangeAspect="1"/>
          </p:cNvPicPr>
          <p:nvPr/>
        </p:nvPicPr>
        <p:blipFill>
          <a:blip r:embed="rId1"/>
          <a:stretch>
            <a:fillRect/>
          </a:stretch>
        </p:blipFill>
        <p:spPr>
          <a:xfrm>
            <a:off x="6275131" y="1979811"/>
            <a:ext cx="3251615" cy="1625798"/>
          </a:xfrm>
          <a:prstGeom prst="rect">
            <a:avLst/>
          </a:prstGeom>
        </p:spPr>
      </p:pic>
      <p:sp>
        <p:nvSpPr>
          <p:cNvPr id="11" name="Text 8"/>
          <p:cNvSpPr/>
          <p:nvPr/>
        </p:nvSpPr>
        <p:spPr>
          <a:xfrm>
            <a:off x="661475" y="4201418"/>
            <a:ext cx="10868745" cy="714871"/>
          </a:xfrm>
          <a:prstGeom prst="rect">
            <a:avLst/>
          </a:prstGeom>
          <a:noFill/>
          <a:ln/>
        </p:spPr>
        <p:txBody>
          <a:bodyPr wrap="square" lIns="0" tIns="0" rIns="0" bIns="0" rtlCol="0" anchor="t"/>
          <a:lstStyle/>
          <a:p>
            <a:pPr algn="l" indent="0" marL="0">
              <a:lnSpc>
                <a:spcPct val="117000"/>
              </a:lnSpc>
              <a:spcAft>
                <a:spcPts val="900"/>
              </a:spcAft>
              <a:buNone/>
            </a:pPr>
            <a:r>
              <a:rPr lang="en-US" sz="1100" dirty="0">
                <a:solidFill>
                  <a:srgbClr val="3B3535"/>
                </a:solidFill>
                <a:latin typeface="Roboto" pitchFamily="34" charset="0"/>
                <a:ea typeface="Roboto" pitchFamily="34" charset="-122"/>
                <a:cs typeface="Roboto" pitchFamily="34" charset="-120"/>
              </a:rPr>
              <a:t>Los pesos y el bias son los parámetros que el modelo aprende durante el entrenamiento.</a:t>
            </a:r>
            <a:endParaRPr lang="en-US" sz="1100" dirty="0"/>
          </a:p>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Analogía: es como tomar una decisión. Tenés varios factores (inputs), cada uno te importa más o menos (pesos), y al final tomás una decisión (output). El bias es tu predisposición inicial.</a:t>
            </a:r>
            <a:endParaRPr lang="en-US" sz="1100" dirty="0"/>
          </a:p>
        </p:txBody>
      </p:sp>
      <p:sp>
        <p:nvSpPr>
          <p:cNvPr id="12" name="Shape 9"/>
          <p:cNvSpPr/>
          <p:nvPr/>
        </p:nvSpPr>
        <p:spPr>
          <a:xfrm>
            <a:off x="661475" y="5035848"/>
            <a:ext cx="10868745" cy="1130300"/>
          </a:xfrm>
          <a:prstGeom prst="roundRect">
            <a:avLst>
              <a:gd name="adj" fmla="val 674"/>
            </a:avLst>
          </a:prstGeom>
          <a:solidFill>
            <a:srgbClr val="F9D2D6"/>
          </a:solidFill>
          <a:ln/>
        </p:spPr>
      </p:sp>
      <p:pic>
        <p:nvPicPr>
          <p:cNvPr id="13" name="Image 1" descr="preencoded.png">    </p:cNvPr>
          <p:cNvPicPr>
            <a:picLocks noChangeAspect="1"/>
          </p:cNvPicPr>
          <p:nvPr/>
        </p:nvPicPr>
        <p:blipFill>
          <a:blip r:embed="rId2"/>
          <a:stretch>
            <a:fillRect/>
          </a:stretch>
        </p:blipFill>
        <p:spPr>
          <a:xfrm>
            <a:off x="803156" y="5215235"/>
            <a:ext cx="354401" cy="283468"/>
          </a:xfrm>
          <a:prstGeom prst="rect">
            <a:avLst/>
          </a:prstGeom>
        </p:spPr>
      </p:pic>
      <p:sp>
        <p:nvSpPr>
          <p:cNvPr id="14" name="Text 10"/>
          <p:cNvSpPr/>
          <p:nvPr/>
        </p:nvSpPr>
        <p:spPr>
          <a:xfrm>
            <a:off x="1299237" y="5177532"/>
            <a:ext cx="10089302" cy="354409"/>
          </a:xfrm>
          <a:prstGeom prst="rect">
            <a:avLst/>
          </a:prstGeom>
          <a:noFill/>
          <a:ln/>
        </p:spPr>
        <p:txBody>
          <a:bodyPr wrap="none" lIns="0" tIns="0" rIns="0" bIns="0" rtlCol="0" anchor="t"/>
          <a:lstStyle/>
          <a:p>
            <a:pPr algn="l" indent="0" marL="0">
              <a:lnSpc>
                <a:spcPct val="104000"/>
              </a:lnSpc>
              <a:buNone/>
            </a:pPr>
            <a:r>
              <a:rPr lang="en-US" sz="2200" dirty="0">
                <a:solidFill>
                  <a:srgbClr val="000000"/>
                </a:solidFill>
                <a:latin typeface="Roboto Mono Medium" pitchFamily="34" charset="0"/>
                <a:ea typeface="Roboto Mono Medium" pitchFamily="34" charset="-122"/>
                <a:cs typeface="Roboto Mono Medium" pitchFamily="34" charset="-120"/>
              </a:rPr>
              <a:t>En NLP:</a:t>
            </a:r>
            <a:endParaRPr lang="en-US" sz="2200" dirty="0"/>
          </a:p>
        </p:txBody>
      </p:sp>
      <p:sp>
        <p:nvSpPr>
          <p:cNvPr id="15" name="Text 11"/>
          <p:cNvSpPr/>
          <p:nvPr/>
        </p:nvSpPr>
        <p:spPr>
          <a:xfrm>
            <a:off x="1299237" y="5638205"/>
            <a:ext cx="10089302" cy="396875"/>
          </a:xfrm>
          <a:prstGeom prst="rect">
            <a:avLst/>
          </a:prstGeom>
          <a:noFill/>
          <a:ln/>
        </p:spPr>
        <p:txBody>
          <a:bodyPr wrap="square" lIns="0" tIns="0" rIns="0" bIns="0" rtlCol="0" anchor="t">
            <a:normAutofit/>
          </a:bodyPr>
          <a:lstStyle/>
          <a:p>
            <a:pPr algn="l" indent="0" marL="0">
              <a:lnSpc>
                <a:spcPct val="117000"/>
              </a:lnSpc>
              <a:buNone/>
            </a:pPr>
            <a:r>
              <a:rPr lang="en-US" sz="1100" b="1" dirty="0">
                <a:solidFill>
                  <a:srgbClr val="000000"/>
                </a:solidFill>
                <a:latin typeface="Roboto Bold" pitchFamily="34" charset="0"/>
                <a:ea typeface="Roboto Bold" pitchFamily="34" charset="-122"/>
                <a:cs typeface="Roboto Bold" pitchFamily="34" charset="-120"/>
              </a:rPr>
              <a:t>x_1,...,x_n</a:t>
            </a:r>
            <a:pPr algn="l" indent="0" marL="0">
              <a:lnSpc>
                <a:spcPct val="117000"/>
              </a:lnSpc>
              <a:buNone/>
            </a:pPr>
            <a:r>
              <a:rPr lang="en-US" sz="1100" dirty="0">
                <a:solidFill>
                  <a:srgbClr val="000000"/>
                </a:solidFill>
                <a:latin typeface="Roboto" pitchFamily="34" charset="0"/>
                <a:ea typeface="Roboto" pitchFamily="34" charset="-122"/>
                <a:cs typeface="Roboto" pitchFamily="34" charset="-120"/>
              </a:rPr>
              <a:t> es la representación numérica de una palabra (o de una frase). ¿Cómo sacamos el x_1,...,x_n de una frase? Word2Vec saca el promedio (obs: se pierde información del orden).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661475" y="974626"/>
            <a:ext cx="3938787" cy="258465"/>
          </a:xfrm>
          <a:prstGeom prst="roundRect">
            <a:avLst>
              <a:gd name="adj" fmla="val 2948"/>
            </a:avLst>
          </a:prstGeom>
          <a:solidFill>
            <a:srgbClr val="F9D2D6"/>
          </a:solidFill>
          <a:ln/>
        </p:spPr>
      </p:sp>
      <p:sp>
        <p:nvSpPr>
          <p:cNvPr id="3" name="Text 1"/>
          <p:cNvSpPr/>
          <p:nvPr/>
        </p:nvSpPr>
        <p:spPr>
          <a:xfrm>
            <a:off x="763469" y="1025624"/>
            <a:ext cx="4344383" cy="156468"/>
          </a:xfrm>
          <a:prstGeom prst="rect">
            <a:avLst/>
          </a:prstGeom>
          <a:noFill/>
          <a:ln/>
        </p:spPr>
        <p:txBody>
          <a:bodyPr wrap="none" lIns="0" tIns="0" rIns="0" bIns="0" rtlCol="0" anchor="t"/>
          <a:lstStyle/>
          <a:p>
            <a:pPr algn="l" indent="0" marL="0">
              <a:lnSpc>
                <a:spcPct val="96000"/>
              </a:lnSpc>
              <a:buNone/>
            </a:pPr>
            <a:r>
              <a:rPr lang="en-US" sz="1050" dirty="0">
                <a:solidFill>
                  <a:srgbClr val="3B3535"/>
                </a:solidFill>
                <a:latin typeface="Roboto" pitchFamily="34" charset="0"/>
                <a:ea typeface="Roboto" pitchFamily="34" charset="-122"/>
                <a:cs typeface="Roboto" pitchFamily="34" charset="-120"/>
              </a:rPr>
              <a:t>REDES NEURONALES: DEL PERCEPTRÓN AL DEEP LEARNING</a:t>
            </a:r>
            <a:endParaRPr lang="en-US" sz="1050" dirty="0"/>
          </a:p>
        </p:txBody>
      </p:sp>
      <p:sp>
        <p:nvSpPr>
          <p:cNvPr id="4" name="Text 2"/>
          <p:cNvSpPr/>
          <p:nvPr/>
        </p:nvSpPr>
        <p:spPr>
          <a:xfrm>
            <a:off x="661475" y="1294309"/>
            <a:ext cx="10868745" cy="531614"/>
          </a:xfrm>
          <a:prstGeom prst="rect">
            <a:avLst/>
          </a:prstGeom>
          <a:noFill/>
          <a:ln/>
        </p:spPr>
        <p:txBody>
          <a:bodyPr wrap="none" lIns="0" tIns="0" rIns="0" bIns="0" rtlCol="0" anchor="t"/>
          <a:lstStyle/>
          <a:p>
            <a:pPr algn="l" indent="0" marL="0">
              <a:lnSpc>
                <a:spcPct val="104000"/>
              </a:lnSpc>
              <a:buNone/>
            </a:pPr>
            <a:r>
              <a:rPr lang="en-US" sz="3300" dirty="0">
                <a:solidFill>
                  <a:srgbClr val="1F1E1E"/>
                </a:solidFill>
                <a:latin typeface="Roboto Mono Medium" pitchFamily="34" charset="0"/>
                <a:ea typeface="Roboto Mono Medium" pitchFamily="34" charset="-122"/>
                <a:cs typeface="Roboto Mono Medium" pitchFamily="34" charset="-120"/>
              </a:rPr>
              <a:t>Redes Neuronales Profundas (Deep Learning)</a:t>
            </a:r>
            <a:endParaRPr lang="en-US" sz="3300" dirty="0"/>
          </a:p>
        </p:txBody>
      </p:sp>
      <p:sp>
        <p:nvSpPr>
          <p:cNvPr id="5" name="Text 3"/>
          <p:cNvSpPr/>
          <p:nvPr/>
        </p:nvSpPr>
        <p:spPr>
          <a:xfrm>
            <a:off x="661475" y="1887141"/>
            <a:ext cx="10868745" cy="956965"/>
          </a:xfrm>
          <a:prstGeom prst="rect">
            <a:avLst/>
          </a:prstGeom>
          <a:noFill/>
          <a:ln/>
        </p:spPr>
        <p:txBody>
          <a:bodyPr wrap="square" lIns="0" tIns="0" rIns="0" bIns="0" rtlCol="0" anchor="t">
            <a:normAutofit/>
          </a:bodyPr>
          <a:lstStyle/>
          <a:p>
            <a:pPr algn="l" indent="0" marL="0">
              <a:lnSpc>
                <a:spcPct val="104000"/>
              </a:lnSpc>
              <a:buNone/>
            </a:pPr>
            <a:r>
              <a:rPr lang="en-US" sz="2000" dirty="0">
                <a:solidFill>
                  <a:srgbClr val="1F1E1E"/>
                </a:solidFill>
                <a:latin typeface="Roboto Mono Medium" pitchFamily="34" charset="0"/>
                <a:ea typeface="Roboto Mono Medium" pitchFamily="34" charset="-122"/>
                <a:cs typeface="Roboto Mono Medium" pitchFamily="34" charset="-120"/>
              </a:rPr>
              <a:t>¿Qué pasa si apilamos muchas capas de perceptrones?</a:t>
            </a:r>
            <a:endParaRPr lang="en-US" sz="2000" dirty="0"/>
          </a:p>
          <a:p>
            <a:pPr algn="l" indent="0" marL="0">
              <a:lnSpc>
                <a:spcPct val="104000"/>
              </a:lnSpc>
              <a:buNone/>
            </a:pPr>
            <a:r>
              <a:rPr lang="en-US" sz="2000" dirty="0">
                <a:solidFill>
                  <a:srgbClr val="1F1E1E"/>
                </a:solidFill>
                <a:latin typeface="Roboto Mono Medium" pitchFamily="34" charset="0"/>
                <a:ea typeface="Roboto Mono Medium" pitchFamily="34" charset="-122"/>
                <a:cs typeface="Roboto Mono Medium" pitchFamily="34" charset="-120"/>
              </a:rPr>
              <a:t>Obtenemos una red neuronal profunda — de ahí viene el nombre Deep Learning.</a:t>
            </a:r>
            <a:endParaRPr lang="en-US" sz="2000" dirty="0"/>
          </a:p>
        </p:txBody>
      </p:sp>
      <p:sp>
        <p:nvSpPr>
          <p:cNvPr id="6" name="Text 4"/>
          <p:cNvSpPr/>
          <p:nvPr/>
        </p:nvSpPr>
        <p:spPr>
          <a:xfrm>
            <a:off x="661475" y="3073698"/>
            <a:ext cx="11478330" cy="258564"/>
          </a:xfrm>
          <a:prstGeom prst="rect">
            <a:avLst/>
          </a:prstGeom>
          <a:noFill/>
          <a:ln/>
        </p:spPr>
        <p:txBody>
          <a:bodyPr wrap="none" lIns="0" tIns="0" rIns="0" bIns="0" rtlCol="0" anchor="t"/>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Cada capa transforma la información en una representación más abstracta:</a:t>
            </a:r>
            <a:endParaRPr lang="en-US" sz="1300" dirty="0"/>
          </a:p>
        </p:txBody>
      </p:sp>
      <p:sp>
        <p:nvSpPr>
          <p:cNvPr id="7" name="Text 5"/>
          <p:cNvSpPr/>
          <p:nvPr/>
        </p:nvSpPr>
        <p:spPr>
          <a:xfrm>
            <a:off x="661475" y="3504505"/>
            <a:ext cx="10868745" cy="882848"/>
          </a:xfrm>
          <a:prstGeom prst="rect">
            <a:avLst/>
          </a:prstGeom>
          <a:noFill/>
          <a:ln/>
        </p:spPr>
        <p:txBody>
          <a:bodyPr wrap="square" lIns="0" tIns="68047" rIns="0" bIns="0" rtlCol="0" anchor="t">
            <a:normAutofit/>
          </a:bodyPr>
          <a:lstStyle/>
          <a:p>
            <a:pPr algn="l" marL="264160" indent="-264160">
              <a:lnSpc>
                <a:spcPct val="127000"/>
              </a:lnSpc>
              <a:buSzPct val="100000"/>
              <a:buChar char="•"/>
            </a:pPr>
            <a:r>
              <a:rPr lang="en-US" sz="1300" b="1" dirty="0">
                <a:solidFill>
                  <a:srgbClr val="3B3535"/>
                </a:solidFill>
                <a:latin typeface="Roboto Bold" pitchFamily="34" charset="0"/>
                <a:ea typeface="Roboto Bold" pitchFamily="34" charset="-122"/>
                <a:cs typeface="Roboto Bold" pitchFamily="34" charset="-120"/>
              </a:rPr>
              <a:t>Capas iniciales:</a:t>
            </a:r>
            <a:pPr algn="l" marL="264160" indent="-264160">
              <a:lnSpc>
                <a:spcPct val="127000"/>
              </a:lnSpc>
              <a:buSzPct val="100000"/>
              <a:buChar char="•"/>
            </a:pPr>
            <a:r>
              <a:rPr lang="en-US" sz="1300" dirty="0">
                <a:solidFill>
                  <a:srgbClr val="3B3535"/>
                </a:solidFill>
                <a:latin typeface="Roboto" pitchFamily="34" charset="0"/>
                <a:ea typeface="Roboto" pitchFamily="34" charset="-122"/>
                <a:cs typeface="Roboto" pitchFamily="34" charset="-120"/>
              </a:rPr>
              <a:t> detectan patrones simples (combinaciones de letras, formas básicas)</a:t>
            </a:r>
            <a:endParaRPr lang="en-US" sz="1300" dirty="0"/>
          </a:p>
          <a:p>
            <a:pPr algn="l" marL="264160" indent="-264160">
              <a:lnSpc>
                <a:spcPct val="127000"/>
              </a:lnSpc>
              <a:buSzPct val="100000"/>
              <a:buChar char="•"/>
            </a:pPr>
            <a:r>
              <a:rPr lang="en-US" sz="1300" b="1" dirty="0">
                <a:solidFill>
                  <a:srgbClr val="3B3535"/>
                </a:solidFill>
                <a:latin typeface="Roboto Bold" pitchFamily="34" charset="0"/>
                <a:ea typeface="Roboto Bold" pitchFamily="34" charset="-122"/>
                <a:cs typeface="Roboto Bold" pitchFamily="34" charset="-120"/>
              </a:rPr>
              <a:t>Capas intermedias:</a:t>
            </a:r>
            <a:pPr algn="l" marL="264160" indent="-264160">
              <a:lnSpc>
                <a:spcPct val="127000"/>
              </a:lnSpc>
              <a:buSzPct val="100000"/>
              <a:buChar char="•"/>
            </a:pPr>
            <a:r>
              <a:rPr lang="en-US" sz="1300" dirty="0">
                <a:solidFill>
                  <a:srgbClr val="3B3535"/>
                </a:solidFill>
                <a:latin typeface="Roboto" pitchFamily="34" charset="0"/>
                <a:ea typeface="Roboto" pitchFamily="34" charset="-122"/>
                <a:cs typeface="Roboto" pitchFamily="34" charset="-120"/>
              </a:rPr>
              <a:t> detectan patrones más complejos (palabras, frases, relaciones)</a:t>
            </a:r>
            <a:endParaRPr lang="en-US" sz="1300" dirty="0"/>
          </a:p>
          <a:p>
            <a:pPr algn="l" marL="264160" indent="-264160">
              <a:lnSpc>
                <a:spcPct val="127000"/>
              </a:lnSpc>
              <a:buSzPct val="100000"/>
              <a:buChar char="•"/>
            </a:pPr>
            <a:r>
              <a:rPr lang="en-US" sz="1300" b="1" dirty="0">
                <a:solidFill>
                  <a:srgbClr val="3B3535"/>
                </a:solidFill>
                <a:latin typeface="Roboto Bold" pitchFamily="34" charset="0"/>
                <a:ea typeface="Roboto Bold" pitchFamily="34" charset="-122"/>
                <a:cs typeface="Roboto Bold" pitchFamily="34" charset="-120"/>
              </a:rPr>
              <a:t>Capas finales:</a:t>
            </a:r>
            <a:pPr algn="l" marL="264160" indent="-264160">
              <a:lnSpc>
                <a:spcPct val="127000"/>
              </a:lnSpc>
              <a:buSzPct val="100000"/>
              <a:buChar char="•"/>
            </a:pPr>
            <a:r>
              <a:rPr lang="en-US" sz="1300" dirty="0">
                <a:solidFill>
                  <a:srgbClr val="3B3535"/>
                </a:solidFill>
                <a:latin typeface="Roboto" pitchFamily="34" charset="0"/>
                <a:ea typeface="Roboto" pitchFamily="34" charset="-122"/>
                <a:cs typeface="Roboto" pitchFamily="34" charset="-120"/>
              </a:rPr>
              <a:t> capturan conceptos de alto nivel (significado, intención, contexto)</a:t>
            </a:r>
            <a:endParaRPr lang="en-US" sz="1300" dirty="0"/>
          </a:p>
        </p:txBody>
      </p:sp>
      <p:sp>
        <p:nvSpPr>
          <p:cNvPr id="8" name="Text 6"/>
          <p:cNvSpPr/>
          <p:nvPr/>
        </p:nvSpPr>
        <p:spPr>
          <a:xfrm>
            <a:off x="661475" y="4559598"/>
            <a:ext cx="10868745"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Más capas = más parámetros = mayor capacidad de modelar relaciones complejas.</a:t>
            </a:r>
            <a:endParaRPr lang="en-US" sz="1300" dirty="0"/>
          </a:p>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Pero también = más datos necesarios para entrenar y más cómputo. Es un trade-off.</a:t>
            </a:r>
            <a:endParaRPr lang="en-US" sz="1300" dirty="0"/>
          </a:p>
        </p:txBody>
      </p:sp>
      <p:sp>
        <p:nvSpPr>
          <p:cNvPr id="9" name="Shape 7"/>
          <p:cNvSpPr/>
          <p:nvPr/>
        </p:nvSpPr>
        <p:spPr>
          <a:xfrm>
            <a:off x="661475" y="5248970"/>
            <a:ext cx="10868745" cy="634305"/>
          </a:xfrm>
          <a:prstGeom prst="roundRect">
            <a:avLst>
              <a:gd name="adj" fmla="val 1201"/>
            </a:avLst>
          </a:prstGeom>
          <a:solidFill>
            <a:srgbClr val="F9D2D6"/>
          </a:solidFill>
          <a:ln/>
        </p:spPr>
      </p:sp>
      <p:pic>
        <p:nvPicPr>
          <p:cNvPr id="10" name="Image 0" descr="preencoded.png">    </p:cNvPr>
          <p:cNvPicPr>
            <a:picLocks noChangeAspect="1"/>
          </p:cNvPicPr>
          <p:nvPr/>
        </p:nvPicPr>
        <p:blipFill>
          <a:blip r:embed="rId1"/>
          <a:stretch>
            <a:fillRect/>
          </a:stretch>
        </p:blipFill>
        <p:spPr>
          <a:xfrm>
            <a:off x="831532" y="5467152"/>
            <a:ext cx="212620" cy="170061"/>
          </a:xfrm>
          <a:prstGeom prst="rect">
            <a:avLst/>
          </a:prstGeom>
        </p:spPr>
      </p:pic>
      <p:sp>
        <p:nvSpPr>
          <p:cNvPr id="11" name="Text 8"/>
          <p:cNvSpPr/>
          <p:nvPr/>
        </p:nvSpPr>
        <p:spPr>
          <a:xfrm>
            <a:off x="1214209" y="5444530"/>
            <a:ext cx="10755540" cy="258564"/>
          </a:xfrm>
          <a:prstGeom prst="rect">
            <a:avLst/>
          </a:prstGeom>
          <a:noFill/>
          <a:ln/>
        </p:spPr>
        <p:txBody>
          <a:bodyPr wrap="none" lIns="0" tIns="0" rIns="0" bIns="0" rtlCol="0" anchor="t"/>
          <a:lstStyle/>
          <a:p>
            <a:pPr algn="l" indent="0" marL="0">
              <a:lnSpc>
                <a:spcPct val="127000"/>
              </a:lnSpc>
              <a:buNone/>
            </a:pPr>
            <a:r>
              <a:rPr lang="en-US" sz="1300" dirty="0">
                <a:solidFill>
                  <a:srgbClr val="000000"/>
                </a:solidFill>
                <a:latin typeface="Roboto" pitchFamily="34" charset="0"/>
                <a:ea typeface="Roboto" pitchFamily="34" charset="-122"/>
                <a:cs typeface="Roboto" pitchFamily="34" charset="-120"/>
              </a:rPr>
              <a:t>Los modelos de lenguaje modernos tienen miles de millones de parámetros (GPT-4, Claude, LLaMA).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61475" y="553045"/>
            <a:ext cx="3502037" cy="229691"/>
          </a:xfrm>
          <a:prstGeom prst="roundRect">
            <a:avLst>
              <a:gd name="adj" fmla="val 3317"/>
            </a:avLst>
          </a:prstGeom>
          <a:solidFill>
            <a:srgbClr val="F9D2D6"/>
          </a:solidFill>
          <a:ln/>
        </p:spPr>
      </p:sp>
      <p:sp>
        <p:nvSpPr>
          <p:cNvPr id="3" name="Text 1"/>
          <p:cNvSpPr/>
          <p:nvPr/>
        </p:nvSpPr>
        <p:spPr>
          <a:xfrm>
            <a:off x="752159" y="598388"/>
            <a:ext cx="3930254" cy="139005"/>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REDES NEURONALES: DEL PERCEPTRÓN AL DEEP LEARNING</a:t>
            </a:r>
            <a:endParaRPr lang="en-US" sz="950" dirty="0"/>
          </a:p>
        </p:txBody>
      </p:sp>
      <p:sp>
        <p:nvSpPr>
          <p:cNvPr id="4" name="Text 2"/>
          <p:cNvSpPr/>
          <p:nvPr/>
        </p:nvSpPr>
        <p:spPr>
          <a:xfrm>
            <a:off x="661475" y="831056"/>
            <a:ext cx="10868745" cy="944959"/>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1F1E1E"/>
                </a:solidFill>
                <a:latin typeface="Roboto Mono Medium" pitchFamily="34" charset="0"/>
                <a:ea typeface="Roboto Mono Medium" pitchFamily="34" charset="-122"/>
                <a:cs typeface="Roboto Mono Medium" pitchFamily="34" charset="-120"/>
              </a:rPr>
              <a:t>Arquitectura de Red Neuronal Profunda (Perceptrón Multicapa)</a:t>
            </a:r>
            <a:endParaRPr lang="en-US" sz="2950" dirty="0"/>
          </a:p>
        </p:txBody>
      </p:sp>
      <p:pic>
        <p:nvPicPr>
          <p:cNvPr id="5" name="Image 0" descr="preencoded.png">    </p:cNvPr>
          <p:cNvPicPr>
            <a:picLocks noChangeAspect="1"/>
          </p:cNvPicPr>
          <p:nvPr/>
        </p:nvPicPr>
        <p:blipFill>
          <a:blip r:embed="rId1"/>
          <a:stretch>
            <a:fillRect/>
          </a:stretch>
        </p:blipFill>
        <p:spPr>
          <a:xfrm>
            <a:off x="1748389" y="1957388"/>
            <a:ext cx="8694917" cy="434756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661475" y="581025"/>
            <a:ext cx="3283761" cy="215305"/>
          </a:xfrm>
          <a:prstGeom prst="roundRect">
            <a:avLst>
              <a:gd name="adj" fmla="val 3539"/>
            </a:avLst>
          </a:prstGeom>
          <a:solidFill>
            <a:srgbClr val="F9D2D6"/>
          </a:solidFill>
          <a:ln/>
        </p:spPr>
      </p:sp>
      <p:sp>
        <p:nvSpPr>
          <p:cNvPr id="3" name="Text 1"/>
          <p:cNvSpPr/>
          <p:nvPr/>
        </p:nvSpPr>
        <p:spPr>
          <a:xfrm>
            <a:off x="746503" y="623491"/>
            <a:ext cx="3723289" cy="130373"/>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REDES NEURONALES: DEL PERCEPTRÓN AL DEEP LEARNING</a:t>
            </a:r>
            <a:endParaRPr lang="en-US" sz="850" dirty="0"/>
          </a:p>
        </p:txBody>
      </p:sp>
      <p:sp>
        <p:nvSpPr>
          <p:cNvPr id="4" name="Text 2"/>
          <p:cNvSpPr/>
          <p:nvPr/>
        </p:nvSpPr>
        <p:spPr>
          <a:xfrm>
            <a:off x="661475" y="838795"/>
            <a:ext cx="10868745" cy="886023"/>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Entrenamiento de Redes Neuronales: descenso de gradiente</a:t>
            </a:r>
            <a:endParaRPr lang="en-US" sz="2750" dirty="0"/>
          </a:p>
        </p:txBody>
      </p:sp>
      <p:sp>
        <p:nvSpPr>
          <p:cNvPr id="5" name="Text 3"/>
          <p:cNvSpPr/>
          <p:nvPr/>
        </p:nvSpPr>
        <p:spPr>
          <a:xfrm>
            <a:off x="661475" y="1767284"/>
            <a:ext cx="10868745" cy="265708"/>
          </a:xfrm>
          <a:prstGeom prst="rect">
            <a:avLst/>
          </a:prstGeom>
          <a:noFill/>
          <a:ln/>
        </p:spPr>
        <p:txBody>
          <a:bodyPr wrap="none" lIns="0" tIns="0" rIns="0" bIns="0" rtlCol="0" anchor="t"/>
          <a:lstStyle/>
          <a:p>
            <a:pPr algn="l" indent="0" marL="0">
              <a:lnSpc>
                <a:spcPct val="104000"/>
              </a:lnSpc>
              <a:buNone/>
            </a:pPr>
            <a:r>
              <a:rPr lang="en-US" sz="1650" dirty="0">
                <a:solidFill>
                  <a:srgbClr val="1F1E1E"/>
                </a:solidFill>
                <a:latin typeface="Roboto Mono Medium" pitchFamily="34" charset="0"/>
                <a:ea typeface="Roboto Mono Medium" pitchFamily="34" charset="-122"/>
                <a:cs typeface="Roboto Mono Medium" pitchFamily="34" charset="-120"/>
              </a:rPr>
              <a:t>¿Cómo aprenden los pesos correctos? El proceso es iterativo:</a:t>
            </a:r>
            <a:endParaRPr lang="en-US" sz="1650" dirty="0"/>
          </a:p>
        </p:txBody>
      </p:sp>
      <p:sp>
        <p:nvSpPr>
          <p:cNvPr id="6" name="Text 4"/>
          <p:cNvSpPr/>
          <p:nvPr/>
        </p:nvSpPr>
        <p:spPr>
          <a:xfrm>
            <a:off x="661475" y="2288084"/>
            <a:ext cx="5261439" cy="1376660"/>
          </a:xfrm>
          <a:prstGeom prst="rect">
            <a:avLst/>
          </a:prstGeom>
          <a:noFill/>
          <a:ln/>
        </p:spPr>
        <p:txBody>
          <a:bodyPr wrap="square" lIns="0" tIns="0" rIns="0" bIns="0" rtlCol="0" anchor="t">
            <a:normAutofit/>
          </a:bodyPr>
          <a:lstStyle/>
          <a:p>
            <a:pPr algn="l" marL="223520" indent="-223520">
              <a:lnSpc>
                <a:spcPct val="117000"/>
              </a:lnSpc>
              <a:buSzPct val="100000"/>
              <a:buFont typeface="+mj-lt"/>
              <a:buAutoNum type="arabicPeriod" startAt="1"/>
            </a:pPr>
            <a:r>
              <a:rPr lang="en-US" sz="1100" dirty="0">
                <a:solidFill>
                  <a:srgbClr val="3B3535"/>
                </a:solidFill>
                <a:latin typeface="Roboto" pitchFamily="34" charset="0"/>
                <a:ea typeface="Roboto" pitchFamily="34" charset="-122"/>
                <a:cs typeface="Roboto" pitchFamily="34" charset="-120"/>
              </a:rPr>
              <a:t>Se le da un ejemplo al modelo</a:t>
            </a:r>
            <a:endParaRPr lang="en-US" sz="1100" dirty="0"/>
          </a:p>
          <a:p>
            <a:pPr algn="l" marL="223520" indent="-223520">
              <a:lnSpc>
                <a:spcPct val="117000"/>
              </a:lnSpc>
              <a:buSzPct val="100000"/>
              <a:buFont typeface="+mj-lt"/>
              <a:buAutoNum type="arabicPeriod" startAt="2"/>
            </a:pPr>
            <a:r>
              <a:rPr lang="en-US" sz="1100" dirty="0">
                <a:solidFill>
                  <a:srgbClr val="3B3535"/>
                </a:solidFill>
                <a:latin typeface="Roboto" pitchFamily="34" charset="0"/>
                <a:ea typeface="Roboto" pitchFamily="34" charset="-122"/>
                <a:cs typeface="Roboto" pitchFamily="34" charset="-120"/>
              </a:rPr>
              <a:t>El modelo genera una predicción con sus pesos actuales</a:t>
            </a:r>
            <a:endParaRPr lang="en-US" sz="1100" dirty="0"/>
          </a:p>
          <a:p>
            <a:pPr algn="l" marL="223520" indent="-223520">
              <a:lnSpc>
                <a:spcPct val="117000"/>
              </a:lnSpc>
              <a:buSzPct val="100000"/>
              <a:buFont typeface="+mj-lt"/>
              <a:buAutoNum type="arabicPeriod" startAt="3"/>
            </a:pPr>
            <a:r>
              <a:rPr lang="en-US" sz="1100" dirty="0">
                <a:solidFill>
                  <a:srgbClr val="3B3535"/>
                </a:solidFill>
                <a:latin typeface="Roboto" pitchFamily="34" charset="0"/>
                <a:ea typeface="Roboto" pitchFamily="34" charset="-122"/>
                <a:cs typeface="Roboto" pitchFamily="34" charset="-120"/>
              </a:rPr>
              <a:t>Se compara la predicción con la respuesta correcta</a:t>
            </a:r>
            <a:endParaRPr lang="en-US" sz="1100" dirty="0"/>
          </a:p>
          <a:p>
            <a:pPr algn="l" marL="223520" indent="-223520">
              <a:lnSpc>
                <a:spcPct val="117000"/>
              </a:lnSpc>
              <a:buSzPct val="100000"/>
              <a:buFont typeface="+mj-lt"/>
              <a:buAutoNum type="arabicPeriod" startAt="4"/>
            </a:pPr>
            <a:r>
              <a:rPr lang="en-US" sz="1100" dirty="0">
                <a:solidFill>
                  <a:srgbClr val="3B3535"/>
                </a:solidFill>
                <a:latin typeface="Roboto" pitchFamily="34" charset="0"/>
                <a:ea typeface="Roboto" pitchFamily="34" charset="-122"/>
                <a:cs typeface="Roboto" pitchFamily="34" charset="-120"/>
              </a:rPr>
              <a:t>Se calcula la loss (qué tan lejos estuvo)</a:t>
            </a:r>
            <a:endParaRPr lang="en-US" sz="1100" dirty="0"/>
          </a:p>
          <a:p>
            <a:pPr algn="l" marL="223520" indent="-223520">
              <a:lnSpc>
                <a:spcPct val="117000"/>
              </a:lnSpc>
              <a:buSzPct val="100000"/>
              <a:buFont typeface="+mj-lt"/>
              <a:buAutoNum type="arabicPeriod" startAt="5"/>
            </a:pPr>
            <a:r>
              <a:rPr lang="en-US" sz="1100" dirty="0">
                <a:solidFill>
                  <a:srgbClr val="3B3535"/>
                </a:solidFill>
                <a:latin typeface="Roboto" pitchFamily="34" charset="0"/>
                <a:ea typeface="Roboto" pitchFamily="34" charset="-122"/>
                <a:cs typeface="Roboto" pitchFamily="34" charset="-120"/>
              </a:rPr>
              <a:t>Se ajustan los pesos un poquito en la dirección que más reduce la loss (-∇)</a:t>
            </a:r>
            <a:endParaRPr lang="en-US" sz="1100" dirty="0"/>
          </a:p>
          <a:p>
            <a:pPr algn="l" marL="223520" indent="-223520">
              <a:lnSpc>
                <a:spcPct val="117000"/>
              </a:lnSpc>
              <a:buSzPct val="100000"/>
              <a:buFont typeface="+mj-lt"/>
              <a:buAutoNum type="arabicPeriod" startAt="6"/>
            </a:pPr>
            <a:r>
              <a:rPr lang="en-US" sz="1100" dirty="0">
                <a:solidFill>
                  <a:srgbClr val="3B3535"/>
                </a:solidFill>
                <a:latin typeface="Roboto" pitchFamily="34" charset="0"/>
                <a:ea typeface="Roboto" pitchFamily="34" charset="-122"/>
                <a:cs typeface="Roboto" pitchFamily="34" charset="-120"/>
              </a:rPr>
              <a:t>Se repite con el siguiente ejemplo</a:t>
            </a:r>
            <a:endParaRPr lang="en-US" sz="1100" dirty="0"/>
          </a:p>
        </p:txBody>
      </p:sp>
      <p:pic>
        <p:nvPicPr>
          <p:cNvPr id="7" name="Image 0" descr="preencoded.png">    </p:cNvPr>
          <p:cNvPicPr>
            <a:picLocks noChangeAspect="1"/>
          </p:cNvPicPr>
          <p:nvPr/>
        </p:nvPicPr>
        <p:blipFill>
          <a:blip r:embed="rId1"/>
          <a:stretch>
            <a:fillRect/>
          </a:stretch>
        </p:blipFill>
        <p:spPr>
          <a:xfrm>
            <a:off x="6275131" y="2311995"/>
            <a:ext cx="3003574" cy="2434332"/>
          </a:xfrm>
          <a:prstGeom prst="rect">
            <a:avLst/>
          </a:prstGeom>
        </p:spPr>
      </p:pic>
      <p:sp>
        <p:nvSpPr>
          <p:cNvPr id="8" name="Shape 5"/>
          <p:cNvSpPr/>
          <p:nvPr/>
        </p:nvSpPr>
        <p:spPr>
          <a:xfrm>
            <a:off x="661475" y="4985445"/>
            <a:ext cx="10868745" cy="1291431"/>
          </a:xfrm>
          <a:prstGeom prst="roundRect">
            <a:avLst>
              <a:gd name="adj" fmla="val 590"/>
            </a:avLst>
          </a:prstGeom>
          <a:solidFill>
            <a:srgbClr val="F9D2D6"/>
          </a:solidFill>
          <a:ln/>
        </p:spPr>
      </p:sp>
      <p:pic>
        <p:nvPicPr>
          <p:cNvPr id="9" name="Image 1" descr="preencoded.png">    </p:cNvPr>
          <p:cNvPicPr>
            <a:picLocks noChangeAspect="1"/>
          </p:cNvPicPr>
          <p:nvPr/>
        </p:nvPicPr>
        <p:blipFill>
          <a:blip r:embed="rId2"/>
          <a:stretch>
            <a:fillRect/>
          </a:stretch>
        </p:blipFill>
        <p:spPr>
          <a:xfrm>
            <a:off x="803156" y="5143500"/>
            <a:ext cx="221451" cy="177205"/>
          </a:xfrm>
          <a:prstGeom prst="rect">
            <a:avLst/>
          </a:prstGeom>
        </p:spPr>
      </p:pic>
      <p:sp>
        <p:nvSpPr>
          <p:cNvPr id="10" name="Text 6"/>
          <p:cNvSpPr/>
          <p:nvPr/>
        </p:nvSpPr>
        <p:spPr>
          <a:xfrm>
            <a:off x="1166287" y="5127129"/>
            <a:ext cx="10222252" cy="22145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Roboto Mono Medium" pitchFamily="34" charset="0"/>
                <a:ea typeface="Roboto Mono Medium" pitchFamily="34" charset="-122"/>
                <a:cs typeface="Roboto Mono Medium" pitchFamily="34" charset="-120"/>
              </a:rPr>
              <a:t>Analogía</a:t>
            </a:r>
            <a:endParaRPr lang="en-US" sz="1350" dirty="0"/>
          </a:p>
        </p:txBody>
      </p:sp>
      <p:sp>
        <p:nvSpPr>
          <p:cNvPr id="11" name="Text 7"/>
          <p:cNvSpPr/>
          <p:nvPr/>
        </p:nvSpPr>
        <p:spPr>
          <a:xfrm>
            <a:off x="1166287" y="5454848"/>
            <a:ext cx="10222252" cy="690959"/>
          </a:xfrm>
          <a:prstGeom prst="rect">
            <a:avLst/>
          </a:prstGeom>
          <a:noFill/>
          <a:ln/>
        </p:spPr>
        <p:txBody>
          <a:bodyPr wrap="square" lIns="0" tIns="0" rIns="0" bIns="0" rtlCol="0" anchor="t">
            <a:normAutofit/>
          </a:bodyPr>
          <a:lstStyle/>
          <a:p>
            <a:pPr algn="l" indent="0" marL="0">
              <a:lnSpc>
                <a:spcPct val="117000"/>
              </a:lnSpc>
              <a:spcAft>
                <a:spcPts val="750"/>
              </a:spcAft>
              <a:buNone/>
            </a:pPr>
            <a:r>
              <a:rPr lang="en-US" sz="1100" dirty="0">
                <a:solidFill>
                  <a:srgbClr val="000000"/>
                </a:solidFill>
                <a:latin typeface="Roboto" pitchFamily="34" charset="0"/>
                <a:ea typeface="Roboto" pitchFamily="34" charset="-122"/>
                <a:cs typeface="Roboto" pitchFamily="34" charset="-120"/>
              </a:rPr>
              <a:t>Imaginá que estás en la cima de una montaña con niebla y querés llegar al valle (mínima loss). No podés ver el camino completo, pero podés sentir la pendiente bajo tus pies. En cada paso caminás un poco hacia abajo. Eso es gradient descent.</a:t>
            </a:r>
            <a:endParaRPr lang="en-US" sz="1100" dirty="0"/>
          </a:p>
          <a:p>
            <a:pPr algn="l" indent="0" marL="0">
              <a:lnSpc>
                <a:spcPct val="117000"/>
              </a:lnSpc>
              <a:buNone/>
            </a:pPr>
            <a:r>
              <a:rPr lang="en-US" sz="1100" dirty="0">
                <a:solidFill>
                  <a:srgbClr val="000000"/>
                </a:solidFill>
                <a:latin typeface="Roboto" pitchFamily="34" charset="0"/>
                <a:ea typeface="Roboto" pitchFamily="34" charset="-122"/>
                <a:cs typeface="Roboto" pitchFamily="34" charset="-120"/>
              </a:rPr>
              <a:t>Learning rate = tamaño del paso: muy grande → te pasás, muy chico → tardás una eternidad.</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61475" y="568027"/>
            <a:ext cx="2353112" cy="154484"/>
          </a:xfrm>
          <a:prstGeom prst="roundRect">
            <a:avLst>
              <a:gd name="adj" fmla="val 4932"/>
            </a:avLst>
          </a:prstGeom>
          <a:solidFill>
            <a:srgbClr val="F9D2D6"/>
          </a:solidFill>
          <a:ln/>
        </p:spPr>
      </p:sp>
      <p:sp>
        <p:nvSpPr>
          <p:cNvPr id="3" name="Text 1"/>
          <p:cNvSpPr/>
          <p:nvPr/>
        </p:nvSpPr>
        <p:spPr>
          <a:xfrm>
            <a:off x="722493" y="598487"/>
            <a:ext cx="2840661" cy="93563"/>
          </a:xfrm>
          <a:prstGeom prst="rect">
            <a:avLst/>
          </a:prstGeom>
          <a:noFill/>
          <a:ln/>
        </p:spPr>
        <p:txBody>
          <a:bodyPr wrap="none" lIns="0" tIns="0" rIns="0" bIns="0" rtlCol="0" anchor="t"/>
          <a:lstStyle/>
          <a:p>
            <a:pPr algn="l" indent="0" marL="0">
              <a:lnSpc>
                <a:spcPct val="96000"/>
              </a:lnSpc>
              <a:buNone/>
            </a:pPr>
            <a:r>
              <a:rPr lang="en-US" sz="600" dirty="0">
                <a:solidFill>
                  <a:srgbClr val="3B3535"/>
                </a:solidFill>
                <a:latin typeface="Roboto" pitchFamily="34" charset="0"/>
                <a:ea typeface="Roboto" pitchFamily="34" charset="-122"/>
                <a:cs typeface="Roboto" pitchFamily="34" charset="-120"/>
              </a:rPr>
              <a:t>REDES NEURONALES: DEL PERCEPTRÓN AL DEEP LEARNING</a:t>
            </a:r>
            <a:endParaRPr lang="en-US" sz="600" dirty="0"/>
          </a:p>
        </p:txBody>
      </p:sp>
      <p:sp>
        <p:nvSpPr>
          <p:cNvPr id="4" name="Text 2"/>
          <p:cNvSpPr/>
          <p:nvPr/>
        </p:nvSpPr>
        <p:spPr>
          <a:xfrm>
            <a:off x="661475" y="744339"/>
            <a:ext cx="10868745" cy="317996"/>
          </a:xfrm>
          <a:prstGeom prst="rect">
            <a:avLst/>
          </a:prstGeom>
          <a:noFill/>
          <a:ln/>
        </p:spPr>
        <p:txBody>
          <a:bodyPr wrap="none" lIns="0" tIns="0" rIns="0" bIns="0" rtlCol="0" anchor="t"/>
          <a:lstStyle/>
          <a:p>
            <a:pPr algn="l" indent="0" marL="0">
              <a:lnSpc>
                <a:spcPct val="104000"/>
              </a:lnSpc>
              <a:buNone/>
            </a:pPr>
            <a:r>
              <a:rPr lang="en-US" sz="2000" dirty="0">
                <a:solidFill>
                  <a:srgbClr val="1F1E1E"/>
                </a:solidFill>
                <a:latin typeface="Roboto Mono Medium" pitchFamily="34" charset="0"/>
                <a:ea typeface="Roboto Mono Medium" pitchFamily="34" charset="-122"/>
                <a:cs typeface="Roboto Mono Medium" pitchFamily="34" charset="-120"/>
              </a:rPr>
              <a:t>Ciclo de Entrenamiento en Machine Learning</a:t>
            </a:r>
            <a:endParaRPr lang="en-US" sz="2000" dirty="0"/>
          </a:p>
        </p:txBody>
      </p:sp>
      <p:pic>
        <p:nvPicPr>
          <p:cNvPr id="5" name="Image 0" descr="preencoded.png">    </p:cNvPr>
          <p:cNvPicPr>
            <a:picLocks noChangeAspect="1"/>
          </p:cNvPicPr>
          <p:nvPr/>
        </p:nvPicPr>
        <p:blipFill>
          <a:blip r:embed="rId1"/>
          <a:stretch>
            <a:fillRect/>
          </a:stretch>
        </p:blipFill>
        <p:spPr>
          <a:xfrm>
            <a:off x="661475" y="1144488"/>
            <a:ext cx="5017267" cy="3770015"/>
          </a:xfrm>
          <a:prstGeom prst="rect">
            <a:avLst/>
          </a:prstGeom>
        </p:spPr>
      </p:pic>
      <p:sp>
        <p:nvSpPr>
          <p:cNvPr id="6" name="Text 3"/>
          <p:cNvSpPr/>
          <p:nvPr/>
        </p:nvSpPr>
        <p:spPr>
          <a:xfrm>
            <a:off x="661475" y="4976118"/>
            <a:ext cx="203393" cy="127099"/>
          </a:xfrm>
          <a:prstGeom prst="rect">
            <a:avLst/>
          </a:prstGeom>
          <a:noFill/>
          <a:ln/>
        </p:spPr>
        <p:txBody>
          <a:bodyPr wrap="none" lIns="0" tIns="0" rIns="0" bIns="0" rtlCol="0" anchor="ctr"/>
          <a:lstStyle/>
          <a:p>
            <a:pPr algn="l" indent="0" marL="0">
              <a:lnSpc>
                <a:spcPct val="100000"/>
              </a:lnSpc>
              <a:buNone/>
            </a:pPr>
            <a:r>
              <a:rPr lang="en-US" sz="800" dirty="0">
                <a:solidFill>
                  <a:srgbClr val="3B3535"/>
                </a:solidFill>
                <a:latin typeface="Roboto Mono Light" pitchFamily="34" charset="0"/>
                <a:ea typeface="Roboto Mono Light" pitchFamily="34" charset="-122"/>
                <a:cs typeface="Roboto Mono Light" pitchFamily="34" charset="-120"/>
              </a:rPr>
              <a:t>01</a:t>
            </a:r>
            <a:endParaRPr lang="en-US" sz="800" dirty="0"/>
          </a:p>
        </p:txBody>
      </p:sp>
      <p:sp>
        <p:nvSpPr>
          <p:cNvPr id="7" name="Shape 4"/>
          <p:cNvSpPr/>
          <p:nvPr/>
        </p:nvSpPr>
        <p:spPr>
          <a:xfrm>
            <a:off x="661475" y="5136257"/>
            <a:ext cx="5406989" cy="12700"/>
          </a:xfrm>
          <a:prstGeom prst="rect">
            <a:avLst/>
          </a:prstGeom>
          <a:solidFill>
            <a:srgbClr val="DA1B2E"/>
          </a:solidFill>
          <a:ln/>
        </p:spPr>
      </p:sp>
      <p:sp>
        <p:nvSpPr>
          <p:cNvPr id="8" name="Text 5"/>
          <p:cNvSpPr/>
          <p:nvPr/>
        </p:nvSpPr>
        <p:spPr>
          <a:xfrm>
            <a:off x="661475" y="5212457"/>
            <a:ext cx="5406989" cy="158948"/>
          </a:xfrm>
          <a:prstGeom prst="rect">
            <a:avLst/>
          </a:prstGeom>
          <a:noFill/>
          <a:ln/>
        </p:spPr>
        <p:txBody>
          <a:bodyPr wrap="none" lIns="0" tIns="0" rIns="0" bIns="0" rtlCol="0" anchor="t"/>
          <a:lstStyle/>
          <a:p>
            <a:pPr algn="l" indent="0" marL="0">
              <a:lnSpc>
                <a:spcPct val="104000"/>
              </a:lnSpc>
              <a:buNone/>
            </a:pPr>
            <a:r>
              <a:rPr lang="en-US" sz="1000" dirty="0">
                <a:solidFill>
                  <a:srgbClr val="3B3535"/>
                </a:solidFill>
                <a:latin typeface="Roboto Mono Medium" pitchFamily="34" charset="0"/>
                <a:ea typeface="Roboto Mono Medium" pitchFamily="34" charset="-122"/>
                <a:cs typeface="Roboto Mono Medium" pitchFamily="34" charset="-120"/>
              </a:rPr>
              <a:t>Calcular la Loss</a:t>
            </a:r>
            <a:endParaRPr lang="en-US" sz="1000" dirty="0"/>
          </a:p>
        </p:txBody>
      </p:sp>
      <p:sp>
        <p:nvSpPr>
          <p:cNvPr id="9" name="Text 6"/>
          <p:cNvSpPr/>
          <p:nvPr/>
        </p:nvSpPr>
        <p:spPr>
          <a:xfrm>
            <a:off x="661475" y="5404247"/>
            <a:ext cx="5406989" cy="125115"/>
          </a:xfrm>
          <a:prstGeom prst="rect">
            <a:avLst/>
          </a:prstGeom>
          <a:noFill/>
          <a:ln/>
        </p:spPr>
        <p:txBody>
          <a:bodyPr wrap="none" lIns="0" tIns="0" rIns="0" bIns="0" rtlCol="0" anchor="t"/>
          <a:lstStyle/>
          <a:p>
            <a:pPr algn="l" indent="0" marL="0">
              <a:lnSpc>
                <a:spcPct val="103000"/>
              </a:lnSpc>
              <a:buNone/>
            </a:pPr>
            <a:r>
              <a:rPr lang="en-US" sz="800" dirty="0">
                <a:solidFill>
                  <a:srgbClr val="3B3535"/>
                </a:solidFill>
                <a:latin typeface="Roboto" pitchFamily="34" charset="0"/>
                <a:ea typeface="Roboto" pitchFamily="34" charset="-122"/>
                <a:cs typeface="Roboto" pitchFamily="34" charset="-120"/>
              </a:rPr>
              <a:t>Pasar los pesos y el bias por el modelo con los datos del dataset para generar predicciones y luego calcular la loss.</a:t>
            </a:r>
            <a:endParaRPr lang="en-US" sz="800" dirty="0"/>
          </a:p>
        </p:txBody>
      </p:sp>
      <p:sp>
        <p:nvSpPr>
          <p:cNvPr id="10" name="Text 7"/>
          <p:cNvSpPr/>
          <p:nvPr/>
        </p:nvSpPr>
        <p:spPr>
          <a:xfrm>
            <a:off x="6123231" y="4976118"/>
            <a:ext cx="203393" cy="127099"/>
          </a:xfrm>
          <a:prstGeom prst="rect">
            <a:avLst/>
          </a:prstGeom>
          <a:noFill/>
          <a:ln/>
        </p:spPr>
        <p:txBody>
          <a:bodyPr wrap="none" lIns="0" tIns="0" rIns="0" bIns="0" rtlCol="0" anchor="ctr"/>
          <a:lstStyle/>
          <a:p>
            <a:pPr algn="l" indent="0" marL="0">
              <a:lnSpc>
                <a:spcPct val="100000"/>
              </a:lnSpc>
              <a:buNone/>
            </a:pPr>
            <a:r>
              <a:rPr lang="en-US" sz="800" dirty="0">
                <a:solidFill>
                  <a:srgbClr val="3B3535"/>
                </a:solidFill>
                <a:latin typeface="Roboto Mono Light" pitchFamily="34" charset="0"/>
                <a:ea typeface="Roboto Mono Light" pitchFamily="34" charset="-122"/>
                <a:cs typeface="Roboto Mono Light" pitchFamily="34" charset="-120"/>
              </a:rPr>
              <a:t>02</a:t>
            </a:r>
            <a:endParaRPr lang="en-US" sz="800" dirty="0"/>
          </a:p>
        </p:txBody>
      </p:sp>
      <p:sp>
        <p:nvSpPr>
          <p:cNvPr id="11" name="Shape 8"/>
          <p:cNvSpPr/>
          <p:nvPr/>
        </p:nvSpPr>
        <p:spPr>
          <a:xfrm>
            <a:off x="6123231" y="5136257"/>
            <a:ext cx="5406989" cy="12700"/>
          </a:xfrm>
          <a:prstGeom prst="rect">
            <a:avLst/>
          </a:prstGeom>
          <a:solidFill>
            <a:srgbClr val="DA1B2E"/>
          </a:solidFill>
          <a:ln/>
        </p:spPr>
      </p:sp>
      <p:sp>
        <p:nvSpPr>
          <p:cNvPr id="12" name="Text 9"/>
          <p:cNvSpPr/>
          <p:nvPr/>
        </p:nvSpPr>
        <p:spPr>
          <a:xfrm>
            <a:off x="6123231" y="5212457"/>
            <a:ext cx="5406989" cy="158948"/>
          </a:xfrm>
          <a:prstGeom prst="rect">
            <a:avLst/>
          </a:prstGeom>
          <a:noFill/>
          <a:ln/>
        </p:spPr>
        <p:txBody>
          <a:bodyPr wrap="none" lIns="0" tIns="0" rIns="0" bIns="0" rtlCol="0" anchor="t"/>
          <a:lstStyle/>
          <a:p>
            <a:pPr algn="l" indent="0" marL="0">
              <a:lnSpc>
                <a:spcPct val="104000"/>
              </a:lnSpc>
              <a:buNone/>
            </a:pPr>
            <a:r>
              <a:rPr lang="en-US" sz="1000" dirty="0">
                <a:solidFill>
                  <a:srgbClr val="3B3535"/>
                </a:solidFill>
                <a:latin typeface="Roboto Mono Medium" pitchFamily="34" charset="0"/>
                <a:ea typeface="Roboto Mono Medium" pitchFamily="34" charset="-122"/>
                <a:cs typeface="Roboto Mono Medium" pitchFamily="34" charset="-120"/>
              </a:rPr>
              <a:t>Determinar la Dirección</a:t>
            </a:r>
            <a:endParaRPr lang="en-US" sz="1000" dirty="0"/>
          </a:p>
        </p:txBody>
      </p:sp>
      <p:sp>
        <p:nvSpPr>
          <p:cNvPr id="13" name="Text 10"/>
          <p:cNvSpPr/>
          <p:nvPr/>
        </p:nvSpPr>
        <p:spPr>
          <a:xfrm>
            <a:off x="6123231" y="5404247"/>
            <a:ext cx="5406989" cy="125115"/>
          </a:xfrm>
          <a:prstGeom prst="rect">
            <a:avLst/>
          </a:prstGeom>
          <a:noFill/>
          <a:ln/>
        </p:spPr>
        <p:txBody>
          <a:bodyPr wrap="none" lIns="0" tIns="0" rIns="0" bIns="0" rtlCol="0" anchor="t"/>
          <a:lstStyle/>
          <a:p>
            <a:pPr algn="l" indent="0" marL="0">
              <a:lnSpc>
                <a:spcPct val="103000"/>
              </a:lnSpc>
              <a:buNone/>
            </a:pPr>
            <a:r>
              <a:rPr lang="en-US" sz="800" dirty="0">
                <a:solidFill>
                  <a:srgbClr val="3B3535"/>
                </a:solidFill>
                <a:latin typeface="Roboto" pitchFamily="34" charset="0"/>
                <a:ea typeface="Roboto" pitchFamily="34" charset="-122"/>
                <a:cs typeface="Roboto" pitchFamily="34" charset="-120"/>
              </a:rPr>
              <a:t>Determinar en qué dirección mover los pesos y el bias para reducir la loss.</a:t>
            </a:r>
            <a:endParaRPr lang="en-US" sz="800" dirty="0"/>
          </a:p>
        </p:txBody>
      </p:sp>
      <p:sp>
        <p:nvSpPr>
          <p:cNvPr id="14" name="Text 11"/>
          <p:cNvSpPr/>
          <p:nvPr/>
        </p:nvSpPr>
        <p:spPr>
          <a:xfrm>
            <a:off x="661475" y="5660430"/>
            <a:ext cx="203393" cy="127099"/>
          </a:xfrm>
          <a:prstGeom prst="rect">
            <a:avLst/>
          </a:prstGeom>
          <a:noFill/>
          <a:ln/>
        </p:spPr>
        <p:txBody>
          <a:bodyPr wrap="none" lIns="0" tIns="0" rIns="0" bIns="0" rtlCol="0" anchor="ctr"/>
          <a:lstStyle/>
          <a:p>
            <a:pPr algn="l" indent="0" marL="0">
              <a:lnSpc>
                <a:spcPct val="100000"/>
              </a:lnSpc>
              <a:buNone/>
            </a:pPr>
            <a:r>
              <a:rPr lang="en-US" sz="800" dirty="0">
                <a:solidFill>
                  <a:srgbClr val="3B3535"/>
                </a:solidFill>
                <a:latin typeface="Roboto Mono Light" pitchFamily="34" charset="0"/>
                <a:ea typeface="Roboto Mono Light" pitchFamily="34" charset="-122"/>
                <a:cs typeface="Roboto Mono Light" pitchFamily="34" charset="-120"/>
              </a:rPr>
              <a:t>03</a:t>
            </a:r>
            <a:endParaRPr lang="en-US" sz="800" dirty="0"/>
          </a:p>
        </p:txBody>
      </p:sp>
      <p:sp>
        <p:nvSpPr>
          <p:cNvPr id="15" name="Shape 12"/>
          <p:cNvSpPr/>
          <p:nvPr/>
        </p:nvSpPr>
        <p:spPr>
          <a:xfrm>
            <a:off x="661475" y="5820569"/>
            <a:ext cx="5406989" cy="12700"/>
          </a:xfrm>
          <a:prstGeom prst="rect">
            <a:avLst/>
          </a:prstGeom>
          <a:solidFill>
            <a:srgbClr val="DA1B2E"/>
          </a:solidFill>
          <a:ln/>
        </p:spPr>
      </p:sp>
      <p:sp>
        <p:nvSpPr>
          <p:cNvPr id="16" name="Text 13"/>
          <p:cNvSpPr/>
          <p:nvPr/>
        </p:nvSpPr>
        <p:spPr>
          <a:xfrm>
            <a:off x="661475" y="5896769"/>
            <a:ext cx="5406989" cy="158948"/>
          </a:xfrm>
          <a:prstGeom prst="rect">
            <a:avLst/>
          </a:prstGeom>
          <a:noFill/>
          <a:ln/>
        </p:spPr>
        <p:txBody>
          <a:bodyPr wrap="none" lIns="0" tIns="0" rIns="0" bIns="0" rtlCol="0" anchor="t"/>
          <a:lstStyle/>
          <a:p>
            <a:pPr algn="l" indent="0" marL="0">
              <a:lnSpc>
                <a:spcPct val="104000"/>
              </a:lnSpc>
              <a:buNone/>
            </a:pPr>
            <a:r>
              <a:rPr lang="en-US" sz="1000" dirty="0">
                <a:solidFill>
                  <a:srgbClr val="3B3535"/>
                </a:solidFill>
                <a:latin typeface="Roboto Mono Medium" pitchFamily="34" charset="0"/>
                <a:ea typeface="Roboto Mono Medium" pitchFamily="34" charset="-122"/>
                <a:cs typeface="Roboto Mono Medium" pitchFamily="34" charset="-120"/>
              </a:rPr>
              <a:t>Actualizar los Pesos</a:t>
            </a:r>
            <a:endParaRPr lang="en-US" sz="1000" dirty="0"/>
          </a:p>
        </p:txBody>
      </p:sp>
      <p:sp>
        <p:nvSpPr>
          <p:cNvPr id="17" name="Text 14"/>
          <p:cNvSpPr/>
          <p:nvPr/>
        </p:nvSpPr>
        <p:spPr>
          <a:xfrm>
            <a:off x="661475" y="6088559"/>
            <a:ext cx="5406989" cy="125115"/>
          </a:xfrm>
          <a:prstGeom prst="rect">
            <a:avLst/>
          </a:prstGeom>
          <a:noFill/>
          <a:ln/>
        </p:spPr>
        <p:txBody>
          <a:bodyPr wrap="none" lIns="0" tIns="0" rIns="0" bIns="0" rtlCol="0" anchor="t"/>
          <a:lstStyle/>
          <a:p>
            <a:pPr algn="l" indent="0" marL="0">
              <a:lnSpc>
                <a:spcPct val="103000"/>
              </a:lnSpc>
              <a:buNone/>
            </a:pPr>
            <a:r>
              <a:rPr lang="en-US" sz="800" dirty="0">
                <a:solidFill>
                  <a:srgbClr val="3B3535"/>
                </a:solidFill>
                <a:latin typeface="Roboto" pitchFamily="34" charset="0"/>
                <a:ea typeface="Roboto" pitchFamily="34" charset="-122"/>
                <a:cs typeface="Roboto" pitchFamily="34" charset="-120"/>
              </a:rPr>
              <a:t>Moverse un pequeño paso en la dirección que reduce la loss.</a:t>
            </a:r>
            <a:endParaRPr lang="en-US" sz="800" dirty="0"/>
          </a:p>
        </p:txBody>
      </p:sp>
      <p:sp>
        <p:nvSpPr>
          <p:cNvPr id="18" name="Text 15"/>
          <p:cNvSpPr/>
          <p:nvPr/>
        </p:nvSpPr>
        <p:spPr>
          <a:xfrm>
            <a:off x="6123231" y="5660430"/>
            <a:ext cx="203393" cy="127099"/>
          </a:xfrm>
          <a:prstGeom prst="rect">
            <a:avLst/>
          </a:prstGeom>
          <a:noFill/>
          <a:ln/>
        </p:spPr>
        <p:txBody>
          <a:bodyPr wrap="none" lIns="0" tIns="0" rIns="0" bIns="0" rtlCol="0" anchor="ctr"/>
          <a:lstStyle/>
          <a:p>
            <a:pPr algn="l" indent="0" marL="0">
              <a:lnSpc>
                <a:spcPct val="100000"/>
              </a:lnSpc>
              <a:buNone/>
            </a:pPr>
            <a:r>
              <a:rPr lang="en-US" sz="800" dirty="0">
                <a:solidFill>
                  <a:srgbClr val="3B3535"/>
                </a:solidFill>
                <a:latin typeface="Roboto Mono Light" pitchFamily="34" charset="0"/>
                <a:ea typeface="Roboto Mono Light" pitchFamily="34" charset="-122"/>
                <a:cs typeface="Roboto Mono Light" pitchFamily="34" charset="-120"/>
              </a:rPr>
              <a:t>04</a:t>
            </a:r>
            <a:endParaRPr lang="en-US" sz="800" dirty="0"/>
          </a:p>
        </p:txBody>
      </p:sp>
      <p:sp>
        <p:nvSpPr>
          <p:cNvPr id="19" name="Shape 16"/>
          <p:cNvSpPr/>
          <p:nvPr/>
        </p:nvSpPr>
        <p:spPr>
          <a:xfrm>
            <a:off x="6123231" y="5820569"/>
            <a:ext cx="5406989" cy="12700"/>
          </a:xfrm>
          <a:prstGeom prst="rect">
            <a:avLst/>
          </a:prstGeom>
          <a:solidFill>
            <a:srgbClr val="DA1B2E"/>
          </a:solidFill>
          <a:ln/>
        </p:spPr>
      </p:sp>
      <p:sp>
        <p:nvSpPr>
          <p:cNvPr id="20" name="Text 17"/>
          <p:cNvSpPr/>
          <p:nvPr/>
        </p:nvSpPr>
        <p:spPr>
          <a:xfrm>
            <a:off x="6123231" y="5896769"/>
            <a:ext cx="5406989" cy="158948"/>
          </a:xfrm>
          <a:prstGeom prst="rect">
            <a:avLst/>
          </a:prstGeom>
          <a:noFill/>
          <a:ln/>
        </p:spPr>
        <p:txBody>
          <a:bodyPr wrap="none" lIns="0" tIns="0" rIns="0" bIns="0" rtlCol="0" anchor="t"/>
          <a:lstStyle/>
          <a:p>
            <a:pPr algn="l" indent="0" marL="0">
              <a:lnSpc>
                <a:spcPct val="104000"/>
              </a:lnSpc>
              <a:buNone/>
            </a:pPr>
            <a:r>
              <a:rPr lang="en-US" sz="1000" dirty="0">
                <a:solidFill>
                  <a:srgbClr val="3B3535"/>
                </a:solidFill>
                <a:latin typeface="Roboto Mono Medium" pitchFamily="34" charset="0"/>
                <a:ea typeface="Roboto Mono Medium" pitchFamily="34" charset="-122"/>
                <a:cs typeface="Roboto Mono Medium" pitchFamily="34" charset="-120"/>
              </a:rPr>
              <a:t>Repetir</a:t>
            </a:r>
            <a:endParaRPr lang="en-US" sz="1000" dirty="0"/>
          </a:p>
        </p:txBody>
      </p:sp>
      <p:sp>
        <p:nvSpPr>
          <p:cNvPr id="21" name="Text 18"/>
          <p:cNvSpPr/>
          <p:nvPr/>
        </p:nvSpPr>
        <p:spPr>
          <a:xfrm>
            <a:off x="6123231" y="6088559"/>
            <a:ext cx="5406989" cy="125115"/>
          </a:xfrm>
          <a:prstGeom prst="rect">
            <a:avLst/>
          </a:prstGeom>
          <a:noFill/>
          <a:ln/>
        </p:spPr>
        <p:txBody>
          <a:bodyPr wrap="none" lIns="0" tIns="0" rIns="0" bIns="0" rtlCol="0" anchor="t"/>
          <a:lstStyle/>
          <a:p>
            <a:pPr algn="l" indent="0" marL="0">
              <a:lnSpc>
                <a:spcPct val="103000"/>
              </a:lnSpc>
              <a:buNone/>
            </a:pPr>
            <a:r>
              <a:rPr lang="en-US" sz="800" dirty="0">
                <a:solidFill>
                  <a:srgbClr val="3B3535"/>
                </a:solidFill>
                <a:latin typeface="Roboto" pitchFamily="34" charset="0"/>
                <a:ea typeface="Roboto" pitchFamily="34" charset="-122"/>
                <a:cs typeface="Roboto" pitchFamily="34" charset="-120"/>
              </a:rPr>
              <a:t>Repetir el proceso hasta que la loss no pueda reducirse más.</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61475" y="715268"/>
            <a:ext cx="3720412" cy="243979"/>
          </a:xfrm>
          <a:prstGeom prst="roundRect">
            <a:avLst>
              <a:gd name="adj" fmla="val 3123"/>
            </a:avLst>
          </a:prstGeom>
          <a:solidFill>
            <a:srgbClr val="F9D2D6"/>
          </a:solidFill>
          <a:ln/>
        </p:spPr>
      </p:sp>
      <p:sp>
        <p:nvSpPr>
          <p:cNvPr id="3" name="Text 1"/>
          <p:cNvSpPr/>
          <p:nvPr/>
        </p:nvSpPr>
        <p:spPr>
          <a:xfrm>
            <a:off x="757814" y="763389"/>
            <a:ext cx="4137318" cy="147737"/>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REDES NEURONALES: DEL PERCEPTRÓN AL DEEP LEARNING</a:t>
            </a:r>
            <a:endParaRPr lang="en-US" sz="1000" dirty="0"/>
          </a:p>
        </p:txBody>
      </p:sp>
      <p:sp>
        <p:nvSpPr>
          <p:cNvPr id="4" name="Text 2"/>
          <p:cNvSpPr/>
          <p:nvPr/>
        </p:nvSpPr>
        <p:spPr>
          <a:xfrm>
            <a:off x="661475" y="1013817"/>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1F1E1E"/>
                </a:solidFill>
                <a:latin typeface="Roboto Mono Medium" pitchFamily="34" charset="0"/>
                <a:ea typeface="Roboto Mono Medium" pitchFamily="34" charset="-122"/>
                <a:cs typeface="Roboto Mono Medium" pitchFamily="34" charset="-120"/>
              </a:rPr>
              <a:t>Backpropagation</a:t>
            </a:r>
            <a:endParaRPr lang="en-US" sz="3150" dirty="0"/>
          </a:p>
        </p:txBody>
      </p:sp>
      <p:sp>
        <p:nvSpPr>
          <p:cNvPr id="5" name="Text 3"/>
          <p:cNvSpPr/>
          <p:nvPr/>
        </p:nvSpPr>
        <p:spPr>
          <a:xfrm>
            <a:off x="661475" y="1570434"/>
            <a:ext cx="10868745" cy="301228"/>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Roboto Mono Medium" pitchFamily="34" charset="0"/>
                <a:ea typeface="Roboto Mono Medium" pitchFamily="34" charset="-122"/>
                <a:cs typeface="Roboto Mono Medium" pitchFamily="34" charset="-120"/>
              </a:rPr>
              <a:t>En una red con muchas capas, ¿cómo sabemos cuánto ajustar cada peso?</a:t>
            </a:r>
            <a:endParaRPr lang="en-US" sz="1850" dirty="0"/>
          </a:p>
        </p:txBody>
      </p:sp>
      <p:sp>
        <p:nvSpPr>
          <p:cNvPr id="6" name="Text 4"/>
          <p:cNvSpPr/>
          <p:nvPr/>
        </p:nvSpPr>
        <p:spPr>
          <a:xfrm>
            <a:off x="661475" y="2076450"/>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Intuición: en el fondo una red neuronal es una función "diferenciable" (aproximadamente)</a:t>
            </a:r>
            <a:endParaRPr lang="en-US" sz="1250" dirty="0"/>
          </a:p>
        </p:txBody>
      </p:sp>
      <p:sp>
        <p:nvSpPr>
          <p:cNvPr id="7" name="Text 5"/>
          <p:cNvSpPr/>
          <p:nvPr/>
        </p:nvSpPr>
        <p:spPr>
          <a:xfrm>
            <a:off x="661475" y="2467769"/>
            <a:ext cx="321262" cy="200819"/>
          </a:xfrm>
          <a:prstGeom prst="rect">
            <a:avLst/>
          </a:prstGeom>
          <a:noFill/>
          <a:ln/>
        </p:spPr>
        <p:txBody>
          <a:bodyPr wrap="none" lIns="0" tIns="0" rIns="0" bIns="0" rtlCol="0" anchor="ctr"/>
          <a:lstStyle/>
          <a:p>
            <a:pPr algn="l" indent="0" marL="0">
              <a:lnSpc>
                <a:spcPct val="100000"/>
              </a:lnSpc>
              <a:buNone/>
            </a:pPr>
            <a:r>
              <a:rPr lang="en-US" sz="1250" dirty="0">
                <a:solidFill>
                  <a:srgbClr val="3B3535"/>
                </a:solidFill>
                <a:latin typeface="Roboto Mono Light" pitchFamily="34" charset="0"/>
                <a:ea typeface="Roboto Mono Light" pitchFamily="34" charset="-122"/>
                <a:cs typeface="Roboto Mono Light" pitchFamily="34" charset="-120"/>
              </a:rPr>
              <a:t>01</a:t>
            </a:r>
            <a:endParaRPr lang="en-US" sz="1250" dirty="0"/>
          </a:p>
        </p:txBody>
      </p:sp>
      <p:sp>
        <p:nvSpPr>
          <p:cNvPr id="8" name="Shape 6"/>
          <p:cNvSpPr/>
          <p:nvPr/>
        </p:nvSpPr>
        <p:spPr>
          <a:xfrm>
            <a:off x="661475" y="2721670"/>
            <a:ext cx="5366112" cy="19050"/>
          </a:xfrm>
          <a:prstGeom prst="rect">
            <a:avLst/>
          </a:prstGeom>
          <a:solidFill>
            <a:srgbClr val="DA1B2E"/>
          </a:solidFill>
          <a:ln/>
        </p:spPr>
      </p:sp>
      <p:sp>
        <p:nvSpPr>
          <p:cNvPr id="9" name="Text 7"/>
          <p:cNvSpPr/>
          <p:nvPr/>
        </p:nvSpPr>
        <p:spPr>
          <a:xfrm>
            <a:off x="661475" y="2840038"/>
            <a:ext cx="5366112" cy="251023"/>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oboto Mono Medium" pitchFamily="34" charset="0"/>
                <a:ea typeface="Roboto Mono Medium" pitchFamily="34" charset="-122"/>
                <a:cs typeface="Roboto Mono Medium" pitchFamily="34" charset="-120"/>
              </a:rPr>
              <a:t>Forward pass</a:t>
            </a:r>
            <a:endParaRPr lang="en-US" sz="1550" dirty="0"/>
          </a:p>
        </p:txBody>
      </p:sp>
      <p:sp>
        <p:nvSpPr>
          <p:cNvPr id="10" name="Text 8"/>
          <p:cNvSpPr/>
          <p:nvPr/>
        </p:nvSpPr>
        <p:spPr>
          <a:xfrm>
            <a:off x="661475" y="3172916"/>
            <a:ext cx="5366112"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El input viaja hacia adelante por la red hasta producir una predicción</a:t>
            </a:r>
            <a:endParaRPr lang="en-US" sz="1250" dirty="0"/>
          </a:p>
        </p:txBody>
      </p:sp>
      <p:sp>
        <p:nvSpPr>
          <p:cNvPr id="11" name="Text 9"/>
          <p:cNvSpPr/>
          <p:nvPr/>
        </p:nvSpPr>
        <p:spPr>
          <a:xfrm>
            <a:off x="6164108" y="2467769"/>
            <a:ext cx="321262" cy="200819"/>
          </a:xfrm>
          <a:prstGeom prst="rect">
            <a:avLst/>
          </a:prstGeom>
          <a:noFill/>
          <a:ln/>
        </p:spPr>
        <p:txBody>
          <a:bodyPr wrap="none" lIns="0" tIns="0" rIns="0" bIns="0" rtlCol="0" anchor="ctr"/>
          <a:lstStyle/>
          <a:p>
            <a:pPr algn="l" indent="0" marL="0">
              <a:lnSpc>
                <a:spcPct val="100000"/>
              </a:lnSpc>
              <a:buNone/>
            </a:pPr>
            <a:r>
              <a:rPr lang="en-US" sz="1250" dirty="0">
                <a:solidFill>
                  <a:srgbClr val="3B3535"/>
                </a:solidFill>
                <a:latin typeface="Roboto Mono Light" pitchFamily="34" charset="0"/>
                <a:ea typeface="Roboto Mono Light" pitchFamily="34" charset="-122"/>
                <a:cs typeface="Roboto Mono Light" pitchFamily="34" charset="-120"/>
              </a:rPr>
              <a:t>02</a:t>
            </a:r>
            <a:endParaRPr lang="en-US" sz="1250" dirty="0"/>
          </a:p>
        </p:txBody>
      </p:sp>
      <p:sp>
        <p:nvSpPr>
          <p:cNvPr id="12" name="Shape 10"/>
          <p:cNvSpPr/>
          <p:nvPr/>
        </p:nvSpPr>
        <p:spPr>
          <a:xfrm>
            <a:off x="6164108" y="2721670"/>
            <a:ext cx="5366112" cy="19050"/>
          </a:xfrm>
          <a:prstGeom prst="rect">
            <a:avLst/>
          </a:prstGeom>
          <a:solidFill>
            <a:srgbClr val="DA1B2E"/>
          </a:solidFill>
          <a:ln/>
        </p:spPr>
      </p:sp>
      <p:sp>
        <p:nvSpPr>
          <p:cNvPr id="13" name="Text 11"/>
          <p:cNvSpPr/>
          <p:nvPr/>
        </p:nvSpPr>
        <p:spPr>
          <a:xfrm>
            <a:off x="6164108" y="2840038"/>
            <a:ext cx="5366112" cy="251023"/>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oboto Mono Medium" pitchFamily="34" charset="0"/>
                <a:ea typeface="Roboto Mono Medium" pitchFamily="34" charset="-122"/>
                <a:cs typeface="Roboto Mono Medium" pitchFamily="34" charset="-120"/>
              </a:rPr>
              <a:t>Cálculo de loss</a:t>
            </a:r>
            <a:endParaRPr lang="en-US" sz="1550" dirty="0"/>
          </a:p>
        </p:txBody>
      </p:sp>
      <p:sp>
        <p:nvSpPr>
          <p:cNvPr id="14" name="Text 12"/>
          <p:cNvSpPr/>
          <p:nvPr/>
        </p:nvSpPr>
        <p:spPr>
          <a:xfrm>
            <a:off x="6164108" y="3172916"/>
            <a:ext cx="5366112"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Se mide el error entre predicción y valor real</a:t>
            </a:r>
            <a:endParaRPr lang="en-US" sz="1250" dirty="0"/>
          </a:p>
        </p:txBody>
      </p:sp>
      <p:sp>
        <p:nvSpPr>
          <p:cNvPr id="15" name="Text 13"/>
          <p:cNvSpPr/>
          <p:nvPr/>
        </p:nvSpPr>
        <p:spPr>
          <a:xfrm>
            <a:off x="661475" y="3667621"/>
            <a:ext cx="321262" cy="200819"/>
          </a:xfrm>
          <a:prstGeom prst="rect">
            <a:avLst/>
          </a:prstGeom>
          <a:noFill/>
          <a:ln/>
        </p:spPr>
        <p:txBody>
          <a:bodyPr wrap="none" lIns="0" tIns="0" rIns="0" bIns="0" rtlCol="0" anchor="ctr"/>
          <a:lstStyle/>
          <a:p>
            <a:pPr algn="l" indent="0" marL="0">
              <a:lnSpc>
                <a:spcPct val="100000"/>
              </a:lnSpc>
              <a:buNone/>
            </a:pPr>
            <a:r>
              <a:rPr lang="en-US" sz="1250" dirty="0">
                <a:solidFill>
                  <a:srgbClr val="3B3535"/>
                </a:solidFill>
                <a:latin typeface="Roboto Mono Light" pitchFamily="34" charset="0"/>
                <a:ea typeface="Roboto Mono Light" pitchFamily="34" charset="-122"/>
                <a:cs typeface="Roboto Mono Light" pitchFamily="34" charset="-120"/>
              </a:rPr>
              <a:t>03</a:t>
            </a:r>
            <a:endParaRPr lang="en-US" sz="1250" dirty="0"/>
          </a:p>
        </p:txBody>
      </p:sp>
      <p:sp>
        <p:nvSpPr>
          <p:cNvPr id="16" name="Shape 14"/>
          <p:cNvSpPr/>
          <p:nvPr/>
        </p:nvSpPr>
        <p:spPr>
          <a:xfrm>
            <a:off x="661475" y="3921522"/>
            <a:ext cx="5366112" cy="19050"/>
          </a:xfrm>
          <a:prstGeom prst="rect">
            <a:avLst/>
          </a:prstGeom>
          <a:solidFill>
            <a:srgbClr val="DA1B2E"/>
          </a:solidFill>
          <a:ln/>
        </p:spPr>
      </p:sp>
      <p:sp>
        <p:nvSpPr>
          <p:cNvPr id="17" name="Text 15"/>
          <p:cNvSpPr/>
          <p:nvPr/>
        </p:nvSpPr>
        <p:spPr>
          <a:xfrm>
            <a:off x="661475" y="4039890"/>
            <a:ext cx="5366112" cy="251023"/>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oboto Mono Medium" pitchFamily="34" charset="0"/>
                <a:ea typeface="Roboto Mono Medium" pitchFamily="34" charset="-122"/>
                <a:cs typeface="Roboto Mono Medium" pitchFamily="34" charset="-120"/>
              </a:rPr>
              <a:t>Backward pass</a:t>
            </a:r>
            <a:endParaRPr lang="en-US" sz="1550" dirty="0"/>
          </a:p>
        </p:txBody>
      </p:sp>
      <p:sp>
        <p:nvSpPr>
          <p:cNvPr id="18" name="Text 16"/>
          <p:cNvSpPr/>
          <p:nvPr/>
        </p:nvSpPr>
        <p:spPr>
          <a:xfrm>
            <a:off x="661475" y="4372769"/>
            <a:ext cx="5366112"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El error se propaga hacia atrás, calculando cuánto contribuyó cada peso</a:t>
            </a:r>
            <a:endParaRPr lang="en-US" sz="1250" dirty="0"/>
          </a:p>
        </p:txBody>
      </p:sp>
      <p:sp>
        <p:nvSpPr>
          <p:cNvPr id="19" name="Text 17"/>
          <p:cNvSpPr/>
          <p:nvPr/>
        </p:nvSpPr>
        <p:spPr>
          <a:xfrm>
            <a:off x="6164108" y="3667621"/>
            <a:ext cx="321262" cy="200819"/>
          </a:xfrm>
          <a:prstGeom prst="rect">
            <a:avLst/>
          </a:prstGeom>
          <a:noFill/>
          <a:ln/>
        </p:spPr>
        <p:txBody>
          <a:bodyPr wrap="none" lIns="0" tIns="0" rIns="0" bIns="0" rtlCol="0" anchor="ctr"/>
          <a:lstStyle/>
          <a:p>
            <a:pPr algn="l" indent="0" marL="0">
              <a:lnSpc>
                <a:spcPct val="100000"/>
              </a:lnSpc>
              <a:buNone/>
            </a:pPr>
            <a:r>
              <a:rPr lang="en-US" sz="1250" dirty="0">
                <a:solidFill>
                  <a:srgbClr val="3B3535"/>
                </a:solidFill>
                <a:latin typeface="Roboto Mono Light" pitchFamily="34" charset="0"/>
                <a:ea typeface="Roboto Mono Light" pitchFamily="34" charset="-122"/>
                <a:cs typeface="Roboto Mono Light" pitchFamily="34" charset="-120"/>
              </a:rPr>
              <a:t>04</a:t>
            </a:r>
            <a:endParaRPr lang="en-US" sz="1250" dirty="0"/>
          </a:p>
        </p:txBody>
      </p:sp>
      <p:sp>
        <p:nvSpPr>
          <p:cNvPr id="20" name="Shape 18"/>
          <p:cNvSpPr/>
          <p:nvPr/>
        </p:nvSpPr>
        <p:spPr>
          <a:xfrm>
            <a:off x="6164108" y="3921522"/>
            <a:ext cx="5366112" cy="19050"/>
          </a:xfrm>
          <a:prstGeom prst="rect">
            <a:avLst/>
          </a:prstGeom>
          <a:solidFill>
            <a:srgbClr val="DA1B2E"/>
          </a:solidFill>
          <a:ln/>
        </p:spPr>
      </p:sp>
      <p:sp>
        <p:nvSpPr>
          <p:cNvPr id="21" name="Text 19"/>
          <p:cNvSpPr/>
          <p:nvPr/>
        </p:nvSpPr>
        <p:spPr>
          <a:xfrm>
            <a:off x="6164108" y="4039890"/>
            <a:ext cx="5366112" cy="251023"/>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oboto Mono Medium" pitchFamily="34" charset="0"/>
                <a:ea typeface="Roboto Mono Medium" pitchFamily="34" charset="-122"/>
                <a:cs typeface="Roboto Mono Medium" pitchFamily="34" charset="-120"/>
              </a:rPr>
              <a:t>Actualización</a:t>
            </a:r>
            <a:endParaRPr lang="en-US" sz="1550" dirty="0"/>
          </a:p>
        </p:txBody>
      </p:sp>
      <p:sp>
        <p:nvSpPr>
          <p:cNvPr id="22" name="Text 20"/>
          <p:cNvSpPr/>
          <p:nvPr/>
        </p:nvSpPr>
        <p:spPr>
          <a:xfrm>
            <a:off x="6164108" y="4372769"/>
            <a:ext cx="5366112"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Cada peso se ajusta proporcionalmente a su contribución al error</a:t>
            </a:r>
            <a:endParaRPr lang="en-US" sz="1250" dirty="0"/>
          </a:p>
        </p:txBody>
      </p:sp>
      <p:sp>
        <p:nvSpPr>
          <p:cNvPr id="23" name="Text 21"/>
          <p:cNvSpPr/>
          <p:nvPr/>
        </p:nvSpPr>
        <p:spPr>
          <a:xfrm>
            <a:off x="661475" y="4884539"/>
            <a:ext cx="10868745" cy="1258094"/>
          </a:xfrm>
          <a:prstGeom prst="rect">
            <a:avLst/>
          </a:prstGeom>
          <a:noFill/>
          <a:ln/>
        </p:spPr>
        <p:txBody>
          <a:bodyPr wrap="square" lIns="0" tIns="0" rIns="0" bIns="0" rtlCol="0" anchor="t"/>
          <a:lstStyle/>
          <a:p>
            <a:pPr algn="l" indent="0" marL="0">
              <a:lnSpc>
                <a:spcPct val="123000"/>
              </a:lnSpc>
              <a:spcAft>
                <a:spcPts val="1200"/>
              </a:spcAft>
              <a:buNone/>
            </a:pPr>
            <a:r>
              <a:rPr lang="en-US" sz="1250" dirty="0">
                <a:solidFill>
                  <a:srgbClr val="3B3535"/>
                </a:solidFill>
                <a:latin typeface="Roboto" pitchFamily="34" charset="0"/>
                <a:ea typeface="Roboto" pitchFamily="34" charset="-122"/>
                <a:cs typeface="Roboto" pitchFamily="34" charset="-120"/>
              </a:rPr>
              <a:t>Es una forma de aplicar la regla de la cadena (sacar el gradiente de una composición de funciones), en una red neuronal.</a:t>
            </a:r>
            <a:endParaRPr lang="en-US" sz="1250" dirty="0"/>
          </a:p>
          <a:p>
            <a:pPr algn="l" indent="0" marL="0">
              <a:lnSpc>
                <a:spcPct val="123000"/>
              </a:lnSpc>
              <a:spcAft>
                <a:spcPts val="1200"/>
              </a:spcAft>
              <a:buNone/>
            </a:pPr>
            <a:r>
              <a:rPr lang="en-US" sz="1250" dirty="0">
                <a:solidFill>
                  <a:srgbClr val="3B3535"/>
                </a:solidFill>
                <a:latin typeface="Roboto" pitchFamily="34" charset="0"/>
                <a:ea typeface="Roboto" pitchFamily="34" charset="-122"/>
                <a:cs typeface="Roboto" pitchFamily="34" charset="-120"/>
              </a:rPr>
              <a:t>Es como rastrear un error en una cadena de producción: el producto final salió mal, entonces vamos viendo en cada paso quién tuvo más culpa y corregimos más a ese.</a:t>
            </a:r>
            <a:endParaRPr lang="en-US" sz="1250" dirty="0"/>
          </a:p>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Esto es lo que permite entrenar redes con millones de parámetros.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661475" y="679946"/>
            <a:ext cx="3062707" cy="201116"/>
          </a:xfrm>
          <a:prstGeom prst="roundRect">
            <a:avLst>
              <a:gd name="adj" fmla="val 3789"/>
            </a:avLst>
          </a:prstGeom>
          <a:solidFill>
            <a:srgbClr val="F9D2D6"/>
          </a:solidFill>
          <a:ln/>
        </p:spPr>
      </p:sp>
      <p:sp>
        <p:nvSpPr>
          <p:cNvPr id="3" name="Text 1"/>
          <p:cNvSpPr/>
          <p:nvPr/>
        </p:nvSpPr>
        <p:spPr>
          <a:xfrm>
            <a:off x="740848" y="719634"/>
            <a:ext cx="3513546" cy="121741"/>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Roboto" pitchFamily="34" charset="0"/>
                <a:ea typeface="Roboto" pitchFamily="34" charset="-122"/>
                <a:cs typeface="Roboto" pitchFamily="34" charset="-120"/>
              </a:rPr>
              <a:t>REDES NEURONALES: DEL PERCEPTRÓN AL DEEP LEARNING</a:t>
            </a:r>
            <a:endParaRPr lang="en-US" sz="800" dirty="0"/>
          </a:p>
        </p:txBody>
      </p:sp>
      <p:sp>
        <p:nvSpPr>
          <p:cNvPr id="4" name="Text 2"/>
          <p:cNvSpPr/>
          <p:nvPr/>
        </p:nvSpPr>
        <p:spPr>
          <a:xfrm>
            <a:off x="661475" y="918071"/>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Backpropagation: Visualización</a:t>
            </a:r>
            <a:endParaRPr lang="en-US" sz="2600" dirty="0"/>
          </a:p>
        </p:txBody>
      </p:sp>
      <p:pic>
        <p:nvPicPr>
          <p:cNvPr id="5" name="Image 0" descr="preencoded.png">    </p:cNvPr>
          <p:cNvPicPr>
            <a:picLocks noChangeAspect="1"/>
          </p:cNvPicPr>
          <p:nvPr/>
        </p:nvPicPr>
        <p:blipFill>
          <a:blip r:embed="rId1"/>
          <a:stretch>
            <a:fillRect/>
          </a:stretch>
        </p:blipFill>
        <p:spPr>
          <a:xfrm>
            <a:off x="2291797" y="1470422"/>
            <a:ext cx="7608102" cy="470753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661475" y="560784"/>
            <a:ext cx="3129976" cy="236438"/>
          </a:xfrm>
          <a:prstGeom prst="roundRect">
            <a:avLst>
              <a:gd name="adj" fmla="val 3223"/>
            </a:avLst>
          </a:prstGeom>
          <a:solidFill>
            <a:srgbClr val="F9D2D6"/>
          </a:solidFill>
          <a:ln/>
        </p:spPr>
      </p:sp>
      <p:sp>
        <p:nvSpPr>
          <p:cNvPr id="3" name="Text 1"/>
          <p:cNvSpPr/>
          <p:nvPr/>
        </p:nvSpPr>
        <p:spPr>
          <a:xfrm>
            <a:off x="754837" y="607417"/>
            <a:ext cx="3552835" cy="143173"/>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DE RNNS A TRANSFORMERS: EL ROL DE ATTENTION</a:t>
            </a:r>
            <a:endParaRPr lang="en-US" sz="950" dirty="0"/>
          </a:p>
        </p:txBody>
      </p:sp>
      <p:sp>
        <p:nvSpPr>
          <p:cNvPr id="4" name="Text 2"/>
          <p:cNvSpPr/>
          <p:nvPr/>
        </p:nvSpPr>
        <p:spPr>
          <a:xfrm>
            <a:off x="661475" y="848420"/>
            <a:ext cx="10868745" cy="486370"/>
          </a:xfrm>
          <a:prstGeom prst="rect">
            <a:avLst/>
          </a:prstGeom>
          <a:noFill/>
          <a:ln/>
        </p:spPr>
        <p:txBody>
          <a:bodyPr wrap="none" lIns="0" tIns="0" rIns="0" bIns="0" rtlCol="0" anchor="t"/>
          <a:lstStyle/>
          <a:p>
            <a:pPr algn="l" indent="0" marL="0">
              <a:lnSpc>
                <a:spcPct val="104000"/>
              </a:lnSpc>
              <a:buNone/>
            </a:pPr>
            <a:r>
              <a:rPr lang="en-US" sz="3050" dirty="0">
                <a:solidFill>
                  <a:srgbClr val="1F1E1E"/>
                </a:solidFill>
                <a:latin typeface="Roboto Mono Medium" pitchFamily="34" charset="0"/>
                <a:ea typeface="Roboto Mono Medium" pitchFamily="34" charset="-122"/>
                <a:cs typeface="Roboto Mono Medium" pitchFamily="34" charset="-120"/>
              </a:rPr>
              <a:t>Redes Recurrentes (RNNs)</a:t>
            </a:r>
            <a:endParaRPr lang="en-US" sz="3050" dirty="0"/>
          </a:p>
        </p:txBody>
      </p:sp>
      <p:sp>
        <p:nvSpPr>
          <p:cNvPr id="5" name="Text 3"/>
          <p:cNvSpPr/>
          <p:nvPr/>
        </p:nvSpPr>
        <p:spPr>
          <a:xfrm>
            <a:off x="661475" y="1385987"/>
            <a:ext cx="10868745" cy="583605"/>
          </a:xfrm>
          <a:prstGeom prst="rect">
            <a:avLst/>
          </a:prstGeom>
          <a:noFill/>
          <a:ln/>
        </p:spPr>
        <p:txBody>
          <a:bodyPr wrap="square" lIns="0" tIns="0" rIns="0" bIns="0" rtlCol="0" anchor="t">
            <a:normAutofit/>
          </a:bodyPr>
          <a:lstStyle/>
          <a:p>
            <a:pPr algn="l" indent="0" marL="0">
              <a:lnSpc>
                <a:spcPct val="104000"/>
              </a:lnSpc>
              <a:buNone/>
            </a:pPr>
            <a:r>
              <a:rPr lang="en-US" sz="1800" dirty="0">
                <a:solidFill>
                  <a:srgbClr val="1F1E1E"/>
                </a:solidFill>
                <a:latin typeface="Roboto Mono Medium" pitchFamily="34" charset="0"/>
                <a:ea typeface="Roboto Mono Medium" pitchFamily="34" charset="-122"/>
                <a:cs typeface="Roboto Mono Medium" pitchFamily="34" charset="-120"/>
              </a:rPr>
              <a:t>Antes de Transformers, las RNNs procesaban texto palabra por palabra, de izquierda a derecha, manteniendo un estado interno ("memoria").</a:t>
            </a:r>
            <a:endParaRPr lang="en-US" sz="1800" dirty="0"/>
          </a:p>
        </p:txBody>
      </p:sp>
      <p:sp>
        <p:nvSpPr>
          <p:cNvPr id="6" name="Shape 4"/>
          <p:cNvSpPr/>
          <p:nvPr/>
        </p:nvSpPr>
        <p:spPr>
          <a:xfrm>
            <a:off x="661475" y="2161778"/>
            <a:ext cx="10868745" cy="560189"/>
          </a:xfrm>
          <a:prstGeom prst="roundRect">
            <a:avLst>
              <a:gd name="adj" fmla="val 1360"/>
            </a:avLst>
          </a:prstGeom>
          <a:solidFill>
            <a:srgbClr val="F2F2F2"/>
          </a:solidFill>
          <a:ln/>
        </p:spPr>
      </p:sp>
      <p:sp>
        <p:nvSpPr>
          <p:cNvPr id="7" name="Text 5"/>
          <p:cNvSpPr/>
          <p:nvPr/>
        </p:nvSpPr>
        <p:spPr>
          <a:xfrm>
            <a:off x="848200" y="2317353"/>
            <a:ext cx="11104880" cy="249039"/>
          </a:xfrm>
          <a:prstGeom prst="rect">
            <a:avLst/>
          </a:prstGeom>
          <a:noFill/>
          <a:ln/>
        </p:spPr>
        <p:txBody>
          <a:bodyPr wrap="none" lIns="0" tIns="0" rIns="0" bIns="0" rtlCol="0" anchor="t"/>
          <a:lstStyle/>
          <a:p>
            <a:pPr algn="l" indent="0" marL="0">
              <a:lnSpc>
                <a:spcPct val="133000"/>
              </a:lnSpc>
              <a:buNone/>
            </a:pPr>
            <a:r>
              <a:rPr lang="en-US" sz="1200" dirty="0">
                <a:solidFill>
                  <a:srgbClr val="032F62"/>
                </a:solidFill>
                <a:latin typeface="Consolas" pitchFamily="34" charset="0"/>
                <a:ea typeface="Consolas" pitchFamily="34" charset="-122"/>
                <a:cs typeface="Consolas" pitchFamily="34" charset="-120"/>
              </a:rPr>
              <a:t>"El" → actualiza estado → "gato" → actualiza estado → "está" → ...</a:t>
            </a:r>
            <a:endParaRPr lang="en-US" sz="1200" dirty="0"/>
          </a:p>
        </p:txBody>
      </p:sp>
      <p:sp>
        <p:nvSpPr>
          <p:cNvPr id="8" name="Text 6"/>
          <p:cNvSpPr/>
          <p:nvPr/>
        </p:nvSpPr>
        <p:spPr>
          <a:xfrm>
            <a:off x="661475" y="2866132"/>
            <a:ext cx="11478330" cy="227013"/>
          </a:xfrm>
          <a:prstGeom prst="rect">
            <a:avLst/>
          </a:prstGeom>
          <a:noFill/>
          <a:ln/>
        </p:spPr>
        <p:txBody>
          <a:bodyPr wrap="none" lIns="0" tIns="0" rIns="0" bIns="0" rtlCol="0" anchor="t"/>
          <a:lstStyle/>
          <a:p>
            <a:pPr algn="l" indent="0" marL="0">
              <a:lnSpc>
                <a:spcPct val="122000"/>
              </a:lnSpc>
              <a:buNone/>
            </a:pPr>
            <a:r>
              <a:rPr lang="en-US" sz="1200" dirty="0">
                <a:solidFill>
                  <a:srgbClr val="3B3535"/>
                </a:solidFill>
                <a:latin typeface="Roboto" pitchFamily="34" charset="0"/>
                <a:ea typeface="Roboto" pitchFamily="34" charset="-122"/>
                <a:cs typeface="Roboto" pitchFamily="34" charset="-120"/>
              </a:rPr>
              <a:t>Variantes: LSTM (decide qué recordar/olvidar), GRU (simplificada), ELMo (embeddings contextuales).</a:t>
            </a:r>
            <a:endParaRPr lang="en-US" sz="1200" dirty="0"/>
          </a:p>
        </p:txBody>
      </p:sp>
      <p:sp>
        <p:nvSpPr>
          <p:cNvPr id="9" name="Text 7"/>
          <p:cNvSpPr/>
          <p:nvPr/>
        </p:nvSpPr>
        <p:spPr>
          <a:xfrm>
            <a:off x="661475" y="3285331"/>
            <a:ext cx="10868745" cy="389037"/>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Roboto Mono Medium" pitchFamily="34" charset="0"/>
                <a:ea typeface="Roboto Mono Medium" pitchFamily="34" charset="-122"/>
                <a:cs typeface="Roboto Mono Medium" pitchFamily="34" charset="-120"/>
              </a:rPr>
              <a:t>Limitaciones</a:t>
            </a:r>
            <a:endParaRPr lang="en-US" sz="2450" dirty="0"/>
          </a:p>
        </p:txBody>
      </p:sp>
      <p:sp>
        <p:nvSpPr>
          <p:cNvPr id="10" name="Text 8"/>
          <p:cNvSpPr/>
          <p:nvPr/>
        </p:nvSpPr>
        <p:spPr>
          <a:xfrm>
            <a:off x="661475" y="3866555"/>
            <a:ext cx="10868745" cy="498872"/>
          </a:xfrm>
          <a:prstGeom prst="rect">
            <a:avLst/>
          </a:prstGeom>
          <a:noFill/>
          <a:ln/>
        </p:spPr>
        <p:txBody>
          <a:bodyPr wrap="square" lIns="0" tIns="62258" rIns="0" bIns="0" rtlCol="0" anchor="t">
            <a:normAutofit/>
          </a:bodyPr>
          <a:lstStyle/>
          <a:p>
            <a:pPr algn="l" marL="243840" indent="-243840">
              <a:lnSpc>
                <a:spcPct val="122000"/>
              </a:lnSpc>
              <a:buSzPct val="100000"/>
              <a:buChar char="•"/>
            </a:pPr>
            <a:r>
              <a:rPr lang="en-US" sz="1200" dirty="0">
                <a:solidFill>
                  <a:srgbClr val="3B3535"/>
                </a:solidFill>
                <a:latin typeface="Roboto" pitchFamily="34" charset="0"/>
                <a:ea typeface="Roboto" pitchFamily="34" charset="-122"/>
                <a:cs typeface="Roboto" pitchFamily="34" charset="-120"/>
              </a:rPr>
              <a:t>Procesamiento secuencial → no se puede paralelizar → lento</a:t>
            </a:r>
            <a:endParaRPr lang="en-US" sz="1200" dirty="0"/>
          </a:p>
          <a:p>
            <a:pPr algn="l" marL="243840" indent="-243840">
              <a:lnSpc>
                <a:spcPct val="122000"/>
              </a:lnSpc>
              <a:buSzPct val="100000"/>
              <a:buChar char="•"/>
            </a:pPr>
            <a:r>
              <a:rPr lang="en-US" sz="1200" dirty="0">
                <a:solidFill>
                  <a:srgbClr val="3B3535"/>
                </a:solidFill>
                <a:latin typeface="Roboto" pitchFamily="34" charset="0"/>
                <a:ea typeface="Roboto" pitchFamily="34" charset="-122"/>
                <a:cs typeface="Roboto" pitchFamily="34" charset="-120"/>
              </a:rPr>
              <a:t>Dificultad con dependencias largas: la información se "diluye" con la distancia</a:t>
            </a:r>
            <a:endParaRPr lang="en-US" sz="1200" dirty="0"/>
          </a:p>
        </p:txBody>
      </p:sp>
      <p:sp>
        <p:nvSpPr>
          <p:cNvPr id="11" name="Text 9"/>
          <p:cNvSpPr/>
          <p:nvPr/>
        </p:nvSpPr>
        <p:spPr>
          <a:xfrm>
            <a:off x="661475" y="4557613"/>
            <a:ext cx="10868745" cy="389037"/>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Roboto Mono Medium" pitchFamily="34" charset="0"/>
                <a:ea typeface="Roboto Mono Medium" pitchFamily="34" charset="-122"/>
                <a:cs typeface="Roboto Mono Medium" pitchFamily="34" charset="-120"/>
              </a:rPr>
              <a:t>El problema del contexto</a:t>
            </a:r>
            <a:endParaRPr lang="en-US" sz="2450" dirty="0"/>
          </a:p>
        </p:txBody>
      </p:sp>
      <p:sp>
        <p:nvSpPr>
          <p:cNvPr id="12" name="Shape 10"/>
          <p:cNvSpPr/>
          <p:nvPr/>
        </p:nvSpPr>
        <p:spPr>
          <a:xfrm>
            <a:off x="661475" y="5138837"/>
            <a:ext cx="10868745" cy="560189"/>
          </a:xfrm>
          <a:prstGeom prst="roundRect">
            <a:avLst>
              <a:gd name="adj" fmla="val 1360"/>
            </a:avLst>
          </a:prstGeom>
          <a:solidFill>
            <a:srgbClr val="F2F2F2"/>
          </a:solidFill>
          <a:ln/>
        </p:spPr>
      </p:sp>
      <p:sp>
        <p:nvSpPr>
          <p:cNvPr id="13" name="Text 11"/>
          <p:cNvSpPr/>
          <p:nvPr/>
        </p:nvSpPr>
        <p:spPr>
          <a:xfrm>
            <a:off x="848200" y="5294412"/>
            <a:ext cx="11104880" cy="249039"/>
          </a:xfrm>
          <a:prstGeom prst="rect">
            <a:avLst/>
          </a:prstGeom>
          <a:noFill/>
          <a:ln/>
        </p:spPr>
        <p:txBody>
          <a:bodyPr wrap="none" lIns="0" tIns="0" rIns="0" bIns="0" rtlCol="0" anchor="t"/>
          <a:lstStyle/>
          <a:p>
            <a:pPr algn="l" indent="0" marL="0">
              <a:lnSpc>
                <a:spcPct val="133000"/>
              </a:lnSpc>
              <a:buNone/>
            </a:pPr>
            <a:r>
              <a:rPr lang="en-US" sz="1200" dirty="0">
                <a:solidFill>
                  <a:srgbClr val="032F62"/>
                </a:solidFill>
                <a:latin typeface="Consolas" pitchFamily="34" charset="0"/>
                <a:ea typeface="Consolas" pitchFamily="34" charset="-122"/>
                <a:cs typeface="Consolas" pitchFamily="34" charset="-120"/>
              </a:rPr>
              <a:t>"The animal didn't cross the street because it was too tired"</a:t>
            </a:r>
            <a:endParaRPr lang="en-US" sz="1200" dirty="0"/>
          </a:p>
        </p:txBody>
      </p:sp>
      <p:sp>
        <p:nvSpPr>
          <p:cNvPr id="14" name="Text 12"/>
          <p:cNvSpPr/>
          <p:nvPr/>
        </p:nvSpPr>
        <p:spPr>
          <a:xfrm>
            <a:off x="661475" y="5843191"/>
            <a:ext cx="10868745" cy="454025"/>
          </a:xfrm>
          <a:prstGeom prst="rect">
            <a:avLst/>
          </a:prstGeom>
          <a:noFill/>
          <a:ln/>
        </p:spPr>
        <p:txBody>
          <a:bodyPr wrap="square" lIns="0" tIns="0" rIns="0" bIns="0" rtlCol="0" anchor="t">
            <a:normAutofit/>
          </a:bodyPr>
          <a:lstStyle/>
          <a:p>
            <a:pPr algn="l" indent="0" marL="0">
              <a:lnSpc>
                <a:spcPct val="122000"/>
              </a:lnSpc>
              <a:buNone/>
            </a:pPr>
            <a:r>
              <a:rPr lang="en-US" sz="1200" dirty="0">
                <a:solidFill>
                  <a:srgbClr val="3B3535"/>
                </a:solidFill>
                <a:latin typeface="Roboto" pitchFamily="34" charset="0"/>
                <a:ea typeface="Roboto" pitchFamily="34" charset="-122"/>
                <a:cs typeface="Roboto" pitchFamily="34" charset="-120"/>
              </a:rPr>
              <a:t>¿A qué se refiere "it"? A "animal". Pero están lejos en la oración.</a:t>
            </a:r>
            <a:endParaRPr lang="en-US" sz="1200" dirty="0"/>
          </a:p>
          <a:p>
            <a:pPr algn="l" indent="0" marL="0">
              <a:lnSpc>
                <a:spcPct val="122000"/>
              </a:lnSpc>
              <a:buNone/>
            </a:pPr>
            <a:r>
              <a:rPr lang="en-US" sz="1200" dirty="0">
                <a:solidFill>
                  <a:srgbClr val="3B3535"/>
                </a:solidFill>
                <a:latin typeface="Roboto" pitchFamily="34" charset="0"/>
                <a:ea typeface="Roboto" pitchFamily="34" charset="-122"/>
                <a:cs typeface="Roboto" pitchFamily="34" charset="-120"/>
              </a:rPr>
              <a:t>Para cuando la RNN llega a "it", la info sobre "animal" se debilitó → motivó los Transformers.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661475" y="696813"/>
            <a:ext cx="2852765" cy="215305"/>
          </a:xfrm>
          <a:prstGeom prst="roundRect">
            <a:avLst>
              <a:gd name="adj" fmla="val 3539"/>
            </a:avLst>
          </a:prstGeom>
          <a:solidFill>
            <a:srgbClr val="F9D2D6"/>
          </a:solidFill>
          <a:ln/>
        </p:spPr>
      </p:sp>
      <p:sp>
        <p:nvSpPr>
          <p:cNvPr id="3" name="Text 1"/>
          <p:cNvSpPr/>
          <p:nvPr/>
        </p:nvSpPr>
        <p:spPr>
          <a:xfrm>
            <a:off x="746503" y="739279"/>
            <a:ext cx="3292293" cy="130373"/>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DE RNNS A TRANSFORMERS: EL ROL DE ATTENTION</a:t>
            </a:r>
            <a:endParaRPr lang="en-US" sz="850" dirty="0"/>
          </a:p>
        </p:txBody>
      </p:sp>
      <p:sp>
        <p:nvSpPr>
          <p:cNvPr id="4" name="Text 2"/>
          <p:cNvSpPr/>
          <p:nvPr/>
        </p:nvSpPr>
        <p:spPr>
          <a:xfrm>
            <a:off x="661475" y="954584"/>
            <a:ext cx="10868745" cy="443012"/>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Redes Recurrentes (RNNs): intuición</a:t>
            </a:r>
            <a:endParaRPr lang="en-US" sz="2750" dirty="0"/>
          </a:p>
        </p:txBody>
      </p:sp>
      <p:sp>
        <p:nvSpPr>
          <p:cNvPr id="5" name="Text 3"/>
          <p:cNvSpPr/>
          <p:nvPr/>
        </p:nvSpPr>
        <p:spPr>
          <a:xfrm>
            <a:off x="661475" y="1440061"/>
            <a:ext cx="10868745" cy="265708"/>
          </a:xfrm>
          <a:prstGeom prst="rect">
            <a:avLst/>
          </a:prstGeom>
          <a:noFill/>
          <a:ln/>
        </p:spPr>
        <p:txBody>
          <a:bodyPr wrap="none" lIns="0" tIns="0" rIns="0" bIns="0" rtlCol="0" anchor="t"/>
          <a:lstStyle/>
          <a:p>
            <a:pPr algn="l" indent="0" marL="0">
              <a:lnSpc>
                <a:spcPct val="104000"/>
              </a:lnSpc>
              <a:buNone/>
            </a:pPr>
            <a:r>
              <a:rPr lang="en-US" sz="1650" dirty="0">
                <a:solidFill>
                  <a:srgbClr val="1F1E1E"/>
                </a:solidFill>
                <a:latin typeface="Roboto Mono Medium" pitchFamily="34" charset="0"/>
                <a:ea typeface="Roboto Mono Medium" pitchFamily="34" charset="-122"/>
                <a:cs typeface="Roboto Mono Medium" pitchFamily="34" charset="-120"/>
              </a:rPr>
              <a:t>Quiero procesar: "The cat is on the _"</a:t>
            </a:r>
            <a:endParaRPr lang="en-US" sz="1650" dirty="0"/>
          </a:p>
        </p:txBody>
      </p:sp>
      <p:sp>
        <p:nvSpPr>
          <p:cNvPr id="6" name="Text 4"/>
          <p:cNvSpPr/>
          <p:nvPr/>
        </p:nvSpPr>
        <p:spPr>
          <a:xfrm>
            <a:off x="661475" y="1865213"/>
            <a:ext cx="10868745" cy="913309"/>
          </a:xfrm>
          <a:prstGeom prst="rect">
            <a:avLst/>
          </a:prstGeom>
          <a:noFill/>
          <a:ln/>
        </p:spPr>
        <p:txBody>
          <a:bodyPr wrap="square" lIns="0" tIns="0" rIns="0" bIns="0" rtlCol="0" anchor="t">
            <a:normAutofit/>
          </a:bodyPr>
          <a:lstStyle/>
          <a:p>
            <a:pPr algn="l" indent="0" marL="0">
              <a:lnSpc>
                <a:spcPct val="117000"/>
              </a:lnSpc>
              <a:spcAft>
                <a:spcPts val="900"/>
              </a:spcAft>
              <a:buNone/>
            </a:pPr>
            <a:r>
              <a:rPr lang="en-US" sz="1100" dirty="0">
                <a:solidFill>
                  <a:srgbClr val="3B3535"/>
                </a:solidFill>
                <a:latin typeface="Roboto" pitchFamily="34" charset="0"/>
                <a:ea typeface="Roboto" pitchFamily="34" charset="-122"/>
                <a:cs typeface="Roboto" pitchFamily="34" charset="-120"/>
              </a:rPr>
              <a:t>Red neuronal común: recibe el vector de "The" y genera un output, luego recibe el vector de "cat" y genera un output. Pero el output de "cat" va a ser siempre el mismo! Porque no tiene "memoria".</a:t>
            </a:r>
            <a:endParaRPr lang="en-US" sz="1100" dirty="0"/>
          </a:p>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RNN: para procesar el vector de "cat", guardate el vector de "The" y usalo para generar la salida de "cat" (aplicar este mismo proceso para toda la frase hasta llegar a la ultima palabra).</a:t>
            </a:r>
            <a:endParaRPr lang="en-US" sz="1100" dirty="0"/>
          </a:p>
        </p:txBody>
      </p:sp>
      <p:pic>
        <p:nvPicPr>
          <p:cNvPr id="7" name="Image 0" descr="preencoded.png">    </p:cNvPr>
          <p:cNvPicPr>
            <a:picLocks noChangeAspect="1"/>
          </p:cNvPicPr>
          <p:nvPr/>
        </p:nvPicPr>
        <p:blipFill>
          <a:blip r:embed="rId1"/>
          <a:stretch>
            <a:fillRect/>
          </a:stretch>
        </p:blipFill>
        <p:spPr>
          <a:xfrm>
            <a:off x="3552935" y="2898080"/>
            <a:ext cx="5085727" cy="326300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Shape 0"/>
          <p:cNvSpPr/>
          <p:nvPr/>
        </p:nvSpPr>
        <p:spPr>
          <a:xfrm>
            <a:off x="661475" y="863600"/>
            <a:ext cx="2441216" cy="215305"/>
          </a:xfrm>
          <a:prstGeom prst="roundRect">
            <a:avLst>
              <a:gd name="adj" fmla="val 3539"/>
            </a:avLst>
          </a:prstGeom>
          <a:solidFill>
            <a:srgbClr val="F9D2D6"/>
          </a:solidFill>
          <a:ln/>
        </p:spPr>
      </p:sp>
      <p:sp>
        <p:nvSpPr>
          <p:cNvPr id="4" name="Text 1"/>
          <p:cNvSpPr/>
          <p:nvPr/>
        </p:nvSpPr>
        <p:spPr>
          <a:xfrm>
            <a:off x="746503" y="906066"/>
            <a:ext cx="2880744" cy="130373"/>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TRANSFORMERS: CÓMO FUNCIONA UN LLM</a:t>
            </a:r>
            <a:endParaRPr lang="en-US" sz="850" dirty="0"/>
          </a:p>
        </p:txBody>
      </p:sp>
      <p:sp>
        <p:nvSpPr>
          <p:cNvPr id="5" name="Text 2"/>
          <p:cNvSpPr/>
          <p:nvPr/>
        </p:nvSpPr>
        <p:spPr>
          <a:xfrm>
            <a:off x="661475" y="1121370"/>
            <a:ext cx="6296860" cy="443012"/>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Transformers</a:t>
            </a:r>
            <a:endParaRPr lang="en-US" sz="2750" dirty="0"/>
          </a:p>
        </p:txBody>
      </p:sp>
      <p:sp>
        <p:nvSpPr>
          <p:cNvPr id="6" name="Text 3"/>
          <p:cNvSpPr/>
          <p:nvPr/>
        </p:nvSpPr>
        <p:spPr>
          <a:xfrm>
            <a:off x="661475" y="1606848"/>
            <a:ext cx="6296860" cy="797123"/>
          </a:xfrm>
          <a:prstGeom prst="rect">
            <a:avLst/>
          </a:prstGeom>
          <a:noFill/>
          <a:ln/>
        </p:spPr>
        <p:txBody>
          <a:bodyPr wrap="square" lIns="0" tIns="0" rIns="0" bIns="0" rtlCol="0" anchor="t">
            <a:normAutofit/>
          </a:bodyPr>
          <a:lstStyle/>
          <a:p>
            <a:pPr algn="l" indent="0" marL="0">
              <a:lnSpc>
                <a:spcPct val="104000"/>
              </a:lnSpc>
              <a:buNone/>
            </a:pPr>
            <a:r>
              <a:rPr lang="en-US" sz="1650" dirty="0">
                <a:solidFill>
                  <a:srgbClr val="1F1E1E"/>
                </a:solidFill>
                <a:latin typeface="Roboto Mono Medium" pitchFamily="34" charset="0"/>
                <a:ea typeface="Roboto Mono Medium" pitchFamily="34" charset="-122"/>
                <a:cs typeface="Roboto Mono Medium" pitchFamily="34" charset="-120"/>
              </a:rPr>
              <a:t>La arquitectura que cambió todo (2017). A diferencia de las RNNs, los Transformers procesan toda la secuencia de una vez, en paralelo.</a:t>
            </a:r>
            <a:endParaRPr lang="en-US" sz="1650" dirty="0"/>
          </a:p>
        </p:txBody>
      </p:sp>
      <p:sp>
        <p:nvSpPr>
          <p:cNvPr id="7" name="Text 4"/>
          <p:cNvSpPr/>
          <p:nvPr/>
        </p:nvSpPr>
        <p:spPr>
          <a:xfrm>
            <a:off x="661475" y="2446437"/>
            <a:ext cx="6296860" cy="354409"/>
          </a:xfrm>
          <a:prstGeom prst="rect">
            <a:avLst/>
          </a:prstGeom>
          <a:noFill/>
          <a:ln/>
        </p:spPr>
        <p:txBody>
          <a:bodyPr wrap="none" lIns="0" tIns="0" rIns="0" bIns="0" rtlCol="0" anchor="t"/>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Intuición de la Atención</a:t>
            </a:r>
            <a:endParaRPr lang="en-US" sz="2200" dirty="0"/>
          </a:p>
        </p:txBody>
      </p:sp>
      <p:sp>
        <p:nvSpPr>
          <p:cNvPr id="8" name="Text 5"/>
          <p:cNvSpPr/>
          <p:nvPr/>
        </p:nvSpPr>
        <p:spPr>
          <a:xfrm>
            <a:off x="661475" y="2960291"/>
            <a:ext cx="6906444"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Cuando leemos, no prestamos la misma atención a todas las palabras:</a:t>
            </a:r>
            <a:endParaRPr lang="en-US" sz="1100" dirty="0"/>
          </a:p>
        </p:txBody>
      </p:sp>
      <p:sp>
        <p:nvSpPr>
          <p:cNvPr id="9" name="Shape 6"/>
          <p:cNvSpPr/>
          <p:nvPr/>
        </p:nvSpPr>
        <p:spPr>
          <a:xfrm>
            <a:off x="661475" y="3278287"/>
            <a:ext cx="6296860" cy="736997"/>
          </a:xfrm>
          <a:prstGeom prst="roundRect">
            <a:avLst>
              <a:gd name="adj" fmla="val 1034"/>
            </a:avLst>
          </a:prstGeom>
          <a:solidFill>
            <a:srgbClr val="F2F2F2"/>
          </a:solidFill>
          <a:ln/>
        </p:spPr>
      </p:sp>
      <p:sp>
        <p:nvSpPr>
          <p:cNvPr id="10" name="Text 7"/>
          <p:cNvSpPr/>
          <p:nvPr/>
        </p:nvSpPr>
        <p:spPr>
          <a:xfrm>
            <a:off x="831532" y="3419971"/>
            <a:ext cx="5956746"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032F62"/>
                </a:solidFill>
                <a:latin typeface="Consolas" pitchFamily="34" charset="0"/>
                <a:ea typeface="Consolas" pitchFamily="34" charset="-122"/>
                <a:cs typeface="Consolas" pitchFamily="34" charset="-120"/>
              </a:rPr>
              <a:t>"The animal didn't cross the street because it was too tired"</a:t>
            </a:r>
            <a:endParaRPr lang="en-US" sz="1100" dirty="0"/>
          </a:p>
          <a:p>
            <a:pPr algn="l" indent="0" marL="0">
              <a:lnSpc>
                <a:spcPct val="133000"/>
              </a:lnSpc>
              <a:buNone/>
            </a:pPr>
            <a:r>
              <a:rPr lang="en-US" sz="1100" dirty="0">
                <a:solidFill>
                  <a:srgbClr val="032F62"/>
                </a:solidFill>
                <a:latin typeface="Consolas" pitchFamily="34" charset="0"/>
                <a:ea typeface="Consolas" pitchFamily="34" charset="-122"/>
                <a:cs typeface="Consolas" pitchFamily="34" charset="-120"/>
              </a:rPr>
              <a:t>→ Para entender "it", miramos "animal". Eso es atención.</a:t>
            </a:r>
            <a:endParaRPr lang="en-US" sz="1100" dirty="0"/>
          </a:p>
        </p:txBody>
      </p:sp>
      <p:sp>
        <p:nvSpPr>
          <p:cNvPr id="11" name="Text 8"/>
          <p:cNvSpPr/>
          <p:nvPr/>
        </p:nvSpPr>
        <p:spPr>
          <a:xfrm>
            <a:off x="661475" y="4134842"/>
            <a:ext cx="6906444"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Atención permite que cada token "mire" a todos los demás y decida cuáles son relevantes.</a:t>
            </a:r>
            <a:endParaRPr lang="en-US" sz="1100" dirty="0"/>
          </a:p>
        </p:txBody>
      </p:sp>
      <p:sp>
        <p:nvSpPr>
          <p:cNvPr id="12" name="Text 9"/>
          <p:cNvSpPr/>
          <p:nvPr/>
        </p:nvSpPr>
        <p:spPr>
          <a:xfrm>
            <a:off x="661475" y="4452838"/>
            <a:ext cx="6296860" cy="669727"/>
          </a:xfrm>
          <a:prstGeom prst="rect">
            <a:avLst/>
          </a:prstGeom>
          <a:noFill/>
          <a:ln/>
        </p:spPr>
        <p:txBody>
          <a:bodyPr wrap="square" lIns="0" tIns="56706" rIns="0" bIns="0" rtlCol="0" anchor="t">
            <a:normAutofit/>
          </a:bodyPr>
          <a:lstStyle/>
          <a:p>
            <a:pPr algn="l" marL="223520" indent="-223520">
              <a:lnSpc>
                <a:spcPct val="117000"/>
              </a:lnSpc>
              <a:buSzPct val="100000"/>
              <a:buChar char="•"/>
            </a:pPr>
            <a:r>
              <a:rPr lang="en-US" sz="1100" dirty="0">
                <a:solidFill>
                  <a:srgbClr val="3B3535"/>
                </a:solidFill>
                <a:latin typeface="Roboto" pitchFamily="34" charset="0"/>
                <a:ea typeface="Roboto" pitchFamily="34" charset="-122"/>
                <a:cs typeface="Roboto" pitchFamily="34" charset="-120"/>
              </a:rPr>
              <a:t>Captura dependencias largas (palabras separadas que se relacionan)</a:t>
            </a:r>
            <a:endParaRPr lang="en-US" sz="1100" dirty="0"/>
          </a:p>
          <a:p>
            <a:pPr algn="l" marL="223520" indent="-223520">
              <a:lnSpc>
                <a:spcPct val="117000"/>
              </a:lnSpc>
              <a:buSzPct val="100000"/>
              <a:buChar char="•"/>
            </a:pPr>
            <a:r>
              <a:rPr lang="en-US" sz="1100" dirty="0">
                <a:solidFill>
                  <a:srgbClr val="3B3535"/>
                </a:solidFill>
                <a:latin typeface="Roboto" pitchFamily="34" charset="0"/>
                <a:ea typeface="Roboto" pitchFamily="34" charset="-122"/>
                <a:cs typeface="Roboto" pitchFamily="34" charset="-120"/>
              </a:rPr>
              <a:t>Relaciones sintácticas (sujeto-verbo-objeto)</a:t>
            </a:r>
            <a:endParaRPr lang="en-US" sz="1100" dirty="0"/>
          </a:p>
          <a:p>
            <a:pPr algn="l" marL="223520" indent="-223520">
              <a:lnSpc>
                <a:spcPct val="117000"/>
              </a:lnSpc>
              <a:buSzPct val="100000"/>
              <a:buChar char="•"/>
            </a:pPr>
            <a:r>
              <a:rPr lang="en-US" sz="1100" dirty="0">
                <a:solidFill>
                  <a:srgbClr val="3B3535"/>
                </a:solidFill>
                <a:latin typeface="Roboto" pitchFamily="34" charset="0"/>
                <a:ea typeface="Roboto" pitchFamily="34" charset="-122"/>
                <a:cs typeface="Roboto" pitchFamily="34" charset="-120"/>
              </a:rPr>
              <a:t>Relaciones semánticas (significado, contexto)</a:t>
            </a:r>
            <a:endParaRPr lang="en-US" sz="1100" dirty="0"/>
          </a:p>
        </p:txBody>
      </p:sp>
      <p:sp>
        <p:nvSpPr>
          <p:cNvPr id="13" name="Text 10"/>
          <p:cNvSpPr/>
          <p:nvPr/>
        </p:nvSpPr>
        <p:spPr>
          <a:xfrm>
            <a:off x="661475" y="5282009"/>
            <a:ext cx="6296860" cy="354409"/>
          </a:xfrm>
          <a:prstGeom prst="rect">
            <a:avLst/>
          </a:prstGeom>
          <a:noFill/>
          <a:ln/>
        </p:spPr>
        <p:txBody>
          <a:bodyPr wrap="none" lIns="0" tIns="0" rIns="0" bIns="0" rtlCol="0" anchor="t"/>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Arquitectura</a:t>
            </a:r>
            <a:endParaRPr lang="en-US" sz="2200" dirty="0"/>
          </a:p>
        </p:txBody>
      </p:sp>
      <p:sp>
        <p:nvSpPr>
          <p:cNvPr id="14" name="Text 11"/>
          <p:cNvSpPr/>
          <p:nvPr/>
        </p:nvSpPr>
        <p:spPr>
          <a:xfrm>
            <a:off x="661475" y="5795863"/>
            <a:ext cx="6906444"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Paper original: encoder + decoder. Pero LLMs modernos (GPT, LLaMA, Claude) usan solo decoder.</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661475" y="767358"/>
            <a:ext cx="2441216" cy="215305"/>
          </a:xfrm>
          <a:prstGeom prst="roundRect">
            <a:avLst>
              <a:gd name="adj" fmla="val 3539"/>
            </a:avLst>
          </a:prstGeom>
          <a:solidFill>
            <a:srgbClr val="F9D2D6"/>
          </a:solidFill>
          <a:ln/>
        </p:spPr>
      </p:sp>
      <p:sp>
        <p:nvSpPr>
          <p:cNvPr id="3" name="Text 1"/>
          <p:cNvSpPr/>
          <p:nvPr/>
        </p:nvSpPr>
        <p:spPr>
          <a:xfrm>
            <a:off x="746503" y="809823"/>
            <a:ext cx="2880744" cy="130373"/>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TRANSFORMERS: CÓMO FUNCIONA UN LLM</a:t>
            </a:r>
            <a:endParaRPr lang="en-US" sz="850" dirty="0"/>
          </a:p>
        </p:txBody>
      </p:sp>
      <p:sp>
        <p:nvSpPr>
          <p:cNvPr id="4" name="Text 2"/>
          <p:cNvSpPr/>
          <p:nvPr/>
        </p:nvSpPr>
        <p:spPr>
          <a:xfrm>
            <a:off x="661475" y="1025128"/>
            <a:ext cx="10868745" cy="443012"/>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Comparación de Modelos</a:t>
            </a:r>
            <a:endParaRPr lang="en-US" sz="2750" dirty="0"/>
          </a:p>
        </p:txBody>
      </p:sp>
      <p:sp>
        <p:nvSpPr>
          <p:cNvPr id="5" name="Shape 3"/>
          <p:cNvSpPr/>
          <p:nvPr/>
        </p:nvSpPr>
        <p:spPr>
          <a:xfrm>
            <a:off x="661475" y="1627584"/>
            <a:ext cx="10868745" cy="4144963"/>
          </a:xfrm>
          <a:prstGeom prst="roundRect">
            <a:avLst>
              <a:gd name="adj" fmla="val 184"/>
            </a:avLst>
          </a:prstGeom>
          <a:noFill/>
          <a:ln w="6350">
            <a:solidFill>
              <a:srgbClr val="000000">
                <a:alpha val="8000"/>
              </a:srgbClr>
            </a:solidFill>
            <a:prstDash val="solid"/>
          </a:ln>
        </p:spPr>
      </p:sp>
      <p:sp>
        <p:nvSpPr>
          <p:cNvPr id="6" name="Shape 4"/>
          <p:cNvSpPr/>
          <p:nvPr/>
        </p:nvSpPr>
        <p:spPr>
          <a:xfrm>
            <a:off x="667825" y="1633934"/>
            <a:ext cx="10856046" cy="338534"/>
          </a:xfrm>
          <a:prstGeom prst="rect">
            <a:avLst/>
          </a:prstGeom>
          <a:solidFill>
            <a:srgbClr val="FFFFFF">
              <a:alpha val="4000"/>
            </a:srgbClr>
          </a:solidFill>
          <a:ln/>
        </p:spPr>
      </p:sp>
      <p:sp>
        <p:nvSpPr>
          <p:cNvPr id="7" name="Text 5"/>
          <p:cNvSpPr/>
          <p:nvPr/>
        </p:nvSpPr>
        <p:spPr>
          <a:xfrm>
            <a:off x="809803" y="1703983"/>
            <a:ext cx="1951386" cy="198438"/>
          </a:xfrm>
          <a:prstGeom prst="rect">
            <a:avLst/>
          </a:prstGeom>
          <a:noFill/>
          <a:ln/>
        </p:spPr>
        <p:txBody>
          <a:bodyPr wrap="none" lIns="0" tIns="0" rIns="0" bIns="0" rtlCol="0" anchor="t"/>
          <a:lstStyle/>
          <a:p>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Modelo</a:t>
            </a:r>
            <a:endParaRPr lang="en-US" sz="1100" dirty="0"/>
          </a:p>
        </p:txBody>
      </p:sp>
      <p:sp>
        <p:nvSpPr>
          <p:cNvPr id="8" name="Text 6"/>
          <p:cNvSpPr/>
          <p:nvPr/>
        </p:nvSpPr>
        <p:spPr>
          <a:xfrm>
            <a:off x="2441315" y="1703983"/>
            <a:ext cx="2491023" cy="198438"/>
          </a:xfrm>
          <a:prstGeom prst="rect">
            <a:avLst/>
          </a:prstGeom>
          <a:noFill/>
          <a:ln/>
        </p:spPr>
        <p:txBody>
          <a:bodyPr wrap="none" lIns="0" tIns="0" rIns="0" bIns="0" rtlCol="0" anchor="t"/>
          <a:lstStyle/>
          <a:p>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Idea principal</a:t>
            </a:r>
            <a:endParaRPr lang="en-US" sz="1100" dirty="0"/>
          </a:p>
        </p:txBody>
      </p:sp>
      <p:sp>
        <p:nvSpPr>
          <p:cNvPr id="9" name="Text 7"/>
          <p:cNvSpPr/>
          <p:nvPr/>
        </p:nvSpPr>
        <p:spPr>
          <a:xfrm>
            <a:off x="4612465" y="1703983"/>
            <a:ext cx="3033835" cy="198438"/>
          </a:xfrm>
          <a:prstGeom prst="rect">
            <a:avLst/>
          </a:prstGeom>
          <a:noFill/>
          <a:ln/>
        </p:spPr>
        <p:txBody>
          <a:bodyPr wrap="none" lIns="0" tIns="0" rIns="0" bIns="0" rtlCol="0" anchor="t"/>
          <a:lstStyle/>
          <a:p>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Novedad</a:t>
            </a:r>
            <a:endParaRPr lang="en-US" sz="1100" dirty="0"/>
          </a:p>
        </p:txBody>
      </p:sp>
      <p:sp>
        <p:nvSpPr>
          <p:cNvPr id="10" name="Text 8"/>
          <p:cNvSpPr/>
          <p:nvPr/>
        </p:nvSpPr>
        <p:spPr>
          <a:xfrm>
            <a:off x="7326427" y="1703983"/>
            <a:ext cx="2491023" cy="198438"/>
          </a:xfrm>
          <a:prstGeom prst="rect">
            <a:avLst/>
          </a:prstGeom>
          <a:noFill/>
          <a:ln/>
        </p:spPr>
        <p:txBody>
          <a:bodyPr wrap="none" lIns="0" tIns="0" rIns="0" bIns="0" rtlCol="0" anchor="t"/>
          <a:lstStyle/>
          <a:p>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Pros</a:t>
            </a:r>
            <a:endParaRPr lang="en-US" sz="1100" dirty="0"/>
          </a:p>
        </p:txBody>
      </p:sp>
      <p:sp>
        <p:nvSpPr>
          <p:cNvPr id="11" name="Text 9"/>
          <p:cNvSpPr/>
          <p:nvPr/>
        </p:nvSpPr>
        <p:spPr>
          <a:xfrm>
            <a:off x="9497576" y="1703983"/>
            <a:ext cx="2494198" cy="198438"/>
          </a:xfrm>
          <a:prstGeom prst="rect">
            <a:avLst/>
          </a:prstGeom>
          <a:noFill/>
          <a:ln/>
        </p:spPr>
        <p:txBody>
          <a:bodyPr wrap="none" lIns="0" tIns="0" rIns="0" bIns="0" rtlCol="0" anchor="t"/>
          <a:lstStyle/>
          <a:p>
            <a:pPr algn="l" indent="0" marL="0">
              <a:lnSpc>
                <a:spcPct val="117000"/>
              </a:lnSpc>
              <a:buNone/>
            </a:pPr>
            <a:r>
              <a:rPr lang="en-US" sz="1100" b="1" dirty="0">
                <a:solidFill>
                  <a:srgbClr val="3B3535"/>
                </a:solidFill>
                <a:latin typeface="Roboto Bold" pitchFamily="34" charset="0"/>
                <a:ea typeface="Roboto Bold" pitchFamily="34" charset="-122"/>
                <a:cs typeface="Roboto Bold" pitchFamily="34" charset="-120"/>
              </a:rPr>
              <a:t>Contras</a:t>
            </a:r>
            <a:endParaRPr lang="en-US" sz="1100" dirty="0"/>
          </a:p>
        </p:txBody>
      </p:sp>
      <p:sp>
        <p:nvSpPr>
          <p:cNvPr id="12" name="Shape 10"/>
          <p:cNvSpPr/>
          <p:nvPr/>
        </p:nvSpPr>
        <p:spPr>
          <a:xfrm>
            <a:off x="667825" y="1972469"/>
            <a:ext cx="10856046" cy="1132284"/>
          </a:xfrm>
          <a:prstGeom prst="rect">
            <a:avLst/>
          </a:prstGeom>
          <a:solidFill>
            <a:srgbClr val="000000">
              <a:alpha val="4000"/>
            </a:srgbClr>
          </a:solidFill>
          <a:ln/>
        </p:spPr>
      </p:sp>
      <p:sp>
        <p:nvSpPr>
          <p:cNvPr id="13" name="Text 11"/>
          <p:cNvSpPr/>
          <p:nvPr/>
        </p:nvSpPr>
        <p:spPr>
          <a:xfrm>
            <a:off x="809803" y="2042517"/>
            <a:ext cx="1951386"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Word2Vec</a:t>
            </a:r>
            <a:endParaRPr lang="en-US" sz="1100" dirty="0"/>
          </a:p>
        </p:txBody>
      </p:sp>
      <p:sp>
        <p:nvSpPr>
          <p:cNvPr id="14" name="Text 12"/>
          <p:cNvSpPr/>
          <p:nvPr/>
        </p:nvSpPr>
        <p:spPr>
          <a:xfrm>
            <a:off x="2441315" y="2042517"/>
            <a:ext cx="1881438" cy="595313"/>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Aprende embeddings a partir del contexto en que aparecen las palabras</a:t>
            </a:r>
            <a:endParaRPr lang="en-US" sz="1100" dirty="0"/>
          </a:p>
        </p:txBody>
      </p:sp>
      <p:sp>
        <p:nvSpPr>
          <p:cNvPr id="15" name="Text 13"/>
          <p:cNvSpPr/>
          <p:nvPr/>
        </p:nvSpPr>
        <p:spPr>
          <a:xfrm>
            <a:off x="4612465" y="2042517"/>
            <a:ext cx="2424250" cy="992188"/>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Demostró que se pueden aprender representaciones semánticas de forma no supervisada. Palabras similares quedan cerca en el espacio vectorial.</a:t>
            </a:r>
            <a:endParaRPr lang="en-US" sz="1100" dirty="0"/>
          </a:p>
        </p:txBody>
      </p:sp>
      <p:sp>
        <p:nvSpPr>
          <p:cNvPr id="16" name="Text 14"/>
          <p:cNvSpPr/>
          <p:nvPr/>
        </p:nvSpPr>
        <p:spPr>
          <a:xfrm>
            <a:off x="7326427" y="2042517"/>
            <a:ext cx="1881438" cy="79375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Simple, rápido de entrenar. Captura analogías semánticas (rey - hombre + mujer ≈ reina).</a:t>
            </a:r>
            <a:endParaRPr lang="en-US" sz="1100" dirty="0"/>
          </a:p>
        </p:txBody>
      </p:sp>
      <p:sp>
        <p:nvSpPr>
          <p:cNvPr id="17" name="Text 15"/>
          <p:cNvSpPr/>
          <p:nvPr/>
        </p:nvSpPr>
        <p:spPr>
          <a:xfrm>
            <a:off x="9497576" y="2042517"/>
            <a:ext cx="1884613" cy="992188"/>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Cada palabra tiene un solo vector sin importar el contexto. No modela el orden de las palabras ni secuencias.</a:t>
            </a:r>
            <a:endParaRPr lang="en-US" sz="1100" dirty="0"/>
          </a:p>
        </p:txBody>
      </p:sp>
      <p:sp>
        <p:nvSpPr>
          <p:cNvPr id="18" name="Shape 16"/>
          <p:cNvSpPr/>
          <p:nvPr/>
        </p:nvSpPr>
        <p:spPr>
          <a:xfrm>
            <a:off x="667825" y="3104753"/>
            <a:ext cx="10856046" cy="1132284"/>
          </a:xfrm>
          <a:prstGeom prst="rect">
            <a:avLst/>
          </a:prstGeom>
          <a:solidFill>
            <a:srgbClr val="FFFFFF">
              <a:alpha val="4000"/>
            </a:srgbClr>
          </a:solidFill>
          <a:ln/>
        </p:spPr>
      </p:sp>
      <p:sp>
        <p:nvSpPr>
          <p:cNvPr id="19" name="Text 17"/>
          <p:cNvSpPr/>
          <p:nvPr/>
        </p:nvSpPr>
        <p:spPr>
          <a:xfrm>
            <a:off x="809803" y="3174802"/>
            <a:ext cx="1951386"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RNNs (LSTM, GRU)</a:t>
            </a:r>
            <a:endParaRPr lang="en-US" sz="1100" dirty="0"/>
          </a:p>
        </p:txBody>
      </p:sp>
      <p:sp>
        <p:nvSpPr>
          <p:cNvPr id="20" name="Text 18"/>
          <p:cNvSpPr/>
          <p:nvPr/>
        </p:nvSpPr>
        <p:spPr>
          <a:xfrm>
            <a:off x="2441315" y="3174802"/>
            <a:ext cx="1881438" cy="992188"/>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Procesan texto secuencialmente manteniendo un estado interno que actúa como memoria</a:t>
            </a:r>
            <a:endParaRPr lang="en-US" sz="1100" dirty="0"/>
          </a:p>
        </p:txBody>
      </p:sp>
      <p:sp>
        <p:nvSpPr>
          <p:cNvPr id="21" name="Text 19"/>
          <p:cNvSpPr/>
          <p:nvPr/>
        </p:nvSpPr>
        <p:spPr>
          <a:xfrm>
            <a:off x="4612465" y="3174802"/>
            <a:ext cx="2424250" cy="79375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Introdujeron la capacidad de modelar secuencias y dependencias temporales en texto. Permitieron tareas como traducción y generación.</a:t>
            </a:r>
            <a:endParaRPr lang="en-US" sz="1100" dirty="0"/>
          </a:p>
        </p:txBody>
      </p:sp>
      <p:sp>
        <p:nvSpPr>
          <p:cNvPr id="22" name="Text 20"/>
          <p:cNvSpPr/>
          <p:nvPr/>
        </p:nvSpPr>
        <p:spPr>
          <a:xfrm>
            <a:off x="7326427" y="3174802"/>
            <a:ext cx="1881438" cy="992188"/>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Capturan el orden de las palabras. LSTM/GRU mejoran la memoria a mediano plazo. Base de modelos como ELMo.</a:t>
            </a:r>
            <a:endParaRPr lang="en-US" sz="1100" dirty="0"/>
          </a:p>
        </p:txBody>
      </p:sp>
      <p:sp>
        <p:nvSpPr>
          <p:cNvPr id="23" name="Text 21"/>
          <p:cNvSpPr/>
          <p:nvPr/>
        </p:nvSpPr>
        <p:spPr>
          <a:xfrm>
            <a:off x="9497576" y="3174802"/>
            <a:ext cx="1884613" cy="992188"/>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Procesamiento secuencial (no paralelizable, lento). Pierden información en secuencias largas. Difícil capturar contexto distante.</a:t>
            </a:r>
            <a:endParaRPr lang="en-US" sz="1100" dirty="0"/>
          </a:p>
        </p:txBody>
      </p:sp>
      <p:sp>
        <p:nvSpPr>
          <p:cNvPr id="24" name="Shape 22"/>
          <p:cNvSpPr/>
          <p:nvPr/>
        </p:nvSpPr>
        <p:spPr>
          <a:xfrm>
            <a:off x="667825" y="4237038"/>
            <a:ext cx="10856046" cy="1529159"/>
          </a:xfrm>
          <a:prstGeom prst="rect">
            <a:avLst/>
          </a:prstGeom>
          <a:solidFill>
            <a:srgbClr val="000000">
              <a:alpha val="4000"/>
            </a:srgbClr>
          </a:solidFill>
          <a:ln/>
        </p:spPr>
      </p:sp>
      <p:sp>
        <p:nvSpPr>
          <p:cNvPr id="25" name="Text 23"/>
          <p:cNvSpPr/>
          <p:nvPr/>
        </p:nvSpPr>
        <p:spPr>
          <a:xfrm>
            <a:off x="809803" y="4307086"/>
            <a:ext cx="1951386"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Transformers</a:t>
            </a:r>
            <a:endParaRPr lang="en-US" sz="1100" dirty="0"/>
          </a:p>
        </p:txBody>
      </p:sp>
      <p:sp>
        <p:nvSpPr>
          <p:cNvPr id="26" name="Text 24"/>
          <p:cNvSpPr/>
          <p:nvPr/>
        </p:nvSpPr>
        <p:spPr>
          <a:xfrm>
            <a:off x="2441315" y="4307086"/>
            <a:ext cx="1881438" cy="595313"/>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Usan attention para que cada token mire a todos los demás tokens en paralelo</a:t>
            </a:r>
            <a:endParaRPr lang="en-US" sz="1100" dirty="0"/>
          </a:p>
        </p:txBody>
      </p:sp>
      <p:sp>
        <p:nvSpPr>
          <p:cNvPr id="27" name="Text 25"/>
          <p:cNvSpPr/>
          <p:nvPr/>
        </p:nvSpPr>
        <p:spPr>
          <a:xfrm>
            <a:off x="4612465" y="4307086"/>
            <a:ext cx="2424250" cy="79375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Eliminaron la necesidad de procesar secuencialmente. Capturan dependencias largas sin degradación. Base de todos los LLMs modernos.</a:t>
            </a:r>
            <a:endParaRPr lang="en-US" sz="1100" dirty="0"/>
          </a:p>
        </p:txBody>
      </p:sp>
      <p:sp>
        <p:nvSpPr>
          <p:cNvPr id="28" name="Text 26"/>
          <p:cNvSpPr/>
          <p:nvPr/>
        </p:nvSpPr>
        <p:spPr>
          <a:xfrm>
            <a:off x="7326427" y="4307086"/>
            <a:ext cx="1881438" cy="992188"/>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Altamente paralelizables (entrenan rápido en GPUs). Capturan contexto largo. Escalan muy bien con más datos y parámetros.</a:t>
            </a:r>
            <a:endParaRPr lang="en-US" sz="1100" dirty="0"/>
          </a:p>
        </p:txBody>
      </p:sp>
      <p:sp>
        <p:nvSpPr>
          <p:cNvPr id="29" name="Text 27"/>
          <p:cNvSpPr/>
          <p:nvPr/>
        </p:nvSpPr>
        <p:spPr>
          <a:xfrm>
            <a:off x="9497576" y="4307086"/>
            <a:ext cx="1884613" cy="1389063"/>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Requieren enormes cantidades de datos y cómputo. Alto costo de entrenamiento. El mecanismo de attention crece cuadráticamente con la longitud.</a:t>
            </a:r>
            <a:endParaRPr lang="en-US" sz="1100" dirty="0"/>
          </a:p>
        </p:txBody>
      </p:sp>
      <p:sp>
        <p:nvSpPr>
          <p:cNvPr id="30" name="Text 28"/>
          <p:cNvSpPr/>
          <p:nvPr/>
        </p:nvSpPr>
        <p:spPr>
          <a:xfrm>
            <a:off x="661475" y="5892105"/>
            <a:ext cx="11478330"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Evolución: representaciones estáticas → secuenciales → contextuales con attention.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661475" y="699195"/>
            <a:ext cx="2603534" cy="229691"/>
          </a:xfrm>
          <a:prstGeom prst="roundRect">
            <a:avLst>
              <a:gd name="adj" fmla="val 3317"/>
            </a:avLst>
          </a:prstGeom>
          <a:solidFill>
            <a:srgbClr val="F9D2D6"/>
          </a:solidFill>
          <a:ln/>
        </p:spPr>
      </p:sp>
      <p:sp>
        <p:nvSpPr>
          <p:cNvPr id="3" name="Text 1"/>
          <p:cNvSpPr/>
          <p:nvPr/>
        </p:nvSpPr>
        <p:spPr>
          <a:xfrm>
            <a:off x="752159" y="744538"/>
            <a:ext cx="3031751" cy="139005"/>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TRANSFORMERS: CÓMO FUNCIONA UN LLM</a:t>
            </a:r>
            <a:endParaRPr lang="en-US" sz="950" dirty="0"/>
          </a:p>
        </p:txBody>
      </p:sp>
      <p:sp>
        <p:nvSpPr>
          <p:cNvPr id="4" name="Text 2"/>
          <p:cNvSpPr/>
          <p:nvPr/>
        </p:nvSpPr>
        <p:spPr>
          <a:xfrm>
            <a:off x="661475" y="977205"/>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1F1E1E"/>
                </a:solidFill>
                <a:latin typeface="Roboto Mono Medium" pitchFamily="34" charset="0"/>
                <a:ea typeface="Roboto Mono Medium" pitchFamily="34" charset="-122"/>
                <a:cs typeface="Roboto Mono Medium" pitchFamily="34" charset="-120"/>
              </a:rPr>
              <a:t>Cómo funciona un LLM</a:t>
            </a:r>
            <a:endParaRPr lang="en-US" sz="2950" dirty="0"/>
          </a:p>
        </p:txBody>
      </p:sp>
      <p:sp>
        <p:nvSpPr>
          <p:cNvPr id="5" name="Text 3"/>
          <p:cNvSpPr/>
          <p:nvPr/>
        </p:nvSpPr>
        <p:spPr>
          <a:xfrm>
            <a:off x="661475" y="1498005"/>
            <a:ext cx="10868745" cy="283468"/>
          </a:xfrm>
          <a:prstGeom prst="rect">
            <a:avLst/>
          </a:prstGeom>
          <a:noFill/>
          <a:ln/>
        </p:spPr>
        <p:txBody>
          <a:bodyPr wrap="none" lIns="0" tIns="0" rIns="0" bIns="0" rtlCol="0" anchor="t"/>
          <a:lstStyle/>
          <a:p>
            <a:pPr algn="l" indent="0" marL="0">
              <a:lnSpc>
                <a:spcPct val="104000"/>
              </a:lnSpc>
              <a:buNone/>
            </a:pPr>
            <a:r>
              <a:rPr lang="en-US" sz="1750" dirty="0">
                <a:solidFill>
                  <a:srgbClr val="1F1E1E"/>
                </a:solidFill>
                <a:latin typeface="Roboto Mono Medium" pitchFamily="34" charset="0"/>
                <a:ea typeface="Roboto Mono Medium" pitchFamily="34" charset="-122"/>
                <a:cs typeface="Roboto Mono Medium" pitchFamily="34" charset="-120"/>
              </a:rPr>
              <a:t>Cuando le mandás un mensaje a ChatGPT/Claude, internamente pasa esto:</a:t>
            </a:r>
            <a:endParaRPr lang="en-US" sz="1750" dirty="0"/>
          </a:p>
        </p:txBody>
      </p:sp>
      <p:sp>
        <p:nvSpPr>
          <p:cNvPr id="6" name="Text 4"/>
          <p:cNvSpPr/>
          <p:nvPr/>
        </p:nvSpPr>
        <p:spPr>
          <a:xfrm>
            <a:off x="661475" y="1962845"/>
            <a:ext cx="302411" cy="189012"/>
          </a:xfrm>
          <a:prstGeom prst="rect">
            <a:avLst/>
          </a:prstGeom>
          <a:noFill/>
          <a:ln/>
        </p:spPr>
        <p:txBody>
          <a:bodyPr wrap="none" lIns="0" tIns="0" rIns="0" bIns="0" rtlCol="0" anchor="ctr"/>
          <a:lstStyle/>
          <a:p>
            <a:pPr algn="l" indent="0" marL="0">
              <a:lnSpc>
                <a:spcPct val="100000"/>
              </a:lnSpc>
              <a:buNone/>
            </a:pPr>
            <a:r>
              <a:rPr lang="en-US" sz="1150" dirty="0">
                <a:solidFill>
                  <a:srgbClr val="3B3535"/>
                </a:solidFill>
                <a:latin typeface="Roboto Mono Light" pitchFamily="34" charset="0"/>
                <a:ea typeface="Roboto Mono Light" pitchFamily="34" charset="-122"/>
                <a:cs typeface="Roboto Mono Light" pitchFamily="34" charset="-120"/>
              </a:rPr>
              <a:t>01</a:t>
            </a:r>
            <a:endParaRPr lang="en-US" sz="1150" dirty="0"/>
          </a:p>
        </p:txBody>
      </p:sp>
      <p:sp>
        <p:nvSpPr>
          <p:cNvPr id="7" name="Shape 5"/>
          <p:cNvSpPr/>
          <p:nvPr/>
        </p:nvSpPr>
        <p:spPr>
          <a:xfrm>
            <a:off x="661475" y="2200771"/>
            <a:ext cx="5373851" cy="19050"/>
          </a:xfrm>
          <a:prstGeom prst="rect">
            <a:avLst/>
          </a:prstGeom>
          <a:solidFill>
            <a:srgbClr val="DA1B2E"/>
          </a:solidFill>
          <a:ln/>
        </p:spPr>
      </p:sp>
      <p:sp>
        <p:nvSpPr>
          <p:cNvPr id="8" name="Text 6"/>
          <p:cNvSpPr/>
          <p:nvPr/>
        </p:nvSpPr>
        <p:spPr>
          <a:xfrm>
            <a:off x="661475" y="2314476"/>
            <a:ext cx="5373851"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Tokenización</a:t>
            </a:r>
            <a:endParaRPr lang="en-US" sz="1450" dirty="0"/>
          </a:p>
        </p:txBody>
      </p:sp>
      <p:sp>
        <p:nvSpPr>
          <p:cNvPr id="9" name="Text 7"/>
          <p:cNvSpPr/>
          <p:nvPr/>
        </p:nvSpPr>
        <p:spPr>
          <a:xfrm>
            <a:off x="661475" y="2623245"/>
            <a:ext cx="5373851"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Tu texto se divide en tokens → "¿Cómo estás?" → ["¿","Cómo","est","ás","?"]</a:t>
            </a:r>
            <a:endParaRPr lang="en-US" sz="1150" dirty="0"/>
          </a:p>
        </p:txBody>
      </p:sp>
      <p:sp>
        <p:nvSpPr>
          <p:cNvPr id="10" name="Text 8"/>
          <p:cNvSpPr/>
          <p:nvPr/>
        </p:nvSpPr>
        <p:spPr>
          <a:xfrm>
            <a:off x="6156270" y="1962845"/>
            <a:ext cx="302411" cy="189012"/>
          </a:xfrm>
          <a:prstGeom prst="rect">
            <a:avLst/>
          </a:prstGeom>
          <a:noFill/>
          <a:ln/>
        </p:spPr>
        <p:txBody>
          <a:bodyPr wrap="none" lIns="0" tIns="0" rIns="0" bIns="0" rtlCol="0" anchor="ctr"/>
          <a:lstStyle/>
          <a:p>
            <a:pPr algn="l" indent="0" marL="0">
              <a:lnSpc>
                <a:spcPct val="100000"/>
              </a:lnSpc>
              <a:buNone/>
            </a:pPr>
            <a:r>
              <a:rPr lang="en-US" sz="1150" dirty="0">
                <a:solidFill>
                  <a:srgbClr val="3B3535"/>
                </a:solidFill>
                <a:latin typeface="Roboto Mono Light" pitchFamily="34" charset="0"/>
                <a:ea typeface="Roboto Mono Light" pitchFamily="34" charset="-122"/>
                <a:cs typeface="Roboto Mono Light" pitchFamily="34" charset="-120"/>
              </a:rPr>
              <a:t>02</a:t>
            </a:r>
            <a:endParaRPr lang="en-US" sz="1150" dirty="0"/>
          </a:p>
        </p:txBody>
      </p:sp>
      <p:sp>
        <p:nvSpPr>
          <p:cNvPr id="11" name="Shape 9"/>
          <p:cNvSpPr/>
          <p:nvPr/>
        </p:nvSpPr>
        <p:spPr>
          <a:xfrm>
            <a:off x="6156270" y="2200771"/>
            <a:ext cx="5373950" cy="19050"/>
          </a:xfrm>
          <a:prstGeom prst="rect">
            <a:avLst/>
          </a:prstGeom>
          <a:solidFill>
            <a:srgbClr val="DA1B2E"/>
          </a:solidFill>
          <a:ln/>
        </p:spPr>
      </p:sp>
      <p:sp>
        <p:nvSpPr>
          <p:cNvPr id="12" name="Text 10"/>
          <p:cNvSpPr/>
          <p:nvPr/>
        </p:nvSpPr>
        <p:spPr>
          <a:xfrm>
            <a:off x="6156270" y="2314476"/>
            <a:ext cx="5373950"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Embeddings</a:t>
            </a:r>
            <a:endParaRPr lang="en-US" sz="1450" dirty="0"/>
          </a:p>
        </p:txBody>
      </p:sp>
      <p:sp>
        <p:nvSpPr>
          <p:cNvPr id="13" name="Text 11"/>
          <p:cNvSpPr/>
          <p:nvPr/>
        </p:nvSpPr>
        <p:spPr>
          <a:xfrm>
            <a:off x="6156270" y="2623245"/>
            <a:ext cx="5373950"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Cada token se convierte en un vector numérico</a:t>
            </a:r>
            <a:endParaRPr lang="en-US" sz="1150" dirty="0"/>
          </a:p>
        </p:txBody>
      </p:sp>
      <p:sp>
        <p:nvSpPr>
          <p:cNvPr id="14" name="Text 12"/>
          <p:cNvSpPr/>
          <p:nvPr/>
        </p:nvSpPr>
        <p:spPr>
          <a:xfrm>
            <a:off x="661475" y="3075285"/>
            <a:ext cx="302411" cy="189012"/>
          </a:xfrm>
          <a:prstGeom prst="rect">
            <a:avLst/>
          </a:prstGeom>
          <a:noFill/>
          <a:ln/>
        </p:spPr>
        <p:txBody>
          <a:bodyPr wrap="none" lIns="0" tIns="0" rIns="0" bIns="0" rtlCol="0" anchor="ctr"/>
          <a:lstStyle/>
          <a:p>
            <a:pPr algn="l" indent="0" marL="0">
              <a:lnSpc>
                <a:spcPct val="100000"/>
              </a:lnSpc>
              <a:buNone/>
            </a:pPr>
            <a:r>
              <a:rPr lang="en-US" sz="1150" dirty="0">
                <a:solidFill>
                  <a:srgbClr val="3B3535"/>
                </a:solidFill>
                <a:latin typeface="Roboto Mono Light" pitchFamily="34" charset="0"/>
                <a:ea typeface="Roboto Mono Light" pitchFamily="34" charset="-122"/>
                <a:cs typeface="Roboto Mono Light" pitchFamily="34" charset="-120"/>
              </a:rPr>
              <a:t>03</a:t>
            </a:r>
            <a:endParaRPr lang="en-US" sz="1150" dirty="0"/>
          </a:p>
        </p:txBody>
      </p:sp>
      <p:sp>
        <p:nvSpPr>
          <p:cNvPr id="15" name="Shape 13"/>
          <p:cNvSpPr/>
          <p:nvPr/>
        </p:nvSpPr>
        <p:spPr>
          <a:xfrm>
            <a:off x="661475" y="3313212"/>
            <a:ext cx="5373851" cy="19050"/>
          </a:xfrm>
          <a:prstGeom prst="rect">
            <a:avLst/>
          </a:prstGeom>
          <a:solidFill>
            <a:srgbClr val="DA1B2E"/>
          </a:solidFill>
          <a:ln/>
        </p:spPr>
      </p:sp>
      <p:sp>
        <p:nvSpPr>
          <p:cNvPr id="16" name="Text 14"/>
          <p:cNvSpPr/>
          <p:nvPr/>
        </p:nvSpPr>
        <p:spPr>
          <a:xfrm>
            <a:off x="661475" y="3426916"/>
            <a:ext cx="5373851"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Transformer</a:t>
            </a:r>
            <a:endParaRPr lang="en-US" sz="1450" dirty="0"/>
          </a:p>
        </p:txBody>
      </p:sp>
      <p:sp>
        <p:nvSpPr>
          <p:cNvPr id="17" name="Text 15"/>
          <p:cNvSpPr/>
          <p:nvPr/>
        </p:nvSpPr>
        <p:spPr>
          <a:xfrm>
            <a:off x="661475" y="3735685"/>
            <a:ext cx="5373851"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Los vectores pasan por muchas capas de attention</a:t>
            </a:r>
            <a:endParaRPr lang="en-US" sz="1150" dirty="0"/>
          </a:p>
        </p:txBody>
      </p:sp>
      <p:sp>
        <p:nvSpPr>
          <p:cNvPr id="18" name="Text 16"/>
          <p:cNvSpPr/>
          <p:nvPr/>
        </p:nvSpPr>
        <p:spPr>
          <a:xfrm>
            <a:off x="6156270" y="3075285"/>
            <a:ext cx="302411" cy="189012"/>
          </a:xfrm>
          <a:prstGeom prst="rect">
            <a:avLst/>
          </a:prstGeom>
          <a:noFill/>
          <a:ln/>
        </p:spPr>
        <p:txBody>
          <a:bodyPr wrap="none" lIns="0" tIns="0" rIns="0" bIns="0" rtlCol="0" anchor="ctr"/>
          <a:lstStyle/>
          <a:p>
            <a:pPr algn="l" indent="0" marL="0">
              <a:lnSpc>
                <a:spcPct val="100000"/>
              </a:lnSpc>
              <a:buNone/>
            </a:pPr>
            <a:r>
              <a:rPr lang="en-US" sz="1150" dirty="0">
                <a:solidFill>
                  <a:srgbClr val="3B3535"/>
                </a:solidFill>
                <a:latin typeface="Roboto Mono Light" pitchFamily="34" charset="0"/>
                <a:ea typeface="Roboto Mono Light" pitchFamily="34" charset="-122"/>
                <a:cs typeface="Roboto Mono Light" pitchFamily="34" charset="-120"/>
              </a:rPr>
              <a:t>04</a:t>
            </a:r>
            <a:endParaRPr lang="en-US" sz="1150" dirty="0"/>
          </a:p>
        </p:txBody>
      </p:sp>
      <p:sp>
        <p:nvSpPr>
          <p:cNvPr id="19" name="Shape 17"/>
          <p:cNvSpPr/>
          <p:nvPr/>
        </p:nvSpPr>
        <p:spPr>
          <a:xfrm>
            <a:off x="6156270" y="3313212"/>
            <a:ext cx="5373950" cy="19050"/>
          </a:xfrm>
          <a:prstGeom prst="rect">
            <a:avLst/>
          </a:prstGeom>
          <a:solidFill>
            <a:srgbClr val="DA1B2E"/>
          </a:solidFill>
          <a:ln/>
        </p:spPr>
      </p:sp>
      <p:sp>
        <p:nvSpPr>
          <p:cNvPr id="20" name="Text 18"/>
          <p:cNvSpPr/>
          <p:nvPr/>
        </p:nvSpPr>
        <p:spPr>
          <a:xfrm>
            <a:off x="6156270" y="3426916"/>
            <a:ext cx="5373950"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Vector de probabilidades</a:t>
            </a:r>
            <a:endParaRPr lang="en-US" sz="1450" dirty="0"/>
          </a:p>
        </p:txBody>
      </p:sp>
      <p:sp>
        <p:nvSpPr>
          <p:cNvPr id="21" name="Text 19"/>
          <p:cNvSpPr/>
          <p:nvPr/>
        </p:nvSpPr>
        <p:spPr>
          <a:xfrm>
            <a:off x="6156270" y="3735685"/>
            <a:ext cx="5373950"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La última capa produce un vector de tamaño |V|</a:t>
            </a:r>
            <a:endParaRPr lang="en-US" sz="1150" dirty="0"/>
          </a:p>
        </p:txBody>
      </p:sp>
      <p:sp>
        <p:nvSpPr>
          <p:cNvPr id="22" name="Text 20"/>
          <p:cNvSpPr/>
          <p:nvPr/>
        </p:nvSpPr>
        <p:spPr>
          <a:xfrm>
            <a:off x="661475" y="4187726"/>
            <a:ext cx="302411" cy="189012"/>
          </a:xfrm>
          <a:prstGeom prst="rect">
            <a:avLst/>
          </a:prstGeom>
          <a:noFill/>
          <a:ln/>
        </p:spPr>
        <p:txBody>
          <a:bodyPr wrap="none" lIns="0" tIns="0" rIns="0" bIns="0" rtlCol="0" anchor="ctr"/>
          <a:lstStyle/>
          <a:p>
            <a:pPr algn="l" indent="0" marL="0">
              <a:lnSpc>
                <a:spcPct val="100000"/>
              </a:lnSpc>
              <a:buNone/>
            </a:pPr>
            <a:r>
              <a:rPr lang="en-US" sz="1150" dirty="0">
                <a:solidFill>
                  <a:srgbClr val="3B3535"/>
                </a:solidFill>
                <a:latin typeface="Roboto Mono Light" pitchFamily="34" charset="0"/>
                <a:ea typeface="Roboto Mono Light" pitchFamily="34" charset="-122"/>
                <a:cs typeface="Roboto Mono Light" pitchFamily="34" charset="-120"/>
              </a:rPr>
              <a:t>05</a:t>
            </a:r>
            <a:endParaRPr lang="en-US" sz="1150" dirty="0"/>
          </a:p>
        </p:txBody>
      </p:sp>
      <p:sp>
        <p:nvSpPr>
          <p:cNvPr id="23" name="Shape 21"/>
          <p:cNvSpPr/>
          <p:nvPr/>
        </p:nvSpPr>
        <p:spPr>
          <a:xfrm>
            <a:off x="661475" y="4425652"/>
            <a:ext cx="5373851" cy="19050"/>
          </a:xfrm>
          <a:prstGeom prst="rect">
            <a:avLst/>
          </a:prstGeom>
          <a:solidFill>
            <a:srgbClr val="DA1B2E"/>
          </a:solidFill>
          <a:ln/>
        </p:spPr>
      </p:sp>
      <p:sp>
        <p:nvSpPr>
          <p:cNvPr id="24" name="Text 22"/>
          <p:cNvSpPr/>
          <p:nvPr/>
        </p:nvSpPr>
        <p:spPr>
          <a:xfrm>
            <a:off x="661475" y="4539357"/>
            <a:ext cx="5373851"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Selección</a:t>
            </a:r>
            <a:endParaRPr lang="en-US" sz="1450" dirty="0"/>
          </a:p>
        </p:txBody>
      </p:sp>
      <p:sp>
        <p:nvSpPr>
          <p:cNvPr id="25" name="Text 23"/>
          <p:cNvSpPr/>
          <p:nvPr/>
        </p:nvSpPr>
        <p:spPr>
          <a:xfrm>
            <a:off x="661475" y="4848126"/>
            <a:ext cx="5373851"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Se elige un token (con algo de aleatoriedad controlada = "temperatura")</a:t>
            </a:r>
            <a:endParaRPr lang="en-US" sz="1150" dirty="0"/>
          </a:p>
        </p:txBody>
      </p:sp>
      <p:sp>
        <p:nvSpPr>
          <p:cNvPr id="26" name="Text 24"/>
          <p:cNvSpPr/>
          <p:nvPr/>
        </p:nvSpPr>
        <p:spPr>
          <a:xfrm>
            <a:off x="6156270" y="4187726"/>
            <a:ext cx="302411" cy="189012"/>
          </a:xfrm>
          <a:prstGeom prst="rect">
            <a:avLst/>
          </a:prstGeom>
          <a:noFill/>
          <a:ln/>
        </p:spPr>
        <p:txBody>
          <a:bodyPr wrap="none" lIns="0" tIns="0" rIns="0" bIns="0" rtlCol="0" anchor="ctr"/>
          <a:lstStyle/>
          <a:p>
            <a:pPr algn="l" indent="0" marL="0">
              <a:lnSpc>
                <a:spcPct val="100000"/>
              </a:lnSpc>
              <a:buNone/>
            </a:pPr>
            <a:r>
              <a:rPr lang="en-US" sz="1150" dirty="0">
                <a:solidFill>
                  <a:srgbClr val="3B3535"/>
                </a:solidFill>
                <a:latin typeface="Roboto Mono Light" pitchFamily="34" charset="0"/>
                <a:ea typeface="Roboto Mono Light" pitchFamily="34" charset="-122"/>
                <a:cs typeface="Roboto Mono Light" pitchFamily="34" charset="-120"/>
              </a:rPr>
              <a:t>06</a:t>
            </a:r>
            <a:endParaRPr lang="en-US" sz="1150" dirty="0"/>
          </a:p>
        </p:txBody>
      </p:sp>
      <p:sp>
        <p:nvSpPr>
          <p:cNvPr id="27" name="Shape 25"/>
          <p:cNvSpPr/>
          <p:nvPr/>
        </p:nvSpPr>
        <p:spPr>
          <a:xfrm>
            <a:off x="6156270" y="4425652"/>
            <a:ext cx="5373950" cy="19050"/>
          </a:xfrm>
          <a:prstGeom prst="rect">
            <a:avLst/>
          </a:prstGeom>
          <a:solidFill>
            <a:srgbClr val="DA1B2E"/>
          </a:solidFill>
          <a:ln/>
        </p:spPr>
      </p:sp>
      <p:sp>
        <p:nvSpPr>
          <p:cNvPr id="28" name="Text 26"/>
          <p:cNvSpPr/>
          <p:nvPr/>
        </p:nvSpPr>
        <p:spPr>
          <a:xfrm>
            <a:off x="6156270" y="4539357"/>
            <a:ext cx="5373950"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Repetición</a:t>
            </a:r>
            <a:endParaRPr lang="en-US" sz="1450" dirty="0"/>
          </a:p>
        </p:txBody>
      </p:sp>
      <p:sp>
        <p:nvSpPr>
          <p:cNvPr id="29" name="Text 27"/>
          <p:cNvSpPr/>
          <p:nvPr/>
        </p:nvSpPr>
        <p:spPr>
          <a:xfrm>
            <a:off x="6156270" y="4848126"/>
            <a:ext cx="5373950" cy="217686"/>
          </a:xfrm>
          <a:prstGeom prst="rect">
            <a:avLst/>
          </a:prstGeom>
          <a:noFill/>
          <a:ln/>
        </p:spPr>
        <p:txBody>
          <a:bodyPr wrap="none" lIns="0" tIns="0" rIns="0" bIns="0" rtlCol="0" anchor="t"/>
          <a:lstStyle/>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Se agrega al texto y se repite desde el paso 1</a:t>
            </a:r>
            <a:endParaRPr lang="en-US" sz="1150" dirty="0"/>
          </a:p>
        </p:txBody>
      </p:sp>
      <p:sp>
        <p:nvSpPr>
          <p:cNvPr id="30" name="Text 28"/>
          <p:cNvSpPr/>
          <p:nvPr/>
        </p:nvSpPr>
        <p:spPr>
          <a:xfrm>
            <a:off x="888283" y="5451277"/>
            <a:ext cx="10641937" cy="571401"/>
          </a:xfrm>
          <a:prstGeom prst="rect">
            <a:avLst/>
          </a:prstGeom>
          <a:noFill/>
          <a:ln/>
        </p:spPr>
        <p:txBody>
          <a:bodyPr wrap="square" lIns="0" tIns="0" rIns="0" bIns="0" rtlCol="0" anchor="t"/>
          <a:lstStyle/>
          <a:p>
            <a:pPr algn="l" indent="0" marL="0">
              <a:lnSpc>
                <a:spcPct val="120000"/>
              </a:lnSpc>
              <a:spcAft>
                <a:spcPts val="1050"/>
              </a:spcAft>
              <a:buNone/>
            </a:pPr>
            <a:r>
              <a:rPr lang="en-US" sz="1150" b="1" dirty="0">
                <a:solidFill>
                  <a:srgbClr val="3B3535"/>
                </a:solidFill>
                <a:latin typeface="Roboto Bold" pitchFamily="34" charset="0"/>
                <a:ea typeface="Roboto Bold" pitchFamily="34" charset="-122"/>
                <a:cs typeface="Roboto Bold" pitchFamily="34" charset="-120"/>
              </a:rPr>
              <a:t>Los modelos generan texto token por token.</a:t>
            </a:r>
            <a:endParaRPr lang="en-US" sz="1150" dirty="0"/>
          </a:p>
          <a:p>
            <a:pPr algn="l" indent="0" marL="0">
              <a:lnSpc>
                <a:spcPct val="120000"/>
              </a:lnSpc>
              <a:buNone/>
            </a:pPr>
            <a:r>
              <a:rPr lang="en-US" sz="1150" dirty="0">
                <a:solidFill>
                  <a:srgbClr val="3B3535"/>
                </a:solidFill>
                <a:latin typeface="Roboto" pitchFamily="34" charset="0"/>
                <a:ea typeface="Roboto" pitchFamily="34" charset="-122"/>
                <a:cs typeface="Roboto" pitchFamily="34" charset="-120"/>
              </a:rPr>
              <a:t>Cada vez que ves una palabra aparecer en ChatGPT, es un ciclo completo de este proceso.</a:t>
            </a:r>
            <a:endParaRPr lang="en-US" sz="1150" dirty="0"/>
          </a:p>
        </p:txBody>
      </p:sp>
      <p:sp>
        <p:nvSpPr>
          <p:cNvPr id="31" name="Shape 29"/>
          <p:cNvSpPr/>
          <p:nvPr/>
        </p:nvSpPr>
        <p:spPr>
          <a:xfrm>
            <a:off x="661475" y="5315248"/>
            <a:ext cx="19050" cy="843459"/>
          </a:xfrm>
          <a:prstGeom prst="roundRect">
            <a:avLst>
              <a:gd name="adj" fmla="val 49999"/>
            </a:avLst>
          </a:prstGeom>
          <a:solidFill>
            <a:srgbClr val="DA1B2E"/>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661475" y="724396"/>
            <a:ext cx="2928170" cy="258465"/>
          </a:xfrm>
          <a:prstGeom prst="roundRect">
            <a:avLst>
              <a:gd name="adj" fmla="val 2948"/>
            </a:avLst>
          </a:prstGeom>
          <a:solidFill>
            <a:srgbClr val="F9D2D6"/>
          </a:solidFill>
          <a:ln/>
        </p:spPr>
      </p:sp>
      <p:sp>
        <p:nvSpPr>
          <p:cNvPr id="3" name="Text 1"/>
          <p:cNvSpPr/>
          <p:nvPr/>
        </p:nvSpPr>
        <p:spPr>
          <a:xfrm>
            <a:off x="763469" y="775395"/>
            <a:ext cx="3333766" cy="156468"/>
          </a:xfrm>
          <a:prstGeom prst="rect">
            <a:avLst/>
          </a:prstGeom>
          <a:noFill/>
          <a:ln/>
        </p:spPr>
        <p:txBody>
          <a:bodyPr wrap="none" lIns="0" tIns="0" rIns="0" bIns="0" rtlCol="0" anchor="t"/>
          <a:lstStyle/>
          <a:p>
            <a:pPr algn="l" indent="0" marL="0">
              <a:lnSpc>
                <a:spcPct val="96000"/>
              </a:lnSpc>
              <a:buNone/>
            </a:pPr>
            <a:r>
              <a:rPr lang="en-US" sz="1050" dirty="0">
                <a:solidFill>
                  <a:srgbClr val="3B3535"/>
                </a:solidFill>
                <a:latin typeface="Roboto" pitchFamily="34" charset="0"/>
                <a:ea typeface="Roboto" pitchFamily="34" charset="-122"/>
                <a:cs typeface="Roboto" pitchFamily="34" charset="-120"/>
              </a:rPr>
              <a:t>TRANSFORMERS: CÓMO FUNCIONA UN LLM</a:t>
            </a:r>
            <a:endParaRPr lang="en-US" sz="1050" dirty="0"/>
          </a:p>
        </p:txBody>
      </p:sp>
      <p:sp>
        <p:nvSpPr>
          <p:cNvPr id="4" name="Text 2"/>
          <p:cNvSpPr/>
          <p:nvPr/>
        </p:nvSpPr>
        <p:spPr>
          <a:xfrm>
            <a:off x="661475" y="1044079"/>
            <a:ext cx="10868745" cy="531614"/>
          </a:xfrm>
          <a:prstGeom prst="rect">
            <a:avLst/>
          </a:prstGeom>
          <a:noFill/>
          <a:ln/>
        </p:spPr>
        <p:txBody>
          <a:bodyPr wrap="none" lIns="0" tIns="0" rIns="0" bIns="0" rtlCol="0" anchor="t"/>
          <a:lstStyle/>
          <a:p>
            <a:pPr algn="l" indent="0" marL="0">
              <a:lnSpc>
                <a:spcPct val="104000"/>
              </a:lnSpc>
              <a:buNone/>
            </a:pPr>
            <a:r>
              <a:rPr lang="en-US" sz="3300" dirty="0">
                <a:solidFill>
                  <a:srgbClr val="1F1E1E"/>
                </a:solidFill>
                <a:latin typeface="Roboto Mono Medium" pitchFamily="34" charset="0"/>
                <a:ea typeface="Roboto Mono Medium" pitchFamily="34" charset="-122"/>
                <a:cs typeface="Roboto Mono Medium" pitchFamily="34" charset="-120"/>
              </a:rPr>
              <a:t>Generación de Palabras — Escala LLM</a:t>
            </a:r>
            <a:endParaRPr lang="en-US" sz="3300" dirty="0"/>
          </a:p>
        </p:txBody>
      </p:sp>
      <p:sp>
        <p:nvSpPr>
          <p:cNvPr id="5" name="Text 3"/>
          <p:cNvSpPr/>
          <p:nvPr/>
        </p:nvSpPr>
        <p:spPr>
          <a:xfrm>
            <a:off x="661475" y="1636911"/>
            <a:ext cx="10868745" cy="318988"/>
          </a:xfrm>
          <a:prstGeom prst="rect">
            <a:avLst/>
          </a:prstGeom>
          <a:noFill/>
          <a:ln/>
        </p:spPr>
        <p:txBody>
          <a:bodyPr wrap="none" lIns="0" tIns="0" rIns="0" bIns="0" rtlCol="0" anchor="t"/>
          <a:lstStyle/>
          <a:p>
            <a:pPr algn="l" indent="0" marL="0">
              <a:lnSpc>
                <a:spcPct val="104000"/>
              </a:lnSpc>
              <a:buNone/>
            </a:pPr>
            <a:r>
              <a:rPr lang="en-US" sz="2000" dirty="0">
                <a:solidFill>
                  <a:srgbClr val="1F1E1E"/>
                </a:solidFill>
                <a:latin typeface="Roboto Mono Medium" pitchFamily="34" charset="0"/>
                <a:ea typeface="Roboto Mono Medium" pitchFamily="34" charset="-122"/>
                <a:cs typeface="Roboto Mono Medium" pitchFamily="34" charset="-120"/>
              </a:rPr>
              <a:t>El mismo problema de Language Modelling, pero a una escala masiva:</a:t>
            </a:r>
            <a:endParaRPr lang="en-US" sz="2000" dirty="0"/>
          </a:p>
        </p:txBody>
      </p:sp>
      <p:sp>
        <p:nvSpPr>
          <p:cNvPr id="6" name="Shape 4"/>
          <p:cNvSpPr/>
          <p:nvPr/>
        </p:nvSpPr>
        <p:spPr>
          <a:xfrm>
            <a:off x="661475" y="2185491"/>
            <a:ext cx="10868745" cy="3258741"/>
          </a:xfrm>
          <a:prstGeom prst="roundRect">
            <a:avLst>
              <a:gd name="adj" fmla="val 234"/>
            </a:avLst>
          </a:prstGeom>
          <a:noFill/>
          <a:ln w="6350">
            <a:solidFill>
              <a:srgbClr val="000000">
                <a:alpha val="8000"/>
              </a:srgbClr>
            </a:solidFill>
            <a:prstDash val="solid"/>
          </a:ln>
        </p:spPr>
      </p:sp>
      <p:sp>
        <p:nvSpPr>
          <p:cNvPr id="7" name="Shape 5"/>
          <p:cNvSpPr/>
          <p:nvPr/>
        </p:nvSpPr>
        <p:spPr>
          <a:xfrm>
            <a:off x="667825" y="2191841"/>
            <a:ext cx="10856046" cy="454819"/>
          </a:xfrm>
          <a:prstGeom prst="rect">
            <a:avLst/>
          </a:prstGeom>
          <a:solidFill>
            <a:srgbClr val="FFFFFF">
              <a:alpha val="4000"/>
            </a:srgbClr>
          </a:solidFill>
          <a:ln/>
        </p:spPr>
      </p:sp>
      <p:sp>
        <p:nvSpPr>
          <p:cNvPr id="8" name="Text 6"/>
          <p:cNvSpPr/>
          <p:nvPr/>
        </p:nvSpPr>
        <p:spPr>
          <a:xfrm>
            <a:off x="838080" y="2289969"/>
            <a:ext cx="2980258" cy="258564"/>
          </a:xfrm>
          <a:prstGeom prst="rect">
            <a:avLst/>
          </a:prstGeom>
          <a:noFill/>
          <a:ln/>
        </p:spPr>
        <p:txBody>
          <a:bodyPr wrap="none" lIns="0" tIns="0" rIns="0" bIns="0" rtlCol="0" anchor="t"/>
          <a:lstStyle/>
          <a:p>
            <a:pPr algn="l" indent="0" marL="0">
              <a:lnSpc>
                <a:spcPct val="127000"/>
              </a:lnSpc>
              <a:buNone/>
            </a:pPr>
            <a:endParaRPr lang="en-US" sz="1300" dirty="0"/>
          </a:p>
        </p:txBody>
      </p:sp>
      <p:sp>
        <p:nvSpPr>
          <p:cNvPr id="9" name="Text 7"/>
          <p:cNvSpPr/>
          <p:nvPr/>
        </p:nvSpPr>
        <p:spPr>
          <a:xfrm>
            <a:off x="3555217" y="2289969"/>
            <a:ext cx="4279793" cy="258564"/>
          </a:xfrm>
          <a:prstGeom prst="rect">
            <a:avLst/>
          </a:prstGeom>
          <a:noFill/>
          <a:ln/>
        </p:spPr>
        <p:txBody>
          <a:bodyPr wrap="none" lIns="0" tIns="0" rIns="0" bIns="0" rtlCol="0" anchor="t"/>
          <a:lstStyle/>
          <a:p>
            <a:pPr algn="l" indent="0" marL="0">
              <a:lnSpc>
                <a:spcPct val="127000"/>
              </a:lnSpc>
              <a:buNone/>
            </a:pPr>
            <a:r>
              <a:rPr lang="en-US" sz="1300" b="1" dirty="0">
                <a:solidFill>
                  <a:srgbClr val="3B3535"/>
                </a:solidFill>
                <a:latin typeface="Roboto Bold" pitchFamily="34" charset="0"/>
                <a:ea typeface="Roboto Bold" pitchFamily="34" charset="-122"/>
                <a:cs typeface="Roboto Bold" pitchFamily="34" charset="-120"/>
              </a:rPr>
              <a:t>Ejemplo anterior</a:t>
            </a:r>
            <a:endParaRPr lang="en-US" sz="1300" dirty="0"/>
          </a:p>
        </p:txBody>
      </p:sp>
      <p:sp>
        <p:nvSpPr>
          <p:cNvPr id="10" name="Text 8"/>
          <p:cNvSpPr/>
          <p:nvPr/>
        </p:nvSpPr>
        <p:spPr>
          <a:xfrm>
            <a:off x="7571888" y="2289969"/>
            <a:ext cx="4391510" cy="258564"/>
          </a:xfrm>
          <a:prstGeom prst="rect">
            <a:avLst/>
          </a:prstGeom>
          <a:noFill/>
          <a:ln/>
        </p:spPr>
        <p:txBody>
          <a:bodyPr wrap="none" lIns="0" tIns="0" rIns="0" bIns="0" rtlCol="0" anchor="t"/>
          <a:lstStyle/>
          <a:p>
            <a:pPr algn="l" indent="0" marL="0">
              <a:lnSpc>
                <a:spcPct val="127000"/>
              </a:lnSpc>
              <a:buNone/>
            </a:pPr>
            <a:r>
              <a:rPr lang="en-US" sz="1300" b="1" dirty="0">
                <a:solidFill>
                  <a:srgbClr val="3B3535"/>
                </a:solidFill>
                <a:latin typeface="Roboto Bold" pitchFamily="34" charset="0"/>
                <a:ea typeface="Roboto Bold" pitchFamily="34" charset="-122"/>
                <a:cs typeface="Roboto Bold" pitchFamily="34" charset="-120"/>
              </a:rPr>
              <a:t>ChatGPT (GPT-4)</a:t>
            </a:r>
            <a:endParaRPr lang="en-US" sz="1300" dirty="0"/>
          </a:p>
        </p:txBody>
      </p:sp>
      <p:sp>
        <p:nvSpPr>
          <p:cNvPr id="11" name="Shape 9"/>
          <p:cNvSpPr/>
          <p:nvPr/>
        </p:nvSpPr>
        <p:spPr>
          <a:xfrm>
            <a:off x="667825" y="2646660"/>
            <a:ext cx="10856046" cy="713383"/>
          </a:xfrm>
          <a:prstGeom prst="rect">
            <a:avLst/>
          </a:prstGeom>
          <a:solidFill>
            <a:srgbClr val="000000">
              <a:alpha val="4000"/>
            </a:srgbClr>
          </a:solidFill>
          <a:ln/>
        </p:spPr>
      </p:sp>
      <p:sp>
        <p:nvSpPr>
          <p:cNvPr id="12" name="Text 10"/>
          <p:cNvSpPr/>
          <p:nvPr/>
        </p:nvSpPr>
        <p:spPr>
          <a:xfrm>
            <a:off x="838080" y="2744788"/>
            <a:ext cx="2980258" cy="258564"/>
          </a:xfrm>
          <a:prstGeom prst="rect">
            <a:avLst/>
          </a:prstGeom>
          <a:noFill/>
          <a:ln/>
        </p:spPr>
        <p:txBody>
          <a:bodyPr wrap="none" lIns="0" tIns="0" rIns="0" bIns="0" rtlCol="0" anchor="t"/>
          <a:lstStyle/>
          <a:p>
            <a:pPr algn="l" indent="0" marL="0">
              <a:lnSpc>
                <a:spcPct val="127000"/>
              </a:lnSpc>
              <a:buNone/>
            </a:pPr>
            <a:r>
              <a:rPr lang="en-US" sz="1300" b="1" dirty="0">
                <a:solidFill>
                  <a:srgbClr val="3B3535"/>
                </a:solidFill>
                <a:latin typeface="Roboto Bold" pitchFamily="34" charset="0"/>
                <a:ea typeface="Roboto Bold" pitchFamily="34" charset="-122"/>
                <a:cs typeface="Roboto Bold" pitchFamily="34" charset="-120"/>
              </a:rPr>
              <a:t>Vocabulario V</a:t>
            </a:r>
            <a:endParaRPr lang="en-US" sz="1300" dirty="0"/>
          </a:p>
        </p:txBody>
      </p:sp>
      <p:sp>
        <p:nvSpPr>
          <p:cNvPr id="13" name="Text 11"/>
          <p:cNvSpPr/>
          <p:nvPr/>
        </p:nvSpPr>
        <p:spPr>
          <a:xfrm>
            <a:off x="3555217" y="2744788"/>
            <a:ext cx="4279793" cy="258564"/>
          </a:xfrm>
          <a:prstGeom prst="rect">
            <a:avLst/>
          </a:prstGeom>
          <a:noFill/>
          <a:ln/>
        </p:spPr>
        <p:txBody>
          <a:bodyPr wrap="none" lIns="0" tIns="0" rIns="0" bIns="0" rtlCol="0" anchor="t"/>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14 palabras ("a", "to", "cat", ...)</a:t>
            </a:r>
            <a:endParaRPr lang="en-US" sz="1300" dirty="0"/>
          </a:p>
        </p:txBody>
      </p:sp>
      <p:sp>
        <p:nvSpPr>
          <p:cNvPr id="14" name="Text 12"/>
          <p:cNvSpPr/>
          <p:nvPr/>
        </p:nvSpPr>
        <p:spPr>
          <a:xfrm>
            <a:off x="7571888" y="2744788"/>
            <a:ext cx="3781926"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~100.000 tokens (sub-palabras en múltiples idiomas)</a:t>
            </a:r>
            <a:endParaRPr lang="en-US" sz="1300" dirty="0"/>
          </a:p>
        </p:txBody>
      </p:sp>
      <p:sp>
        <p:nvSpPr>
          <p:cNvPr id="15" name="Shape 13"/>
          <p:cNvSpPr/>
          <p:nvPr/>
        </p:nvSpPr>
        <p:spPr>
          <a:xfrm>
            <a:off x="667825" y="3360043"/>
            <a:ext cx="10856046" cy="713383"/>
          </a:xfrm>
          <a:prstGeom prst="rect">
            <a:avLst/>
          </a:prstGeom>
          <a:solidFill>
            <a:srgbClr val="FFFFFF">
              <a:alpha val="4000"/>
            </a:srgbClr>
          </a:solidFill>
          <a:ln/>
        </p:spPr>
      </p:sp>
      <p:sp>
        <p:nvSpPr>
          <p:cNvPr id="16" name="Text 14"/>
          <p:cNvSpPr/>
          <p:nvPr/>
        </p:nvSpPr>
        <p:spPr>
          <a:xfrm>
            <a:off x="838080" y="3458170"/>
            <a:ext cx="2980258" cy="258564"/>
          </a:xfrm>
          <a:prstGeom prst="rect">
            <a:avLst/>
          </a:prstGeom>
          <a:noFill/>
          <a:ln/>
        </p:spPr>
        <p:txBody>
          <a:bodyPr wrap="none" lIns="0" tIns="0" rIns="0" bIns="0" rtlCol="0" anchor="t"/>
          <a:lstStyle/>
          <a:p>
            <a:pPr algn="l" indent="0" marL="0">
              <a:lnSpc>
                <a:spcPct val="127000"/>
              </a:lnSpc>
              <a:buNone/>
            </a:pPr>
            <a:r>
              <a:rPr lang="en-US" sz="1300" b="1" dirty="0">
                <a:solidFill>
                  <a:srgbClr val="3B3535"/>
                </a:solidFill>
                <a:latin typeface="Roboto Bold" pitchFamily="34" charset="0"/>
                <a:ea typeface="Roboto Bold" pitchFamily="34" charset="-122"/>
                <a:cs typeface="Roboto Bold" pitchFamily="34" charset="-120"/>
              </a:rPr>
              <a:t>Corpus T</a:t>
            </a:r>
            <a:endParaRPr lang="en-US" sz="1300" dirty="0"/>
          </a:p>
        </p:txBody>
      </p:sp>
      <p:sp>
        <p:nvSpPr>
          <p:cNvPr id="17" name="Text 15"/>
          <p:cNvSpPr/>
          <p:nvPr/>
        </p:nvSpPr>
        <p:spPr>
          <a:xfrm>
            <a:off x="3555217" y="3458170"/>
            <a:ext cx="4279793" cy="258564"/>
          </a:xfrm>
          <a:prstGeom prst="rect">
            <a:avLst/>
          </a:prstGeom>
          <a:noFill/>
          <a:ln/>
        </p:spPr>
        <p:txBody>
          <a:bodyPr wrap="none" lIns="0" tIns="0" rIns="0" bIns="0" rtlCol="0" anchor="t"/>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5 frases</a:t>
            </a:r>
            <a:endParaRPr lang="en-US" sz="1300" dirty="0"/>
          </a:p>
        </p:txBody>
      </p:sp>
      <p:sp>
        <p:nvSpPr>
          <p:cNvPr id="18" name="Text 16"/>
          <p:cNvSpPr/>
          <p:nvPr/>
        </p:nvSpPr>
        <p:spPr>
          <a:xfrm>
            <a:off x="7571888" y="3458170"/>
            <a:ext cx="3781926"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Billones de palabras (internet, libros, código, papers...)</a:t>
            </a:r>
            <a:endParaRPr lang="en-US" sz="1300" dirty="0"/>
          </a:p>
        </p:txBody>
      </p:sp>
      <p:sp>
        <p:nvSpPr>
          <p:cNvPr id="19" name="Shape 17"/>
          <p:cNvSpPr/>
          <p:nvPr/>
        </p:nvSpPr>
        <p:spPr>
          <a:xfrm>
            <a:off x="667825" y="4073426"/>
            <a:ext cx="10856046" cy="454819"/>
          </a:xfrm>
          <a:prstGeom prst="rect">
            <a:avLst/>
          </a:prstGeom>
          <a:solidFill>
            <a:srgbClr val="000000">
              <a:alpha val="4000"/>
            </a:srgbClr>
          </a:solidFill>
          <a:ln/>
        </p:spPr>
      </p:sp>
      <p:sp>
        <p:nvSpPr>
          <p:cNvPr id="20" name="Text 18"/>
          <p:cNvSpPr/>
          <p:nvPr/>
        </p:nvSpPr>
        <p:spPr>
          <a:xfrm>
            <a:off x="838080" y="4171553"/>
            <a:ext cx="2980258" cy="258564"/>
          </a:xfrm>
          <a:prstGeom prst="rect">
            <a:avLst/>
          </a:prstGeom>
          <a:noFill/>
          <a:ln/>
        </p:spPr>
        <p:txBody>
          <a:bodyPr wrap="none" lIns="0" tIns="0" rIns="0" bIns="0" rtlCol="0" anchor="t"/>
          <a:lstStyle/>
          <a:p>
            <a:pPr algn="l" indent="0" marL="0">
              <a:lnSpc>
                <a:spcPct val="127000"/>
              </a:lnSpc>
              <a:buNone/>
            </a:pPr>
            <a:r>
              <a:rPr lang="en-US" sz="1300" b="1" dirty="0">
                <a:solidFill>
                  <a:srgbClr val="3B3535"/>
                </a:solidFill>
                <a:latin typeface="Roboto Bold" pitchFamily="34" charset="0"/>
                <a:ea typeface="Roboto Bold" pitchFamily="34" charset="-122"/>
                <a:cs typeface="Roboto Bold" pitchFamily="34" charset="-120"/>
              </a:rPr>
              <a:t>Parámetros</a:t>
            </a:r>
            <a:endParaRPr lang="en-US" sz="1300" dirty="0"/>
          </a:p>
        </p:txBody>
      </p:sp>
      <p:sp>
        <p:nvSpPr>
          <p:cNvPr id="21" name="Text 19"/>
          <p:cNvSpPr/>
          <p:nvPr/>
        </p:nvSpPr>
        <p:spPr>
          <a:xfrm>
            <a:off x="3555217" y="4171553"/>
            <a:ext cx="4279793" cy="258564"/>
          </a:xfrm>
          <a:prstGeom prst="rect">
            <a:avLst/>
          </a:prstGeom>
          <a:noFill/>
          <a:ln/>
        </p:spPr>
        <p:txBody>
          <a:bodyPr wrap="none" lIns="0" tIns="0" rIns="0" bIns="0" rtlCol="0" anchor="t"/>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Pocos</a:t>
            </a:r>
            <a:endParaRPr lang="en-US" sz="1300" dirty="0"/>
          </a:p>
        </p:txBody>
      </p:sp>
      <p:sp>
        <p:nvSpPr>
          <p:cNvPr id="22" name="Text 20"/>
          <p:cNvSpPr/>
          <p:nvPr/>
        </p:nvSpPr>
        <p:spPr>
          <a:xfrm>
            <a:off x="7571888" y="4171553"/>
            <a:ext cx="4391510" cy="258564"/>
          </a:xfrm>
          <a:prstGeom prst="rect">
            <a:avLst/>
          </a:prstGeom>
          <a:noFill/>
          <a:ln/>
        </p:spPr>
        <p:txBody>
          <a:bodyPr wrap="none" lIns="0" tIns="0" rIns="0" bIns="0" rtlCol="0" anchor="t"/>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Cientos de miles de millones</a:t>
            </a:r>
            <a:endParaRPr lang="en-US" sz="1300" dirty="0"/>
          </a:p>
        </p:txBody>
      </p:sp>
      <p:sp>
        <p:nvSpPr>
          <p:cNvPr id="23" name="Shape 21"/>
          <p:cNvSpPr/>
          <p:nvPr/>
        </p:nvSpPr>
        <p:spPr>
          <a:xfrm>
            <a:off x="667825" y="4528245"/>
            <a:ext cx="10856046" cy="454819"/>
          </a:xfrm>
          <a:prstGeom prst="rect">
            <a:avLst/>
          </a:prstGeom>
          <a:solidFill>
            <a:srgbClr val="FFFFFF">
              <a:alpha val="4000"/>
            </a:srgbClr>
          </a:solidFill>
          <a:ln/>
        </p:spPr>
      </p:sp>
      <p:sp>
        <p:nvSpPr>
          <p:cNvPr id="24" name="Text 22"/>
          <p:cNvSpPr/>
          <p:nvPr/>
        </p:nvSpPr>
        <p:spPr>
          <a:xfrm>
            <a:off x="838080" y="4626372"/>
            <a:ext cx="2980258" cy="258564"/>
          </a:xfrm>
          <a:prstGeom prst="rect">
            <a:avLst/>
          </a:prstGeom>
          <a:noFill/>
          <a:ln/>
        </p:spPr>
        <p:txBody>
          <a:bodyPr wrap="none" lIns="0" tIns="0" rIns="0" bIns="0" rtlCol="0" anchor="t"/>
          <a:lstStyle/>
          <a:p>
            <a:pPr algn="l" indent="0" marL="0">
              <a:lnSpc>
                <a:spcPct val="127000"/>
              </a:lnSpc>
              <a:buNone/>
            </a:pPr>
            <a:r>
              <a:rPr lang="en-US" sz="1300" b="1" dirty="0">
                <a:solidFill>
                  <a:srgbClr val="3B3535"/>
                </a:solidFill>
                <a:latin typeface="Roboto Bold" pitchFamily="34" charset="0"/>
                <a:ea typeface="Roboto Bold" pitchFamily="34" charset="-122"/>
                <a:cs typeface="Roboto Bold" pitchFamily="34" charset="-120"/>
              </a:rPr>
              <a:t>Entrenamiento</a:t>
            </a:r>
            <a:endParaRPr lang="en-US" sz="1300" dirty="0"/>
          </a:p>
        </p:txBody>
      </p:sp>
      <p:sp>
        <p:nvSpPr>
          <p:cNvPr id="25" name="Text 23"/>
          <p:cNvSpPr/>
          <p:nvPr/>
        </p:nvSpPr>
        <p:spPr>
          <a:xfrm>
            <a:off x="3555217" y="4626372"/>
            <a:ext cx="4279793" cy="258564"/>
          </a:xfrm>
          <a:prstGeom prst="rect">
            <a:avLst/>
          </a:prstGeom>
          <a:noFill/>
          <a:ln/>
        </p:spPr>
        <p:txBody>
          <a:bodyPr wrap="none" lIns="0" tIns="0" rIns="0" bIns="0" rtlCol="0" anchor="t"/>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Segundos</a:t>
            </a:r>
            <a:endParaRPr lang="en-US" sz="1300" dirty="0"/>
          </a:p>
        </p:txBody>
      </p:sp>
      <p:sp>
        <p:nvSpPr>
          <p:cNvPr id="26" name="Text 24"/>
          <p:cNvSpPr/>
          <p:nvPr/>
        </p:nvSpPr>
        <p:spPr>
          <a:xfrm>
            <a:off x="7571888" y="4626372"/>
            <a:ext cx="4391510" cy="258564"/>
          </a:xfrm>
          <a:prstGeom prst="rect">
            <a:avLst/>
          </a:prstGeom>
          <a:noFill/>
          <a:ln/>
        </p:spPr>
        <p:txBody>
          <a:bodyPr wrap="none" lIns="0" tIns="0" rIns="0" bIns="0" rtlCol="0" anchor="t"/>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Meses en miles de GPUs</a:t>
            </a:r>
            <a:endParaRPr lang="en-US" sz="1300" dirty="0"/>
          </a:p>
        </p:txBody>
      </p:sp>
      <p:sp>
        <p:nvSpPr>
          <p:cNvPr id="27" name="Shape 25"/>
          <p:cNvSpPr/>
          <p:nvPr/>
        </p:nvSpPr>
        <p:spPr>
          <a:xfrm>
            <a:off x="667825" y="4983063"/>
            <a:ext cx="10856046" cy="454819"/>
          </a:xfrm>
          <a:prstGeom prst="rect">
            <a:avLst/>
          </a:prstGeom>
          <a:solidFill>
            <a:srgbClr val="000000">
              <a:alpha val="4000"/>
            </a:srgbClr>
          </a:solidFill>
          <a:ln/>
        </p:spPr>
      </p:sp>
      <p:sp>
        <p:nvSpPr>
          <p:cNvPr id="28" name="Text 26"/>
          <p:cNvSpPr/>
          <p:nvPr/>
        </p:nvSpPr>
        <p:spPr>
          <a:xfrm>
            <a:off x="838080" y="5081191"/>
            <a:ext cx="2980258" cy="258564"/>
          </a:xfrm>
          <a:prstGeom prst="rect">
            <a:avLst/>
          </a:prstGeom>
          <a:noFill/>
          <a:ln/>
        </p:spPr>
        <p:txBody>
          <a:bodyPr wrap="none" lIns="0" tIns="0" rIns="0" bIns="0" rtlCol="0" anchor="t"/>
          <a:lstStyle/>
          <a:p>
            <a:pPr algn="l" indent="0" marL="0">
              <a:lnSpc>
                <a:spcPct val="127000"/>
              </a:lnSpc>
              <a:buNone/>
            </a:pPr>
            <a:r>
              <a:rPr lang="en-US" sz="1300" b="1" dirty="0">
                <a:solidFill>
                  <a:srgbClr val="3B3535"/>
                </a:solidFill>
                <a:latin typeface="Roboto Bold" pitchFamily="34" charset="0"/>
                <a:ea typeface="Roboto Bold" pitchFamily="34" charset="-122"/>
                <a:cs typeface="Roboto Bold" pitchFamily="34" charset="-120"/>
              </a:rPr>
              <a:t>Frase P</a:t>
            </a:r>
            <a:endParaRPr lang="en-US" sz="1300" dirty="0"/>
          </a:p>
        </p:txBody>
      </p:sp>
      <p:sp>
        <p:nvSpPr>
          <p:cNvPr id="29" name="Text 27"/>
          <p:cNvSpPr/>
          <p:nvPr/>
        </p:nvSpPr>
        <p:spPr>
          <a:xfrm>
            <a:off x="3555217" y="5081191"/>
            <a:ext cx="4279793" cy="258564"/>
          </a:xfrm>
          <a:prstGeom prst="rect">
            <a:avLst/>
          </a:prstGeom>
          <a:noFill/>
          <a:ln/>
        </p:spPr>
        <p:txBody>
          <a:bodyPr wrap="none" lIns="0" tIns="0" rIns="0" bIns="0" rtlCol="0" anchor="t"/>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"the dog sat on"</a:t>
            </a:r>
            <a:endParaRPr lang="en-US" sz="1300" dirty="0"/>
          </a:p>
        </p:txBody>
      </p:sp>
      <p:sp>
        <p:nvSpPr>
          <p:cNvPr id="30" name="Text 28"/>
          <p:cNvSpPr/>
          <p:nvPr/>
        </p:nvSpPr>
        <p:spPr>
          <a:xfrm>
            <a:off x="7571888" y="5081191"/>
            <a:ext cx="4391510" cy="258564"/>
          </a:xfrm>
          <a:prstGeom prst="rect">
            <a:avLst/>
          </a:prstGeom>
          <a:noFill/>
          <a:ln/>
        </p:spPr>
        <p:txBody>
          <a:bodyPr wrap="none" lIns="0" tIns="0" rIns="0" bIns="0" rtlCol="0" anchor="t"/>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Cualquier texto, de cualquier largo</a:t>
            </a:r>
            <a:endParaRPr lang="en-US" sz="1300" dirty="0"/>
          </a:p>
        </p:txBody>
      </p:sp>
      <p:sp>
        <p:nvSpPr>
          <p:cNvPr id="31" name="Text 29"/>
          <p:cNvSpPr/>
          <p:nvPr/>
        </p:nvSpPr>
        <p:spPr>
          <a:xfrm>
            <a:off x="661475" y="5616476"/>
            <a:ext cx="10868745"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El concepto es exactamente el mismo: predecir la siguiente palabra.</a:t>
            </a:r>
            <a:endParaRPr lang="en-US" sz="1300" dirty="0"/>
          </a:p>
          <a:p>
            <a:pPr algn="l" indent="0" marL="0">
              <a:lnSpc>
                <a:spcPct val="127000"/>
              </a:lnSpc>
              <a:buNone/>
            </a:pPr>
            <a:r>
              <a:rPr lang="en-US" sz="1300" dirty="0">
                <a:solidFill>
                  <a:srgbClr val="3B3535"/>
                </a:solidFill>
                <a:latin typeface="Roboto" pitchFamily="34" charset="0"/>
                <a:ea typeface="Roboto" pitchFamily="34" charset="-122"/>
                <a:cs typeface="Roboto" pitchFamily="34" charset="-120"/>
              </a:rPr>
              <a:t>Lo que cambia es la escala del vocabulario, los datos y el modelo.</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661475" y="759817"/>
            <a:ext cx="3253004" cy="287139"/>
          </a:xfrm>
          <a:prstGeom prst="roundRect">
            <a:avLst>
              <a:gd name="adj" fmla="val 2654"/>
            </a:avLst>
          </a:prstGeom>
          <a:solidFill>
            <a:srgbClr val="F9D2D6"/>
          </a:solidFill>
          <a:ln/>
        </p:spPr>
      </p:sp>
      <p:sp>
        <p:nvSpPr>
          <p:cNvPr id="3" name="Text 1"/>
          <p:cNvSpPr/>
          <p:nvPr/>
        </p:nvSpPr>
        <p:spPr>
          <a:xfrm>
            <a:off x="774879" y="816471"/>
            <a:ext cx="3635780" cy="173831"/>
          </a:xfrm>
          <a:prstGeom prst="rect">
            <a:avLst/>
          </a:prstGeom>
          <a:noFill/>
          <a:ln/>
        </p:spPr>
        <p:txBody>
          <a:bodyPr wrap="none" lIns="0" tIns="0" rIns="0" bIns="0" rtlCol="0" anchor="t"/>
          <a:lstStyle/>
          <a:p>
            <a:pPr algn="l" indent="0" marL="0">
              <a:lnSpc>
                <a:spcPct val="96000"/>
              </a:lnSpc>
              <a:buNone/>
            </a:pPr>
            <a:r>
              <a:rPr lang="en-US" sz="1150" dirty="0">
                <a:solidFill>
                  <a:srgbClr val="3B3535"/>
                </a:solidFill>
                <a:latin typeface="Roboto" pitchFamily="34" charset="0"/>
                <a:ea typeface="Roboto" pitchFamily="34" charset="-122"/>
                <a:cs typeface="Roboto" pitchFamily="34" charset="-120"/>
              </a:rPr>
              <a:t>TRANSFORMERS: CÓMO FUNCIONA UN LLM</a:t>
            </a:r>
            <a:endParaRPr lang="en-US" sz="1150" dirty="0"/>
          </a:p>
        </p:txBody>
      </p:sp>
      <p:sp>
        <p:nvSpPr>
          <p:cNvPr id="4" name="Text 2"/>
          <p:cNvSpPr/>
          <p:nvPr/>
        </p:nvSpPr>
        <p:spPr>
          <a:xfrm>
            <a:off x="661475" y="1122561"/>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Roboto Mono Medium" pitchFamily="34" charset="0"/>
                <a:ea typeface="Roboto Mono Medium" pitchFamily="34" charset="-122"/>
                <a:cs typeface="Roboto Mono Medium" pitchFamily="34" charset="-120"/>
              </a:rPr>
              <a:t>¿Qué cambió?</a:t>
            </a:r>
            <a:endParaRPr lang="en-US" sz="3700" dirty="0"/>
          </a:p>
        </p:txBody>
      </p:sp>
      <p:sp>
        <p:nvSpPr>
          <p:cNvPr id="5" name="Text 3"/>
          <p:cNvSpPr/>
          <p:nvPr/>
        </p:nvSpPr>
        <p:spPr>
          <a:xfrm>
            <a:off x="661475" y="1788815"/>
            <a:ext cx="10868745" cy="1063228"/>
          </a:xfrm>
          <a:prstGeom prst="rect">
            <a:avLst/>
          </a:prstGeom>
          <a:noFill/>
          <a:ln/>
        </p:spPr>
        <p:txBody>
          <a:bodyPr wrap="square" lIns="0" tIns="0" rIns="0" bIns="0" rtlCol="0" anchor="t">
            <a:normAutofit/>
          </a:bodyPr>
          <a:lstStyle/>
          <a:p>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Muchas tareas se resuelven ahora con una sola técnica: generación de texto con </a:t>
            </a:r>
            <a:pPr algn="l" indent="0" marL="0">
              <a:lnSpc>
                <a:spcPct val="104000"/>
              </a:lnSpc>
              <a:buNone/>
            </a:pPr>
            <a:r>
              <a:rPr lang="en-US" sz="2200" b="1" dirty="0">
                <a:solidFill>
                  <a:srgbClr val="1F1E1E"/>
                </a:solidFill>
                <a:latin typeface="Roboto Mono Bold" pitchFamily="34" charset="0"/>
                <a:ea typeface="Roboto Mono Bold" pitchFamily="34" charset="-122"/>
                <a:cs typeface="Roboto Mono Bold" pitchFamily="34" charset="-120"/>
              </a:rPr>
              <a:t>modelos fundacionales</a:t>
            </a:r>
            <a:pPr algn="l" indent="0" marL="0">
              <a:lnSpc>
                <a:spcPct val="104000"/>
              </a:lnSpc>
              <a:buNone/>
            </a:pPr>
            <a:r>
              <a:rPr lang="en-US" sz="2200" dirty="0">
                <a:solidFill>
                  <a:srgbClr val="1F1E1E"/>
                </a:solidFill>
                <a:latin typeface="Roboto Mono Medium" pitchFamily="34" charset="0"/>
                <a:ea typeface="Roboto Mono Medium" pitchFamily="34" charset="-122"/>
                <a:cs typeface="Roboto Mono Medium" pitchFamily="34" charset="-120"/>
              </a:rPr>
              <a:t> (modelos grandes pre-entrenados).</a:t>
            </a:r>
            <a:endParaRPr lang="en-US" sz="2200" dirty="0"/>
          </a:p>
        </p:txBody>
      </p:sp>
      <p:sp>
        <p:nvSpPr>
          <p:cNvPr id="6" name="Text 4"/>
          <p:cNvSpPr/>
          <p:nvPr/>
        </p:nvSpPr>
        <p:spPr>
          <a:xfrm>
            <a:off x="661475" y="3135511"/>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3B3535"/>
                </a:solidFill>
                <a:latin typeface="Roboto" pitchFamily="34" charset="0"/>
                <a:ea typeface="Roboto" pitchFamily="34" charset="-122"/>
                <a:cs typeface="Roboto" pitchFamily="34" charset="-120"/>
              </a:rPr>
              <a:t>Si un modelo puede comprender texto y generar palabras, podemos reformular casi cualquier tarea como generación:</a:t>
            </a:r>
            <a:endParaRPr lang="en-US" sz="1450" dirty="0"/>
          </a:p>
        </p:txBody>
      </p:sp>
      <p:sp>
        <p:nvSpPr>
          <p:cNvPr id="7" name="Text 5"/>
          <p:cNvSpPr/>
          <p:nvPr/>
        </p:nvSpPr>
        <p:spPr>
          <a:xfrm>
            <a:off x="661475" y="3650555"/>
            <a:ext cx="10868745" cy="1039416"/>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3B3535"/>
                </a:solidFill>
                <a:latin typeface="Roboto" pitchFamily="34" charset="0"/>
                <a:ea typeface="Roboto" pitchFamily="34" charset="-122"/>
                <a:cs typeface="Roboto" pitchFamily="34" charset="-120"/>
              </a:rPr>
              <a:t>Sentimiento: "¿Este review es positivo o negativo?" → modelo genera "positivo"</a:t>
            </a:r>
            <a:endParaRPr lang="en-US" sz="1450" dirty="0"/>
          </a:p>
          <a:p>
            <a:pPr algn="l" marL="294640" indent="-294640">
              <a:lnSpc>
                <a:spcPct val="133000"/>
              </a:lnSpc>
              <a:buSzPct val="100000"/>
              <a:buChar char="•"/>
            </a:pPr>
            <a:r>
              <a:rPr lang="en-US" sz="1450" dirty="0">
                <a:solidFill>
                  <a:srgbClr val="3B3535"/>
                </a:solidFill>
                <a:latin typeface="Roboto" pitchFamily="34" charset="0"/>
                <a:ea typeface="Roboto" pitchFamily="34" charset="-122"/>
                <a:cs typeface="Roboto" pitchFamily="34" charset="-120"/>
              </a:rPr>
              <a:t>Traducción: "Traducí: the cat is on the mat" → modelo genera "el gato está sobre la alfombra"</a:t>
            </a:r>
            <a:endParaRPr lang="en-US" sz="1450" dirty="0"/>
          </a:p>
          <a:p>
            <a:pPr algn="l" marL="294640" indent="-294640">
              <a:lnSpc>
                <a:spcPct val="133000"/>
              </a:lnSpc>
              <a:buSzPct val="100000"/>
              <a:buChar char="•"/>
            </a:pPr>
            <a:r>
              <a:rPr lang="en-US" sz="1450" dirty="0">
                <a:solidFill>
                  <a:srgbClr val="3B3535"/>
                </a:solidFill>
                <a:latin typeface="Roboto" pitchFamily="34" charset="0"/>
                <a:ea typeface="Roboto" pitchFamily="34" charset="-122"/>
                <a:cs typeface="Roboto" pitchFamily="34" charset="-120"/>
              </a:rPr>
              <a:t>Resumen: "Resumí este texto: [texto largo]" → modelo genera el resumen</a:t>
            </a:r>
            <a:endParaRPr lang="en-US" sz="1450" dirty="0"/>
          </a:p>
        </p:txBody>
      </p:sp>
      <p:sp>
        <p:nvSpPr>
          <p:cNvPr id="8" name="Shape 6"/>
          <p:cNvSpPr/>
          <p:nvPr/>
        </p:nvSpPr>
        <p:spPr>
          <a:xfrm>
            <a:off x="661475" y="4902597"/>
            <a:ext cx="10868745" cy="680442"/>
          </a:xfrm>
          <a:prstGeom prst="roundRect">
            <a:avLst>
              <a:gd name="adj" fmla="val 1120"/>
            </a:avLst>
          </a:prstGeom>
          <a:solidFill>
            <a:srgbClr val="F2F2F2"/>
          </a:solidFill>
          <a:ln/>
        </p:spPr>
      </p:sp>
      <p:sp>
        <p:nvSpPr>
          <p:cNvPr id="9" name="Text 7"/>
          <p:cNvSpPr/>
          <p:nvPr/>
        </p:nvSpPr>
        <p:spPr>
          <a:xfrm>
            <a:off x="888283" y="5091609"/>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problema  →  prompt (instrucción en texto)  →  modelo genera la solución</a:t>
            </a:r>
            <a:endParaRPr lang="en-US" sz="1450" dirty="0"/>
          </a:p>
        </p:txBody>
      </p:sp>
      <p:sp>
        <p:nvSpPr>
          <p:cNvPr id="10" name="Text 8"/>
          <p:cNvSpPr/>
          <p:nvPr/>
        </p:nvSpPr>
        <p:spPr>
          <a:xfrm>
            <a:off x="661475" y="5795665"/>
            <a:ext cx="11478330" cy="302419"/>
          </a:xfrm>
          <a:prstGeom prst="rect">
            <a:avLst/>
          </a:prstGeom>
          <a:noFill/>
          <a:ln/>
        </p:spPr>
        <p:txBody>
          <a:bodyPr wrap="none" lIns="0" tIns="0" rIns="0" bIns="0" rtlCol="0" anchor="t"/>
          <a:lstStyle/>
          <a:p>
            <a:pPr algn="l" indent="0" marL="0">
              <a:lnSpc>
                <a:spcPct val="133000"/>
              </a:lnSpc>
              <a:buNone/>
            </a:pPr>
            <a:r>
              <a:rPr lang="en-US" sz="1450" i="1" dirty="0">
                <a:solidFill>
                  <a:srgbClr val="3B3535"/>
                </a:solidFill>
                <a:latin typeface="Roboto" pitchFamily="34" charset="0"/>
                <a:ea typeface="Roboto" pitchFamily="34" charset="-122"/>
                <a:cs typeface="Roboto" pitchFamily="34" charset="-120"/>
              </a:rPr>
              <a:t>Esto es lo que hacemos cuando usamos ChatGPT, Claude, etc.</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661475" y="630833"/>
            <a:ext cx="3090488" cy="272752"/>
          </a:xfrm>
          <a:prstGeom prst="roundRect">
            <a:avLst>
              <a:gd name="adj" fmla="val 2794"/>
            </a:avLst>
          </a:prstGeom>
          <a:solidFill>
            <a:srgbClr val="F9D2D6"/>
          </a:solidFill>
          <a:ln/>
        </p:spPr>
      </p:sp>
      <p:sp>
        <p:nvSpPr>
          <p:cNvPr id="3" name="Text 1"/>
          <p:cNvSpPr/>
          <p:nvPr/>
        </p:nvSpPr>
        <p:spPr>
          <a:xfrm>
            <a:off x="769125" y="684609"/>
            <a:ext cx="3484773" cy="165199"/>
          </a:xfrm>
          <a:prstGeom prst="rect">
            <a:avLst/>
          </a:prstGeom>
          <a:noFill/>
          <a:ln/>
        </p:spPr>
        <p:txBody>
          <a:bodyPr wrap="none" lIns="0" tIns="0" rIns="0" bIns="0" rtlCol="0" anchor="t"/>
          <a:lstStyle/>
          <a:p>
            <a:pPr algn="l" indent="0" marL="0">
              <a:lnSpc>
                <a:spcPct val="96000"/>
              </a:lnSpc>
              <a:buNone/>
            </a:pPr>
            <a:r>
              <a:rPr lang="en-US" sz="1100" dirty="0">
                <a:solidFill>
                  <a:srgbClr val="3B3535"/>
                </a:solidFill>
                <a:latin typeface="Roboto" pitchFamily="34" charset="0"/>
                <a:ea typeface="Roboto" pitchFamily="34" charset="-122"/>
                <a:cs typeface="Roboto" pitchFamily="34" charset="-120"/>
              </a:rPr>
              <a:t>TRANSFORMERS: CÓMO FUNCIONA UN LLM</a:t>
            </a:r>
            <a:endParaRPr lang="en-US" sz="1100" dirty="0"/>
          </a:p>
        </p:txBody>
      </p:sp>
      <p:sp>
        <p:nvSpPr>
          <p:cNvPr id="4" name="Text 2"/>
          <p:cNvSpPr/>
          <p:nvPr/>
        </p:nvSpPr>
        <p:spPr>
          <a:xfrm>
            <a:off x="661475" y="971748"/>
            <a:ext cx="10868745" cy="561181"/>
          </a:xfrm>
          <a:prstGeom prst="rect">
            <a:avLst/>
          </a:prstGeom>
          <a:noFill/>
          <a:ln/>
        </p:spPr>
        <p:txBody>
          <a:bodyPr wrap="none" lIns="0" tIns="0" rIns="0" bIns="0" rtlCol="0" anchor="t"/>
          <a:lstStyle/>
          <a:p>
            <a:pPr algn="l" indent="0" marL="0">
              <a:lnSpc>
                <a:spcPct val="104000"/>
              </a:lnSpc>
              <a:buNone/>
            </a:pPr>
            <a:r>
              <a:rPr lang="en-US" sz="3500" dirty="0">
                <a:solidFill>
                  <a:srgbClr val="1F1E1E"/>
                </a:solidFill>
                <a:latin typeface="Roboto Mono Medium" pitchFamily="34" charset="0"/>
                <a:ea typeface="Roboto Mono Medium" pitchFamily="34" charset="-122"/>
                <a:cs typeface="Roboto Mono Medium" pitchFamily="34" charset="-120"/>
              </a:rPr>
              <a:t>Entrenamiento vs Inferencia</a:t>
            </a:r>
            <a:endParaRPr lang="en-US" sz="3500" dirty="0"/>
          </a:p>
        </p:txBody>
      </p:sp>
      <p:sp>
        <p:nvSpPr>
          <p:cNvPr id="5" name="Shape 3"/>
          <p:cNvSpPr/>
          <p:nvPr/>
        </p:nvSpPr>
        <p:spPr>
          <a:xfrm>
            <a:off x="661475" y="1788815"/>
            <a:ext cx="10868745" cy="3494385"/>
          </a:xfrm>
          <a:prstGeom prst="roundRect">
            <a:avLst>
              <a:gd name="adj" fmla="val 218"/>
            </a:avLst>
          </a:prstGeom>
          <a:noFill/>
          <a:ln w="6350">
            <a:solidFill>
              <a:srgbClr val="000000">
                <a:alpha val="8000"/>
              </a:srgbClr>
            </a:solidFill>
            <a:prstDash val="solid"/>
          </a:ln>
        </p:spPr>
      </p:sp>
      <p:sp>
        <p:nvSpPr>
          <p:cNvPr id="6" name="Shape 4"/>
          <p:cNvSpPr/>
          <p:nvPr/>
        </p:nvSpPr>
        <p:spPr>
          <a:xfrm>
            <a:off x="667825" y="1795165"/>
            <a:ext cx="10856046" cy="497384"/>
          </a:xfrm>
          <a:prstGeom prst="rect">
            <a:avLst/>
          </a:prstGeom>
          <a:solidFill>
            <a:srgbClr val="FFFFFF">
              <a:alpha val="4000"/>
            </a:srgbClr>
          </a:solidFill>
          <a:ln/>
        </p:spPr>
      </p:sp>
      <p:sp>
        <p:nvSpPr>
          <p:cNvPr id="7" name="Text 5"/>
          <p:cNvSpPr/>
          <p:nvPr/>
        </p:nvSpPr>
        <p:spPr>
          <a:xfrm>
            <a:off x="847505" y="1903809"/>
            <a:ext cx="2961407" cy="280095"/>
          </a:xfrm>
          <a:prstGeom prst="rect">
            <a:avLst/>
          </a:prstGeom>
          <a:noFill/>
          <a:ln/>
        </p:spPr>
        <p:txBody>
          <a:bodyPr wrap="none" lIns="0" tIns="0" rIns="0" bIns="0" rtlCol="0" anchor="t"/>
          <a:lstStyle/>
          <a:p>
            <a:pPr algn="l" indent="0" marL="0">
              <a:lnSpc>
                <a:spcPct val="130000"/>
              </a:lnSpc>
              <a:buNone/>
            </a:pPr>
            <a:endParaRPr lang="en-US" sz="1400" dirty="0"/>
          </a:p>
        </p:txBody>
      </p:sp>
      <p:sp>
        <p:nvSpPr>
          <p:cNvPr id="8" name="Text 6"/>
          <p:cNvSpPr/>
          <p:nvPr/>
        </p:nvSpPr>
        <p:spPr>
          <a:xfrm>
            <a:off x="3564642" y="1903809"/>
            <a:ext cx="4260942" cy="280095"/>
          </a:xfrm>
          <a:prstGeom prst="rect">
            <a:avLst/>
          </a:prstGeom>
          <a:noFill/>
          <a:ln/>
        </p:spPr>
        <p:txBody>
          <a:bodyPr wrap="none" lIns="0" tIns="0" rIns="0" bIns="0" rtlCol="0" anchor="t"/>
          <a:lstStyle/>
          <a:p>
            <a:pPr algn="l" indent="0" marL="0">
              <a:lnSpc>
                <a:spcPct val="130000"/>
              </a:lnSpc>
              <a:buNone/>
            </a:pPr>
            <a:r>
              <a:rPr lang="en-US" sz="1400" b="1" dirty="0">
                <a:solidFill>
                  <a:srgbClr val="3B3535"/>
                </a:solidFill>
                <a:latin typeface="Roboto Bold" pitchFamily="34" charset="0"/>
                <a:ea typeface="Roboto Bold" pitchFamily="34" charset="-122"/>
                <a:cs typeface="Roboto Bold" pitchFamily="34" charset="-120"/>
              </a:rPr>
              <a:t>Entrenamiento</a:t>
            </a:r>
            <a:endParaRPr lang="en-US" sz="1400" dirty="0"/>
          </a:p>
        </p:txBody>
      </p:sp>
      <p:sp>
        <p:nvSpPr>
          <p:cNvPr id="9" name="Text 7"/>
          <p:cNvSpPr/>
          <p:nvPr/>
        </p:nvSpPr>
        <p:spPr>
          <a:xfrm>
            <a:off x="7581313" y="1903809"/>
            <a:ext cx="4372659" cy="280095"/>
          </a:xfrm>
          <a:prstGeom prst="rect">
            <a:avLst/>
          </a:prstGeom>
          <a:noFill/>
          <a:ln/>
        </p:spPr>
        <p:txBody>
          <a:bodyPr wrap="none" lIns="0" tIns="0" rIns="0" bIns="0" rtlCol="0" anchor="t"/>
          <a:lstStyle/>
          <a:p>
            <a:pPr algn="l" indent="0" marL="0">
              <a:lnSpc>
                <a:spcPct val="130000"/>
              </a:lnSpc>
              <a:buNone/>
            </a:pPr>
            <a:r>
              <a:rPr lang="en-US" sz="1400" b="1" dirty="0">
                <a:solidFill>
                  <a:srgbClr val="3B3535"/>
                </a:solidFill>
                <a:latin typeface="Roboto Bold" pitchFamily="34" charset="0"/>
                <a:ea typeface="Roboto Bold" pitchFamily="34" charset="-122"/>
                <a:cs typeface="Roboto Bold" pitchFamily="34" charset="-120"/>
              </a:rPr>
              <a:t>Inferencia</a:t>
            </a:r>
            <a:endParaRPr lang="en-US" sz="1400" dirty="0"/>
          </a:p>
        </p:txBody>
      </p:sp>
      <p:sp>
        <p:nvSpPr>
          <p:cNvPr id="10" name="Shape 8"/>
          <p:cNvSpPr/>
          <p:nvPr/>
        </p:nvSpPr>
        <p:spPr>
          <a:xfrm>
            <a:off x="667825" y="2292548"/>
            <a:ext cx="10856046" cy="497384"/>
          </a:xfrm>
          <a:prstGeom prst="rect">
            <a:avLst/>
          </a:prstGeom>
          <a:solidFill>
            <a:srgbClr val="000000">
              <a:alpha val="4000"/>
            </a:srgbClr>
          </a:solidFill>
          <a:ln/>
        </p:spPr>
      </p:sp>
      <p:sp>
        <p:nvSpPr>
          <p:cNvPr id="11" name="Text 9"/>
          <p:cNvSpPr/>
          <p:nvPr/>
        </p:nvSpPr>
        <p:spPr>
          <a:xfrm>
            <a:off x="847505" y="2401193"/>
            <a:ext cx="2961407" cy="280095"/>
          </a:xfrm>
          <a:prstGeom prst="rect">
            <a:avLst/>
          </a:prstGeom>
          <a:noFill/>
          <a:ln/>
        </p:spPr>
        <p:txBody>
          <a:bodyPr wrap="none" lIns="0" tIns="0" rIns="0" bIns="0" rtlCol="0" anchor="t"/>
          <a:lstStyle/>
          <a:p>
            <a:pPr algn="l" indent="0" marL="0">
              <a:lnSpc>
                <a:spcPct val="130000"/>
              </a:lnSpc>
              <a:buNone/>
            </a:pPr>
            <a:r>
              <a:rPr lang="en-US" sz="1400" b="1" dirty="0">
                <a:solidFill>
                  <a:srgbClr val="3B3535"/>
                </a:solidFill>
                <a:latin typeface="Roboto Bold" pitchFamily="34" charset="0"/>
                <a:ea typeface="Roboto Bold" pitchFamily="34" charset="-122"/>
                <a:cs typeface="Roboto Bold" pitchFamily="34" charset="-120"/>
              </a:rPr>
              <a:t>¿Qué pasa?</a:t>
            </a:r>
            <a:endParaRPr lang="en-US" sz="1400" dirty="0"/>
          </a:p>
        </p:txBody>
      </p:sp>
      <p:sp>
        <p:nvSpPr>
          <p:cNvPr id="12" name="Text 10"/>
          <p:cNvSpPr/>
          <p:nvPr/>
        </p:nvSpPr>
        <p:spPr>
          <a:xfrm>
            <a:off x="3564642" y="2401193"/>
            <a:ext cx="4260942"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Aprende ajustando parámetros</a:t>
            </a:r>
            <a:endParaRPr lang="en-US" sz="1400" dirty="0"/>
          </a:p>
        </p:txBody>
      </p:sp>
      <p:sp>
        <p:nvSpPr>
          <p:cNvPr id="13" name="Text 11"/>
          <p:cNvSpPr/>
          <p:nvPr/>
        </p:nvSpPr>
        <p:spPr>
          <a:xfrm>
            <a:off x="7581313" y="2401193"/>
            <a:ext cx="4372659"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Usa parámetros ya aprendidos</a:t>
            </a:r>
            <a:endParaRPr lang="en-US" sz="1400" dirty="0"/>
          </a:p>
        </p:txBody>
      </p:sp>
      <p:sp>
        <p:nvSpPr>
          <p:cNvPr id="14" name="Shape 12"/>
          <p:cNvSpPr/>
          <p:nvPr/>
        </p:nvSpPr>
        <p:spPr>
          <a:xfrm>
            <a:off x="667825" y="2789932"/>
            <a:ext cx="10856046" cy="497384"/>
          </a:xfrm>
          <a:prstGeom prst="rect">
            <a:avLst/>
          </a:prstGeom>
          <a:solidFill>
            <a:srgbClr val="FFFFFF">
              <a:alpha val="4000"/>
            </a:srgbClr>
          </a:solidFill>
          <a:ln/>
        </p:spPr>
      </p:sp>
      <p:sp>
        <p:nvSpPr>
          <p:cNvPr id="15" name="Text 13"/>
          <p:cNvSpPr/>
          <p:nvPr/>
        </p:nvSpPr>
        <p:spPr>
          <a:xfrm>
            <a:off x="847505" y="2898577"/>
            <a:ext cx="2961407" cy="280095"/>
          </a:xfrm>
          <a:prstGeom prst="rect">
            <a:avLst/>
          </a:prstGeom>
          <a:noFill/>
          <a:ln/>
        </p:spPr>
        <p:txBody>
          <a:bodyPr wrap="none" lIns="0" tIns="0" rIns="0" bIns="0" rtlCol="0" anchor="t"/>
          <a:lstStyle/>
          <a:p>
            <a:pPr algn="l" indent="0" marL="0">
              <a:lnSpc>
                <a:spcPct val="130000"/>
              </a:lnSpc>
              <a:buNone/>
            </a:pPr>
            <a:r>
              <a:rPr lang="en-US" sz="1400" b="1" dirty="0">
                <a:solidFill>
                  <a:srgbClr val="3B3535"/>
                </a:solidFill>
                <a:latin typeface="Roboto Bold" pitchFamily="34" charset="0"/>
                <a:ea typeface="Roboto Bold" pitchFamily="34" charset="-122"/>
                <a:cs typeface="Roboto Bold" pitchFamily="34" charset="-120"/>
              </a:rPr>
              <a:t>¿Cuándo?</a:t>
            </a:r>
            <a:endParaRPr lang="en-US" sz="1400" dirty="0"/>
          </a:p>
        </p:txBody>
      </p:sp>
      <p:sp>
        <p:nvSpPr>
          <p:cNvPr id="16" name="Text 14"/>
          <p:cNvSpPr/>
          <p:nvPr/>
        </p:nvSpPr>
        <p:spPr>
          <a:xfrm>
            <a:off x="3564642" y="2898577"/>
            <a:ext cx="4260942"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Antes de estar disponible</a:t>
            </a:r>
            <a:endParaRPr lang="en-US" sz="1400" dirty="0"/>
          </a:p>
        </p:txBody>
      </p:sp>
      <p:sp>
        <p:nvSpPr>
          <p:cNvPr id="17" name="Text 15"/>
          <p:cNvSpPr/>
          <p:nvPr/>
        </p:nvSpPr>
        <p:spPr>
          <a:xfrm>
            <a:off x="7581313" y="2898577"/>
            <a:ext cx="4372659"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Cada vez que un usuario pregunta</a:t>
            </a:r>
            <a:endParaRPr lang="en-US" sz="1400" dirty="0"/>
          </a:p>
        </p:txBody>
      </p:sp>
      <p:sp>
        <p:nvSpPr>
          <p:cNvPr id="18" name="Shape 16"/>
          <p:cNvSpPr/>
          <p:nvPr/>
        </p:nvSpPr>
        <p:spPr>
          <a:xfrm>
            <a:off x="667825" y="3287316"/>
            <a:ext cx="10856046" cy="497384"/>
          </a:xfrm>
          <a:prstGeom prst="rect">
            <a:avLst/>
          </a:prstGeom>
          <a:solidFill>
            <a:srgbClr val="000000">
              <a:alpha val="4000"/>
            </a:srgbClr>
          </a:solidFill>
          <a:ln/>
        </p:spPr>
      </p:sp>
      <p:sp>
        <p:nvSpPr>
          <p:cNvPr id="19" name="Text 17"/>
          <p:cNvSpPr/>
          <p:nvPr/>
        </p:nvSpPr>
        <p:spPr>
          <a:xfrm>
            <a:off x="847505" y="3395960"/>
            <a:ext cx="2961407" cy="280095"/>
          </a:xfrm>
          <a:prstGeom prst="rect">
            <a:avLst/>
          </a:prstGeom>
          <a:noFill/>
          <a:ln/>
        </p:spPr>
        <p:txBody>
          <a:bodyPr wrap="none" lIns="0" tIns="0" rIns="0" bIns="0" rtlCol="0" anchor="t"/>
          <a:lstStyle/>
          <a:p>
            <a:pPr algn="l" indent="0" marL="0">
              <a:lnSpc>
                <a:spcPct val="130000"/>
              </a:lnSpc>
              <a:buNone/>
            </a:pPr>
            <a:r>
              <a:rPr lang="en-US" sz="1400" b="1" dirty="0">
                <a:solidFill>
                  <a:srgbClr val="3B3535"/>
                </a:solidFill>
                <a:latin typeface="Roboto Bold" pitchFamily="34" charset="0"/>
                <a:ea typeface="Roboto Bold" pitchFamily="34" charset="-122"/>
                <a:cs typeface="Roboto Bold" pitchFamily="34" charset="-120"/>
              </a:rPr>
              <a:t>¿Quién?</a:t>
            </a:r>
            <a:endParaRPr lang="en-US" sz="1400" dirty="0"/>
          </a:p>
        </p:txBody>
      </p:sp>
      <p:sp>
        <p:nvSpPr>
          <p:cNvPr id="20" name="Text 18"/>
          <p:cNvSpPr/>
          <p:nvPr/>
        </p:nvSpPr>
        <p:spPr>
          <a:xfrm>
            <a:off x="3564642" y="3395960"/>
            <a:ext cx="4260942"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OpenAI, Anthropic, Meta...</a:t>
            </a:r>
            <a:endParaRPr lang="en-US" sz="1400" dirty="0"/>
          </a:p>
        </p:txBody>
      </p:sp>
      <p:sp>
        <p:nvSpPr>
          <p:cNvPr id="21" name="Text 19"/>
          <p:cNvSpPr/>
          <p:nvPr/>
        </p:nvSpPr>
        <p:spPr>
          <a:xfrm>
            <a:off x="7581313" y="3395960"/>
            <a:ext cx="4372659"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Vos, al usar ChatGPT o Claude</a:t>
            </a:r>
            <a:endParaRPr lang="en-US" sz="1400" dirty="0"/>
          </a:p>
        </p:txBody>
      </p:sp>
      <p:sp>
        <p:nvSpPr>
          <p:cNvPr id="22" name="Shape 20"/>
          <p:cNvSpPr/>
          <p:nvPr/>
        </p:nvSpPr>
        <p:spPr>
          <a:xfrm>
            <a:off x="667825" y="3784699"/>
            <a:ext cx="10856046" cy="497384"/>
          </a:xfrm>
          <a:prstGeom prst="rect">
            <a:avLst/>
          </a:prstGeom>
          <a:solidFill>
            <a:srgbClr val="FFFFFF">
              <a:alpha val="4000"/>
            </a:srgbClr>
          </a:solidFill>
          <a:ln/>
        </p:spPr>
      </p:sp>
      <p:sp>
        <p:nvSpPr>
          <p:cNvPr id="23" name="Text 21"/>
          <p:cNvSpPr/>
          <p:nvPr/>
        </p:nvSpPr>
        <p:spPr>
          <a:xfrm>
            <a:off x="847505" y="3893344"/>
            <a:ext cx="2961407" cy="280095"/>
          </a:xfrm>
          <a:prstGeom prst="rect">
            <a:avLst/>
          </a:prstGeom>
          <a:noFill/>
          <a:ln/>
        </p:spPr>
        <p:txBody>
          <a:bodyPr wrap="none" lIns="0" tIns="0" rIns="0" bIns="0" rtlCol="0" anchor="t"/>
          <a:lstStyle/>
          <a:p>
            <a:pPr algn="l" indent="0" marL="0">
              <a:lnSpc>
                <a:spcPct val="130000"/>
              </a:lnSpc>
              <a:buNone/>
            </a:pPr>
            <a:r>
              <a:rPr lang="en-US" sz="1400" b="1" dirty="0">
                <a:solidFill>
                  <a:srgbClr val="3B3535"/>
                </a:solidFill>
                <a:latin typeface="Roboto Bold" pitchFamily="34" charset="0"/>
                <a:ea typeface="Roboto Bold" pitchFamily="34" charset="-122"/>
                <a:cs typeface="Roboto Bold" pitchFamily="34" charset="-120"/>
              </a:rPr>
              <a:t>Ejemplo</a:t>
            </a:r>
            <a:endParaRPr lang="en-US" sz="1400" dirty="0"/>
          </a:p>
        </p:txBody>
      </p:sp>
      <p:sp>
        <p:nvSpPr>
          <p:cNvPr id="24" name="Text 22"/>
          <p:cNvSpPr/>
          <p:nvPr/>
        </p:nvSpPr>
        <p:spPr>
          <a:xfrm>
            <a:off x="3564642" y="3893344"/>
            <a:ext cx="4260942"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Entrenar GPT-4</a:t>
            </a:r>
            <a:endParaRPr lang="en-US" sz="1400" dirty="0"/>
          </a:p>
        </p:txBody>
      </p:sp>
      <p:sp>
        <p:nvSpPr>
          <p:cNvPr id="25" name="Text 23"/>
          <p:cNvSpPr/>
          <p:nvPr/>
        </p:nvSpPr>
        <p:spPr>
          <a:xfrm>
            <a:off x="7581313" y="3893344"/>
            <a:ext cx="4372659"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Preguntarle "¿qué es NLP?"</a:t>
            </a:r>
            <a:endParaRPr lang="en-US" sz="1400" dirty="0"/>
          </a:p>
        </p:txBody>
      </p:sp>
      <p:sp>
        <p:nvSpPr>
          <p:cNvPr id="26" name="Shape 24"/>
          <p:cNvSpPr/>
          <p:nvPr/>
        </p:nvSpPr>
        <p:spPr>
          <a:xfrm>
            <a:off x="667825" y="4282083"/>
            <a:ext cx="10856046" cy="497384"/>
          </a:xfrm>
          <a:prstGeom prst="rect">
            <a:avLst/>
          </a:prstGeom>
          <a:solidFill>
            <a:srgbClr val="000000">
              <a:alpha val="4000"/>
            </a:srgbClr>
          </a:solidFill>
          <a:ln/>
        </p:spPr>
      </p:sp>
      <p:sp>
        <p:nvSpPr>
          <p:cNvPr id="27" name="Text 25"/>
          <p:cNvSpPr/>
          <p:nvPr/>
        </p:nvSpPr>
        <p:spPr>
          <a:xfrm>
            <a:off x="847505" y="4390727"/>
            <a:ext cx="2961407" cy="280095"/>
          </a:xfrm>
          <a:prstGeom prst="rect">
            <a:avLst/>
          </a:prstGeom>
          <a:noFill/>
          <a:ln/>
        </p:spPr>
        <p:txBody>
          <a:bodyPr wrap="none" lIns="0" tIns="0" rIns="0" bIns="0" rtlCol="0" anchor="t"/>
          <a:lstStyle/>
          <a:p>
            <a:pPr algn="l" indent="0" marL="0">
              <a:lnSpc>
                <a:spcPct val="130000"/>
              </a:lnSpc>
              <a:buNone/>
            </a:pPr>
            <a:r>
              <a:rPr lang="en-US" sz="1400" b="1" dirty="0">
                <a:solidFill>
                  <a:srgbClr val="3B3535"/>
                </a:solidFill>
                <a:latin typeface="Roboto Bold" pitchFamily="34" charset="0"/>
                <a:ea typeface="Roboto Bold" pitchFamily="34" charset="-122"/>
                <a:cs typeface="Roboto Bold" pitchFamily="34" charset="-120"/>
              </a:rPr>
              <a:t>Costo</a:t>
            </a:r>
            <a:endParaRPr lang="en-US" sz="1400" dirty="0"/>
          </a:p>
        </p:txBody>
      </p:sp>
      <p:sp>
        <p:nvSpPr>
          <p:cNvPr id="28" name="Text 26"/>
          <p:cNvSpPr/>
          <p:nvPr/>
        </p:nvSpPr>
        <p:spPr>
          <a:xfrm>
            <a:off x="3564642" y="4390727"/>
            <a:ext cx="4260942"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Millones de dólares, semanas</a:t>
            </a:r>
            <a:endParaRPr lang="en-US" sz="1400" dirty="0"/>
          </a:p>
        </p:txBody>
      </p:sp>
      <p:sp>
        <p:nvSpPr>
          <p:cNvPr id="29" name="Text 27"/>
          <p:cNvSpPr/>
          <p:nvPr/>
        </p:nvSpPr>
        <p:spPr>
          <a:xfrm>
            <a:off x="7581313" y="4390727"/>
            <a:ext cx="4372659"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Fracción de segundo por respuesta</a:t>
            </a:r>
            <a:endParaRPr lang="en-US" sz="1400" dirty="0"/>
          </a:p>
        </p:txBody>
      </p:sp>
      <p:sp>
        <p:nvSpPr>
          <p:cNvPr id="30" name="Shape 28"/>
          <p:cNvSpPr/>
          <p:nvPr/>
        </p:nvSpPr>
        <p:spPr>
          <a:xfrm>
            <a:off x="667825" y="4779466"/>
            <a:ext cx="10856046" cy="497384"/>
          </a:xfrm>
          <a:prstGeom prst="rect">
            <a:avLst/>
          </a:prstGeom>
          <a:solidFill>
            <a:srgbClr val="FFFFFF">
              <a:alpha val="4000"/>
            </a:srgbClr>
          </a:solidFill>
          <a:ln/>
        </p:spPr>
      </p:sp>
      <p:sp>
        <p:nvSpPr>
          <p:cNvPr id="31" name="Text 29"/>
          <p:cNvSpPr/>
          <p:nvPr/>
        </p:nvSpPr>
        <p:spPr>
          <a:xfrm>
            <a:off x="847505" y="4888111"/>
            <a:ext cx="2961407" cy="280095"/>
          </a:xfrm>
          <a:prstGeom prst="rect">
            <a:avLst/>
          </a:prstGeom>
          <a:noFill/>
          <a:ln/>
        </p:spPr>
        <p:txBody>
          <a:bodyPr wrap="none" lIns="0" tIns="0" rIns="0" bIns="0" rtlCol="0" anchor="t"/>
          <a:lstStyle/>
          <a:p>
            <a:pPr algn="l" indent="0" marL="0">
              <a:lnSpc>
                <a:spcPct val="130000"/>
              </a:lnSpc>
              <a:buNone/>
            </a:pPr>
            <a:r>
              <a:rPr lang="en-US" sz="1400" b="1" dirty="0">
                <a:solidFill>
                  <a:srgbClr val="3B3535"/>
                </a:solidFill>
                <a:latin typeface="Roboto Bold" pitchFamily="34" charset="0"/>
                <a:ea typeface="Roboto Bold" pitchFamily="34" charset="-122"/>
                <a:cs typeface="Roboto Bold" pitchFamily="34" charset="-120"/>
              </a:rPr>
              <a:t>Parámetros</a:t>
            </a:r>
            <a:endParaRPr lang="en-US" sz="1400" dirty="0"/>
          </a:p>
        </p:txBody>
      </p:sp>
      <p:sp>
        <p:nvSpPr>
          <p:cNvPr id="32" name="Text 30"/>
          <p:cNvSpPr/>
          <p:nvPr/>
        </p:nvSpPr>
        <p:spPr>
          <a:xfrm>
            <a:off x="3564642" y="4888111"/>
            <a:ext cx="4260942"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Se modifican constantemente</a:t>
            </a:r>
            <a:endParaRPr lang="en-US" sz="1400" dirty="0"/>
          </a:p>
        </p:txBody>
      </p:sp>
      <p:sp>
        <p:nvSpPr>
          <p:cNvPr id="33" name="Text 31"/>
          <p:cNvSpPr/>
          <p:nvPr/>
        </p:nvSpPr>
        <p:spPr>
          <a:xfrm>
            <a:off x="7581313" y="4888111"/>
            <a:ext cx="4372659" cy="280095"/>
          </a:xfrm>
          <a:prstGeom prst="rect">
            <a:avLst/>
          </a:prstGeom>
          <a:noFill/>
          <a:ln/>
        </p:spPr>
        <p:txBody>
          <a:bodyPr wrap="none" lIns="0" tIns="0" rIns="0" bIns="0" rtlCol="0" anchor="t"/>
          <a:lstStyle/>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Están congelados (no cambian)</a:t>
            </a:r>
            <a:endParaRPr lang="en-US" sz="1400" dirty="0"/>
          </a:p>
        </p:txBody>
      </p:sp>
      <p:sp>
        <p:nvSpPr>
          <p:cNvPr id="34" name="Text 32"/>
          <p:cNvSpPr/>
          <p:nvPr/>
        </p:nvSpPr>
        <p:spPr>
          <a:xfrm>
            <a:off x="661475" y="5475089"/>
            <a:ext cx="10868745" cy="752078"/>
          </a:xfrm>
          <a:prstGeom prst="rect">
            <a:avLst/>
          </a:prstGeom>
          <a:noFill/>
          <a:ln/>
        </p:spPr>
        <p:txBody>
          <a:bodyPr wrap="square" lIns="0" tIns="0" rIns="0" bIns="0" rtlCol="0" anchor="t"/>
          <a:lstStyle/>
          <a:p>
            <a:pPr algn="l" indent="0" marL="0">
              <a:lnSpc>
                <a:spcPct val="130000"/>
              </a:lnSpc>
              <a:spcAft>
                <a:spcPts val="1500"/>
              </a:spcAft>
              <a:buNone/>
            </a:pPr>
            <a:r>
              <a:rPr lang="en-US" sz="1400" dirty="0">
                <a:solidFill>
                  <a:srgbClr val="3B3535"/>
                </a:solidFill>
                <a:latin typeface="Roboto" pitchFamily="34" charset="0"/>
                <a:ea typeface="Roboto" pitchFamily="34" charset="-122"/>
                <a:cs typeface="Roboto" pitchFamily="34" charset="-120"/>
              </a:rPr>
              <a:t>Cuando usás ChatGPT, el modelo no está aprendiendo de tu conversación. Los parámetros ya están fijos. Solo está haciendo inference.</a:t>
            </a:r>
            <a:endParaRPr lang="en-US" sz="1400" dirty="0"/>
          </a:p>
          <a:p>
            <a:pPr algn="l" indent="0" marL="0">
              <a:lnSpc>
                <a:spcPct val="130000"/>
              </a:lnSpc>
              <a:buNone/>
            </a:pPr>
            <a:r>
              <a:rPr lang="en-US" sz="1400" dirty="0">
                <a:solidFill>
                  <a:srgbClr val="3B3535"/>
                </a:solidFill>
                <a:latin typeface="Roboto" pitchFamily="34" charset="0"/>
                <a:ea typeface="Roboto" pitchFamily="34" charset="-122"/>
                <a:cs typeface="Roboto" pitchFamily="34" charset="-120"/>
              </a:rPr>
              <a:t>Entrenar un modelo grande requiere billones de palabras y miles de GPUs durante semanas. Por eso muy pocas empresas lo hacen.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2026-08-14T16:22:26Z</dcterms:created>
  <dcterms:modified xsi:type="dcterms:W3CDTF">2026-08-14T16:22:26Z</dcterms:modified>
</cp:coreProperties>
</file>