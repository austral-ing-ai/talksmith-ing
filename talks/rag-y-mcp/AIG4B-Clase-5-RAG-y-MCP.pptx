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1695" cy="6858000"/>
  <p:notesSz cx="6858000" cy="12191695"/>
  <p:embeddedFontLst>
    <p:embeddedFont>
      <p:font typeface="Roboto"/>
      <p:regular r:id="rId201314"/>
    </p:embeddedFont>
    <p:embeddedFont>
      <p:font typeface="Roboto Medium"/>
      <p:regular r:id="rId201315"/>
    </p:embeddedFont>
    <p:embeddedFont>
      <p:font typeface="Roboto Bold"/>
      <p:regular r:id="rId201316"/>
    </p:embeddedFont>
    <p:embeddedFont>
      <p:font typeface="Roboto Mono"/>
      <p:regular r:id="rId201317"/>
    </p:embeddedFont>
    <p:embeddedFont>
      <p:font typeface="Roboto Mono Medium"/>
      <p:regular r:id="rId201318"/>
    </p:embeddedFont>
    <p:embeddedFont>
      <p:font typeface="Roboto Mono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aitutorial.dev/rag/fundamentals" TargetMode="External"/><Relationship Id="rId1"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4-7.pn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slideLayout" Target="../slideLayouts/slideLayout2.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aitutorial.dev/rag/fundamentals" TargetMode="External"/><Relationship Id="rId1"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slideLayout" Target="../slideLayouts/slideLayout2.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1.png"/><Relationship Id="rId6" Type="http://schemas.openxmlformats.org/officeDocument/2006/relationships/image" Target="../media/image-14-2.svg"/><Relationship Id="rId7" Type="http://schemas.openxmlformats.org/officeDocument/2006/relationships/image" Target="../media/image-14-7.png"/><Relationship Id="rId8" Type="http://schemas.openxmlformats.org/officeDocument/2006/relationships/slideLayout" Target="../slideLayouts/slideLayout2.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1.png"/><Relationship Id="rId4" Type="http://schemas.openxmlformats.org/officeDocument/2006/relationships/image" Target="../media/image-15-2.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aitutorial.dev/rag/fundamentals" TargetMode="External"/><Relationship Id="rId1"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1.png"/><Relationship Id="rId4" Type="http://schemas.openxmlformats.org/officeDocument/2006/relationships/image" Target="../media/image-18-2.svg"/><Relationship Id="rId5" Type="http://schemas.openxmlformats.org/officeDocument/2006/relationships/image" Target="../media/image-18-1.png"/><Relationship Id="rId6" Type="http://schemas.openxmlformats.org/officeDocument/2006/relationships/image" Target="../media/image-18-2.svg"/><Relationship Id="rId7" Type="http://schemas.openxmlformats.org/officeDocument/2006/relationships/image" Target="../media/image-18-7.png"/><Relationship Id="rId8" Type="http://schemas.openxmlformats.org/officeDocument/2006/relationships/slideLayout" Target="../slideLayouts/slideLayout2.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1.png"/><Relationship Id="rId4" Type="http://schemas.openxmlformats.org/officeDocument/2006/relationships/image" Target="../media/image-19-2.svg"/><Relationship Id="rId5" Type="http://schemas.openxmlformats.org/officeDocument/2006/relationships/image" Target="../media/image-19-1.png"/><Relationship Id="rId6" Type="http://schemas.openxmlformats.org/officeDocument/2006/relationships/image" Target="../media/image-19-2.svg"/><Relationship Id="rId7" Type="http://schemas.openxmlformats.org/officeDocument/2006/relationships/image" Target="../media/image-13-1.png"/><Relationship Id="rId8" Type="http://schemas.openxmlformats.org/officeDocument/2006/relationships/slideLayout" Target="../slideLayouts/slideLayout2.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image" Target="../media/image-20-1.png"/><Relationship Id="rId4" Type="http://schemas.openxmlformats.org/officeDocument/2006/relationships/image" Target="../media/image-20-1.png"/><Relationship Id="rId5" Type="http://schemas.openxmlformats.org/officeDocument/2006/relationships/image" Target="../media/image-20-5.png"/><Relationship Id="rId6" Type="http://schemas.openxmlformats.org/officeDocument/2006/relationships/slideLayout" Target="../slideLayouts/slideLayout2.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aitutorial.dev/rag/fundamentals" TargetMode="External"/><Relationship Id="rId1"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13-1.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image" Target="../media/image-24-4.svg"/><Relationship Id="rId5" Type="http://schemas.openxmlformats.org/officeDocument/2006/relationships/image" Target="../media/image-24-5.png"/><Relationship Id="rId6" Type="http://schemas.openxmlformats.org/officeDocument/2006/relationships/image" Target="../media/image-24-6.sv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1.png"/><Relationship Id="rId4" Type="http://schemas.openxmlformats.org/officeDocument/2006/relationships/image" Target="../media/image-26-2.svg"/><Relationship Id="rId5" Type="http://schemas.openxmlformats.org/officeDocument/2006/relationships/image" Target="../media/image-26-1.png"/><Relationship Id="rId6" Type="http://schemas.openxmlformats.org/officeDocument/2006/relationships/image" Target="../media/image-26-2.svg"/><Relationship Id="rId7" Type="http://schemas.openxmlformats.org/officeDocument/2006/relationships/image" Target="../media/image-26-1.png"/><Relationship Id="rId8" Type="http://schemas.openxmlformats.org/officeDocument/2006/relationships/image" Target="../media/image-26-2.svg"/><Relationship Id="rId9" Type="http://schemas.openxmlformats.org/officeDocument/2006/relationships/image" Target="../media/image-26-1.png"/><Relationship Id="rId10" Type="http://schemas.openxmlformats.org/officeDocument/2006/relationships/image" Target="../media/image-26-2.svg"/><Relationship Id="rId11" Type="http://schemas.openxmlformats.org/officeDocument/2006/relationships/image" Target="../media/image-26-1.png"/><Relationship Id="rId12" Type="http://schemas.openxmlformats.org/officeDocument/2006/relationships/image" Target="../media/image-26-2.svg"/><Relationship Id="rId13" Type="http://schemas.openxmlformats.org/officeDocument/2006/relationships/image" Target="../media/image-14-7.png"/><Relationship Id="rId14" Type="http://schemas.openxmlformats.org/officeDocument/2006/relationships/slideLayout" Target="../slideLayouts/slideLayout2.xml"/><Relationship Id="rId1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image" Target="../media/image-27-1.png"/><Relationship Id="rId4" Type="http://schemas.openxmlformats.org/officeDocument/2006/relationships/image" Target="../media/image-27-1.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image" Target="../media/image-28-1.png"/><Relationship Id="rId4" Type="http://schemas.openxmlformats.org/officeDocument/2006/relationships/image" Target="../media/image-28-2.svg"/><Relationship Id="rId5" Type="http://schemas.openxmlformats.org/officeDocument/2006/relationships/image" Target="../media/image-28-1.png"/><Relationship Id="rId6" Type="http://schemas.openxmlformats.org/officeDocument/2006/relationships/image" Target="../media/image-28-2.svg"/><Relationship Id="rId7" Type="http://schemas.openxmlformats.org/officeDocument/2006/relationships/image" Target="../media/image-28-1.png"/><Relationship Id="rId8" Type="http://schemas.openxmlformats.org/officeDocument/2006/relationships/image" Target="../media/image-28-2.svg"/><Relationship Id="rId9" Type="http://schemas.openxmlformats.org/officeDocument/2006/relationships/image" Target="../media/image-28-1.png"/><Relationship Id="rId10" Type="http://schemas.openxmlformats.org/officeDocument/2006/relationships/image" Target="../media/image-28-2.svg"/><Relationship Id="rId11" Type="http://schemas.openxmlformats.org/officeDocument/2006/relationships/image" Target="../media/image-28-1.png"/><Relationship Id="rId12" Type="http://schemas.openxmlformats.org/officeDocument/2006/relationships/image" Target="../media/image-28-2.svg"/><Relationship Id="rId13" Type="http://schemas.openxmlformats.org/officeDocument/2006/relationships/image" Target="../media/image-20-5.png"/><Relationship Id="rId14" Type="http://schemas.openxmlformats.org/officeDocument/2006/relationships/slideLayout" Target="../slideLayouts/slideLayout2.xml"/><Relationship Id="rId1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hyperlink" Target="https://aitutorial.dev/rag/reranking" TargetMode="External"/><Relationship Id="rId1"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image" Target="../media/image-35-1.png"/><Relationship Id="rId4" Type="http://schemas.openxmlformats.org/officeDocument/2006/relationships/image" Target="../media/image-35-2.svg"/><Relationship Id="rId5" Type="http://schemas.openxmlformats.org/officeDocument/2006/relationships/image" Target="../media/image-35-1.png"/><Relationship Id="rId6" Type="http://schemas.openxmlformats.org/officeDocument/2006/relationships/image" Target="../media/image-35-2.svg"/><Relationship Id="rId7" Type="http://schemas.openxmlformats.org/officeDocument/2006/relationships/slideLayout" Target="../slideLayouts/slideLayout2.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image" Target="../media/image-37-1.png"/><Relationship Id="rId4" Type="http://schemas.openxmlformats.org/officeDocument/2006/relationships/image" Target="../media/image-37-2.svg"/><Relationship Id="rId5" Type="http://schemas.openxmlformats.org/officeDocument/2006/relationships/image" Target="../media/image-37-1.png"/><Relationship Id="rId6" Type="http://schemas.openxmlformats.org/officeDocument/2006/relationships/image" Target="../media/image-37-2.svg"/><Relationship Id="rId7" Type="http://schemas.openxmlformats.org/officeDocument/2006/relationships/image" Target="../media/image-37-1.png"/><Relationship Id="rId8" Type="http://schemas.openxmlformats.org/officeDocument/2006/relationships/image" Target="../media/image-37-2.svg"/><Relationship Id="rId9" Type="http://schemas.openxmlformats.org/officeDocument/2006/relationships/slideLayout" Target="../slideLayouts/slideLayout2.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image" Target="../media/image-38-1.png"/><Relationship Id="rId4" Type="http://schemas.openxmlformats.org/officeDocument/2006/relationships/image" Target="../media/image-38-2.svg"/><Relationship Id="rId5" Type="http://schemas.openxmlformats.org/officeDocument/2006/relationships/image" Target="../media/image-38-1.png"/><Relationship Id="rId6" Type="http://schemas.openxmlformats.org/officeDocument/2006/relationships/image" Target="../media/image-38-2.sv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image" Target="../media/image-42-3.png"/><Relationship Id="rId4" Type="http://schemas.openxmlformats.org/officeDocument/2006/relationships/image" Target="../media/image-42-4.svg"/><Relationship Id="rId5" Type="http://schemas.openxmlformats.org/officeDocument/2006/relationships/image" Target="../media/image-9-3.png"/><Relationship Id="rId6" Type="http://schemas.openxmlformats.org/officeDocument/2006/relationships/image" Target="../media/image-9-4.svg"/><Relationship Id="rId7" Type="http://schemas.openxmlformats.org/officeDocument/2006/relationships/slideLayout" Target="../slideLayouts/slideLayout2.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svg"/><Relationship Id="rId3" Type="http://schemas.openxmlformats.org/officeDocument/2006/relationships/image" Target="../media/image-49-3.png"/><Relationship Id="rId4" Type="http://schemas.openxmlformats.org/officeDocument/2006/relationships/image" Target="../media/image-49-4.svg"/><Relationship Id="rId5" Type="http://schemas.openxmlformats.org/officeDocument/2006/relationships/image" Target="../media/image-49-5.png"/><Relationship Id="rId6" Type="http://schemas.openxmlformats.org/officeDocument/2006/relationships/image" Target="../media/image-49-6.svg"/><Relationship Id="rId7" Type="http://schemas.openxmlformats.org/officeDocument/2006/relationships/image" Target="../media/image-49-7.png"/><Relationship Id="rId8" Type="http://schemas.openxmlformats.org/officeDocument/2006/relationships/image" Target="../media/image-49-8.svg"/><Relationship Id="rId9" Type="http://schemas.openxmlformats.org/officeDocument/2006/relationships/slideLayout" Target="../slideLayouts/slideLayout2.xml"/><Relationship Id="rId10"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20-5.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2" Type="http://schemas.openxmlformats.org/officeDocument/2006/relationships/hyperlink" Target="https://localhost:3000/agents/model-context-protocol#from-hardcoded-tools-to-mcp" TargetMode="External"/><Relationship Id="rId1"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20-5.png"/><Relationship Id="rId3" Type="http://schemas.openxmlformats.org/officeDocument/2006/relationships/slideLayout" Target="../slideLayouts/slideLayout2.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4" Type="http://schemas.openxmlformats.org/officeDocument/2006/relationships/hyperlink" Target="https://github.com/modelcontextprotocol/servers" TargetMode="External"/><Relationship Id="rId15" Type="http://schemas.openxmlformats.org/officeDocument/2006/relationships/hyperlink" Target="https://claudemcp.org" TargetMode="External"/><Relationship Id="rId16" Type="http://schemas.openxmlformats.org/officeDocument/2006/relationships/hyperlink" Target="https://skillsplayground.com/guides/mcp-servers" TargetMode="External"/><Relationship Id="rId17" Type="http://schemas.openxmlformats.org/officeDocument/2006/relationships/hyperlink" Target="https://mcp.so" TargetMode="External"/><Relationship Id="rId1" Type="http://schemas.openxmlformats.org/officeDocument/2006/relationships/image" Target="../media/image-55-1.png"/><Relationship Id="rId2" Type="http://schemas.openxmlformats.org/officeDocument/2006/relationships/image" Target="../media/image-55-2.svg"/><Relationship Id="rId3" Type="http://schemas.openxmlformats.org/officeDocument/2006/relationships/image" Target="../media/image-55-3.png"/><Relationship Id="rId4" Type="http://schemas.openxmlformats.org/officeDocument/2006/relationships/image" Target="../media/image-55-4.svg"/><Relationship Id="rId5" Type="http://schemas.openxmlformats.org/officeDocument/2006/relationships/image" Target="../media/image-55-5.png"/><Relationship Id="rId6" Type="http://schemas.openxmlformats.org/officeDocument/2006/relationships/image" Target="../media/image-55-6.svg"/><Relationship Id="rId7" Type="http://schemas.openxmlformats.org/officeDocument/2006/relationships/image" Target="../media/image-55-7.png"/><Relationship Id="rId8" Type="http://schemas.openxmlformats.org/officeDocument/2006/relationships/image" Target="../media/image-55-8.svg"/><Relationship Id="rId9" Type="http://schemas.openxmlformats.org/officeDocument/2006/relationships/image" Target="../media/image-55-9.png"/><Relationship Id="rId10" Type="http://schemas.openxmlformats.org/officeDocument/2006/relationships/image" Target="../media/image-55-10.svg"/><Relationship Id="rId11" Type="http://schemas.openxmlformats.org/officeDocument/2006/relationships/image" Target="../media/image-55-11.png"/><Relationship Id="rId12" Type="http://schemas.openxmlformats.org/officeDocument/2006/relationships/image" Target="../media/image-55-12.svg"/><Relationship Id="rId13" Type="http://schemas.openxmlformats.org/officeDocument/2006/relationships/image" Target="../media/image-14-7.png"/><Relationship Id="rId18" Type="http://schemas.openxmlformats.org/officeDocument/2006/relationships/slideLayout" Target="../slideLayouts/slideLayout2.xml"/><Relationship Id="rId19"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hyperlink" Target="https://aitutorial.dev/agents/tool-selection-and-optimization" TargetMode="External"/><Relationship Id="rId1" Type="http://schemas.openxmlformats.org/officeDocument/2006/relationships/image" Target="../media/image-57-1.png"/><Relationship Id="rId2" Type="http://schemas.openxmlformats.org/officeDocument/2006/relationships/image" Target="../media/image-15-5.png"/><Relationship Id="rId4" Type="http://schemas.openxmlformats.org/officeDocument/2006/relationships/slideLayout" Target="../slideLayouts/slideLayout2.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14-7.png"/><Relationship Id="rId2" Type="http://schemas.openxmlformats.org/officeDocument/2006/relationships/image" Target="../media/image-14-7.png"/><Relationship Id="rId3" Type="http://schemas.openxmlformats.org/officeDocument/2006/relationships/slideLayout" Target="../slideLayouts/slideLayout2.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image" Target="../media/image-42-3.png"/><Relationship Id="rId4" Type="http://schemas.openxmlformats.org/officeDocument/2006/relationships/image" Target="../media/image-42-4.svg"/><Relationship Id="rId5" Type="http://schemas.openxmlformats.org/officeDocument/2006/relationships/image" Target="../media/image-9-3.png"/><Relationship Id="rId6" Type="http://schemas.openxmlformats.org/officeDocument/2006/relationships/image" Target="../media/image-9-4.svg"/><Relationship Id="rId7" Type="http://schemas.openxmlformats.org/officeDocument/2006/relationships/slideLayout" Target="../slideLayouts/slideLayout2.xml"/><Relationship Id="rId8"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220391"/>
            <a:ext cx="10868745" cy="2139553"/>
          </a:xfrm>
          <a:prstGeom prst="rect">
            <a:avLst/>
          </a:prstGeom>
          <a:noFill/>
          <a:ln/>
        </p:spPr>
        <p:txBody>
          <a:bodyPr wrap="square" lIns="0" tIns="0" rIns="0" bIns="0" rtlCol="0" anchor="t">
            <a:normAutofit/>
          </a:bodyPr>
          <a:lstStyle/>
          <a:p>
            <a:pPr algn="l" indent="0" marL="0">
              <a:lnSpc>
                <a:spcPct val="104000"/>
              </a:lnSpc>
              <a:buNone/>
            </a:pPr>
            <a:r>
              <a:rPr lang="en-US" sz="4450" dirty="0">
                <a:solidFill>
                  <a:srgbClr val="1F1E1E"/>
                </a:solidFill>
                <a:latin typeface="Roboto Mono Medium" pitchFamily="34" charset="0"/>
                <a:ea typeface="Roboto Mono Medium" pitchFamily="34" charset="-122"/>
                <a:cs typeface="Roboto Mono Medium" pitchFamily="34" charset="-120"/>
              </a:rPr>
              <a:t>Inteligencia Artificial Generativa Aplicada en Biomedicina</a:t>
            </a:r>
            <a:endParaRPr lang="en-US" sz="4450" dirty="0"/>
          </a:p>
        </p:txBody>
      </p:sp>
      <p:sp>
        <p:nvSpPr>
          <p:cNvPr id="3" name="Text 1"/>
          <p:cNvSpPr/>
          <p:nvPr/>
        </p:nvSpPr>
        <p:spPr>
          <a:xfrm>
            <a:off x="661475" y="3607991"/>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Clase 5: Retrieval-Augmented Generation (RAG) &amp; Model Context Protocol (MCP)</a:t>
            </a:r>
            <a:endParaRPr lang="en-US" sz="1600" dirty="0"/>
          </a:p>
        </p:txBody>
      </p:sp>
      <p:sp>
        <p:nvSpPr>
          <p:cNvPr id="4" name="Text 2"/>
          <p:cNvSpPr/>
          <p:nvPr/>
        </p:nvSpPr>
        <p:spPr>
          <a:xfrm>
            <a:off x="661475" y="4263330"/>
            <a:ext cx="4443599" cy="678061"/>
          </a:xfrm>
          <a:prstGeom prst="rect">
            <a:avLst/>
          </a:prstGeom>
          <a:noFill/>
          <a:ln/>
        </p:spPr>
        <p:txBody>
          <a:bodyPr wrap="square" lIns="0" tIns="0" rIns="0" bIns="0" rtlCol="0" anchor="t"/>
          <a:lstStyle/>
          <a:p>
            <a:pPr algn="l" indent="0" marL="0">
              <a:lnSpc>
                <a:spcPct val="133000"/>
              </a:lnSpc>
              <a:spcAft>
                <a:spcPts val="1150"/>
              </a:spcAft>
              <a:buNone/>
            </a:pPr>
            <a:r>
              <a:rPr lang="en-US" sz="1300" dirty="0">
                <a:solidFill>
                  <a:srgbClr val="3B3535"/>
                </a:solidFill>
                <a:latin typeface="Roboto" pitchFamily="34" charset="0"/>
                <a:ea typeface="Roboto" pitchFamily="34" charset="-122"/>
                <a:cs typeface="Roboto" pitchFamily="34" charset="-120"/>
              </a:rPr>
              <a:t>Autor: Paulo Veiga / Marcos Sanchez Sorondo</a:t>
            </a:r>
            <a:endParaRPr lang="en-US" sz="1300" dirty="0"/>
          </a:p>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Última Modificación: Abril, 2026</a:t>
            </a:r>
            <a:endParaRPr lang="en-US" sz="1300" dirty="0"/>
          </a:p>
        </p:txBody>
      </p:sp>
      <p:pic>
        <p:nvPicPr>
          <p:cNvPr id="5" name="Image 0" descr="preencoded.png">    </p:cNvPr>
          <p:cNvPicPr>
            <a:picLocks noChangeAspect="1"/>
          </p:cNvPicPr>
          <p:nvPr/>
        </p:nvPicPr>
        <p:blipFill>
          <a:blip r:embed="rId1"/>
          <a:stretch>
            <a:fillRect/>
          </a:stretch>
        </p:blipFill>
        <p:spPr>
          <a:xfrm>
            <a:off x="10143772" y="4300538"/>
            <a:ext cx="1392699" cy="11510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628055"/>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oboto Mono Medium" pitchFamily="34" charset="0"/>
                <a:ea typeface="Roboto Mono Medium" pitchFamily="34" charset="-122"/>
                <a:cs typeface="Roboto Mono Medium" pitchFamily="34" charset="-120"/>
              </a:rPr>
              <a:t>Agenda</a:t>
            </a:r>
            <a:endParaRPr lang="en-US" sz="2400" dirty="0"/>
          </a:p>
        </p:txBody>
      </p:sp>
      <p:sp>
        <p:nvSpPr>
          <p:cNvPr id="3" name="Shape 1"/>
          <p:cNvSpPr/>
          <p:nvPr/>
        </p:nvSpPr>
        <p:spPr>
          <a:xfrm>
            <a:off x="800973" y="1201738"/>
            <a:ext cx="12700" cy="5028109"/>
          </a:xfrm>
          <a:prstGeom prst="roundRect">
            <a:avLst>
              <a:gd name="adj" fmla="val 49999"/>
            </a:avLst>
          </a:prstGeom>
          <a:solidFill>
            <a:srgbClr val="D8D4D4"/>
          </a:solidFill>
          <a:ln/>
        </p:spPr>
      </p:sp>
      <p:sp>
        <p:nvSpPr>
          <p:cNvPr id="4" name="Shape 2"/>
          <p:cNvSpPr/>
          <p:nvPr/>
        </p:nvSpPr>
        <p:spPr>
          <a:xfrm>
            <a:off x="927821" y="1334889"/>
            <a:ext cx="372061" cy="12700"/>
          </a:xfrm>
          <a:prstGeom prst="roundRect">
            <a:avLst>
              <a:gd name="adj" fmla="val 49999"/>
            </a:avLst>
          </a:prstGeom>
          <a:solidFill>
            <a:srgbClr val="F33447"/>
          </a:solidFill>
          <a:ln/>
        </p:spPr>
      </p:sp>
      <p:sp>
        <p:nvSpPr>
          <p:cNvPr id="5" name="Shape 3"/>
          <p:cNvSpPr/>
          <p:nvPr/>
        </p:nvSpPr>
        <p:spPr>
          <a:xfrm>
            <a:off x="661425" y="1201738"/>
            <a:ext cx="279095" cy="279102"/>
          </a:xfrm>
          <a:prstGeom prst="roundRect">
            <a:avLst>
              <a:gd name="adj" fmla="val 2730"/>
            </a:avLst>
          </a:prstGeom>
          <a:solidFill>
            <a:srgbClr val="DA1B2E"/>
          </a:solidFill>
          <a:ln w="6350">
            <a:solidFill>
              <a:srgbClr val="F33447"/>
            </a:solidFill>
            <a:prstDash val="solid"/>
          </a:ln>
        </p:spPr>
      </p:sp>
      <p:sp>
        <p:nvSpPr>
          <p:cNvPr id="6" name="Text 4"/>
          <p:cNvSpPr/>
          <p:nvPr/>
        </p:nvSpPr>
        <p:spPr>
          <a:xfrm>
            <a:off x="707908" y="122495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Roboto Mono Medium" pitchFamily="34" charset="0"/>
                <a:ea typeface="Roboto Mono Medium" pitchFamily="34" charset="-122"/>
                <a:cs typeface="Roboto Mono Medium" pitchFamily="34" charset="-120"/>
              </a:rPr>
              <a:t>1</a:t>
            </a:r>
            <a:endParaRPr lang="en-US" sz="1450" dirty="0"/>
          </a:p>
        </p:txBody>
      </p:sp>
      <p:sp>
        <p:nvSpPr>
          <p:cNvPr id="7" name="Text 5"/>
          <p:cNvSpPr/>
          <p:nvPr/>
        </p:nvSpPr>
        <p:spPr>
          <a:xfrm>
            <a:off x="1421174" y="124430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Fundamentos</a:t>
            </a:r>
            <a:endParaRPr lang="en-US" sz="1200" dirty="0"/>
          </a:p>
        </p:txBody>
      </p:sp>
      <p:sp>
        <p:nvSpPr>
          <p:cNvPr id="8" name="Text 6"/>
          <p:cNvSpPr/>
          <p:nvPr/>
        </p:nvSpPr>
        <p:spPr>
          <a:xfrm>
            <a:off x="1421174" y="1493838"/>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RAG, por qué lo necesitamos y arquitectura básica.</a:t>
            </a:r>
            <a:endParaRPr lang="en-US" sz="950" dirty="0"/>
          </a:p>
        </p:txBody>
      </p:sp>
      <p:sp>
        <p:nvSpPr>
          <p:cNvPr id="9" name="Shape 7"/>
          <p:cNvSpPr/>
          <p:nvPr/>
        </p:nvSpPr>
        <p:spPr>
          <a:xfrm>
            <a:off x="927821" y="1986657"/>
            <a:ext cx="372061" cy="12700"/>
          </a:xfrm>
          <a:prstGeom prst="roundRect">
            <a:avLst>
              <a:gd name="adj" fmla="val 49999"/>
            </a:avLst>
          </a:prstGeom>
          <a:solidFill>
            <a:srgbClr val="D8D4D4"/>
          </a:solidFill>
          <a:ln/>
        </p:spPr>
      </p:sp>
      <p:sp>
        <p:nvSpPr>
          <p:cNvPr id="10" name="Shape 8"/>
          <p:cNvSpPr/>
          <p:nvPr/>
        </p:nvSpPr>
        <p:spPr>
          <a:xfrm>
            <a:off x="661425" y="1853505"/>
            <a:ext cx="279095" cy="279102"/>
          </a:xfrm>
          <a:prstGeom prst="roundRect">
            <a:avLst>
              <a:gd name="adj" fmla="val 2730"/>
            </a:avLst>
          </a:prstGeom>
          <a:solidFill>
            <a:srgbClr val="F2EEEE"/>
          </a:solidFill>
          <a:ln w="6350">
            <a:solidFill>
              <a:srgbClr val="D8D4D4"/>
            </a:solidFill>
            <a:prstDash val="solid"/>
          </a:ln>
        </p:spPr>
      </p:sp>
      <p:sp>
        <p:nvSpPr>
          <p:cNvPr id="11" name="Text 9"/>
          <p:cNvSpPr/>
          <p:nvPr/>
        </p:nvSpPr>
        <p:spPr>
          <a:xfrm>
            <a:off x="707908" y="187672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2</a:t>
            </a:r>
            <a:endParaRPr lang="en-US" sz="1450" dirty="0"/>
          </a:p>
        </p:txBody>
      </p:sp>
      <p:sp>
        <p:nvSpPr>
          <p:cNvPr id="12" name="Text 10"/>
          <p:cNvSpPr/>
          <p:nvPr/>
        </p:nvSpPr>
        <p:spPr>
          <a:xfrm>
            <a:off x="1421174" y="189607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Búsqueda y Recuperación</a:t>
            </a:r>
            <a:endParaRPr lang="en-US" sz="1200" dirty="0"/>
          </a:p>
        </p:txBody>
      </p:sp>
      <p:sp>
        <p:nvSpPr>
          <p:cNvPr id="13" name="Text 11"/>
          <p:cNvSpPr/>
          <p:nvPr/>
        </p:nvSpPr>
        <p:spPr>
          <a:xfrm>
            <a:off x="1421174" y="214560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Búsqueda vectorial, léxica, semántica e híbrida. Bases de datos y flujo completo.</a:t>
            </a:r>
            <a:endParaRPr lang="en-US" sz="950" dirty="0"/>
          </a:p>
        </p:txBody>
      </p:sp>
      <p:sp>
        <p:nvSpPr>
          <p:cNvPr id="14" name="Shape 12"/>
          <p:cNvSpPr/>
          <p:nvPr/>
        </p:nvSpPr>
        <p:spPr>
          <a:xfrm>
            <a:off x="927821" y="2638425"/>
            <a:ext cx="372061" cy="12700"/>
          </a:xfrm>
          <a:prstGeom prst="roundRect">
            <a:avLst>
              <a:gd name="adj" fmla="val 49999"/>
            </a:avLst>
          </a:prstGeom>
          <a:solidFill>
            <a:srgbClr val="D8D4D4"/>
          </a:solidFill>
          <a:ln/>
        </p:spPr>
      </p:sp>
      <p:sp>
        <p:nvSpPr>
          <p:cNvPr id="15" name="Shape 13"/>
          <p:cNvSpPr/>
          <p:nvPr/>
        </p:nvSpPr>
        <p:spPr>
          <a:xfrm>
            <a:off x="661425" y="2505273"/>
            <a:ext cx="279095" cy="279102"/>
          </a:xfrm>
          <a:prstGeom prst="roundRect">
            <a:avLst>
              <a:gd name="adj" fmla="val 2730"/>
            </a:avLst>
          </a:prstGeom>
          <a:solidFill>
            <a:srgbClr val="F2EEEE"/>
          </a:solidFill>
          <a:ln w="6350">
            <a:solidFill>
              <a:srgbClr val="D8D4D4"/>
            </a:solidFill>
            <a:prstDash val="solid"/>
          </a:ln>
        </p:spPr>
      </p:sp>
      <p:sp>
        <p:nvSpPr>
          <p:cNvPr id="16" name="Text 14"/>
          <p:cNvSpPr/>
          <p:nvPr/>
        </p:nvSpPr>
        <p:spPr>
          <a:xfrm>
            <a:off x="707908" y="2528491"/>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3</a:t>
            </a:r>
            <a:endParaRPr lang="en-US" sz="1450" dirty="0"/>
          </a:p>
        </p:txBody>
      </p:sp>
      <p:sp>
        <p:nvSpPr>
          <p:cNvPr id="17" name="Text 15"/>
          <p:cNvSpPr/>
          <p:nvPr/>
        </p:nvSpPr>
        <p:spPr>
          <a:xfrm>
            <a:off x="1421174" y="254783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Reranking y Precisión</a:t>
            </a:r>
            <a:endParaRPr lang="en-US" sz="1200" dirty="0"/>
          </a:p>
        </p:txBody>
      </p:sp>
      <p:sp>
        <p:nvSpPr>
          <p:cNvPr id="18" name="Text 16"/>
          <p:cNvSpPr/>
          <p:nvPr/>
        </p:nvSpPr>
        <p:spPr>
          <a:xfrm>
            <a:off x="1421174" y="279737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Recuperación en dos etapas, cross-encoders, Reciprocal Rank Fusion y optimización de precisión.</a:t>
            </a:r>
            <a:endParaRPr lang="en-US" sz="950" dirty="0"/>
          </a:p>
        </p:txBody>
      </p:sp>
      <p:sp>
        <p:nvSpPr>
          <p:cNvPr id="19" name="Shape 17"/>
          <p:cNvSpPr/>
          <p:nvPr/>
        </p:nvSpPr>
        <p:spPr>
          <a:xfrm>
            <a:off x="927821" y="3290193"/>
            <a:ext cx="372061" cy="12700"/>
          </a:xfrm>
          <a:prstGeom prst="roundRect">
            <a:avLst>
              <a:gd name="adj" fmla="val 49999"/>
            </a:avLst>
          </a:prstGeom>
          <a:solidFill>
            <a:srgbClr val="D8D4D4"/>
          </a:solidFill>
          <a:ln/>
        </p:spPr>
      </p:sp>
      <p:sp>
        <p:nvSpPr>
          <p:cNvPr id="20" name="Shape 18"/>
          <p:cNvSpPr/>
          <p:nvPr/>
        </p:nvSpPr>
        <p:spPr>
          <a:xfrm>
            <a:off x="661425" y="3157041"/>
            <a:ext cx="279095" cy="279102"/>
          </a:xfrm>
          <a:prstGeom prst="roundRect">
            <a:avLst>
              <a:gd name="adj" fmla="val 2730"/>
            </a:avLst>
          </a:prstGeom>
          <a:solidFill>
            <a:srgbClr val="F2EEEE"/>
          </a:solidFill>
          <a:ln w="6350">
            <a:solidFill>
              <a:srgbClr val="D8D4D4"/>
            </a:solidFill>
            <a:prstDash val="solid"/>
          </a:ln>
        </p:spPr>
      </p:sp>
      <p:sp>
        <p:nvSpPr>
          <p:cNvPr id="21" name="Text 19"/>
          <p:cNvSpPr/>
          <p:nvPr/>
        </p:nvSpPr>
        <p:spPr>
          <a:xfrm>
            <a:off x="707908" y="3180259"/>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4</a:t>
            </a:r>
            <a:endParaRPr lang="en-US" sz="1450" dirty="0"/>
          </a:p>
        </p:txBody>
      </p:sp>
      <p:sp>
        <p:nvSpPr>
          <p:cNvPr id="22" name="Text 20"/>
          <p:cNvSpPr/>
          <p:nvPr/>
        </p:nvSpPr>
        <p:spPr>
          <a:xfrm>
            <a:off x="1421174" y="3199606"/>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Chunking y Metadatos</a:t>
            </a:r>
            <a:endParaRPr lang="en-US" sz="1200" dirty="0"/>
          </a:p>
        </p:txBody>
      </p:sp>
      <p:sp>
        <p:nvSpPr>
          <p:cNvPr id="23" name="Text 21"/>
          <p:cNvSpPr/>
          <p:nvPr/>
        </p:nvSpPr>
        <p:spPr>
          <a:xfrm>
            <a:off x="1421174" y="3449141"/>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Fragmentación de documentos, estrategias de chunking y metadatos esenciales.</a:t>
            </a:r>
            <a:endParaRPr lang="en-US" sz="950" dirty="0"/>
          </a:p>
        </p:txBody>
      </p:sp>
      <p:sp>
        <p:nvSpPr>
          <p:cNvPr id="24" name="Shape 22"/>
          <p:cNvSpPr/>
          <p:nvPr/>
        </p:nvSpPr>
        <p:spPr>
          <a:xfrm>
            <a:off x="927821" y="3941961"/>
            <a:ext cx="372061" cy="12700"/>
          </a:xfrm>
          <a:prstGeom prst="roundRect">
            <a:avLst>
              <a:gd name="adj" fmla="val 49999"/>
            </a:avLst>
          </a:prstGeom>
          <a:solidFill>
            <a:srgbClr val="D8D4D4"/>
          </a:solidFill>
          <a:ln/>
        </p:spPr>
      </p:sp>
      <p:sp>
        <p:nvSpPr>
          <p:cNvPr id="25" name="Shape 23"/>
          <p:cNvSpPr/>
          <p:nvPr/>
        </p:nvSpPr>
        <p:spPr>
          <a:xfrm>
            <a:off x="661425" y="3808809"/>
            <a:ext cx="279095" cy="279102"/>
          </a:xfrm>
          <a:prstGeom prst="roundRect">
            <a:avLst>
              <a:gd name="adj" fmla="val 2730"/>
            </a:avLst>
          </a:prstGeom>
          <a:solidFill>
            <a:srgbClr val="F2EEEE"/>
          </a:solidFill>
          <a:ln w="6350">
            <a:solidFill>
              <a:srgbClr val="D8D4D4"/>
            </a:solidFill>
            <a:prstDash val="solid"/>
          </a:ln>
        </p:spPr>
      </p:sp>
      <p:sp>
        <p:nvSpPr>
          <p:cNvPr id="26" name="Text 24"/>
          <p:cNvSpPr/>
          <p:nvPr/>
        </p:nvSpPr>
        <p:spPr>
          <a:xfrm>
            <a:off x="707908" y="3832027"/>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5</a:t>
            </a:r>
            <a:endParaRPr lang="en-US" sz="1450" dirty="0"/>
          </a:p>
        </p:txBody>
      </p:sp>
      <p:sp>
        <p:nvSpPr>
          <p:cNvPr id="27" name="Text 25"/>
          <p:cNvSpPr/>
          <p:nvPr/>
        </p:nvSpPr>
        <p:spPr>
          <a:xfrm>
            <a:off x="1421174" y="3851374"/>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Evaluación y Seguridad</a:t>
            </a:r>
            <a:endParaRPr lang="en-US" sz="1200" dirty="0"/>
          </a:p>
        </p:txBody>
      </p:sp>
      <p:sp>
        <p:nvSpPr>
          <p:cNvPr id="28" name="Text 26"/>
          <p:cNvSpPr/>
          <p:nvPr/>
        </p:nvSpPr>
        <p:spPr>
          <a:xfrm>
            <a:off x="1421174" y="4100909"/>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Riesgos y evaluacion</a:t>
            </a:r>
            <a:endParaRPr lang="en-US" sz="950" dirty="0"/>
          </a:p>
        </p:txBody>
      </p:sp>
      <p:sp>
        <p:nvSpPr>
          <p:cNvPr id="29" name="Shape 27"/>
          <p:cNvSpPr/>
          <p:nvPr/>
        </p:nvSpPr>
        <p:spPr>
          <a:xfrm>
            <a:off x="927821" y="4593729"/>
            <a:ext cx="372061" cy="12700"/>
          </a:xfrm>
          <a:prstGeom prst="roundRect">
            <a:avLst>
              <a:gd name="adj" fmla="val 49999"/>
            </a:avLst>
          </a:prstGeom>
          <a:solidFill>
            <a:srgbClr val="D8D4D4"/>
          </a:solidFill>
          <a:ln/>
        </p:spPr>
      </p:sp>
      <p:sp>
        <p:nvSpPr>
          <p:cNvPr id="30" name="Shape 28"/>
          <p:cNvSpPr/>
          <p:nvPr/>
        </p:nvSpPr>
        <p:spPr>
          <a:xfrm>
            <a:off x="661425" y="4460577"/>
            <a:ext cx="279095" cy="279102"/>
          </a:xfrm>
          <a:prstGeom prst="roundRect">
            <a:avLst>
              <a:gd name="adj" fmla="val 2730"/>
            </a:avLst>
          </a:prstGeom>
          <a:solidFill>
            <a:srgbClr val="F2EEEE"/>
          </a:solidFill>
          <a:ln w="6350">
            <a:solidFill>
              <a:srgbClr val="D8D4D4"/>
            </a:solidFill>
            <a:prstDash val="solid"/>
          </a:ln>
        </p:spPr>
      </p:sp>
      <p:sp>
        <p:nvSpPr>
          <p:cNvPr id="31" name="Text 29"/>
          <p:cNvSpPr/>
          <p:nvPr/>
        </p:nvSpPr>
        <p:spPr>
          <a:xfrm>
            <a:off x="707908" y="448379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6</a:t>
            </a:r>
            <a:endParaRPr lang="en-US" sz="1450" dirty="0"/>
          </a:p>
        </p:txBody>
      </p:sp>
      <p:sp>
        <p:nvSpPr>
          <p:cNvPr id="32" name="Text 30"/>
          <p:cNvSpPr/>
          <p:nvPr/>
        </p:nvSpPr>
        <p:spPr>
          <a:xfrm>
            <a:off x="1421174" y="450314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Fundamentos</a:t>
            </a:r>
            <a:endParaRPr lang="en-US" sz="1200" dirty="0"/>
          </a:p>
        </p:txBody>
      </p:sp>
      <p:sp>
        <p:nvSpPr>
          <p:cNvPr id="33" name="Text 31"/>
          <p:cNvSpPr/>
          <p:nvPr/>
        </p:nvSpPr>
        <p:spPr>
          <a:xfrm>
            <a:off x="1421174" y="4752677"/>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MCP, historia, protocolo JSON-RPC y comparativa con HTTP/GraphQL.</a:t>
            </a:r>
            <a:endParaRPr lang="en-US" sz="950" dirty="0"/>
          </a:p>
        </p:txBody>
      </p:sp>
      <p:sp>
        <p:nvSpPr>
          <p:cNvPr id="34" name="Shape 32"/>
          <p:cNvSpPr/>
          <p:nvPr/>
        </p:nvSpPr>
        <p:spPr>
          <a:xfrm>
            <a:off x="927821" y="5245497"/>
            <a:ext cx="372061" cy="12700"/>
          </a:xfrm>
          <a:prstGeom prst="roundRect">
            <a:avLst>
              <a:gd name="adj" fmla="val 49999"/>
            </a:avLst>
          </a:prstGeom>
          <a:solidFill>
            <a:srgbClr val="D8D4D4"/>
          </a:solidFill>
          <a:ln/>
        </p:spPr>
      </p:sp>
      <p:sp>
        <p:nvSpPr>
          <p:cNvPr id="35" name="Shape 33"/>
          <p:cNvSpPr/>
          <p:nvPr/>
        </p:nvSpPr>
        <p:spPr>
          <a:xfrm>
            <a:off x="661425" y="5112345"/>
            <a:ext cx="279095" cy="279102"/>
          </a:xfrm>
          <a:prstGeom prst="roundRect">
            <a:avLst>
              <a:gd name="adj" fmla="val 2730"/>
            </a:avLst>
          </a:prstGeom>
          <a:solidFill>
            <a:srgbClr val="F2EEEE"/>
          </a:solidFill>
          <a:ln w="6350">
            <a:solidFill>
              <a:srgbClr val="D8D4D4"/>
            </a:solidFill>
            <a:prstDash val="solid"/>
          </a:ln>
        </p:spPr>
      </p:sp>
      <p:sp>
        <p:nvSpPr>
          <p:cNvPr id="36" name="Text 34"/>
          <p:cNvSpPr/>
          <p:nvPr/>
        </p:nvSpPr>
        <p:spPr>
          <a:xfrm>
            <a:off x="707908" y="513556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7</a:t>
            </a:r>
            <a:endParaRPr lang="en-US" sz="1450" dirty="0"/>
          </a:p>
        </p:txBody>
      </p:sp>
      <p:sp>
        <p:nvSpPr>
          <p:cNvPr id="37" name="Text 35"/>
          <p:cNvSpPr/>
          <p:nvPr/>
        </p:nvSpPr>
        <p:spPr>
          <a:xfrm>
            <a:off x="1421174" y="515491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Arquitectura y Uso</a:t>
            </a:r>
            <a:endParaRPr lang="en-US" sz="1200" dirty="0"/>
          </a:p>
        </p:txBody>
      </p:sp>
      <p:sp>
        <p:nvSpPr>
          <p:cNvPr id="38" name="Text 36"/>
          <p:cNvSpPr/>
          <p:nvPr/>
        </p:nvSpPr>
        <p:spPr>
          <a:xfrm>
            <a:off x="1421174" y="540444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Ciclo de vida, multi-servidor, ecosistema, casos de uso con Claude y cómo conectar servidores.</a:t>
            </a:r>
            <a:endParaRPr lang="en-US" sz="950" dirty="0"/>
          </a:p>
        </p:txBody>
      </p:sp>
      <p:sp>
        <p:nvSpPr>
          <p:cNvPr id="39" name="Shape 37"/>
          <p:cNvSpPr/>
          <p:nvPr/>
        </p:nvSpPr>
        <p:spPr>
          <a:xfrm>
            <a:off x="927821" y="5897265"/>
            <a:ext cx="372061" cy="12700"/>
          </a:xfrm>
          <a:prstGeom prst="roundRect">
            <a:avLst>
              <a:gd name="adj" fmla="val 49999"/>
            </a:avLst>
          </a:prstGeom>
          <a:solidFill>
            <a:srgbClr val="D8D4D4"/>
          </a:solidFill>
          <a:ln/>
        </p:spPr>
      </p:sp>
      <p:sp>
        <p:nvSpPr>
          <p:cNvPr id="40" name="Shape 38"/>
          <p:cNvSpPr/>
          <p:nvPr/>
        </p:nvSpPr>
        <p:spPr>
          <a:xfrm>
            <a:off x="661425" y="5764113"/>
            <a:ext cx="279095" cy="279102"/>
          </a:xfrm>
          <a:prstGeom prst="roundRect">
            <a:avLst>
              <a:gd name="adj" fmla="val 2730"/>
            </a:avLst>
          </a:prstGeom>
          <a:solidFill>
            <a:srgbClr val="F2EEEE"/>
          </a:solidFill>
          <a:ln w="6350">
            <a:solidFill>
              <a:srgbClr val="D8D4D4"/>
            </a:solidFill>
            <a:prstDash val="solid"/>
          </a:ln>
        </p:spPr>
      </p:sp>
      <p:sp>
        <p:nvSpPr>
          <p:cNvPr id="41" name="Text 39"/>
          <p:cNvSpPr/>
          <p:nvPr/>
        </p:nvSpPr>
        <p:spPr>
          <a:xfrm>
            <a:off x="707908" y="5787330"/>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8</a:t>
            </a:r>
            <a:endParaRPr lang="en-US" sz="1450" dirty="0"/>
          </a:p>
        </p:txBody>
      </p:sp>
      <p:sp>
        <p:nvSpPr>
          <p:cNvPr id="42" name="Text 40"/>
          <p:cNvSpPr/>
          <p:nvPr/>
        </p:nvSpPr>
        <p:spPr>
          <a:xfrm>
            <a:off x="1421174" y="580667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Diseño de Herramientas</a:t>
            </a:r>
            <a:endParaRPr lang="en-US" sz="1200" dirty="0"/>
          </a:p>
        </p:txBody>
      </p:sp>
      <p:sp>
        <p:nvSpPr>
          <p:cNvPr id="43" name="Text 41"/>
          <p:cNvSpPr/>
          <p:nvPr/>
        </p:nvSpPr>
        <p:spPr>
          <a:xfrm>
            <a:off x="1421174" y="605621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Selección de herramientas, routing jerárquico, grupos por contexto, diferenciación y analytics en producción.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1722934"/>
            <a:ext cx="1475147" cy="251420"/>
          </a:xfrm>
          <a:prstGeom prst="roundRect">
            <a:avLst>
              <a:gd name="adj" fmla="val 3031"/>
            </a:avLst>
          </a:prstGeom>
          <a:solidFill>
            <a:srgbClr val="F9D2D6"/>
          </a:solidFill>
          <a:ln/>
        </p:spPr>
      </p:sp>
      <p:sp>
        <p:nvSpPr>
          <p:cNvPr id="3" name="Text 1"/>
          <p:cNvSpPr/>
          <p:nvPr/>
        </p:nvSpPr>
        <p:spPr>
          <a:xfrm>
            <a:off x="760691" y="1772543"/>
            <a:ext cx="1886300"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FUNDAMENTOS</a:t>
            </a:r>
            <a:endParaRPr lang="en-US" sz="1000" dirty="0"/>
          </a:p>
        </p:txBody>
      </p:sp>
      <p:sp>
        <p:nvSpPr>
          <p:cNvPr id="4" name="Text 2"/>
          <p:cNvSpPr/>
          <p:nvPr/>
        </p:nvSpPr>
        <p:spPr>
          <a:xfrm>
            <a:off x="661475" y="204043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¿Qué es RAG?</a:t>
            </a:r>
            <a:endParaRPr lang="en-US" sz="3250" dirty="0"/>
          </a:p>
        </p:txBody>
      </p:sp>
      <p:sp>
        <p:nvSpPr>
          <p:cNvPr id="5" name="Text 3"/>
          <p:cNvSpPr/>
          <p:nvPr/>
        </p:nvSpPr>
        <p:spPr>
          <a:xfrm>
            <a:off x="909516" y="2991247"/>
            <a:ext cx="11230289" cy="264616"/>
          </a:xfrm>
          <a:prstGeom prst="rect">
            <a:avLst/>
          </a:prstGeom>
          <a:noFill/>
          <a:ln/>
        </p:spPr>
        <p:txBody>
          <a:bodyPr wrap="none" lIns="0" tIns="0" rIns="0" bIns="0" rtlCol="0" anchor="t"/>
          <a:lstStyle/>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RAG combina lo mejor de dos mundos: el razonamiento de los LLMs con el conocimiento actualizado de bases de datos externas.</a:t>
            </a:r>
            <a:endParaRPr lang="en-US" sz="1300" dirty="0"/>
          </a:p>
        </p:txBody>
      </p:sp>
      <p:sp>
        <p:nvSpPr>
          <p:cNvPr id="6" name="Shape 4"/>
          <p:cNvSpPr/>
          <p:nvPr/>
        </p:nvSpPr>
        <p:spPr>
          <a:xfrm>
            <a:off x="661475" y="2805212"/>
            <a:ext cx="19050" cy="636687"/>
          </a:xfrm>
          <a:prstGeom prst="roundRect">
            <a:avLst>
              <a:gd name="adj" fmla="val 49999"/>
            </a:avLst>
          </a:prstGeom>
          <a:solidFill>
            <a:srgbClr val="DA1B2E"/>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627934"/>
            <a:ext cx="413434" cy="413445"/>
          </a:xfrm>
          <a:prstGeom prst="rect">
            <a:avLst/>
          </a:prstGeom>
        </p:spPr>
      </p:pic>
      <p:sp>
        <p:nvSpPr>
          <p:cNvPr id="8" name="Text 5"/>
          <p:cNvSpPr/>
          <p:nvPr/>
        </p:nvSpPr>
        <p:spPr>
          <a:xfrm>
            <a:off x="661475" y="4248051"/>
            <a:ext cx="3485071"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Recuperador</a:t>
            </a:r>
            <a:endParaRPr lang="en-US" sz="1600" dirty="0"/>
          </a:p>
        </p:txBody>
      </p:sp>
      <p:sp>
        <p:nvSpPr>
          <p:cNvPr id="9" name="Text 6"/>
          <p:cNvSpPr/>
          <p:nvPr/>
        </p:nvSpPr>
        <p:spPr>
          <a:xfrm>
            <a:off x="661475" y="4605734"/>
            <a:ext cx="3485071"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Busca información relevante en fuentes externas</a:t>
            </a:r>
            <a:endParaRPr lang="en-US" sz="13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3627934"/>
            <a:ext cx="413434" cy="413445"/>
          </a:xfrm>
          <a:prstGeom prst="rect">
            <a:avLst/>
          </a:prstGeom>
        </p:spPr>
      </p:pic>
      <p:sp>
        <p:nvSpPr>
          <p:cNvPr id="11" name="Text 7"/>
          <p:cNvSpPr/>
          <p:nvPr/>
        </p:nvSpPr>
        <p:spPr>
          <a:xfrm>
            <a:off x="4353213" y="4248051"/>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LLM</a:t>
            </a:r>
            <a:endParaRPr lang="en-US" sz="1600" dirty="0"/>
          </a:p>
        </p:txBody>
      </p:sp>
      <p:sp>
        <p:nvSpPr>
          <p:cNvPr id="12" name="Text 8"/>
          <p:cNvSpPr/>
          <p:nvPr/>
        </p:nvSpPr>
        <p:spPr>
          <a:xfrm>
            <a:off x="4353213" y="4605734"/>
            <a:ext cx="348517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Razona y genera la respuesta con el contexto recuperado</a:t>
            </a:r>
            <a:endParaRPr lang="en-US" sz="13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3627934"/>
            <a:ext cx="413434" cy="413445"/>
          </a:xfrm>
          <a:prstGeom prst="rect">
            <a:avLst/>
          </a:prstGeom>
        </p:spPr>
      </p:pic>
      <p:sp>
        <p:nvSpPr>
          <p:cNvPr id="14" name="Text 9"/>
          <p:cNvSpPr/>
          <p:nvPr/>
        </p:nvSpPr>
        <p:spPr>
          <a:xfrm>
            <a:off x="8045050" y="4248051"/>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Base de conocimiento</a:t>
            </a:r>
            <a:endParaRPr lang="en-US" sz="1600" dirty="0"/>
          </a:p>
        </p:txBody>
      </p:sp>
      <p:sp>
        <p:nvSpPr>
          <p:cNvPr id="15" name="Text 10"/>
          <p:cNvSpPr/>
          <p:nvPr/>
        </p:nvSpPr>
        <p:spPr>
          <a:xfrm>
            <a:off x="8045050" y="4605734"/>
            <a:ext cx="348517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Documentos, artículos y guías clínicas actualizadas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1446014"/>
            <a:ext cx="1475147" cy="251420"/>
          </a:xfrm>
          <a:prstGeom prst="roundRect">
            <a:avLst>
              <a:gd name="adj" fmla="val 3031"/>
            </a:avLst>
          </a:prstGeom>
          <a:solidFill>
            <a:srgbClr val="F9D2D6"/>
          </a:solidFill>
          <a:ln/>
        </p:spPr>
      </p:sp>
      <p:sp>
        <p:nvSpPr>
          <p:cNvPr id="3" name="Text 1"/>
          <p:cNvSpPr/>
          <p:nvPr/>
        </p:nvSpPr>
        <p:spPr>
          <a:xfrm>
            <a:off x="760691" y="1495623"/>
            <a:ext cx="1886300"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FUNDAMENTOS</a:t>
            </a:r>
            <a:endParaRPr lang="en-US" sz="1000" dirty="0"/>
          </a:p>
        </p:txBody>
      </p:sp>
      <p:sp>
        <p:nvSpPr>
          <p:cNvPr id="4" name="Text 2"/>
          <p:cNvSpPr/>
          <p:nvPr/>
        </p:nvSpPr>
        <p:spPr>
          <a:xfrm>
            <a:off x="661475" y="176351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Los cuatro pasos de RAG</a:t>
            </a:r>
            <a:endParaRPr lang="en-US"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528292"/>
            <a:ext cx="413434" cy="413445"/>
          </a:xfrm>
          <a:prstGeom prst="rect">
            <a:avLst/>
          </a:prstGeom>
        </p:spPr>
      </p:pic>
      <p:sp>
        <p:nvSpPr>
          <p:cNvPr id="6" name="Text 3"/>
          <p:cNvSpPr/>
          <p:nvPr/>
        </p:nvSpPr>
        <p:spPr>
          <a:xfrm>
            <a:off x="661475" y="3148409"/>
            <a:ext cx="3485071"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RETRIEVE · Recuperar</a:t>
            </a:r>
            <a:endParaRPr lang="en-US" sz="1600" dirty="0"/>
          </a:p>
        </p:txBody>
      </p:sp>
      <p:sp>
        <p:nvSpPr>
          <p:cNvPr id="7" name="Text 4"/>
          <p:cNvSpPr/>
          <p:nvPr/>
        </p:nvSpPr>
        <p:spPr>
          <a:xfrm>
            <a:off x="661475" y="3506093"/>
            <a:ext cx="3485071"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Encontrar documentos relevantes para la consulta del usuario dentro de la base de conocimiento del sistema.</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2528292"/>
            <a:ext cx="413434" cy="413445"/>
          </a:xfrm>
          <a:prstGeom prst="rect">
            <a:avLst/>
          </a:prstGeom>
        </p:spPr>
      </p:pic>
      <p:sp>
        <p:nvSpPr>
          <p:cNvPr id="9" name="Text 5"/>
          <p:cNvSpPr/>
          <p:nvPr/>
        </p:nvSpPr>
        <p:spPr>
          <a:xfrm>
            <a:off x="4353213" y="3148409"/>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AUGMENT · Aumentar</a:t>
            </a:r>
            <a:endParaRPr lang="en-US" sz="1600" dirty="0"/>
          </a:p>
        </p:txBody>
      </p:sp>
      <p:sp>
        <p:nvSpPr>
          <p:cNvPr id="10" name="Text 6"/>
          <p:cNvSpPr/>
          <p:nvPr/>
        </p:nvSpPr>
        <p:spPr>
          <a:xfrm>
            <a:off x="4353213" y="3506093"/>
            <a:ext cx="348517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Insertar los documentos recuperados en el prompt como contexto adicional que el modelo puede utilizar.</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2528292"/>
            <a:ext cx="413434" cy="413445"/>
          </a:xfrm>
          <a:prstGeom prst="rect">
            <a:avLst/>
          </a:prstGeom>
        </p:spPr>
      </p:pic>
      <p:sp>
        <p:nvSpPr>
          <p:cNvPr id="12" name="Text 7"/>
          <p:cNvSpPr/>
          <p:nvPr/>
        </p:nvSpPr>
        <p:spPr>
          <a:xfrm>
            <a:off x="8045050" y="3148409"/>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GENERATE · Generar</a:t>
            </a:r>
            <a:endParaRPr lang="en-US" sz="1600" dirty="0"/>
          </a:p>
        </p:txBody>
      </p:sp>
      <p:sp>
        <p:nvSpPr>
          <p:cNvPr id="13" name="Text 8"/>
          <p:cNvSpPr/>
          <p:nvPr/>
        </p:nvSpPr>
        <p:spPr>
          <a:xfrm>
            <a:off x="8045050" y="3506093"/>
            <a:ext cx="348517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LLM responde usando únicamente el contexto proporcionado, fundamentando y citando su respuesta.</a:t>
            </a:r>
            <a:endParaRPr lang="en-US" sz="1300" dirty="0"/>
          </a:p>
        </p:txBody>
      </p:sp>
      <p:sp>
        <p:nvSpPr>
          <p:cNvPr id="14" name="Shape 9"/>
          <p:cNvSpPr/>
          <p:nvPr/>
        </p:nvSpPr>
        <p:spPr>
          <a:xfrm>
            <a:off x="661475" y="4485977"/>
            <a:ext cx="10868745" cy="925909"/>
          </a:xfrm>
          <a:prstGeom prst="roundRect">
            <a:avLst>
              <a:gd name="adj" fmla="val 823"/>
            </a:avLst>
          </a:prstGeom>
          <a:solidFill>
            <a:srgbClr val="F9D2D6"/>
          </a:solidFill>
          <a:ln/>
        </p:spPr>
      </p:sp>
      <p:pic>
        <p:nvPicPr>
          <p:cNvPr id="15" name="Image 3" descr="preencoded.png">    </p:cNvPr>
          <p:cNvPicPr>
            <a:picLocks noChangeAspect="1"/>
          </p:cNvPicPr>
          <p:nvPr/>
        </p:nvPicPr>
        <p:blipFill>
          <a:blip r:embed="rId7"/>
          <a:stretch>
            <a:fillRect/>
          </a:stretch>
        </p:blipFill>
        <p:spPr>
          <a:xfrm>
            <a:off x="826769" y="4725690"/>
            <a:ext cx="206667" cy="165298"/>
          </a:xfrm>
          <a:prstGeom prst="rect">
            <a:avLst/>
          </a:prstGeom>
        </p:spPr>
      </p:pic>
      <p:sp>
        <p:nvSpPr>
          <p:cNvPr id="16" name="Text 10"/>
          <p:cNvSpPr/>
          <p:nvPr/>
        </p:nvSpPr>
        <p:spPr>
          <a:xfrm>
            <a:off x="1198731" y="4692551"/>
            <a:ext cx="1016619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Esta arquitectura crea un ciclo virtuoso donde la recuperación informa la generación, y el sistema aprende a mejorar ambos procesos simultáneamente.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553938"/>
            <a:ext cx="1475147" cy="251420"/>
          </a:xfrm>
          <a:prstGeom prst="roundRect">
            <a:avLst>
              <a:gd name="adj" fmla="val 3031"/>
            </a:avLst>
          </a:prstGeom>
          <a:solidFill>
            <a:srgbClr val="F9D2D6"/>
          </a:solidFill>
          <a:ln/>
        </p:spPr>
      </p:sp>
      <p:sp>
        <p:nvSpPr>
          <p:cNvPr id="3" name="Text 1"/>
          <p:cNvSpPr/>
          <p:nvPr/>
        </p:nvSpPr>
        <p:spPr>
          <a:xfrm>
            <a:off x="760691" y="603548"/>
            <a:ext cx="1886300"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FUNDAMENTOS</a:t>
            </a:r>
            <a:endParaRPr lang="en-US" sz="1000" dirty="0"/>
          </a:p>
        </p:txBody>
      </p:sp>
      <p:sp>
        <p:nvSpPr>
          <p:cNvPr id="4" name="Text 2"/>
          <p:cNvSpPr/>
          <p:nvPr/>
        </p:nvSpPr>
        <p:spPr>
          <a:xfrm>
            <a:off x="661475" y="871438"/>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¿Cuándo necesitás RAG?</a:t>
            </a:r>
            <a:endParaRPr lang="en-US"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636216"/>
            <a:ext cx="413434" cy="413445"/>
          </a:xfrm>
          <a:prstGeom prst="rect">
            <a:avLst/>
          </a:prstGeom>
        </p:spPr>
      </p:pic>
      <p:sp>
        <p:nvSpPr>
          <p:cNvPr id="6" name="Text 3"/>
          <p:cNvSpPr/>
          <p:nvPr/>
        </p:nvSpPr>
        <p:spPr>
          <a:xfrm>
            <a:off x="661475" y="2256334"/>
            <a:ext cx="2562161"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Datos actualizados</a:t>
            </a:r>
            <a:endParaRPr lang="en-US" sz="1600" dirty="0"/>
          </a:p>
        </p:txBody>
      </p:sp>
      <p:sp>
        <p:nvSpPr>
          <p:cNvPr id="7" name="Text 4"/>
          <p:cNvSpPr/>
          <p:nvPr/>
        </p:nvSpPr>
        <p:spPr>
          <a:xfrm>
            <a:off x="661475" y="2614017"/>
            <a:ext cx="2562161"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Los datos de entrenamiento tienen fecha de corte. RAG recupera datos actuales desde fuentes en tiempo real.</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30303" y="1636216"/>
            <a:ext cx="413434" cy="413445"/>
          </a:xfrm>
          <a:prstGeom prst="rect">
            <a:avLst/>
          </a:prstGeom>
        </p:spPr>
      </p:pic>
      <p:sp>
        <p:nvSpPr>
          <p:cNvPr id="9" name="Text 5"/>
          <p:cNvSpPr/>
          <p:nvPr/>
        </p:nvSpPr>
        <p:spPr>
          <a:xfrm>
            <a:off x="3430303" y="2256334"/>
            <a:ext cx="2562161"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Datos propietarios</a:t>
            </a:r>
            <a:endParaRPr lang="en-US" sz="1600" dirty="0"/>
          </a:p>
        </p:txBody>
      </p:sp>
      <p:sp>
        <p:nvSpPr>
          <p:cNvPr id="10" name="Text 6"/>
          <p:cNvSpPr/>
          <p:nvPr/>
        </p:nvSpPr>
        <p:spPr>
          <a:xfrm>
            <a:off x="3430303" y="2614017"/>
            <a:ext cx="2562161"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Tus documentos internos y APIs nunca estuvieron en el entrenamiento. RAG conecta el LLM a tu base de conocimiento privada.</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99132" y="1636216"/>
            <a:ext cx="413434" cy="413445"/>
          </a:xfrm>
          <a:prstGeom prst="rect">
            <a:avLst/>
          </a:prstGeom>
        </p:spPr>
      </p:pic>
      <p:sp>
        <p:nvSpPr>
          <p:cNvPr id="12" name="Text 7"/>
          <p:cNvSpPr/>
          <p:nvPr/>
        </p:nvSpPr>
        <p:spPr>
          <a:xfrm>
            <a:off x="6199132" y="2256334"/>
            <a:ext cx="2562161"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Precisión y citas</a:t>
            </a:r>
            <a:endParaRPr lang="en-US" sz="1600" dirty="0"/>
          </a:p>
        </p:txBody>
      </p:sp>
      <p:sp>
        <p:nvSpPr>
          <p:cNvPr id="13" name="Text 8"/>
          <p:cNvSpPr/>
          <p:nvPr/>
        </p:nvSpPr>
        <p:spPr>
          <a:xfrm>
            <a:off x="6199132" y="2614017"/>
            <a:ext cx="2562161"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modelo puede alucinar respuestas incorrectas. RAG restringe la generación a hechos recuperados con citas de fuentes.</a:t>
            </a:r>
            <a:endParaRPr lang="en-US" sz="13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67960" y="1636216"/>
            <a:ext cx="413434" cy="413445"/>
          </a:xfrm>
          <a:prstGeom prst="rect">
            <a:avLst/>
          </a:prstGeom>
        </p:spPr>
      </p:pic>
      <p:sp>
        <p:nvSpPr>
          <p:cNvPr id="15" name="Text 9"/>
          <p:cNvSpPr/>
          <p:nvPr/>
        </p:nvSpPr>
        <p:spPr>
          <a:xfrm>
            <a:off x="8967960" y="2256334"/>
            <a:ext cx="256226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Costo</a:t>
            </a:r>
            <a:endParaRPr lang="en-US" sz="1600" dirty="0"/>
          </a:p>
        </p:txBody>
      </p:sp>
      <p:sp>
        <p:nvSpPr>
          <p:cNvPr id="16" name="Text 10"/>
          <p:cNvSpPr/>
          <p:nvPr/>
        </p:nvSpPr>
        <p:spPr>
          <a:xfrm>
            <a:off x="8967960" y="2614017"/>
            <a:ext cx="256226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fine-tuning es caro y lento. Con RAG solo actualizás tu repositorio de documentos — sin reentrenamiento.</a:t>
            </a:r>
            <a:endParaRPr lang="en-US" sz="1300" dirty="0"/>
          </a:p>
        </p:txBody>
      </p:sp>
      <p:pic>
        <p:nvPicPr>
          <p:cNvPr id="1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267795"/>
            <a:ext cx="413434" cy="413445"/>
          </a:xfrm>
          <a:prstGeom prst="rect">
            <a:avLst/>
          </a:prstGeom>
        </p:spPr>
      </p:pic>
      <p:sp>
        <p:nvSpPr>
          <p:cNvPr id="18" name="Text 11"/>
          <p:cNvSpPr/>
          <p:nvPr/>
        </p:nvSpPr>
        <p:spPr>
          <a:xfrm>
            <a:off x="661475" y="4887913"/>
            <a:ext cx="2562161"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Auditabilidad</a:t>
            </a:r>
            <a:endParaRPr lang="en-US" sz="1600" dirty="0"/>
          </a:p>
        </p:txBody>
      </p:sp>
      <p:sp>
        <p:nvSpPr>
          <p:cNvPr id="19" name="Text 12"/>
          <p:cNvSpPr/>
          <p:nvPr/>
        </p:nvSpPr>
        <p:spPr>
          <a:xfrm>
            <a:off x="661475" y="5245596"/>
            <a:ext cx="2562161"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No podés rastrear por qué el modelo dijo algo. RAG enlaza cada respuesta a documentos fuente específicos.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2209800"/>
            <a:ext cx="1475147" cy="251420"/>
          </a:xfrm>
          <a:prstGeom prst="roundRect">
            <a:avLst>
              <a:gd name="adj" fmla="val 3031"/>
            </a:avLst>
          </a:prstGeom>
          <a:solidFill>
            <a:srgbClr val="F9D2D6"/>
          </a:solidFill>
          <a:ln/>
        </p:spPr>
      </p:sp>
      <p:sp>
        <p:nvSpPr>
          <p:cNvPr id="3" name="Text 1"/>
          <p:cNvSpPr/>
          <p:nvPr/>
        </p:nvSpPr>
        <p:spPr>
          <a:xfrm>
            <a:off x="760691" y="2259409"/>
            <a:ext cx="1886300"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FUNDAMENTOS</a:t>
            </a:r>
            <a:endParaRPr lang="en-US" sz="1000" dirty="0"/>
          </a:p>
        </p:txBody>
      </p:sp>
      <p:sp>
        <p:nvSpPr>
          <p:cNvPr id="4" name="Text 2"/>
          <p:cNvSpPr/>
          <p:nvPr/>
        </p:nvSpPr>
        <p:spPr>
          <a:xfrm>
            <a:off x="661475" y="252730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Ejemplo Básico de RAG</a:t>
            </a:r>
            <a:endParaRPr lang="en-US" sz="3250" dirty="0"/>
          </a:p>
        </p:txBody>
      </p:sp>
      <p:sp>
        <p:nvSpPr>
          <p:cNvPr id="5" name="Text 3"/>
          <p:cNvSpPr/>
          <p:nvPr/>
        </p:nvSpPr>
        <p:spPr>
          <a:xfrm>
            <a:off x="661475" y="3292078"/>
            <a:ext cx="10868745" cy="715268"/>
          </a:xfrm>
          <a:prstGeom prst="rect">
            <a:avLst/>
          </a:prstGeom>
          <a:noFill/>
          <a:ln/>
        </p:spPr>
        <p:txBody>
          <a:bodyPr wrap="square" lIns="0" tIns="0" rIns="0" bIns="0" rtlCol="0" anchor="t"/>
          <a:lstStyle/>
          <a:p>
            <a:pPr algn="l" indent="0" marL="0">
              <a:lnSpc>
                <a:spcPct val="133000"/>
              </a:lnSpc>
              <a:spcAft>
                <a:spcPts val="1450"/>
              </a:spcAft>
              <a:buNone/>
            </a:pPr>
            <a:r>
              <a:rPr lang="en-US" sz="1300" dirty="0">
                <a:solidFill>
                  <a:srgbClr val="3B3535"/>
                </a:solidFill>
                <a:latin typeface="Roboto" pitchFamily="34" charset="0"/>
                <a:ea typeface="Roboto" pitchFamily="34" charset="-122"/>
                <a:cs typeface="Roboto" pitchFamily="34" charset="-120"/>
              </a:rPr>
              <a:t>Tutorial interactivo: implementación paso a paso de un pipeline RAG con LangChain</a:t>
            </a:r>
            <a:endParaRPr lang="en-US" sz="1300" dirty="0"/>
          </a:p>
        </p:txBody>
      </p:sp>
      <p:pic>
        <p:nvPicPr>
          <p:cNvPr id="6" name="Image 0" descr="preencoded.png">
            <a:hlinkClick r:id="rId2" tooltip=""/>
          </p:cNvPr>
          <p:cNvPicPr>
            <a:picLocks noChangeAspect="1"/>
          </p:cNvPicPr>
          <p:nvPr/>
        </p:nvPicPr>
        <p:blipFill>
          <a:blip r:embed="rId1"/>
          <a:stretch>
            <a:fillRect/>
          </a:stretch>
        </p:blipFill>
        <p:spPr>
          <a:xfrm>
            <a:off x="661475" y="4193381"/>
            <a:ext cx="1279096" cy="4548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647799"/>
            <a:ext cx="1032544" cy="176014"/>
          </a:xfrm>
          <a:prstGeom prst="roundRect">
            <a:avLst>
              <a:gd name="adj" fmla="val 4329"/>
            </a:avLst>
          </a:prstGeom>
          <a:solidFill>
            <a:srgbClr val="F9D2D6"/>
          </a:solidFill>
          <a:ln/>
        </p:spPr>
      </p:sp>
      <p:sp>
        <p:nvSpPr>
          <p:cNvPr id="3" name="Text 1"/>
          <p:cNvSpPr/>
          <p:nvPr/>
        </p:nvSpPr>
        <p:spPr>
          <a:xfrm>
            <a:off x="730926" y="682526"/>
            <a:ext cx="1503226" cy="106561"/>
          </a:xfrm>
          <a:prstGeom prst="rect">
            <a:avLst/>
          </a:prstGeom>
          <a:noFill/>
          <a:ln/>
        </p:spPr>
        <p:txBody>
          <a:bodyPr wrap="none" lIns="0" tIns="0" rIns="0" bIns="0" rtlCol="0" anchor="t"/>
          <a:lstStyle/>
          <a:p>
            <a:pPr algn="l" indent="0" marL="0">
              <a:lnSpc>
                <a:spcPct val="96000"/>
              </a:lnSpc>
              <a:buNone/>
            </a:pPr>
            <a:r>
              <a:rPr lang="en-US" sz="700" dirty="0">
                <a:solidFill>
                  <a:srgbClr val="3B3535"/>
                </a:solidFill>
                <a:latin typeface="Roboto" pitchFamily="34" charset="0"/>
                <a:ea typeface="Roboto" pitchFamily="34" charset="-122"/>
                <a:cs typeface="Roboto" pitchFamily="34" charset="-120"/>
              </a:rPr>
              <a:t>RAG: FUNDAMENTOS</a:t>
            </a:r>
            <a:endParaRPr lang="en-US" sz="700" dirty="0"/>
          </a:p>
        </p:txBody>
      </p:sp>
      <p:sp>
        <p:nvSpPr>
          <p:cNvPr id="4" name="Text 2"/>
          <p:cNvSpPr/>
          <p:nvPr/>
        </p:nvSpPr>
        <p:spPr>
          <a:xfrm>
            <a:off x="661475" y="856159"/>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1F1E1E"/>
                </a:solidFill>
                <a:latin typeface="Roboto Mono Medium" pitchFamily="34" charset="0"/>
                <a:ea typeface="Roboto Mono Medium" pitchFamily="34" charset="-122"/>
                <a:cs typeface="Roboto Mono Medium" pitchFamily="34" charset="-120"/>
              </a:rPr>
              <a:t>Pipeline de RAG en producción</a:t>
            </a:r>
            <a:endParaRPr lang="en-US" sz="2250" dirty="0"/>
          </a:p>
        </p:txBody>
      </p:sp>
      <p:pic>
        <p:nvPicPr>
          <p:cNvPr id="5" name="Image 0" descr="preencoded.png">    </p:cNvPr>
          <p:cNvPicPr>
            <a:picLocks noChangeAspect="1"/>
          </p:cNvPicPr>
          <p:nvPr/>
        </p:nvPicPr>
        <p:blipFill>
          <a:blip r:embed="rId1"/>
          <a:stretch>
            <a:fillRect/>
          </a:stretch>
        </p:blipFill>
        <p:spPr>
          <a:xfrm>
            <a:off x="2323149" y="1339453"/>
            <a:ext cx="7545397" cy="3253780"/>
          </a:xfrm>
          <a:prstGeom prst="rect">
            <a:avLst/>
          </a:prstGeom>
        </p:spPr>
      </p:pic>
      <p:sp>
        <p:nvSpPr>
          <p:cNvPr id="6" name="Text 3"/>
          <p:cNvSpPr/>
          <p:nvPr/>
        </p:nvSpPr>
        <p:spPr>
          <a:xfrm>
            <a:off x="2830927" y="3976195"/>
            <a:ext cx="1711770" cy="213976"/>
          </a:xfrm>
          <a:prstGeom prst="rect">
            <a:avLst/>
          </a:prstGeom>
          <a:noFill/>
          <a:ln/>
        </p:spPr>
        <p:txBody>
          <a:bodyPr wrap="none" lIns="0" tIns="0" rIns="0" bIns="0" rtlCol="0" anchor="t"/>
          <a:lstStyle/>
          <a:p>
            <a:pPr algn="l" indent="0" marL="0">
              <a:lnSpc>
                <a:spcPct val="104000"/>
              </a:lnSpc>
              <a:buNone/>
            </a:pPr>
            <a:r>
              <a:rPr lang="en-US" sz="1300" dirty="0">
                <a:solidFill>
                  <a:srgbClr val="FFFFFF"/>
                </a:solidFill>
                <a:latin typeface="Roboto Mono Medium" pitchFamily="34" charset="0"/>
                <a:ea typeface="Roboto Mono Medium" pitchFamily="34" charset="-122"/>
                <a:cs typeface="Roboto Mono Medium" pitchFamily="34" charset="-120"/>
              </a:rPr>
              <a:t>Generación LLM</a:t>
            </a:r>
            <a:endParaRPr lang="en-US" sz="1300" dirty="0"/>
          </a:p>
        </p:txBody>
      </p:sp>
      <p:sp>
        <p:nvSpPr>
          <p:cNvPr id="7" name="Text 4"/>
          <p:cNvSpPr/>
          <p:nvPr/>
        </p:nvSpPr>
        <p:spPr>
          <a:xfrm>
            <a:off x="2830927" y="3222997"/>
            <a:ext cx="2362717" cy="213977"/>
          </a:xfrm>
          <a:prstGeom prst="rect">
            <a:avLst/>
          </a:prstGeom>
          <a:noFill/>
          <a:ln/>
        </p:spPr>
        <p:txBody>
          <a:bodyPr wrap="none" lIns="0" tIns="0" rIns="0" bIns="0" rtlCol="0" anchor="t"/>
          <a:lstStyle/>
          <a:p>
            <a:pPr algn="l" indent="0" marL="0">
              <a:lnSpc>
                <a:spcPct val="104000"/>
              </a:lnSpc>
              <a:buNone/>
            </a:pPr>
            <a:r>
              <a:rPr lang="en-US" sz="1300" dirty="0">
                <a:solidFill>
                  <a:srgbClr val="FFFFFF"/>
                </a:solidFill>
                <a:latin typeface="Roboto Mono Medium" pitchFamily="34" charset="0"/>
                <a:ea typeface="Roboto Mono Medium" pitchFamily="34" charset="-122"/>
                <a:cs typeface="Roboto Mono Medium" pitchFamily="34" charset="-120"/>
              </a:rPr>
              <a:t>Reranking Cross-Encoder</a:t>
            </a:r>
            <a:endParaRPr lang="en-US" sz="1300" dirty="0"/>
          </a:p>
        </p:txBody>
      </p:sp>
      <p:sp>
        <p:nvSpPr>
          <p:cNvPr id="8" name="Text 5"/>
          <p:cNvSpPr/>
          <p:nvPr/>
        </p:nvSpPr>
        <p:spPr>
          <a:xfrm>
            <a:off x="2830927" y="2477408"/>
            <a:ext cx="1951774" cy="213977"/>
          </a:xfrm>
          <a:prstGeom prst="rect">
            <a:avLst/>
          </a:prstGeom>
          <a:noFill/>
          <a:ln/>
        </p:spPr>
        <p:txBody>
          <a:bodyPr wrap="none" lIns="0" tIns="0" rIns="0" bIns="0" rtlCol="0" anchor="t"/>
          <a:lstStyle/>
          <a:p>
            <a:pPr algn="l" indent="0" marL="0">
              <a:lnSpc>
                <a:spcPct val="104000"/>
              </a:lnSpc>
              <a:buNone/>
            </a:pPr>
            <a:r>
              <a:rPr lang="en-US" sz="1300" dirty="0">
                <a:solidFill>
                  <a:srgbClr val="FFFFFF"/>
                </a:solidFill>
                <a:latin typeface="Roboto Mono Medium" pitchFamily="34" charset="0"/>
                <a:ea typeface="Roboto Mono Medium" pitchFamily="34" charset="-122"/>
                <a:cs typeface="Roboto Mono Medium" pitchFamily="34" charset="-120"/>
              </a:rPr>
              <a:t>Recuperación Rápida</a:t>
            </a:r>
            <a:endParaRPr lang="en-US" sz="1300" dirty="0"/>
          </a:p>
        </p:txBody>
      </p:sp>
      <p:sp>
        <p:nvSpPr>
          <p:cNvPr id="9" name="Text 6"/>
          <p:cNvSpPr/>
          <p:nvPr/>
        </p:nvSpPr>
        <p:spPr>
          <a:xfrm>
            <a:off x="2830927" y="1724210"/>
            <a:ext cx="1711770" cy="213977"/>
          </a:xfrm>
          <a:prstGeom prst="rect">
            <a:avLst/>
          </a:prstGeom>
          <a:noFill/>
          <a:ln/>
        </p:spPr>
        <p:txBody>
          <a:bodyPr wrap="none" lIns="0" tIns="0" rIns="0" bIns="0" rtlCol="0" anchor="t"/>
          <a:lstStyle/>
          <a:p>
            <a:pPr algn="l" indent="0" marL="0">
              <a:lnSpc>
                <a:spcPct val="104000"/>
              </a:lnSpc>
              <a:buNone/>
            </a:pPr>
            <a:r>
              <a:rPr lang="en-US" sz="1300" dirty="0">
                <a:solidFill>
                  <a:srgbClr val="FFFFFF"/>
                </a:solidFill>
                <a:latin typeface="Roboto Mono Medium" pitchFamily="34" charset="0"/>
                <a:ea typeface="Roboto Mono Medium" pitchFamily="34" charset="-122"/>
                <a:cs typeface="Roboto Mono Medium" pitchFamily="34" charset="-120"/>
              </a:rPr>
              <a:t>Consulta Usuario</a:t>
            </a:r>
            <a:endParaRPr lang="en-US" sz="1300" dirty="0"/>
          </a:p>
        </p:txBody>
      </p:sp>
      <p:sp>
        <p:nvSpPr>
          <p:cNvPr id="10" name="Shape 7"/>
          <p:cNvSpPr/>
          <p:nvPr/>
        </p:nvSpPr>
        <p:spPr>
          <a:xfrm>
            <a:off x="661475" y="4684316"/>
            <a:ext cx="2656416" cy="801191"/>
          </a:xfrm>
          <a:prstGeom prst="roundRect">
            <a:avLst>
              <a:gd name="adj" fmla="val 951"/>
            </a:avLst>
          </a:prstGeom>
          <a:solidFill>
            <a:srgbClr val="FFFFFF">
              <a:alpha val="95000"/>
            </a:srgbClr>
          </a:solidFill>
          <a:ln w="12700">
            <a:solidFill>
              <a:srgbClr val="D8D4D4"/>
            </a:solidFill>
            <a:prstDash val="solid"/>
          </a:ln>
        </p:spPr>
      </p:sp>
      <p:sp>
        <p:nvSpPr>
          <p:cNvPr id="11" name="Text 8"/>
          <p:cNvSpPr/>
          <p:nvPr/>
        </p:nvSpPr>
        <p:spPr>
          <a:xfrm>
            <a:off x="789861" y="4812705"/>
            <a:ext cx="2399645" cy="180876"/>
          </a:xfrm>
          <a:prstGeom prst="rect">
            <a:avLst/>
          </a:prstGeom>
          <a:noFill/>
          <a:ln/>
        </p:spPr>
        <p:txBody>
          <a:bodyPr wrap="none" lIns="0" tIns="0" rIns="0" bIns="0" rtlCol="0" anchor="t"/>
          <a:lstStyle/>
          <a:p>
            <a:pPr algn="l" indent="0" marL="0">
              <a:lnSpc>
                <a:spcPct val="104000"/>
              </a:lnSpc>
              <a:buNone/>
            </a:pPr>
            <a:r>
              <a:rPr lang="en-US" sz="1100" dirty="0">
                <a:solidFill>
                  <a:srgbClr val="3B3535"/>
                </a:solidFill>
                <a:latin typeface="Roboto Mono Medium" pitchFamily="34" charset="0"/>
                <a:ea typeface="Roboto Mono Medium" pitchFamily="34" charset="-122"/>
                <a:cs typeface="Roboto Mono Medium" pitchFamily="34" charset="-120"/>
              </a:rPr>
              <a:t>Procesamiento de documentos</a:t>
            </a:r>
            <a:endParaRPr lang="en-US" sz="1100" dirty="0"/>
          </a:p>
        </p:txBody>
      </p:sp>
      <p:sp>
        <p:nvSpPr>
          <p:cNvPr id="12" name="Text 9"/>
          <p:cNvSpPr/>
          <p:nvPr/>
        </p:nvSpPr>
        <p:spPr>
          <a:xfrm>
            <a:off x="789861" y="5042198"/>
            <a:ext cx="2399645"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Chunking, extracción de metadatos y filtrado de calidad.</a:t>
            </a:r>
            <a:endParaRPr lang="en-US" sz="900" dirty="0"/>
          </a:p>
        </p:txBody>
      </p:sp>
      <p:sp>
        <p:nvSpPr>
          <p:cNvPr id="13" name="Shape 10"/>
          <p:cNvSpPr/>
          <p:nvPr/>
        </p:nvSpPr>
        <p:spPr>
          <a:xfrm>
            <a:off x="3398852" y="4684316"/>
            <a:ext cx="2656516" cy="801191"/>
          </a:xfrm>
          <a:prstGeom prst="roundRect">
            <a:avLst>
              <a:gd name="adj" fmla="val 951"/>
            </a:avLst>
          </a:prstGeom>
          <a:solidFill>
            <a:srgbClr val="FFFFFF">
              <a:alpha val="95000"/>
            </a:srgbClr>
          </a:solidFill>
          <a:ln w="12700">
            <a:solidFill>
              <a:srgbClr val="D8D4D4"/>
            </a:solidFill>
            <a:prstDash val="solid"/>
          </a:ln>
        </p:spPr>
      </p:sp>
      <p:sp>
        <p:nvSpPr>
          <p:cNvPr id="14" name="Text 11"/>
          <p:cNvSpPr/>
          <p:nvPr/>
        </p:nvSpPr>
        <p:spPr>
          <a:xfrm>
            <a:off x="3527238" y="4812705"/>
            <a:ext cx="2399744" cy="180876"/>
          </a:xfrm>
          <a:prstGeom prst="rect">
            <a:avLst/>
          </a:prstGeom>
          <a:noFill/>
          <a:ln/>
        </p:spPr>
        <p:txBody>
          <a:bodyPr wrap="none" lIns="0" tIns="0" rIns="0" bIns="0" rtlCol="0" anchor="t"/>
          <a:lstStyle/>
          <a:p>
            <a:pPr algn="l" indent="0" marL="0">
              <a:lnSpc>
                <a:spcPct val="104000"/>
              </a:lnSpc>
              <a:buNone/>
            </a:pPr>
            <a:r>
              <a:rPr lang="en-US" sz="1100" dirty="0">
                <a:solidFill>
                  <a:srgbClr val="3B3535"/>
                </a:solidFill>
                <a:latin typeface="Roboto Mono Medium" pitchFamily="34" charset="0"/>
                <a:ea typeface="Roboto Mono Medium" pitchFamily="34" charset="-122"/>
                <a:cs typeface="Roboto Mono Medium" pitchFamily="34" charset="-120"/>
              </a:rPr>
              <a:t>Recuperación en dos etapas</a:t>
            </a:r>
            <a:endParaRPr lang="en-US" sz="1100" dirty="0"/>
          </a:p>
        </p:txBody>
      </p:sp>
      <p:sp>
        <p:nvSpPr>
          <p:cNvPr id="15" name="Text 12"/>
          <p:cNvSpPr/>
          <p:nvPr/>
        </p:nvSpPr>
        <p:spPr>
          <a:xfrm>
            <a:off x="3527238" y="5042198"/>
            <a:ext cx="2399744"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Primera pasada rápida seguida de reranking preciso.</a:t>
            </a:r>
            <a:endParaRPr lang="en-US" sz="900" dirty="0"/>
          </a:p>
        </p:txBody>
      </p:sp>
      <p:sp>
        <p:nvSpPr>
          <p:cNvPr id="16" name="Shape 13"/>
          <p:cNvSpPr/>
          <p:nvPr/>
        </p:nvSpPr>
        <p:spPr>
          <a:xfrm>
            <a:off x="6136328" y="4684316"/>
            <a:ext cx="2656416" cy="801191"/>
          </a:xfrm>
          <a:prstGeom prst="roundRect">
            <a:avLst>
              <a:gd name="adj" fmla="val 951"/>
            </a:avLst>
          </a:prstGeom>
          <a:solidFill>
            <a:srgbClr val="FFFFFF">
              <a:alpha val="95000"/>
            </a:srgbClr>
          </a:solidFill>
          <a:ln w="12700">
            <a:solidFill>
              <a:srgbClr val="D8D4D4"/>
            </a:solidFill>
            <a:prstDash val="solid"/>
          </a:ln>
        </p:spPr>
      </p:sp>
      <p:sp>
        <p:nvSpPr>
          <p:cNvPr id="17" name="Text 14"/>
          <p:cNvSpPr/>
          <p:nvPr/>
        </p:nvSpPr>
        <p:spPr>
          <a:xfrm>
            <a:off x="6264714" y="4812705"/>
            <a:ext cx="2399645" cy="180876"/>
          </a:xfrm>
          <a:prstGeom prst="rect">
            <a:avLst/>
          </a:prstGeom>
          <a:noFill/>
          <a:ln/>
        </p:spPr>
        <p:txBody>
          <a:bodyPr wrap="none" lIns="0" tIns="0" rIns="0" bIns="0" rtlCol="0" anchor="t"/>
          <a:lstStyle/>
          <a:p>
            <a:pPr algn="l" indent="0" marL="0">
              <a:lnSpc>
                <a:spcPct val="104000"/>
              </a:lnSpc>
              <a:buNone/>
            </a:pPr>
            <a:r>
              <a:rPr lang="en-US" sz="1100" dirty="0">
                <a:solidFill>
                  <a:srgbClr val="3B3535"/>
                </a:solidFill>
                <a:latin typeface="Roboto Mono Medium" pitchFamily="34" charset="0"/>
                <a:ea typeface="Roboto Mono Medium" pitchFamily="34" charset="-122"/>
                <a:cs typeface="Roboto Mono Medium" pitchFamily="34" charset="-120"/>
              </a:rPr>
              <a:t>Ingeniería de contexto</a:t>
            </a:r>
            <a:endParaRPr lang="en-US" sz="1100" dirty="0"/>
          </a:p>
        </p:txBody>
      </p:sp>
      <p:sp>
        <p:nvSpPr>
          <p:cNvPr id="18" name="Text 15"/>
          <p:cNvSpPr/>
          <p:nvPr/>
        </p:nvSpPr>
        <p:spPr>
          <a:xfrm>
            <a:off x="6264714" y="5042198"/>
            <a:ext cx="2399645"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Diseño de prompts, formato de citas y manejo de contexto insuficiente.</a:t>
            </a:r>
            <a:endParaRPr lang="en-US" sz="900" dirty="0"/>
          </a:p>
        </p:txBody>
      </p:sp>
      <p:sp>
        <p:nvSpPr>
          <p:cNvPr id="19" name="Shape 16"/>
          <p:cNvSpPr/>
          <p:nvPr/>
        </p:nvSpPr>
        <p:spPr>
          <a:xfrm>
            <a:off x="8873705" y="4684316"/>
            <a:ext cx="2656516" cy="801191"/>
          </a:xfrm>
          <a:prstGeom prst="roundRect">
            <a:avLst>
              <a:gd name="adj" fmla="val 951"/>
            </a:avLst>
          </a:prstGeom>
          <a:solidFill>
            <a:srgbClr val="FFFFFF">
              <a:alpha val="95000"/>
            </a:srgbClr>
          </a:solidFill>
          <a:ln w="12700">
            <a:solidFill>
              <a:srgbClr val="D8D4D4"/>
            </a:solidFill>
            <a:prstDash val="solid"/>
          </a:ln>
        </p:spPr>
      </p:sp>
      <p:sp>
        <p:nvSpPr>
          <p:cNvPr id="20" name="Text 17"/>
          <p:cNvSpPr/>
          <p:nvPr/>
        </p:nvSpPr>
        <p:spPr>
          <a:xfrm>
            <a:off x="9002090" y="4812705"/>
            <a:ext cx="2399744" cy="180876"/>
          </a:xfrm>
          <a:prstGeom prst="rect">
            <a:avLst/>
          </a:prstGeom>
          <a:noFill/>
          <a:ln/>
        </p:spPr>
        <p:txBody>
          <a:bodyPr wrap="none" lIns="0" tIns="0" rIns="0" bIns="0" rtlCol="0" anchor="t"/>
          <a:lstStyle/>
          <a:p>
            <a:pPr algn="l" indent="0" marL="0">
              <a:lnSpc>
                <a:spcPct val="104000"/>
              </a:lnSpc>
              <a:buNone/>
            </a:pPr>
            <a:r>
              <a:rPr lang="en-US" sz="1100" dirty="0">
                <a:solidFill>
                  <a:srgbClr val="3B3535"/>
                </a:solidFill>
                <a:latin typeface="Roboto Mono Medium" pitchFamily="34" charset="0"/>
                <a:ea typeface="Roboto Mono Medium" pitchFamily="34" charset="-122"/>
                <a:cs typeface="Roboto Mono Medium" pitchFamily="34" charset="-120"/>
              </a:rPr>
              <a:t>Evaluación continua</a:t>
            </a:r>
            <a:endParaRPr lang="en-US" sz="1100" dirty="0"/>
          </a:p>
        </p:txBody>
      </p:sp>
      <p:sp>
        <p:nvSpPr>
          <p:cNvPr id="21" name="Text 18"/>
          <p:cNvSpPr/>
          <p:nvPr/>
        </p:nvSpPr>
        <p:spPr>
          <a:xfrm>
            <a:off x="9002090" y="5042198"/>
            <a:ext cx="2399744"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Métricas de retrieval (Recall@k, NDCG) y generación (faithfulness).</a:t>
            </a:r>
            <a:endParaRPr lang="en-US" sz="900" dirty="0"/>
          </a:p>
        </p:txBody>
      </p:sp>
      <p:sp>
        <p:nvSpPr>
          <p:cNvPr id="22" name="Shape 19"/>
          <p:cNvSpPr/>
          <p:nvPr/>
        </p:nvSpPr>
        <p:spPr>
          <a:xfrm>
            <a:off x="661475" y="5566470"/>
            <a:ext cx="10868745" cy="643731"/>
          </a:xfrm>
          <a:prstGeom prst="roundRect">
            <a:avLst>
              <a:gd name="adj" fmla="val 1184"/>
            </a:avLst>
          </a:prstGeom>
          <a:solidFill>
            <a:srgbClr val="FFFFFF">
              <a:alpha val="95000"/>
            </a:srgbClr>
          </a:solidFill>
          <a:ln w="12700">
            <a:solidFill>
              <a:srgbClr val="D8D4D4"/>
            </a:solidFill>
            <a:prstDash val="solid"/>
          </a:ln>
        </p:spPr>
      </p:sp>
      <p:sp>
        <p:nvSpPr>
          <p:cNvPr id="23" name="Text 20"/>
          <p:cNvSpPr/>
          <p:nvPr/>
        </p:nvSpPr>
        <p:spPr>
          <a:xfrm>
            <a:off x="789861" y="5694859"/>
            <a:ext cx="10611974" cy="180876"/>
          </a:xfrm>
          <a:prstGeom prst="rect">
            <a:avLst/>
          </a:prstGeom>
          <a:noFill/>
          <a:ln/>
        </p:spPr>
        <p:txBody>
          <a:bodyPr wrap="none" lIns="0" tIns="0" rIns="0" bIns="0" rtlCol="0" anchor="t"/>
          <a:lstStyle/>
          <a:p>
            <a:pPr algn="l" indent="0" marL="0">
              <a:lnSpc>
                <a:spcPct val="104000"/>
              </a:lnSpc>
              <a:buNone/>
            </a:pPr>
            <a:r>
              <a:rPr lang="en-US" sz="1100" dirty="0">
                <a:solidFill>
                  <a:srgbClr val="3B3535"/>
                </a:solidFill>
                <a:latin typeface="Roboto Mono Medium" pitchFamily="34" charset="0"/>
                <a:ea typeface="Roboto Mono Medium" pitchFamily="34" charset="-122"/>
                <a:cs typeface="Roboto Mono Medium" pitchFamily="34" charset="-120"/>
              </a:rPr>
              <a:t>Observabilidad</a:t>
            </a:r>
            <a:endParaRPr lang="en-US" sz="1100" dirty="0"/>
          </a:p>
        </p:txBody>
      </p:sp>
      <p:sp>
        <p:nvSpPr>
          <p:cNvPr id="24" name="Text 21"/>
          <p:cNvSpPr/>
          <p:nvPr/>
        </p:nvSpPr>
        <p:spPr>
          <a:xfrm>
            <a:off x="789861" y="5924352"/>
            <a:ext cx="10611974"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Monitoreo de calidad, latencia y coste por consulta en tiempo real.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628055"/>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oboto Mono Medium" pitchFamily="34" charset="0"/>
                <a:ea typeface="Roboto Mono Medium" pitchFamily="34" charset="-122"/>
                <a:cs typeface="Roboto Mono Medium" pitchFamily="34" charset="-120"/>
              </a:rPr>
              <a:t>Agenda</a:t>
            </a:r>
            <a:endParaRPr lang="en-US" sz="2400" dirty="0"/>
          </a:p>
        </p:txBody>
      </p:sp>
      <p:sp>
        <p:nvSpPr>
          <p:cNvPr id="3" name="Shape 1"/>
          <p:cNvSpPr/>
          <p:nvPr/>
        </p:nvSpPr>
        <p:spPr>
          <a:xfrm>
            <a:off x="800973" y="1201738"/>
            <a:ext cx="12700" cy="5028109"/>
          </a:xfrm>
          <a:prstGeom prst="roundRect">
            <a:avLst>
              <a:gd name="adj" fmla="val 49999"/>
            </a:avLst>
          </a:prstGeom>
          <a:solidFill>
            <a:srgbClr val="D8D4D4"/>
          </a:solidFill>
          <a:ln/>
        </p:spPr>
      </p:sp>
      <p:sp>
        <p:nvSpPr>
          <p:cNvPr id="4" name="Shape 2"/>
          <p:cNvSpPr/>
          <p:nvPr/>
        </p:nvSpPr>
        <p:spPr>
          <a:xfrm>
            <a:off x="927821" y="1334889"/>
            <a:ext cx="372061" cy="12700"/>
          </a:xfrm>
          <a:prstGeom prst="roundRect">
            <a:avLst>
              <a:gd name="adj" fmla="val 49999"/>
            </a:avLst>
          </a:prstGeom>
          <a:solidFill>
            <a:srgbClr val="D8D4D4"/>
          </a:solidFill>
          <a:ln/>
        </p:spPr>
      </p:sp>
      <p:sp>
        <p:nvSpPr>
          <p:cNvPr id="5" name="Shape 3"/>
          <p:cNvSpPr/>
          <p:nvPr/>
        </p:nvSpPr>
        <p:spPr>
          <a:xfrm>
            <a:off x="661425" y="1201738"/>
            <a:ext cx="279095" cy="279102"/>
          </a:xfrm>
          <a:prstGeom prst="roundRect">
            <a:avLst>
              <a:gd name="adj" fmla="val 2730"/>
            </a:avLst>
          </a:prstGeom>
          <a:solidFill>
            <a:srgbClr val="F2EEEE"/>
          </a:solidFill>
          <a:ln w="6350">
            <a:solidFill>
              <a:srgbClr val="D8D4D4"/>
            </a:solidFill>
            <a:prstDash val="solid"/>
          </a:ln>
        </p:spPr>
      </p:sp>
      <p:sp>
        <p:nvSpPr>
          <p:cNvPr id="6" name="Text 4"/>
          <p:cNvSpPr/>
          <p:nvPr/>
        </p:nvSpPr>
        <p:spPr>
          <a:xfrm>
            <a:off x="707908" y="122495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1</a:t>
            </a:r>
            <a:endParaRPr lang="en-US" sz="1450" dirty="0"/>
          </a:p>
        </p:txBody>
      </p:sp>
      <p:sp>
        <p:nvSpPr>
          <p:cNvPr id="7" name="Text 5"/>
          <p:cNvSpPr/>
          <p:nvPr/>
        </p:nvSpPr>
        <p:spPr>
          <a:xfrm>
            <a:off x="1421174" y="124430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Fundamentos ✓</a:t>
            </a:r>
            <a:endParaRPr lang="en-US" sz="1200" dirty="0"/>
          </a:p>
        </p:txBody>
      </p:sp>
      <p:sp>
        <p:nvSpPr>
          <p:cNvPr id="8" name="Text 6"/>
          <p:cNvSpPr/>
          <p:nvPr/>
        </p:nvSpPr>
        <p:spPr>
          <a:xfrm>
            <a:off x="1421174" y="1493838"/>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RAG, por qué lo necesitamos y arquitectura básica.</a:t>
            </a:r>
            <a:endParaRPr lang="en-US" sz="950" dirty="0"/>
          </a:p>
        </p:txBody>
      </p:sp>
      <p:sp>
        <p:nvSpPr>
          <p:cNvPr id="9" name="Shape 7"/>
          <p:cNvSpPr/>
          <p:nvPr/>
        </p:nvSpPr>
        <p:spPr>
          <a:xfrm>
            <a:off x="927821" y="1986657"/>
            <a:ext cx="372061" cy="12700"/>
          </a:xfrm>
          <a:prstGeom prst="roundRect">
            <a:avLst>
              <a:gd name="adj" fmla="val 49999"/>
            </a:avLst>
          </a:prstGeom>
          <a:solidFill>
            <a:srgbClr val="F33447"/>
          </a:solidFill>
          <a:ln/>
        </p:spPr>
      </p:sp>
      <p:sp>
        <p:nvSpPr>
          <p:cNvPr id="10" name="Shape 8"/>
          <p:cNvSpPr/>
          <p:nvPr/>
        </p:nvSpPr>
        <p:spPr>
          <a:xfrm>
            <a:off x="661425" y="1853505"/>
            <a:ext cx="279095" cy="279102"/>
          </a:xfrm>
          <a:prstGeom prst="roundRect">
            <a:avLst>
              <a:gd name="adj" fmla="val 2730"/>
            </a:avLst>
          </a:prstGeom>
          <a:solidFill>
            <a:srgbClr val="DA1B2E"/>
          </a:solidFill>
          <a:ln w="6350">
            <a:solidFill>
              <a:srgbClr val="F33447"/>
            </a:solidFill>
            <a:prstDash val="solid"/>
          </a:ln>
        </p:spPr>
      </p:sp>
      <p:sp>
        <p:nvSpPr>
          <p:cNvPr id="11" name="Text 9"/>
          <p:cNvSpPr/>
          <p:nvPr/>
        </p:nvSpPr>
        <p:spPr>
          <a:xfrm>
            <a:off x="707908" y="187672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Roboto Mono Medium" pitchFamily="34" charset="0"/>
                <a:ea typeface="Roboto Mono Medium" pitchFamily="34" charset="-122"/>
                <a:cs typeface="Roboto Mono Medium" pitchFamily="34" charset="-120"/>
              </a:rPr>
              <a:t>2</a:t>
            </a:r>
            <a:endParaRPr lang="en-US" sz="1450" dirty="0"/>
          </a:p>
        </p:txBody>
      </p:sp>
      <p:sp>
        <p:nvSpPr>
          <p:cNvPr id="12" name="Text 10"/>
          <p:cNvSpPr/>
          <p:nvPr/>
        </p:nvSpPr>
        <p:spPr>
          <a:xfrm>
            <a:off x="1421174" y="189607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Búsqueda y Recuperación</a:t>
            </a:r>
            <a:endParaRPr lang="en-US" sz="1200" dirty="0"/>
          </a:p>
        </p:txBody>
      </p:sp>
      <p:sp>
        <p:nvSpPr>
          <p:cNvPr id="13" name="Text 11"/>
          <p:cNvSpPr/>
          <p:nvPr/>
        </p:nvSpPr>
        <p:spPr>
          <a:xfrm>
            <a:off x="1421174" y="214560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Búsqueda vectorial, léxica, semántica e híbrida. Bases de datos y flujo completo.</a:t>
            </a:r>
            <a:endParaRPr lang="en-US" sz="950" dirty="0"/>
          </a:p>
        </p:txBody>
      </p:sp>
      <p:sp>
        <p:nvSpPr>
          <p:cNvPr id="14" name="Shape 12"/>
          <p:cNvSpPr/>
          <p:nvPr/>
        </p:nvSpPr>
        <p:spPr>
          <a:xfrm>
            <a:off x="927821" y="2638425"/>
            <a:ext cx="372061" cy="12700"/>
          </a:xfrm>
          <a:prstGeom prst="roundRect">
            <a:avLst>
              <a:gd name="adj" fmla="val 49999"/>
            </a:avLst>
          </a:prstGeom>
          <a:solidFill>
            <a:srgbClr val="D8D4D4"/>
          </a:solidFill>
          <a:ln/>
        </p:spPr>
      </p:sp>
      <p:sp>
        <p:nvSpPr>
          <p:cNvPr id="15" name="Shape 13"/>
          <p:cNvSpPr/>
          <p:nvPr/>
        </p:nvSpPr>
        <p:spPr>
          <a:xfrm>
            <a:off x="661425" y="2505273"/>
            <a:ext cx="279095" cy="279102"/>
          </a:xfrm>
          <a:prstGeom prst="roundRect">
            <a:avLst>
              <a:gd name="adj" fmla="val 2730"/>
            </a:avLst>
          </a:prstGeom>
          <a:solidFill>
            <a:srgbClr val="F2EEEE"/>
          </a:solidFill>
          <a:ln w="6350">
            <a:solidFill>
              <a:srgbClr val="D8D4D4"/>
            </a:solidFill>
            <a:prstDash val="solid"/>
          </a:ln>
        </p:spPr>
      </p:sp>
      <p:sp>
        <p:nvSpPr>
          <p:cNvPr id="16" name="Text 14"/>
          <p:cNvSpPr/>
          <p:nvPr/>
        </p:nvSpPr>
        <p:spPr>
          <a:xfrm>
            <a:off x="707908" y="2528491"/>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3</a:t>
            </a:r>
            <a:endParaRPr lang="en-US" sz="1450" dirty="0"/>
          </a:p>
        </p:txBody>
      </p:sp>
      <p:sp>
        <p:nvSpPr>
          <p:cNvPr id="17" name="Text 15"/>
          <p:cNvSpPr/>
          <p:nvPr/>
        </p:nvSpPr>
        <p:spPr>
          <a:xfrm>
            <a:off x="1421174" y="254783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Reranking y Precisión</a:t>
            </a:r>
            <a:endParaRPr lang="en-US" sz="1200" dirty="0"/>
          </a:p>
        </p:txBody>
      </p:sp>
      <p:sp>
        <p:nvSpPr>
          <p:cNvPr id="18" name="Text 16"/>
          <p:cNvSpPr/>
          <p:nvPr/>
        </p:nvSpPr>
        <p:spPr>
          <a:xfrm>
            <a:off x="1421174" y="279737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Recuperación en dos etapas, cross-encoders, Reciprocal Rank Fusion y optimización de precisión.</a:t>
            </a:r>
            <a:endParaRPr lang="en-US" sz="950" dirty="0"/>
          </a:p>
        </p:txBody>
      </p:sp>
      <p:sp>
        <p:nvSpPr>
          <p:cNvPr id="19" name="Shape 17"/>
          <p:cNvSpPr/>
          <p:nvPr/>
        </p:nvSpPr>
        <p:spPr>
          <a:xfrm>
            <a:off x="927821" y="3290193"/>
            <a:ext cx="372061" cy="12700"/>
          </a:xfrm>
          <a:prstGeom prst="roundRect">
            <a:avLst>
              <a:gd name="adj" fmla="val 49999"/>
            </a:avLst>
          </a:prstGeom>
          <a:solidFill>
            <a:srgbClr val="D8D4D4"/>
          </a:solidFill>
          <a:ln/>
        </p:spPr>
      </p:sp>
      <p:sp>
        <p:nvSpPr>
          <p:cNvPr id="20" name="Shape 18"/>
          <p:cNvSpPr/>
          <p:nvPr/>
        </p:nvSpPr>
        <p:spPr>
          <a:xfrm>
            <a:off x="661425" y="3157041"/>
            <a:ext cx="279095" cy="279102"/>
          </a:xfrm>
          <a:prstGeom prst="roundRect">
            <a:avLst>
              <a:gd name="adj" fmla="val 2730"/>
            </a:avLst>
          </a:prstGeom>
          <a:solidFill>
            <a:srgbClr val="F2EEEE"/>
          </a:solidFill>
          <a:ln w="6350">
            <a:solidFill>
              <a:srgbClr val="D8D4D4"/>
            </a:solidFill>
            <a:prstDash val="solid"/>
          </a:ln>
        </p:spPr>
      </p:sp>
      <p:sp>
        <p:nvSpPr>
          <p:cNvPr id="21" name="Text 19"/>
          <p:cNvSpPr/>
          <p:nvPr/>
        </p:nvSpPr>
        <p:spPr>
          <a:xfrm>
            <a:off x="707908" y="3180259"/>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4</a:t>
            </a:r>
            <a:endParaRPr lang="en-US" sz="1450" dirty="0"/>
          </a:p>
        </p:txBody>
      </p:sp>
      <p:sp>
        <p:nvSpPr>
          <p:cNvPr id="22" name="Text 20"/>
          <p:cNvSpPr/>
          <p:nvPr/>
        </p:nvSpPr>
        <p:spPr>
          <a:xfrm>
            <a:off x="1421174" y="3199606"/>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Chunking y Metadatos</a:t>
            </a:r>
            <a:endParaRPr lang="en-US" sz="1200" dirty="0"/>
          </a:p>
        </p:txBody>
      </p:sp>
      <p:sp>
        <p:nvSpPr>
          <p:cNvPr id="23" name="Text 21"/>
          <p:cNvSpPr/>
          <p:nvPr/>
        </p:nvSpPr>
        <p:spPr>
          <a:xfrm>
            <a:off x="1421174" y="3449141"/>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Fragmentación de documentos, estrategias de chunking y metadatos esenciales.</a:t>
            </a:r>
            <a:endParaRPr lang="en-US" sz="950" dirty="0"/>
          </a:p>
        </p:txBody>
      </p:sp>
      <p:sp>
        <p:nvSpPr>
          <p:cNvPr id="24" name="Shape 22"/>
          <p:cNvSpPr/>
          <p:nvPr/>
        </p:nvSpPr>
        <p:spPr>
          <a:xfrm>
            <a:off x="927821" y="3941961"/>
            <a:ext cx="372061" cy="12700"/>
          </a:xfrm>
          <a:prstGeom prst="roundRect">
            <a:avLst>
              <a:gd name="adj" fmla="val 49999"/>
            </a:avLst>
          </a:prstGeom>
          <a:solidFill>
            <a:srgbClr val="D8D4D4"/>
          </a:solidFill>
          <a:ln/>
        </p:spPr>
      </p:sp>
      <p:sp>
        <p:nvSpPr>
          <p:cNvPr id="25" name="Shape 23"/>
          <p:cNvSpPr/>
          <p:nvPr/>
        </p:nvSpPr>
        <p:spPr>
          <a:xfrm>
            <a:off x="661425" y="3808809"/>
            <a:ext cx="279095" cy="279102"/>
          </a:xfrm>
          <a:prstGeom prst="roundRect">
            <a:avLst>
              <a:gd name="adj" fmla="val 2730"/>
            </a:avLst>
          </a:prstGeom>
          <a:solidFill>
            <a:srgbClr val="F2EEEE"/>
          </a:solidFill>
          <a:ln w="6350">
            <a:solidFill>
              <a:srgbClr val="D8D4D4"/>
            </a:solidFill>
            <a:prstDash val="solid"/>
          </a:ln>
        </p:spPr>
      </p:sp>
      <p:sp>
        <p:nvSpPr>
          <p:cNvPr id="26" name="Text 24"/>
          <p:cNvSpPr/>
          <p:nvPr/>
        </p:nvSpPr>
        <p:spPr>
          <a:xfrm>
            <a:off x="707908" y="3832027"/>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5</a:t>
            </a:r>
            <a:endParaRPr lang="en-US" sz="1450" dirty="0"/>
          </a:p>
        </p:txBody>
      </p:sp>
      <p:sp>
        <p:nvSpPr>
          <p:cNvPr id="27" name="Text 25"/>
          <p:cNvSpPr/>
          <p:nvPr/>
        </p:nvSpPr>
        <p:spPr>
          <a:xfrm>
            <a:off x="1421174" y="3851374"/>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Evaluación, Seguridad y Patrones Avanzados</a:t>
            </a:r>
            <a:endParaRPr lang="en-US" sz="1200" dirty="0"/>
          </a:p>
        </p:txBody>
      </p:sp>
      <p:sp>
        <p:nvSpPr>
          <p:cNvPr id="28" name="Text 26"/>
          <p:cNvSpPr/>
          <p:nvPr/>
        </p:nvSpPr>
        <p:spPr>
          <a:xfrm>
            <a:off x="1421174" y="4100909"/>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Métricas clave, LLM-as-Judge, riesgos, GraphRAG, Agentic RAG y RAG Multimodal.</a:t>
            </a:r>
            <a:endParaRPr lang="en-US" sz="950" dirty="0"/>
          </a:p>
        </p:txBody>
      </p:sp>
      <p:sp>
        <p:nvSpPr>
          <p:cNvPr id="29" name="Shape 27"/>
          <p:cNvSpPr/>
          <p:nvPr/>
        </p:nvSpPr>
        <p:spPr>
          <a:xfrm>
            <a:off x="927821" y="4593729"/>
            <a:ext cx="372061" cy="12700"/>
          </a:xfrm>
          <a:prstGeom prst="roundRect">
            <a:avLst>
              <a:gd name="adj" fmla="val 49999"/>
            </a:avLst>
          </a:prstGeom>
          <a:solidFill>
            <a:srgbClr val="D8D4D4"/>
          </a:solidFill>
          <a:ln/>
        </p:spPr>
      </p:sp>
      <p:sp>
        <p:nvSpPr>
          <p:cNvPr id="30" name="Shape 28"/>
          <p:cNvSpPr/>
          <p:nvPr/>
        </p:nvSpPr>
        <p:spPr>
          <a:xfrm>
            <a:off x="661425" y="4460577"/>
            <a:ext cx="279095" cy="279102"/>
          </a:xfrm>
          <a:prstGeom prst="roundRect">
            <a:avLst>
              <a:gd name="adj" fmla="val 2730"/>
            </a:avLst>
          </a:prstGeom>
          <a:solidFill>
            <a:srgbClr val="F2EEEE"/>
          </a:solidFill>
          <a:ln w="6350">
            <a:solidFill>
              <a:srgbClr val="D8D4D4"/>
            </a:solidFill>
            <a:prstDash val="solid"/>
          </a:ln>
        </p:spPr>
      </p:sp>
      <p:sp>
        <p:nvSpPr>
          <p:cNvPr id="31" name="Text 29"/>
          <p:cNvSpPr/>
          <p:nvPr/>
        </p:nvSpPr>
        <p:spPr>
          <a:xfrm>
            <a:off x="707908" y="448379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6</a:t>
            </a:r>
            <a:endParaRPr lang="en-US" sz="1450" dirty="0"/>
          </a:p>
        </p:txBody>
      </p:sp>
      <p:sp>
        <p:nvSpPr>
          <p:cNvPr id="32" name="Text 30"/>
          <p:cNvSpPr/>
          <p:nvPr/>
        </p:nvSpPr>
        <p:spPr>
          <a:xfrm>
            <a:off x="1421174" y="450314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Fundamentos</a:t>
            </a:r>
            <a:endParaRPr lang="en-US" sz="1200" dirty="0"/>
          </a:p>
        </p:txBody>
      </p:sp>
      <p:sp>
        <p:nvSpPr>
          <p:cNvPr id="33" name="Text 31"/>
          <p:cNvSpPr/>
          <p:nvPr/>
        </p:nvSpPr>
        <p:spPr>
          <a:xfrm>
            <a:off x="1421174" y="4752677"/>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MCP, historia, protocolo JSON-RPC y comparativa con HTTP/GraphQL.</a:t>
            </a:r>
            <a:endParaRPr lang="en-US" sz="950" dirty="0"/>
          </a:p>
        </p:txBody>
      </p:sp>
      <p:sp>
        <p:nvSpPr>
          <p:cNvPr id="34" name="Shape 32"/>
          <p:cNvSpPr/>
          <p:nvPr/>
        </p:nvSpPr>
        <p:spPr>
          <a:xfrm>
            <a:off x="927821" y="5245497"/>
            <a:ext cx="372061" cy="12700"/>
          </a:xfrm>
          <a:prstGeom prst="roundRect">
            <a:avLst>
              <a:gd name="adj" fmla="val 49999"/>
            </a:avLst>
          </a:prstGeom>
          <a:solidFill>
            <a:srgbClr val="D8D4D4"/>
          </a:solidFill>
          <a:ln/>
        </p:spPr>
      </p:sp>
      <p:sp>
        <p:nvSpPr>
          <p:cNvPr id="35" name="Shape 33"/>
          <p:cNvSpPr/>
          <p:nvPr/>
        </p:nvSpPr>
        <p:spPr>
          <a:xfrm>
            <a:off x="661425" y="5112345"/>
            <a:ext cx="279095" cy="279102"/>
          </a:xfrm>
          <a:prstGeom prst="roundRect">
            <a:avLst>
              <a:gd name="adj" fmla="val 2730"/>
            </a:avLst>
          </a:prstGeom>
          <a:solidFill>
            <a:srgbClr val="F2EEEE"/>
          </a:solidFill>
          <a:ln w="6350">
            <a:solidFill>
              <a:srgbClr val="D8D4D4"/>
            </a:solidFill>
            <a:prstDash val="solid"/>
          </a:ln>
        </p:spPr>
      </p:sp>
      <p:sp>
        <p:nvSpPr>
          <p:cNvPr id="36" name="Text 34"/>
          <p:cNvSpPr/>
          <p:nvPr/>
        </p:nvSpPr>
        <p:spPr>
          <a:xfrm>
            <a:off x="707908" y="513556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7</a:t>
            </a:r>
            <a:endParaRPr lang="en-US" sz="1450" dirty="0"/>
          </a:p>
        </p:txBody>
      </p:sp>
      <p:sp>
        <p:nvSpPr>
          <p:cNvPr id="37" name="Text 35"/>
          <p:cNvSpPr/>
          <p:nvPr/>
        </p:nvSpPr>
        <p:spPr>
          <a:xfrm>
            <a:off x="1421174" y="515491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Arquitectura y Uso</a:t>
            </a:r>
            <a:endParaRPr lang="en-US" sz="1200" dirty="0"/>
          </a:p>
        </p:txBody>
      </p:sp>
      <p:sp>
        <p:nvSpPr>
          <p:cNvPr id="38" name="Text 36"/>
          <p:cNvSpPr/>
          <p:nvPr/>
        </p:nvSpPr>
        <p:spPr>
          <a:xfrm>
            <a:off x="1421174" y="540444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Ciclo de vida, multi-servidor, ecosistema, casos de uso con Claude y cómo conectar servidores.</a:t>
            </a:r>
            <a:endParaRPr lang="en-US" sz="950" dirty="0"/>
          </a:p>
        </p:txBody>
      </p:sp>
      <p:sp>
        <p:nvSpPr>
          <p:cNvPr id="39" name="Shape 37"/>
          <p:cNvSpPr/>
          <p:nvPr/>
        </p:nvSpPr>
        <p:spPr>
          <a:xfrm>
            <a:off x="927821" y="5897265"/>
            <a:ext cx="372061" cy="12700"/>
          </a:xfrm>
          <a:prstGeom prst="roundRect">
            <a:avLst>
              <a:gd name="adj" fmla="val 49999"/>
            </a:avLst>
          </a:prstGeom>
          <a:solidFill>
            <a:srgbClr val="D8D4D4"/>
          </a:solidFill>
          <a:ln/>
        </p:spPr>
      </p:sp>
      <p:sp>
        <p:nvSpPr>
          <p:cNvPr id="40" name="Shape 38"/>
          <p:cNvSpPr/>
          <p:nvPr/>
        </p:nvSpPr>
        <p:spPr>
          <a:xfrm>
            <a:off x="661425" y="5764113"/>
            <a:ext cx="279095" cy="279102"/>
          </a:xfrm>
          <a:prstGeom prst="roundRect">
            <a:avLst>
              <a:gd name="adj" fmla="val 2730"/>
            </a:avLst>
          </a:prstGeom>
          <a:solidFill>
            <a:srgbClr val="F2EEEE"/>
          </a:solidFill>
          <a:ln w="6350">
            <a:solidFill>
              <a:srgbClr val="D8D4D4"/>
            </a:solidFill>
            <a:prstDash val="solid"/>
          </a:ln>
        </p:spPr>
      </p:sp>
      <p:sp>
        <p:nvSpPr>
          <p:cNvPr id="41" name="Text 39"/>
          <p:cNvSpPr/>
          <p:nvPr/>
        </p:nvSpPr>
        <p:spPr>
          <a:xfrm>
            <a:off x="707908" y="5787330"/>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8</a:t>
            </a:r>
            <a:endParaRPr lang="en-US" sz="1450" dirty="0"/>
          </a:p>
        </p:txBody>
      </p:sp>
      <p:sp>
        <p:nvSpPr>
          <p:cNvPr id="42" name="Text 40"/>
          <p:cNvSpPr/>
          <p:nvPr/>
        </p:nvSpPr>
        <p:spPr>
          <a:xfrm>
            <a:off x="1421174" y="580667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Diseño de Herramientas</a:t>
            </a:r>
            <a:endParaRPr lang="en-US" sz="1200" dirty="0"/>
          </a:p>
        </p:txBody>
      </p:sp>
      <p:sp>
        <p:nvSpPr>
          <p:cNvPr id="43" name="Text 41"/>
          <p:cNvSpPr/>
          <p:nvPr/>
        </p:nvSpPr>
        <p:spPr>
          <a:xfrm>
            <a:off x="1421174" y="605621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Selección de herramientas, routing jerárquico, grupos por contexto, diferenciación y analytics en producción.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791766"/>
            <a:ext cx="2297353" cy="251420"/>
          </a:xfrm>
          <a:prstGeom prst="roundRect">
            <a:avLst>
              <a:gd name="adj" fmla="val 3031"/>
            </a:avLst>
          </a:prstGeom>
          <a:solidFill>
            <a:srgbClr val="F9D2D6"/>
          </a:solidFill>
          <a:ln/>
        </p:spPr>
      </p:sp>
      <p:sp>
        <p:nvSpPr>
          <p:cNvPr id="3" name="Text 1"/>
          <p:cNvSpPr/>
          <p:nvPr/>
        </p:nvSpPr>
        <p:spPr>
          <a:xfrm>
            <a:off x="760691" y="841375"/>
            <a:ext cx="2708505"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BÚSQUEDA Y RECUPERACIÓN</a:t>
            </a:r>
            <a:endParaRPr lang="en-US" sz="1000" dirty="0"/>
          </a:p>
        </p:txBody>
      </p:sp>
      <p:sp>
        <p:nvSpPr>
          <p:cNvPr id="4" name="Text 2"/>
          <p:cNvSpPr/>
          <p:nvPr/>
        </p:nvSpPr>
        <p:spPr>
          <a:xfrm>
            <a:off x="661475" y="1109266"/>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Fuentes de conocimiento</a:t>
            </a:r>
            <a:endParaRPr lang="en-US"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874044"/>
            <a:ext cx="413434" cy="413445"/>
          </a:xfrm>
          <a:prstGeom prst="rect">
            <a:avLst/>
          </a:prstGeom>
        </p:spPr>
      </p:pic>
      <p:sp>
        <p:nvSpPr>
          <p:cNvPr id="6" name="Text 3"/>
          <p:cNvSpPr/>
          <p:nvPr/>
        </p:nvSpPr>
        <p:spPr>
          <a:xfrm>
            <a:off x="661475" y="2494161"/>
            <a:ext cx="5330989"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Documentos no estructurados</a:t>
            </a:r>
            <a:endParaRPr lang="en-US" sz="1600" dirty="0"/>
          </a:p>
        </p:txBody>
      </p:sp>
      <p:sp>
        <p:nvSpPr>
          <p:cNvPr id="7" name="Text 4"/>
          <p:cNvSpPr/>
          <p:nvPr/>
        </p:nvSpPr>
        <p:spPr>
          <a:xfrm>
            <a:off x="661475" y="2851845"/>
            <a:ext cx="533098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PDFs, artículos científicos, guías clínicas, informes. La fuente más común en biomedicina.</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9132" y="1874044"/>
            <a:ext cx="413434" cy="413445"/>
          </a:xfrm>
          <a:prstGeom prst="rect">
            <a:avLst/>
          </a:prstGeom>
        </p:spPr>
      </p:pic>
      <p:sp>
        <p:nvSpPr>
          <p:cNvPr id="9" name="Text 5"/>
          <p:cNvSpPr/>
          <p:nvPr/>
        </p:nvSpPr>
        <p:spPr>
          <a:xfrm>
            <a:off x="6199132" y="2494161"/>
            <a:ext cx="5331089"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Bases de datos estructuradas</a:t>
            </a:r>
            <a:endParaRPr lang="en-US" sz="1600" dirty="0"/>
          </a:p>
        </p:txBody>
      </p:sp>
      <p:sp>
        <p:nvSpPr>
          <p:cNvPr id="10" name="Text 6"/>
          <p:cNvSpPr/>
          <p:nvPr/>
        </p:nvSpPr>
        <p:spPr>
          <a:xfrm>
            <a:off x="6199132" y="2851845"/>
            <a:ext cx="533108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Registros clínicos, bases de datos relacionales, ontologías médicas (SNOMED, ICD-10).</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711773"/>
            <a:ext cx="413434" cy="413445"/>
          </a:xfrm>
          <a:prstGeom prst="rect">
            <a:avLst/>
          </a:prstGeom>
        </p:spPr>
      </p:pic>
      <p:sp>
        <p:nvSpPr>
          <p:cNvPr id="12" name="Text 7"/>
          <p:cNvSpPr/>
          <p:nvPr/>
        </p:nvSpPr>
        <p:spPr>
          <a:xfrm>
            <a:off x="661475" y="4331891"/>
            <a:ext cx="5330989"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APIs y fuentes en tiempo real</a:t>
            </a:r>
            <a:endParaRPr lang="en-US" sz="1600" dirty="0"/>
          </a:p>
        </p:txBody>
      </p:sp>
      <p:sp>
        <p:nvSpPr>
          <p:cNvPr id="13" name="Text 8"/>
          <p:cNvSpPr/>
          <p:nvPr/>
        </p:nvSpPr>
        <p:spPr>
          <a:xfrm>
            <a:off x="661475" y="4689574"/>
            <a:ext cx="533098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Datos de mercado, feeds de noticias, resultados de búsqueda web, APIs REST.</a:t>
            </a:r>
            <a:endParaRPr lang="en-US" sz="13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9132" y="3711773"/>
            <a:ext cx="413434" cy="413445"/>
          </a:xfrm>
          <a:prstGeom prst="rect">
            <a:avLst/>
          </a:prstGeom>
        </p:spPr>
      </p:pic>
      <p:sp>
        <p:nvSpPr>
          <p:cNvPr id="15" name="Text 9"/>
          <p:cNvSpPr/>
          <p:nvPr/>
        </p:nvSpPr>
        <p:spPr>
          <a:xfrm>
            <a:off x="6199132" y="4331891"/>
            <a:ext cx="5331089"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Código y datos técnicos</a:t>
            </a:r>
            <a:endParaRPr lang="en-US" sz="1600" dirty="0"/>
          </a:p>
        </p:txBody>
      </p:sp>
      <p:sp>
        <p:nvSpPr>
          <p:cNvPr id="16" name="Text 10"/>
          <p:cNvSpPr/>
          <p:nvPr/>
        </p:nvSpPr>
        <p:spPr>
          <a:xfrm>
            <a:off x="6199132" y="4689574"/>
            <a:ext cx="533108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Repositorios de código, logs de sistemas, datos de sensores, registros de laboratorio.</a:t>
            </a:r>
            <a:endParaRPr lang="en-US" sz="1300" dirty="0"/>
          </a:p>
        </p:txBody>
      </p:sp>
      <p:sp>
        <p:nvSpPr>
          <p:cNvPr id="17" name="Shape 11"/>
          <p:cNvSpPr/>
          <p:nvPr/>
        </p:nvSpPr>
        <p:spPr>
          <a:xfrm>
            <a:off x="661475" y="5404842"/>
            <a:ext cx="10868745" cy="661293"/>
          </a:xfrm>
          <a:prstGeom prst="roundRect">
            <a:avLst>
              <a:gd name="adj" fmla="val 1152"/>
            </a:avLst>
          </a:prstGeom>
          <a:solidFill>
            <a:srgbClr val="F9D2D6"/>
          </a:solidFill>
          <a:ln/>
        </p:spPr>
      </p:sp>
      <p:pic>
        <p:nvPicPr>
          <p:cNvPr id="18" name="Image 4" descr="preencoded.png">    </p:cNvPr>
          <p:cNvPicPr>
            <a:picLocks noChangeAspect="1"/>
          </p:cNvPicPr>
          <p:nvPr/>
        </p:nvPicPr>
        <p:blipFill>
          <a:blip r:embed="rId9"/>
          <a:stretch>
            <a:fillRect/>
          </a:stretch>
        </p:blipFill>
        <p:spPr>
          <a:xfrm>
            <a:off x="826769" y="5644555"/>
            <a:ext cx="206667" cy="165298"/>
          </a:xfrm>
          <a:prstGeom prst="rect">
            <a:avLst/>
          </a:prstGeom>
        </p:spPr>
      </p:pic>
      <p:sp>
        <p:nvSpPr>
          <p:cNvPr id="19" name="Text 12"/>
          <p:cNvSpPr/>
          <p:nvPr/>
        </p:nvSpPr>
        <p:spPr>
          <a:xfrm>
            <a:off x="1198731" y="5611416"/>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La calidad y cobertura de las fuentes determina directamente la calidad de las respuestas RAG. </a:t>
            </a:r>
            <a:pPr algn="l" indent="0" marL="0">
              <a:lnSpc>
                <a:spcPct val="133000"/>
              </a:lnSpc>
              <a:buNone/>
            </a:pPr>
            <a:r>
              <a:rPr lang="en-US" sz="1300" i="1" dirty="0">
                <a:solidFill>
                  <a:srgbClr val="000000"/>
                </a:solidFill>
                <a:latin typeface="Roboto" pitchFamily="34" charset="0"/>
                <a:ea typeface="Roboto" pitchFamily="34" charset="-122"/>
                <a:cs typeface="Roboto" pitchFamily="34" charset="-120"/>
              </a:rPr>
              <a:t>Garbage in, garbage out</a:t>
            </a:r>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493514"/>
            <a:ext cx="1837287" cy="201116"/>
          </a:xfrm>
          <a:prstGeom prst="roundRect">
            <a:avLst>
              <a:gd name="adj" fmla="val 3789"/>
            </a:avLst>
          </a:prstGeom>
          <a:solidFill>
            <a:srgbClr val="F9D2D6"/>
          </a:solidFill>
          <a:ln/>
        </p:spPr>
      </p:sp>
      <p:sp>
        <p:nvSpPr>
          <p:cNvPr id="3" name="Text 1"/>
          <p:cNvSpPr/>
          <p:nvPr/>
        </p:nvSpPr>
        <p:spPr>
          <a:xfrm>
            <a:off x="740848" y="533202"/>
            <a:ext cx="2288126" cy="121741"/>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Roboto" pitchFamily="34" charset="0"/>
                <a:ea typeface="Roboto" pitchFamily="34" charset="-122"/>
                <a:cs typeface="Roboto" pitchFamily="34" charset="-120"/>
              </a:rPr>
              <a:t>RAG: BÚSQUEDA Y RECUPERACIÓN</a:t>
            </a:r>
            <a:endParaRPr lang="en-US" sz="800" dirty="0"/>
          </a:p>
        </p:txBody>
      </p:sp>
      <p:sp>
        <p:nvSpPr>
          <p:cNvPr id="4" name="Text 2"/>
          <p:cNvSpPr/>
          <p:nvPr/>
        </p:nvSpPr>
        <p:spPr>
          <a:xfrm>
            <a:off x="661475" y="736898"/>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1F1E1E"/>
                </a:solidFill>
                <a:latin typeface="Roboto Mono Medium" pitchFamily="34" charset="0"/>
                <a:ea typeface="Roboto Mono Medium" pitchFamily="34" charset="-122"/>
                <a:cs typeface="Roboto Mono Medium" pitchFamily="34" charset="-120"/>
              </a:rPr>
              <a:t>Estructuras de Bases de Datos</a:t>
            </a:r>
            <a:endParaRPr lang="en-US" sz="26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309092"/>
            <a:ext cx="5381490" cy="2320032"/>
          </a:xfrm>
          <a:prstGeom prst="rect">
            <a:avLst/>
          </a:prstGeom>
        </p:spPr>
      </p:pic>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2847" y="1428155"/>
            <a:ext cx="158746" cy="158750"/>
          </a:xfrm>
          <a:prstGeom prst="rect">
            <a:avLst/>
          </a:prstGeom>
        </p:spPr>
      </p:pic>
      <p:sp>
        <p:nvSpPr>
          <p:cNvPr id="7" name="Text 3"/>
          <p:cNvSpPr/>
          <p:nvPr/>
        </p:nvSpPr>
        <p:spPr>
          <a:xfrm>
            <a:off x="812780" y="1838226"/>
            <a:ext cx="5078881"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Índice Invertido</a:t>
            </a:r>
            <a:endParaRPr lang="en-US" sz="1300" dirty="0"/>
          </a:p>
        </p:txBody>
      </p:sp>
      <p:sp>
        <p:nvSpPr>
          <p:cNvPr id="8" name="Text 4"/>
          <p:cNvSpPr/>
          <p:nvPr/>
        </p:nvSpPr>
        <p:spPr>
          <a:xfrm>
            <a:off x="812780" y="2108398"/>
            <a:ext cx="5078881"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BM25 / Keywords</a:t>
            </a:r>
            <a:endParaRPr lang="en-US" sz="1000" dirty="0"/>
          </a:p>
        </p:txBody>
      </p:sp>
      <p:sp>
        <p:nvSpPr>
          <p:cNvPr id="9" name="Text 5"/>
          <p:cNvSpPr/>
          <p:nvPr/>
        </p:nvSpPr>
        <p:spPr>
          <a:xfrm>
            <a:off x="812780" y="2362398"/>
            <a:ext cx="5078881" cy="645517"/>
          </a:xfrm>
          <a:prstGeom prst="rect">
            <a:avLst/>
          </a:prstGeom>
          <a:noFill/>
          <a:ln/>
        </p:spPr>
        <p:txBody>
          <a:bodyPr wrap="square" lIns="0" tIns="52925" rIns="0" bIns="0" rtlCol="0" anchor="t">
            <a:normAutofit/>
          </a:bodyPr>
          <a:lstStyle/>
          <a:p>
            <a:pPr algn="l" marL="203200" indent="-203200">
              <a:lnSpc>
                <a:spcPct val="120000"/>
              </a:lnSpc>
              <a:buSzPct val="100000"/>
              <a:buChar char="•"/>
            </a:pPr>
            <a:r>
              <a:rPr lang="en-US" sz="1000" dirty="0">
                <a:solidFill>
                  <a:srgbClr val="3B3535"/>
                </a:solidFill>
                <a:latin typeface="Roboto" pitchFamily="34" charset="0"/>
                <a:ea typeface="Roboto" pitchFamily="34" charset="-122"/>
                <a:cs typeface="Roboto" pitchFamily="34" charset="-120"/>
              </a:rPr>
              <a:t>búsqueda por palabras exactas</a:t>
            </a:r>
            <a:endParaRPr lang="en-US" sz="1000" dirty="0"/>
          </a:p>
          <a:p>
            <a:pPr algn="l" marL="203200" indent="-203200">
              <a:lnSpc>
                <a:spcPct val="120000"/>
              </a:lnSpc>
              <a:buSzPct val="100000"/>
              <a:buChar char="•"/>
            </a:pPr>
            <a:r>
              <a:rPr lang="en-US" sz="1000" dirty="0">
                <a:solidFill>
                  <a:srgbClr val="3B3535"/>
                </a:solidFill>
                <a:latin typeface="Roboto" pitchFamily="34" charset="0"/>
                <a:ea typeface="Roboto" pitchFamily="34" charset="-122"/>
                <a:cs typeface="Roboto" pitchFamily="34" charset="-120"/>
              </a:rPr>
              <a:t>alta velocidad en consultas exactas</a:t>
            </a:r>
            <a:endParaRPr lang="en-US" sz="1000" dirty="0"/>
          </a:p>
          <a:p>
            <a:pPr algn="l" marL="203200" indent="-203200">
              <a:lnSpc>
                <a:spcPct val="120000"/>
              </a:lnSpc>
              <a:buSzPct val="100000"/>
              <a:buChar char="•"/>
            </a:pPr>
            <a:r>
              <a:rPr lang="en-US" sz="1000" dirty="0">
                <a:solidFill>
                  <a:srgbClr val="3B3535"/>
                </a:solidFill>
                <a:latin typeface="Roboto" pitchFamily="34" charset="0"/>
                <a:ea typeface="Roboto" pitchFamily="34" charset="-122"/>
                <a:cs typeface="Roboto" pitchFamily="34" charset="-120"/>
              </a:rPr>
              <a:t>ideal para terminología especializada (ICD-10, SKUs, términos legales)</a:t>
            </a:r>
            <a:endParaRPr lang="en-US" sz="1000" dirty="0"/>
          </a:p>
        </p:txBody>
      </p:sp>
      <p:sp>
        <p:nvSpPr>
          <p:cNvPr id="10" name="Text 6"/>
          <p:cNvSpPr/>
          <p:nvPr/>
        </p:nvSpPr>
        <p:spPr>
          <a:xfrm>
            <a:off x="812780" y="3071416"/>
            <a:ext cx="5078881"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Mejor para:</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Búsqueda exacta y filtrado por keywords</a:t>
            </a:r>
            <a:endParaRPr lang="en-US" sz="1000" dirty="0"/>
          </a:p>
        </p:txBody>
      </p:sp>
      <p:sp>
        <p:nvSpPr>
          <p:cNvPr id="11" name="Text 7"/>
          <p:cNvSpPr/>
          <p:nvPr/>
        </p:nvSpPr>
        <p:spPr>
          <a:xfrm>
            <a:off x="812780" y="3325416"/>
            <a:ext cx="5078881" cy="152400"/>
          </a:xfrm>
          <a:prstGeom prst="rect">
            <a:avLst/>
          </a:prstGeom>
          <a:noFill/>
          <a:ln/>
        </p:spPr>
        <p:txBody>
          <a:bodyPr wrap="none" lIns="0" tIns="0" rIns="0" bIns="0" rtlCol="0" anchor="t"/>
          <a:lstStyle/>
          <a:p>
            <a:pPr algn="l" indent="0" marL="0">
              <a:lnSpc>
                <a:spcPct val="120000"/>
              </a:lnSpc>
              <a:buNone/>
            </a:pPr>
            <a:r>
              <a:rPr lang="en-US" sz="800" i="1" dirty="0">
                <a:solidFill>
                  <a:srgbClr val="3B3535"/>
                </a:solidFill>
                <a:latin typeface="Roboto" pitchFamily="34" charset="0"/>
                <a:ea typeface="Roboto" pitchFamily="34" charset="-122"/>
                <a:cs typeface="Roboto" pitchFamily="34" charset="-120"/>
              </a:rPr>
              <a:t>Vendors:</a:t>
            </a:r>
            <a:pPr algn="l" indent="0" marL="0">
              <a:lnSpc>
                <a:spcPct val="120000"/>
              </a:lnSpc>
              <a:buNone/>
            </a:pPr>
            <a:r>
              <a:rPr lang="en-US" sz="800" dirty="0">
                <a:solidFill>
                  <a:srgbClr val="3B3535"/>
                </a:solidFill>
                <a:latin typeface="Roboto" pitchFamily="34" charset="0"/>
                <a:ea typeface="Roboto" pitchFamily="34" charset="-122"/>
                <a:cs typeface="Roboto" pitchFamily="34" charset="-120"/>
              </a:rPr>
              <a:t> Elasticsearch · OpenSearch · Apache Solr · Typesense</a:t>
            </a:r>
            <a:endParaRPr lang="en-US" sz="8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48730" y="1309092"/>
            <a:ext cx="5381490" cy="2320032"/>
          </a:xfrm>
          <a:prstGeom prst="rect">
            <a:avLst/>
          </a:prstGeom>
        </p:spPr>
      </p:pic>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60102" y="1428155"/>
            <a:ext cx="158746" cy="158750"/>
          </a:xfrm>
          <a:prstGeom prst="rect">
            <a:avLst/>
          </a:prstGeom>
        </p:spPr>
      </p:pic>
      <p:sp>
        <p:nvSpPr>
          <p:cNvPr id="14" name="Text 8"/>
          <p:cNvSpPr/>
          <p:nvPr/>
        </p:nvSpPr>
        <p:spPr>
          <a:xfrm>
            <a:off x="6300035" y="1838226"/>
            <a:ext cx="5078881"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Base de Datos Vectorial</a:t>
            </a:r>
            <a:endParaRPr lang="en-US" sz="1300" dirty="0"/>
          </a:p>
        </p:txBody>
      </p:sp>
      <p:sp>
        <p:nvSpPr>
          <p:cNvPr id="15" name="Text 9"/>
          <p:cNvSpPr/>
          <p:nvPr/>
        </p:nvSpPr>
        <p:spPr>
          <a:xfrm>
            <a:off x="6300035" y="2108398"/>
            <a:ext cx="5078881"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Embeddings semánticos</a:t>
            </a:r>
            <a:endParaRPr lang="en-US" sz="1000" dirty="0"/>
          </a:p>
        </p:txBody>
      </p:sp>
      <p:sp>
        <p:nvSpPr>
          <p:cNvPr id="16" name="Text 10"/>
          <p:cNvSpPr/>
          <p:nvPr/>
        </p:nvSpPr>
        <p:spPr>
          <a:xfrm>
            <a:off x="6300035" y="2362398"/>
            <a:ext cx="5078881" cy="645517"/>
          </a:xfrm>
          <a:prstGeom prst="rect">
            <a:avLst/>
          </a:prstGeom>
          <a:noFill/>
          <a:ln/>
        </p:spPr>
        <p:txBody>
          <a:bodyPr wrap="square" lIns="0" tIns="52925" rIns="0" bIns="0" rtlCol="0" anchor="t">
            <a:normAutofit/>
          </a:bodyPr>
          <a:lstStyle/>
          <a:p>
            <a:pPr algn="l" marL="203200" indent="-203200">
              <a:lnSpc>
                <a:spcPct val="120000"/>
              </a:lnSpc>
              <a:buSzPct val="100000"/>
              <a:buChar char="•"/>
            </a:pPr>
            <a:r>
              <a:rPr lang="en-US" sz="1000" dirty="0">
                <a:solidFill>
                  <a:srgbClr val="3B3535"/>
                </a:solidFill>
                <a:latin typeface="Roboto" pitchFamily="34" charset="0"/>
                <a:ea typeface="Roboto" pitchFamily="34" charset="-122"/>
                <a:cs typeface="Roboto" pitchFamily="34" charset="-120"/>
              </a:rPr>
              <a:t>captura significado y contexto semántico</a:t>
            </a:r>
            <a:endParaRPr lang="en-US" sz="1000" dirty="0"/>
          </a:p>
          <a:p>
            <a:pPr algn="l" marL="203200" indent="-203200">
              <a:lnSpc>
                <a:spcPct val="120000"/>
              </a:lnSpc>
              <a:buSzPct val="100000"/>
              <a:buChar char="•"/>
            </a:pPr>
            <a:r>
              <a:rPr lang="en-US" sz="1000" dirty="0">
                <a:solidFill>
                  <a:srgbClr val="3B3535"/>
                </a:solidFill>
                <a:latin typeface="Roboto" pitchFamily="34" charset="0"/>
                <a:ea typeface="Roboto" pitchFamily="34" charset="-122"/>
                <a:cs typeface="Roboto" pitchFamily="34" charset="-120"/>
              </a:rPr>
              <a:t>búsqueda por similitud entre conceptos</a:t>
            </a:r>
            <a:endParaRPr lang="en-US" sz="1000" dirty="0"/>
          </a:p>
          <a:p>
            <a:pPr algn="l" marL="203200" indent="-203200">
              <a:lnSpc>
                <a:spcPct val="120000"/>
              </a:lnSpc>
              <a:buSzPct val="100000"/>
              <a:buChar char="•"/>
            </a:pPr>
            <a:r>
              <a:rPr lang="en-US" sz="1000" dirty="0">
                <a:solidFill>
                  <a:srgbClr val="3B3535"/>
                </a:solidFill>
                <a:latin typeface="Roboto" pitchFamily="34" charset="0"/>
                <a:ea typeface="Roboto" pitchFamily="34" charset="-122"/>
                <a:cs typeface="Roboto" pitchFamily="34" charset="-120"/>
              </a:rPr>
              <a:t>soporta búsquedas multilenguaje</a:t>
            </a:r>
            <a:endParaRPr lang="en-US" sz="1000" dirty="0"/>
          </a:p>
        </p:txBody>
      </p:sp>
      <p:sp>
        <p:nvSpPr>
          <p:cNvPr id="17" name="Text 11"/>
          <p:cNvSpPr/>
          <p:nvPr/>
        </p:nvSpPr>
        <p:spPr>
          <a:xfrm>
            <a:off x="6300035" y="3071416"/>
            <a:ext cx="5078881"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Mejor para:</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Búsqueda semántica y lenguaje natural</a:t>
            </a:r>
            <a:endParaRPr lang="en-US" sz="1000" dirty="0"/>
          </a:p>
        </p:txBody>
      </p:sp>
      <p:sp>
        <p:nvSpPr>
          <p:cNvPr id="18" name="Text 12"/>
          <p:cNvSpPr/>
          <p:nvPr/>
        </p:nvSpPr>
        <p:spPr>
          <a:xfrm>
            <a:off x="6300035" y="3325416"/>
            <a:ext cx="5078881" cy="152400"/>
          </a:xfrm>
          <a:prstGeom prst="rect">
            <a:avLst/>
          </a:prstGeom>
          <a:noFill/>
          <a:ln/>
        </p:spPr>
        <p:txBody>
          <a:bodyPr wrap="none" lIns="0" tIns="0" rIns="0" bIns="0" rtlCol="0" anchor="t"/>
          <a:lstStyle/>
          <a:p>
            <a:pPr algn="l" indent="0" marL="0">
              <a:lnSpc>
                <a:spcPct val="120000"/>
              </a:lnSpc>
              <a:buNone/>
            </a:pPr>
            <a:r>
              <a:rPr lang="en-US" sz="800" i="1" dirty="0">
                <a:solidFill>
                  <a:srgbClr val="3B3535"/>
                </a:solidFill>
                <a:latin typeface="Roboto" pitchFamily="34" charset="0"/>
                <a:ea typeface="Roboto" pitchFamily="34" charset="-122"/>
                <a:cs typeface="Roboto" pitchFamily="34" charset="-120"/>
              </a:rPr>
              <a:t>Vendors:</a:t>
            </a:r>
            <a:pPr algn="l" indent="0" marL="0">
              <a:lnSpc>
                <a:spcPct val="120000"/>
              </a:lnSpc>
              <a:buNone/>
            </a:pPr>
            <a:r>
              <a:rPr lang="en-US" sz="800" dirty="0">
                <a:solidFill>
                  <a:srgbClr val="3B3535"/>
                </a:solidFill>
                <a:latin typeface="Roboto" pitchFamily="34" charset="0"/>
                <a:ea typeface="Roboto" pitchFamily="34" charset="-122"/>
                <a:cs typeface="Roboto" pitchFamily="34" charset="-120"/>
              </a:rPr>
              <a:t> Pinecone · Weaviate · Qdrant · Chroma · pgvector</a:t>
            </a:r>
            <a:endParaRPr lang="en-US" sz="80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3734891"/>
            <a:ext cx="10868745" cy="2320032"/>
          </a:xfrm>
          <a:prstGeom prst="rect">
            <a:avLst/>
          </a:prstGeom>
        </p:spPr>
      </p:pic>
      <p:pic>
        <p:nvPicPr>
          <p:cNvPr id="2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16474" y="3853954"/>
            <a:ext cx="158746" cy="158750"/>
          </a:xfrm>
          <a:prstGeom prst="rect">
            <a:avLst/>
          </a:prstGeom>
        </p:spPr>
      </p:pic>
      <p:sp>
        <p:nvSpPr>
          <p:cNvPr id="21" name="Text 13"/>
          <p:cNvSpPr/>
          <p:nvPr/>
        </p:nvSpPr>
        <p:spPr>
          <a:xfrm>
            <a:off x="812780" y="4264025"/>
            <a:ext cx="10566136"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Búsqueda Híbrida</a:t>
            </a:r>
            <a:endParaRPr lang="en-US" sz="1300" dirty="0"/>
          </a:p>
        </p:txBody>
      </p:sp>
      <p:sp>
        <p:nvSpPr>
          <p:cNvPr id="22" name="Text 14"/>
          <p:cNvSpPr/>
          <p:nvPr/>
        </p:nvSpPr>
        <p:spPr>
          <a:xfrm>
            <a:off x="812780" y="4534198"/>
            <a:ext cx="10566136"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BM25 + Vectorial</a:t>
            </a:r>
            <a:endParaRPr lang="en-US" sz="1000" dirty="0"/>
          </a:p>
        </p:txBody>
      </p:sp>
      <p:sp>
        <p:nvSpPr>
          <p:cNvPr id="23" name="Text 15"/>
          <p:cNvSpPr/>
          <p:nvPr/>
        </p:nvSpPr>
        <p:spPr>
          <a:xfrm>
            <a:off x="812780" y="4788198"/>
            <a:ext cx="10566136" cy="645517"/>
          </a:xfrm>
          <a:prstGeom prst="rect">
            <a:avLst/>
          </a:prstGeom>
          <a:noFill/>
          <a:ln/>
        </p:spPr>
        <p:txBody>
          <a:bodyPr wrap="square" lIns="0" tIns="52925" rIns="0" bIns="0" rtlCol="0" anchor="t">
            <a:normAutofit/>
          </a:bodyPr>
          <a:lstStyle/>
          <a:p>
            <a:pPr algn="l" marL="203200" indent="-203200">
              <a:lnSpc>
                <a:spcPct val="120000"/>
              </a:lnSpc>
              <a:buSzPct val="100000"/>
              <a:buChar char="•"/>
            </a:pPr>
            <a:r>
              <a:rPr lang="en-US" sz="1000" dirty="0">
                <a:solidFill>
                  <a:srgbClr val="3B3535"/>
                </a:solidFill>
                <a:latin typeface="Roboto" pitchFamily="34" charset="0"/>
                <a:ea typeface="Roboto" pitchFamily="34" charset="-122"/>
                <a:cs typeface="Roboto" pitchFamily="34" charset="-120"/>
              </a:rPr>
              <a:t>combina precisión léxica con comprensión semántica</a:t>
            </a:r>
            <a:endParaRPr lang="en-US" sz="1000" dirty="0"/>
          </a:p>
          <a:p>
            <a:pPr algn="l" marL="203200" indent="-203200">
              <a:lnSpc>
                <a:spcPct val="120000"/>
              </a:lnSpc>
              <a:buSzPct val="100000"/>
              <a:buChar char="•"/>
            </a:pPr>
            <a:r>
              <a:rPr lang="en-US" sz="1000" dirty="0">
                <a:solidFill>
                  <a:srgbClr val="3B3535"/>
                </a:solidFill>
                <a:latin typeface="Roboto" pitchFamily="34" charset="0"/>
                <a:ea typeface="Roboto" pitchFamily="34" charset="-122"/>
                <a:cs typeface="Roboto" pitchFamily="34" charset="-120"/>
              </a:rPr>
              <a:t>reranking para fusionar resultados</a:t>
            </a:r>
            <a:endParaRPr lang="en-US" sz="1000" dirty="0"/>
          </a:p>
          <a:p>
            <a:pPr algn="l" marL="203200" indent="-203200">
              <a:lnSpc>
                <a:spcPct val="120000"/>
              </a:lnSpc>
              <a:buSzPct val="100000"/>
              <a:buChar char="•"/>
            </a:pPr>
            <a:r>
              <a:rPr lang="en-US" sz="1000" dirty="0">
                <a:solidFill>
                  <a:srgbClr val="3B3535"/>
                </a:solidFill>
                <a:latin typeface="Roboto" pitchFamily="34" charset="0"/>
                <a:ea typeface="Roboto" pitchFamily="34" charset="-122"/>
                <a:cs typeface="Roboto" pitchFamily="34" charset="-120"/>
              </a:rPr>
              <a:t>estándar en sistemas RAG de producción</a:t>
            </a:r>
            <a:endParaRPr lang="en-US" sz="1000" dirty="0"/>
          </a:p>
        </p:txBody>
      </p:sp>
      <p:sp>
        <p:nvSpPr>
          <p:cNvPr id="24" name="Text 16"/>
          <p:cNvSpPr/>
          <p:nvPr/>
        </p:nvSpPr>
        <p:spPr>
          <a:xfrm>
            <a:off x="812780" y="5497215"/>
            <a:ext cx="10566136"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Mejor para:</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Sistemas RAG en producción </a:t>
            </a:r>
            <a:pPr algn="l" indent="0" marL="0">
              <a:lnSpc>
                <a:spcPct val="120000"/>
              </a:lnSpc>
              <a:buNone/>
            </a:pPr>
            <a:r>
              <a:rPr lang="en-US" sz="1000" dirty="0">
                <a:solidFill>
                  <a:srgbClr val="000000"/>
                </a:solidFill>
                <a:latin typeface="Roboto" pitchFamily="34" charset="0"/>
                <a:ea typeface="Roboto" pitchFamily="34" charset="-122"/>
                <a:cs typeface="Roboto" pitchFamily="34" charset="-120"/>
              </a:rPr>
              <a:t>⭐</a:t>
            </a:r>
            <a:endParaRPr lang="en-US" sz="1000" dirty="0"/>
          </a:p>
        </p:txBody>
      </p:sp>
      <p:sp>
        <p:nvSpPr>
          <p:cNvPr id="25" name="Text 17"/>
          <p:cNvSpPr/>
          <p:nvPr/>
        </p:nvSpPr>
        <p:spPr>
          <a:xfrm>
            <a:off x="812780" y="5751215"/>
            <a:ext cx="10566136" cy="152400"/>
          </a:xfrm>
          <a:prstGeom prst="rect">
            <a:avLst/>
          </a:prstGeom>
          <a:noFill/>
          <a:ln/>
        </p:spPr>
        <p:txBody>
          <a:bodyPr wrap="none" lIns="0" tIns="0" rIns="0" bIns="0" rtlCol="0" anchor="t"/>
          <a:lstStyle/>
          <a:p>
            <a:pPr algn="l" indent="0" marL="0">
              <a:lnSpc>
                <a:spcPct val="120000"/>
              </a:lnSpc>
              <a:buNone/>
            </a:pPr>
            <a:r>
              <a:rPr lang="en-US" sz="800" i="1" dirty="0">
                <a:solidFill>
                  <a:srgbClr val="3B3535"/>
                </a:solidFill>
                <a:latin typeface="Roboto" pitchFamily="34" charset="0"/>
                <a:ea typeface="Roboto" pitchFamily="34" charset="-122"/>
                <a:cs typeface="Roboto" pitchFamily="34" charset="-120"/>
              </a:rPr>
              <a:t>Vendors:</a:t>
            </a:r>
            <a:pPr algn="l" indent="0" marL="0">
              <a:lnSpc>
                <a:spcPct val="120000"/>
              </a:lnSpc>
              <a:buNone/>
            </a:pPr>
            <a:r>
              <a:rPr lang="en-US" sz="800" dirty="0">
                <a:solidFill>
                  <a:srgbClr val="3B3535"/>
                </a:solidFill>
                <a:latin typeface="Roboto" pitchFamily="34" charset="0"/>
                <a:ea typeface="Roboto" pitchFamily="34" charset="-122"/>
                <a:cs typeface="Roboto" pitchFamily="34" charset="-120"/>
              </a:rPr>
              <a:t> Elasticsearch · Weaviate · Azure AI Search · MongoDB Atlas</a:t>
            </a:r>
            <a:endParaRPr lang="en-US" sz="800" dirty="0"/>
          </a:p>
        </p:txBody>
      </p:sp>
      <p:sp>
        <p:nvSpPr>
          <p:cNvPr id="26" name="Text 18"/>
          <p:cNvSpPr/>
          <p:nvPr/>
        </p:nvSpPr>
        <p:spPr>
          <a:xfrm>
            <a:off x="661475" y="6173986"/>
            <a:ext cx="114783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La elección entre ambas estrategias —o su combinación— depende del tipo de consulta y la naturaleza del corpus documental disponible.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475" y="2209800"/>
            <a:ext cx="2297353" cy="251420"/>
          </a:xfrm>
          <a:prstGeom prst="roundRect">
            <a:avLst>
              <a:gd name="adj" fmla="val 3031"/>
            </a:avLst>
          </a:prstGeom>
          <a:solidFill>
            <a:srgbClr val="F9D2D6"/>
          </a:solidFill>
          <a:ln/>
        </p:spPr>
      </p:sp>
      <p:sp>
        <p:nvSpPr>
          <p:cNvPr id="3" name="Text 1"/>
          <p:cNvSpPr/>
          <p:nvPr/>
        </p:nvSpPr>
        <p:spPr>
          <a:xfrm>
            <a:off x="760691" y="2259409"/>
            <a:ext cx="2708505"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BÚSQUEDA Y RECUPERACIÓN</a:t>
            </a:r>
            <a:endParaRPr lang="en-US" sz="1000" dirty="0"/>
          </a:p>
        </p:txBody>
      </p:sp>
      <p:sp>
        <p:nvSpPr>
          <p:cNvPr id="4" name="Text 2"/>
          <p:cNvSpPr/>
          <p:nvPr/>
        </p:nvSpPr>
        <p:spPr>
          <a:xfrm>
            <a:off x="661475" y="252730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Ejemplo Básico de RAG</a:t>
            </a:r>
            <a:endParaRPr lang="en-US" sz="3250" dirty="0"/>
          </a:p>
        </p:txBody>
      </p:sp>
      <p:sp>
        <p:nvSpPr>
          <p:cNvPr id="5" name="Text 3"/>
          <p:cNvSpPr/>
          <p:nvPr/>
        </p:nvSpPr>
        <p:spPr>
          <a:xfrm>
            <a:off x="661475" y="3292078"/>
            <a:ext cx="10868745" cy="715268"/>
          </a:xfrm>
          <a:prstGeom prst="rect">
            <a:avLst/>
          </a:prstGeom>
          <a:noFill/>
          <a:ln/>
        </p:spPr>
        <p:txBody>
          <a:bodyPr wrap="square" lIns="0" tIns="0" rIns="0" bIns="0" rtlCol="0" anchor="t"/>
          <a:lstStyle/>
          <a:p>
            <a:pPr algn="l" indent="0" marL="0">
              <a:lnSpc>
                <a:spcPct val="133000"/>
              </a:lnSpc>
              <a:spcAft>
                <a:spcPts val="1450"/>
              </a:spcAft>
              <a:buNone/>
            </a:pPr>
            <a:r>
              <a:rPr lang="en-US" sz="1300" dirty="0">
                <a:solidFill>
                  <a:srgbClr val="3B3535"/>
                </a:solidFill>
                <a:latin typeface="Roboto" pitchFamily="34" charset="0"/>
                <a:ea typeface="Roboto" pitchFamily="34" charset="-122"/>
                <a:cs typeface="Roboto" pitchFamily="34" charset="-120"/>
              </a:rPr>
              <a:t>Tutorial interactivo: implementación paso a paso de un pipeline RAG con LangChain</a:t>
            </a:r>
            <a:endParaRPr lang="en-US" sz="1300" dirty="0"/>
          </a:p>
        </p:txBody>
      </p:sp>
      <p:pic>
        <p:nvPicPr>
          <p:cNvPr id="6" name="Image 0" descr="preencoded.png">
            <a:hlinkClick r:id="rId2" tooltip=""/>
          </p:cNvPr>
          <p:cNvPicPr>
            <a:picLocks noChangeAspect="1"/>
          </p:cNvPicPr>
          <p:nvPr/>
        </p:nvPicPr>
        <p:blipFill>
          <a:blip r:embed="rId1"/>
          <a:stretch>
            <a:fillRect/>
          </a:stretch>
        </p:blipFill>
        <p:spPr>
          <a:xfrm>
            <a:off x="661475" y="4193381"/>
            <a:ext cx="1279096" cy="4548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61475" y="699790"/>
            <a:ext cx="2181964" cy="238820"/>
          </a:xfrm>
          <a:prstGeom prst="roundRect">
            <a:avLst>
              <a:gd name="adj" fmla="val 3191"/>
            </a:avLst>
          </a:prstGeom>
          <a:solidFill>
            <a:srgbClr val="F9D2D6"/>
          </a:solidFill>
          <a:ln/>
        </p:spPr>
      </p:sp>
      <p:sp>
        <p:nvSpPr>
          <p:cNvPr id="3" name="Text 1"/>
          <p:cNvSpPr/>
          <p:nvPr/>
        </p:nvSpPr>
        <p:spPr>
          <a:xfrm>
            <a:off x="755730" y="746919"/>
            <a:ext cx="2603038" cy="144562"/>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RAG: BÚSQUEDA Y RECUPERACIÓN</a:t>
            </a:r>
            <a:endParaRPr lang="en-US" sz="950" dirty="0"/>
          </a:p>
        </p:txBody>
      </p:sp>
      <p:sp>
        <p:nvSpPr>
          <p:cNvPr id="4" name="Text 2"/>
          <p:cNvSpPr/>
          <p:nvPr/>
        </p:nvSpPr>
        <p:spPr>
          <a:xfrm>
            <a:off x="661475" y="998240"/>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1F1E1E"/>
                </a:solidFill>
                <a:latin typeface="Roboto Mono Medium" pitchFamily="34" charset="0"/>
                <a:ea typeface="Roboto Mono Medium" pitchFamily="34" charset="-122"/>
                <a:cs typeface="Roboto Mono Medium" pitchFamily="34" charset="-120"/>
              </a:rPr>
              <a:t>¿Cómo funciona un Índice Invertido?</a:t>
            </a:r>
            <a:endParaRPr lang="en-US" sz="3050" dirty="0"/>
          </a:p>
        </p:txBody>
      </p:sp>
      <p:sp>
        <p:nvSpPr>
          <p:cNvPr id="5" name="Shape 3"/>
          <p:cNvSpPr/>
          <p:nvPr/>
        </p:nvSpPr>
        <p:spPr>
          <a:xfrm>
            <a:off x="897113" y="2105720"/>
            <a:ext cx="5124024" cy="157063"/>
          </a:xfrm>
          <a:prstGeom prst="roundRect">
            <a:avLst>
              <a:gd name="adj" fmla="val 4851"/>
            </a:avLst>
          </a:prstGeom>
          <a:solidFill>
            <a:srgbClr val="F2EEEE"/>
          </a:solidFill>
          <a:ln w="6350">
            <a:solidFill>
              <a:srgbClr val="D8D4D4"/>
            </a:solidFill>
            <a:prstDash val="solid"/>
          </a:ln>
        </p:spPr>
      </p:sp>
      <p:sp>
        <p:nvSpPr>
          <p:cNvPr id="6" name="Shape 4"/>
          <p:cNvSpPr/>
          <p:nvPr/>
        </p:nvSpPr>
        <p:spPr>
          <a:xfrm>
            <a:off x="661475" y="1948656"/>
            <a:ext cx="471277" cy="471289"/>
          </a:xfrm>
          <a:prstGeom prst="ellipse">
            <a:avLst/>
          </a:prstGeom>
          <a:solidFill>
            <a:srgbClr val="F2EEEE"/>
          </a:solidFill>
          <a:ln w="6350">
            <a:solidFill>
              <a:srgbClr val="D8D4D4"/>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79245" y="2066528"/>
            <a:ext cx="235639" cy="235645"/>
          </a:xfrm>
          <a:prstGeom prst="rect">
            <a:avLst/>
          </a:prstGeom>
        </p:spPr>
      </p:pic>
      <p:sp>
        <p:nvSpPr>
          <p:cNvPr id="8" name="Text 5"/>
          <p:cNvSpPr/>
          <p:nvPr/>
        </p:nvSpPr>
        <p:spPr>
          <a:xfrm>
            <a:off x="818534" y="2569170"/>
            <a:ext cx="5045643"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Ingesta de documentos</a:t>
            </a:r>
            <a:endParaRPr lang="en-US" sz="1500" dirty="0"/>
          </a:p>
        </p:txBody>
      </p:sp>
      <p:sp>
        <p:nvSpPr>
          <p:cNvPr id="9" name="Text 6"/>
          <p:cNvSpPr/>
          <p:nvPr/>
        </p:nvSpPr>
        <p:spPr>
          <a:xfrm>
            <a:off x="818534" y="2904232"/>
            <a:ext cx="5045643"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Se reciben los documentos de texto. Ej: Doc1: "el gato come pescado", Doc2: "el perro come carne", Doc3: "el gato y el perro"</a:t>
            </a:r>
            <a:endParaRPr lang="en-US" sz="1200" dirty="0"/>
          </a:p>
        </p:txBody>
      </p:sp>
      <p:sp>
        <p:nvSpPr>
          <p:cNvPr id="10" name="Shape 7"/>
          <p:cNvSpPr/>
          <p:nvPr/>
        </p:nvSpPr>
        <p:spPr>
          <a:xfrm>
            <a:off x="6406097" y="1870075"/>
            <a:ext cx="5124024" cy="157063"/>
          </a:xfrm>
          <a:prstGeom prst="roundRect">
            <a:avLst>
              <a:gd name="adj" fmla="val 4851"/>
            </a:avLst>
          </a:prstGeom>
          <a:solidFill>
            <a:srgbClr val="F2EEEE"/>
          </a:solidFill>
          <a:ln w="6350">
            <a:solidFill>
              <a:srgbClr val="D8D4D4"/>
            </a:solidFill>
            <a:prstDash val="solid"/>
          </a:ln>
        </p:spPr>
      </p:sp>
      <p:sp>
        <p:nvSpPr>
          <p:cNvPr id="11" name="Shape 8"/>
          <p:cNvSpPr/>
          <p:nvPr/>
        </p:nvSpPr>
        <p:spPr>
          <a:xfrm>
            <a:off x="6170458" y="1713012"/>
            <a:ext cx="471277" cy="471289"/>
          </a:xfrm>
          <a:prstGeom prst="ellipse">
            <a:avLst/>
          </a:prstGeom>
          <a:solidFill>
            <a:srgbClr val="F2EEEE"/>
          </a:solidFill>
          <a:ln w="6350">
            <a:solidFill>
              <a:srgbClr val="D8D4D4"/>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88228" y="1830884"/>
            <a:ext cx="235639" cy="235645"/>
          </a:xfrm>
          <a:prstGeom prst="rect">
            <a:avLst/>
          </a:prstGeom>
        </p:spPr>
      </p:pic>
      <p:sp>
        <p:nvSpPr>
          <p:cNvPr id="13" name="Text 9"/>
          <p:cNvSpPr/>
          <p:nvPr/>
        </p:nvSpPr>
        <p:spPr>
          <a:xfrm>
            <a:off x="6327517" y="2333526"/>
            <a:ext cx="5045643"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Tokenización y normalización</a:t>
            </a:r>
            <a:endParaRPr lang="en-US" sz="1500" dirty="0"/>
          </a:p>
        </p:txBody>
      </p:sp>
      <p:sp>
        <p:nvSpPr>
          <p:cNvPr id="14" name="Text 10"/>
          <p:cNvSpPr/>
          <p:nvPr/>
        </p:nvSpPr>
        <p:spPr>
          <a:xfrm>
            <a:off x="6327517" y="2668588"/>
            <a:ext cx="5045643"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Cada documento se divide en tokens (palabras). Se aplica lowercase, eliminación de stopwords ("el", "y") y stemming. Resultado: Doc1→[gato, come, pescado], Doc2→[perro, come, carne], Doc3→[gato, perro]</a:t>
            </a:r>
            <a:endParaRPr lang="en-US" sz="1200" dirty="0"/>
          </a:p>
        </p:txBody>
      </p:sp>
      <p:sp>
        <p:nvSpPr>
          <p:cNvPr id="15" name="Shape 11"/>
          <p:cNvSpPr/>
          <p:nvPr/>
        </p:nvSpPr>
        <p:spPr>
          <a:xfrm>
            <a:off x="897113" y="4103092"/>
            <a:ext cx="5124024" cy="157063"/>
          </a:xfrm>
          <a:prstGeom prst="roundRect">
            <a:avLst>
              <a:gd name="adj" fmla="val 4851"/>
            </a:avLst>
          </a:prstGeom>
          <a:solidFill>
            <a:srgbClr val="F2EEEE"/>
          </a:solidFill>
          <a:ln w="6350">
            <a:solidFill>
              <a:srgbClr val="D8D4D4"/>
            </a:solidFill>
            <a:prstDash val="solid"/>
          </a:ln>
        </p:spPr>
      </p:sp>
      <p:sp>
        <p:nvSpPr>
          <p:cNvPr id="16" name="Shape 12"/>
          <p:cNvSpPr/>
          <p:nvPr/>
        </p:nvSpPr>
        <p:spPr>
          <a:xfrm>
            <a:off x="661475" y="3946029"/>
            <a:ext cx="471277" cy="471289"/>
          </a:xfrm>
          <a:prstGeom prst="ellipse">
            <a:avLst/>
          </a:prstGeom>
          <a:solidFill>
            <a:srgbClr val="F2EEEE"/>
          </a:solidFill>
          <a:ln w="6350">
            <a:solidFill>
              <a:srgbClr val="D8D4D4"/>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9245" y="4063901"/>
            <a:ext cx="235639" cy="235645"/>
          </a:xfrm>
          <a:prstGeom prst="rect">
            <a:avLst/>
          </a:prstGeom>
        </p:spPr>
      </p:pic>
      <p:sp>
        <p:nvSpPr>
          <p:cNvPr id="18" name="Text 13"/>
          <p:cNvSpPr/>
          <p:nvPr/>
        </p:nvSpPr>
        <p:spPr>
          <a:xfrm>
            <a:off x="818534" y="4566543"/>
            <a:ext cx="5045643"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Construcción del índice</a:t>
            </a:r>
            <a:endParaRPr lang="en-US" sz="1500" dirty="0"/>
          </a:p>
        </p:txBody>
      </p:sp>
      <p:sp>
        <p:nvSpPr>
          <p:cNvPr id="19" name="Text 14"/>
          <p:cNvSpPr/>
          <p:nvPr/>
        </p:nvSpPr>
        <p:spPr>
          <a:xfrm>
            <a:off x="818534" y="4901605"/>
            <a:ext cx="5045643"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Se crea un mapa invertido: cada término apunta a los documentos que lo contienen. Ej: "gato" → [Doc1, Doc3] · "come" → [Doc1, Doc2] · "perro" → [Doc2, Doc3]</a:t>
            </a:r>
            <a:endParaRPr lang="en-US" sz="1200" dirty="0"/>
          </a:p>
        </p:txBody>
      </p:sp>
      <p:sp>
        <p:nvSpPr>
          <p:cNvPr id="20" name="Shape 15"/>
          <p:cNvSpPr/>
          <p:nvPr/>
        </p:nvSpPr>
        <p:spPr>
          <a:xfrm>
            <a:off x="6406097" y="3867448"/>
            <a:ext cx="5124024" cy="157063"/>
          </a:xfrm>
          <a:prstGeom prst="roundRect">
            <a:avLst>
              <a:gd name="adj" fmla="val 4851"/>
            </a:avLst>
          </a:prstGeom>
          <a:solidFill>
            <a:srgbClr val="F2EEEE"/>
          </a:solidFill>
          <a:ln w="6350">
            <a:solidFill>
              <a:srgbClr val="D8D4D4"/>
            </a:solidFill>
            <a:prstDash val="solid"/>
          </a:ln>
        </p:spPr>
      </p:sp>
      <p:sp>
        <p:nvSpPr>
          <p:cNvPr id="21" name="Shape 16"/>
          <p:cNvSpPr/>
          <p:nvPr/>
        </p:nvSpPr>
        <p:spPr>
          <a:xfrm>
            <a:off x="6170458" y="3710384"/>
            <a:ext cx="471277" cy="471289"/>
          </a:xfrm>
          <a:prstGeom prst="ellipse">
            <a:avLst/>
          </a:prstGeom>
          <a:solidFill>
            <a:srgbClr val="F2EEEE"/>
          </a:solidFill>
          <a:ln w="6350">
            <a:solidFill>
              <a:srgbClr val="D8D4D4"/>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88228" y="3828256"/>
            <a:ext cx="235639" cy="235645"/>
          </a:xfrm>
          <a:prstGeom prst="rect">
            <a:avLst/>
          </a:prstGeom>
        </p:spPr>
      </p:pic>
      <p:sp>
        <p:nvSpPr>
          <p:cNvPr id="23" name="Text 17"/>
          <p:cNvSpPr/>
          <p:nvPr/>
        </p:nvSpPr>
        <p:spPr>
          <a:xfrm>
            <a:off x="6327517" y="4330898"/>
            <a:ext cx="5045643"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Consulta (Query)</a:t>
            </a:r>
            <a:endParaRPr lang="en-US" sz="1500" dirty="0"/>
          </a:p>
        </p:txBody>
      </p:sp>
      <p:sp>
        <p:nvSpPr>
          <p:cNvPr id="24" name="Text 18"/>
          <p:cNvSpPr/>
          <p:nvPr/>
        </p:nvSpPr>
        <p:spPr>
          <a:xfrm>
            <a:off x="6327517" y="4665960"/>
            <a:ext cx="5045643"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El usuario busca "gato perro". El índice devuelve la intersección: Doc3 (contiene ambos). Ranking por frecuencia/BM25.</a:t>
            </a:r>
            <a:endParaRPr lang="en-US" sz="1200" dirty="0"/>
          </a:p>
        </p:txBody>
      </p:sp>
      <p:sp>
        <p:nvSpPr>
          <p:cNvPr id="25" name="Text 19"/>
          <p:cNvSpPr/>
          <p:nvPr/>
        </p:nvSpPr>
        <p:spPr>
          <a:xfrm>
            <a:off x="661475" y="5962055"/>
            <a:ext cx="11478330" cy="196056"/>
          </a:xfrm>
          <a:prstGeom prst="rect">
            <a:avLst/>
          </a:prstGeom>
          <a:noFill/>
          <a:ln/>
        </p:spPr>
        <p:txBody>
          <a:bodyPr wrap="none" lIns="0" tIns="0" rIns="0" bIns="0" rtlCol="0" anchor="t"/>
          <a:lstStyle/>
          <a:p>
            <a:pPr algn="l" indent="0" marL="0">
              <a:lnSpc>
                <a:spcPct val="130000"/>
              </a:lnSpc>
              <a:buNone/>
            </a:pPr>
            <a:r>
              <a:rPr lang="en-US" sz="950" dirty="0">
                <a:solidFill>
                  <a:srgbClr val="3B3535"/>
                </a:solidFill>
                <a:latin typeface="Roboto" pitchFamily="34" charset="0"/>
                <a:ea typeface="Roboto" pitchFamily="34" charset="-122"/>
                <a:cs typeface="Roboto" pitchFamily="34" charset="-120"/>
              </a:rPr>
              <a:t>BM25 extiende este modelo con ponderación por frecuencia de término (TF) e infrecuencia en el corpus (IDF), mejorando el ranking de resultados.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61475" y="703560"/>
            <a:ext cx="1721898" cy="188516"/>
          </a:xfrm>
          <a:prstGeom prst="roundRect">
            <a:avLst>
              <a:gd name="adj" fmla="val 4042"/>
            </a:avLst>
          </a:prstGeom>
          <a:solidFill>
            <a:srgbClr val="F9D2D6"/>
          </a:solidFill>
          <a:ln/>
        </p:spPr>
      </p:sp>
      <p:sp>
        <p:nvSpPr>
          <p:cNvPr id="3" name="Text 1"/>
          <p:cNvSpPr/>
          <p:nvPr/>
        </p:nvSpPr>
        <p:spPr>
          <a:xfrm>
            <a:off x="735887" y="740767"/>
            <a:ext cx="2182659" cy="114102"/>
          </a:xfrm>
          <a:prstGeom prst="rect">
            <a:avLst/>
          </a:prstGeom>
          <a:noFill/>
          <a:ln/>
        </p:spPr>
        <p:txBody>
          <a:bodyPr wrap="none" lIns="0" tIns="0" rIns="0" bIns="0" rtlCol="0" anchor="t"/>
          <a:lstStyle/>
          <a:p>
            <a:pPr algn="l" indent="0" marL="0">
              <a:lnSpc>
                <a:spcPct val="96000"/>
              </a:lnSpc>
              <a:buNone/>
            </a:pPr>
            <a:r>
              <a:rPr lang="en-US" sz="750" dirty="0">
                <a:solidFill>
                  <a:srgbClr val="3B3535"/>
                </a:solidFill>
                <a:latin typeface="Roboto" pitchFamily="34" charset="0"/>
                <a:ea typeface="Roboto" pitchFamily="34" charset="-122"/>
                <a:cs typeface="Roboto" pitchFamily="34" charset="-120"/>
              </a:rPr>
              <a:t>RAG: BÚSQUEDA Y RECUPERACIÓN</a:t>
            </a:r>
            <a:endParaRPr lang="en-US" sz="750" dirty="0"/>
          </a:p>
        </p:txBody>
      </p:sp>
      <p:sp>
        <p:nvSpPr>
          <p:cNvPr id="4" name="Text 2"/>
          <p:cNvSpPr/>
          <p:nvPr/>
        </p:nvSpPr>
        <p:spPr>
          <a:xfrm>
            <a:off x="661475" y="929283"/>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oboto Mono Medium" pitchFamily="34" charset="0"/>
                <a:ea typeface="Roboto Mono Medium" pitchFamily="34" charset="-122"/>
                <a:cs typeface="Roboto Mono Medium" pitchFamily="34" charset="-120"/>
              </a:rPr>
              <a:t>TF-IDF: Term Frequency × Inverse Document Frequency</a:t>
            </a:r>
            <a:endParaRPr lang="en-US" sz="2400" dirty="0"/>
          </a:p>
        </p:txBody>
      </p:sp>
      <p:sp>
        <p:nvSpPr>
          <p:cNvPr id="5" name="Text 3"/>
          <p:cNvSpPr/>
          <p:nvPr/>
        </p:nvSpPr>
        <p:spPr>
          <a:xfrm>
            <a:off x="847505" y="1595934"/>
            <a:ext cx="10682715" cy="200124"/>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200" dirty="0">
                <a:solidFill>
                  <a:srgbClr val="1F1E1E"/>
                </a:solidFill>
                <a:latin typeface="Roboto Mono Medium" pitchFamily="34" charset="0"/>
                <a:ea typeface="Roboto Mono Medium" pitchFamily="34" charset="-122"/>
                <a:cs typeface="Roboto Mono Medium" pitchFamily="34" charset="-120"/>
              </a:rPr>
              <a:t> Idea: Un término es importante si aparece mucho en un documento... pero no si aparece en todos los documentos.</a:t>
            </a:r>
            <a:endParaRPr lang="en-US" sz="1200" dirty="0"/>
          </a:p>
        </p:txBody>
      </p:sp>
      <p:sp>
        <p:nvSpPr>
          <p:cNvPr id="6" name="Shape 4"/>
          <p:cNvSpPr/>
          <p:nvPr/>
        </p:nvSpPr>
        <p:spPr>
          <a:xfrm>
            <a:off x="661475" y="1456432"/>
            <a:ext cx="12700" cy="479127"/>
          </a:xfrm>
          <a:prstGeom prst="roundRect">
            <a:avLst>
              <a:gd name="adj" fmla="val 49999"/>
            </a:avLst>
          </a:prstGeom>
          <a:solidFill>
            <a:srgbClr val="DA1B2E"/>
          </a:solidFill>
          <a:ln/>
        </p:spPr>
      </p:sp>
      <p:sp>
        <p:nvSpPr>
          <p:cNvPr id="7" name="Shape 5"/>
          <p:cNvSpPr/>
          <p:nvPr/>
        </p:nvSpPr>
        <p:spPr>
          <a:xfrm>
            <a:off x="572180" y="2040136"/>
            <a:ext cx="5461657" cy="1639888"/>
          </a:xfrm>
          <a:prstGeom prst="roundRect">
            <a:avLst>
              <a:gd name="adj" fmla="val 1135"/>
            </a:avLst>
          </a:prstGeom>
          <a:solidFill>
            <a:srgbClr val="F7F7F2">
              <a:alpha val="95000"/>
            </a:srgbClr>
          </a:solidFill>
          <a:ln/>
        </p:spPr>
      </p:sp>
      <p:sp>
        <p:nvSpPr>
          <p:cNvPr id="8" name="Text 6"/>
          <p:cNvSpPr/>
          <p:nvPr/>
        </p:nvSpPr>
        <p:spPr>
          <a:xfrm>
            <a:off x="696201" y="2133104"/>
            <a:ext cx="5213616" cy="193774"/>
          </a:xfrm>
          <a:prstGeom prst="rect">
            <a:avLst/>
          </a:prstGeom>
          <a:noFill/>
          <a:ln/>
        </p:spPr>
        <p:txBody>
          <a:bodyPr wrap="none" lIns="0" tIns="0" rIns="0" bIns="0" rtlCol="0" anchor="t"/>
          <a:lstStyle/>
          <a:p>
            <a:pPr algn="l" indent="0" marL="0">
              <a:lnSpc>
                <a:spcPct val="104000"/>
              </a:lnSpc>
              <a:buNone/>
            </a:pPr>
            <a:r>
              <a:rPr lang="en-US" sz="1200" dirty="0">
                <a:solidFill>
                  <a:srgbClr val="1F1E1E"/>
                </a:solidFill>
                <a:latin typeface="Roboto Mono Medium" pitchFamily="34" charset="0"/>
                <a:ea typeface="Roboto Mono Medium" pitchFamily="34" charset="-122"/>
                <a:cs typeface="Roboto Mono Medium" pitchFamily="34" charset="-120"/>
              </a:rPr>
              <a:t>TF (Term Frequency)</a:t>
            </a:r>
            <a:endParaRPr lang="en-US" sz="1200" dirty="0"/>
          </a:p>
        </p:txBody>
      </p:sp>
      <p:sp>
        <p:nvSpPr>
          <p:cNvPr id="9" name="Text 7"/>
          <p:cNvSpPr/>
          <p:nvPr/>
        </p:nvSpPr>
        <p:spPr>
          <a:xfrm>
            <a:off x="696201" y="2419846"/>
            <a:ext cx="5823201" cy="173633"/>
          </a:xfrm>
          <a:prstGeom prst="rect">
            <a:avLst/>
          </a:prstGeom>
          <a:noFill/>
          <a:ln/>
        </p:spPr>
        <p:txBody>
          <a:bodyPr wrap="none" lIns="0" tIns="0" rIns="0" bIns="0" rtlCol="0" anchor="t"/>
          <a:lstStyle/>
          <a:p>
            <a:pPr algn="l" indent="0" marL="0">
              <a:lnSpc>
                <a:spcPct val="117000"/>
              </a:lnSpc>
              <a:buNone/>
            </a:pPr>
            <a:r>
              <a:rPr lang="en-US" sz="950" i="1" dirty="0">
                <a:solidFill>
                  <a:srgbClr val="3B3535"/>
                </a:solidFill>
                <a:latin typeface="Roboto" pitchFamily="34" charset="0"/>
                <a:ea typeface="Roboto" pitchFamily="34" charset="-122"/>
                <a:cs typeface="Roboto" pitchFamily="34" charset="-120"/>
              </a:rPr>
              <a:t>TF responde: ¿Qué tan frecuente es este término en este documento?</a:t>
            </a:r>
            <a:endParaRPr lang="en-US" sz="950" dirty="0"/>
          </a:p>
        </p:txBody>
      </p:sp>
      <p:sp>
        <p:nvSpPr>
          <p:cNvPr id="10" name="Shape 8"/>
          <p:cNvSpPr/>
          <p:nvPr/>
        </p:nvSpPr>
        <p:spPr>
          <a:xfrm>
            <a:off x="696201" y="2698055"/>
            <a:ext cx="5213616" cy="446484"/>
          </a:xfrm>
          <a:prstGeom prst="roundRect">
            <a:avLst>
              <a:gd name="adj" fmla="val 1707"/>
            </a:avLst>
          </a:prstGeom>
          <a:solidFill>
            <a:srgbClr val="EAEAE5"/>
          </a:solidFill>
          <a:ln/>
        </p:spPr>
      </p:sp>
      <p:sp>
        <p:nvSpPr>
          <p:cNvPr id="11" name="Text 9"/>
          <p:cNvSpPr/>
          <p:nvPr/>
        </p:nvSpPr>
        <p:spPr>
          <a:xfrm>
            <a:off x="845025" y="2822079"/>
            <a:ext cx="5525552" cy="198438"/>
          </a:xfrm>
          <a:prstGeom prst="rect">
            <a:avLst/>
          </a:prstGeom>
          <a:noFill/>
          <a:ln/>
        </p:spPr>
        <p:txBody>
          <a:bodyPr wrap="none" lIns="0" tIns="0" rIns="0" bIns="0" rtlCol="0" anchor="t"/>
          <a:lstStyle/>
          <a:p>
            <a:pPr algn="l" indent="0" marL="0">
              <a:lnSpc>
                <a:spcPct val="133000"/>
              </a:lnSpc>
              <a:buNone/>
            </a:pPr>
            <a:r>
              <a:rPr lang="en-US" sz="950" dirty="0">
                <a:solidFill>
                  <a:srgbClr val="E36209"/>
                </a:solidFill>
                <a:latin typeface="Consolas" pitchFamily="34" charset="0"/>
                <a:ea typeface="Consolas" pitchFamily="34" charset="-122"/>
                <a:cs typeface="Consolas" pitchFamily="34" charset="-120"/>
              </a:rPr>
              <a:t>TF(t, d) = count(t in d) / total_terms(d)</a:t>
            </a:r>
            <a:endParaRPr lang="en-US" sz="950" dirty="0"/>
          </a:p>
        </p:txBody>
      </p:sp>
      <p:sp>
        <p:nvSpPr>
          <p:cNvPr id="12" name="Text 10"/>
          <p:cNvSpPr/>
          <p:nvPr/>
        </p:nvSpPr>
        <p:spPr>
          <a:xfrm>
            <a:off x="696201" y="3249116"/>
            <a:ext cx="5213616"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tan frecuente es el término en el documento. Ej: "gato" aparece 3 veces en un doc de 100 palabras → TF = 0.03</a:t>
            </a:r>
            <a:endParaRPr lang="en-US" sz="950" dirty="0"/>
          </a:p>
        </p:txBody>
      </p:sp>
      <p:sp>
        <p:nvSpPr>
          <p:cNvPr id="13" name="Shape 11"/>
          <p:cNvSpPr/>
          <p:nvPr/>
        </p:nvSpPr>
        <p:spPr>
          <a:xfrm>
            <a:off x="6164208" y="2040136"/>
            <a:ext cx="5461657" cy="1639888"/>
          </a:xfrm>
          <a:prstGeom prst="roundRect">
            <a:avLst>
              <a:gd name="adj" fmla="val 1135"/>
            </a:avLst>
          </a:prstGeom>
          <a:solidFill>
            <a:srgbClr val="F0F4F8">
              <a:alpha val="95000"/>
            </a:srgbClr>
          </a:solidFill>
          <a:ln/>
        </p:spPr>
      </p:sp>
      <p:sp>
        <p:nvSpPr>
          <p:cNvPr id="14" name="Text 12"/>
          <p:cNvSpPr/>
          <p:nvPr/>
        </p:nvSpPr>
        <p:spPr>
          <a:xfrm>
            <a:off x="6288228" y="2133104"/>
            <a:ext cx="5213616" cy="193774"/>
          </a:xfrm>
          <a:prstGeom prst="rect">
            <a:avLst/>
          </a:prstGeom>
          <a:noFill/>
          <a:ln/>
        </p:spPr>
        <p:txBody>
          <a:bodyPr wrap="none" lIns="0" tIns="0" rIns="0" bIns="0" rtlCol="0" anchor="t"/>
          <a:lstStyle/>
          <a:p>
            <a:pPr algn="l" indent="0" marL="0">
              <a:lnSpc>
                <a:spcPct val="104000"/>
              </a:lnSpc>
              <a:buNone/>
            </a:pPr>
            <a:r>
              <a:rPr lang="en-US" sz="1200" dirty="0">
                <a:solidFill>
                  <a:srgbClr val="1F1E1E"/>
                </a:solidFill>
                <a:latin typeface="Roboto Mono Medium" pitchFamily="34" charset="0"/>
                <a:ea typeface="Roboto Mono Medium" pitchFamily="34" charset="-122"/>
                <a:cs typeface="Roboto Mono Medium" pitchFamily="34" charset="-120"/>
              </a:rPr>
              <a:t>IDF (Inverse Document Frequency)</a:t>
            </a:r>
            <a:endParaRPr lang="en-US" sz="1200" dirty="0"/>
          </a:p>
        </p:txBody>
      </p:sp>
      <p:sp>
        <p:nvSpPr>
          <p:cNvPr id="15" name="Text 13"/>
          <p:cNvSpPr/>
          <p:nvPr/>
        </p:nvSpPr>
        <p:spPr>
          <a:xfrm>
            <a:off x="6288228" y="2419846"/>
            <a:ext cx="5823201" cy="173633"/>
          </a:xfrm>
          <a:prstGeom prst="rect">
            <a:avLst/>
          </a:prstGeom>
          <a:noFill/>
          <a:ln/>
        </p:spPr>
        <p:txBody>
          <a:bodyPr wrap="none" lIns="0" tIns="0" rIns="0" bIns="0" rtlCol="0" anchor="t"/>
          <a:lstStyle/>
          <a:p>
            <a:pPr algn="l" indent="0" marL="0">
              <a:lnSpc>
                <a:spcPct val="117000"/>
              </a:lnSpc>
              <a:buNone/>
            </a:pPr>
            <a:r>
              <a:rPr lang="en-US" sz="950" i="1" dirty="0">
                <a:solidFill>
                  <a:srgbClr val="3B3535"/>
                </a:solidFill>
                <a:latin typeface="Roboto" pitchFamily="34" charset="0"/>
                <a:ea typeface="Roboto" pitchFamily="34" charset="-122"/>
                <a:cs typeface="Roboto" pitchFamily="34" charset="-120"/>
              </a:rPr>
              <a:t>IDF responde: ¿Qué tan raro es este término en todo el corpus?</a:t>
            </a:r>
            <a:endParaRPr lang="en-US" sz="950" dirty="0"/>
          </a:p>
        </p:txBody>
      </p:sp>
      <p:sp>
        <p:nvSpPr>
          <p:cNvPr id="16" name="Shape 14"/>
          <p:cNvSpPr/>
          <p:nvPr/>
        </p:nvSpPr>
        <p:spPr>
          <a:xfrm>
            <a:off x="6288228" y="2698055"/>
            <a:ext cx="5213616" cy="446484"/>
          </a:xfrm>
          <a:prstGeom prst="roundRect">
            <a:avLst>
              <a:gd name="adj" fmla="val 1707"/>
            </a:avLst>
          </a:prstGeom>
          <a:solidFill>
            <a:srgbClr val="E3E7EB"/>
          </a:solidFill>
          <a:ln/>
        </p:spPr>
      </p:sp>
      <p:sp>
        <p:nvSpPr>
          <p:cNvPr id="17" name="Text 15"/>
          <p:cNvSpPr/>
          <p:nvPr/>
        </p:nvSpPr>
        <p:spPr>
          <a:xfrm>
            <a:off x="6437052" y="2822079"/>
            <a:ext cx="5525552" cy="198438"/>
          </a:xfrm>
          <a:prstGeom prst="rect">
            <a:avLst/>
          </a:prstGeom>
          <a:noFill/>
          <a:ln/>
        </p:spPr>
        <p:txBody>
          <a:bodyPr wrap="none" lIns="0" tIns="0" rIns="0" bIns="0" rtlCol="0" anchor="t"/>
          <a:lstStyle/>
          <a:p>
            <a:pPr algn="l" indent="0" marL="0">
              <a:lnSpc>
                <a:spcPct val="133000"/>
              </a:lnSpc>
              <a:buNone/>
            </a:pPr>
            <a:r>
              <a:rPr lang="en-US" sz="950" dirty="0">
                <a:solidFill>
                  <a:srgbClr val="E36209"/>
                </a:solidFill>
                <a:latin typeface="Consolas" pitchFamily="34" charset="0"/>
                <a:ea typeface="Consolas" pitchFamily="34" charset="-122"/>
                <a:cs typeface="Consolas" pitchFamily="34" charset="-120"/>
              </a:rPr>
              <a:t>IDF(t) = log(N / df(t))</a:t>
            </a:r>
            <a:endParaRPr lang="en-US" sz="950" dirty="0"/>
          </a:p>
        </p:txBody>
      </p:sp>
      <p:sp>
        <p:nvSpPr>
          <p:cNvPr id="18" name="Text 16"/>
          <p:cNvSpPr/>
          <p:nvPr/>
        </p:nvSpPr>
        <p:spPr>
          <a:xfrm>
            <a:off x="6288228" y="3249116"/>
            <a:ext cx="5213616"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Penaliza términos que aparecen en muchos documentos (son poco informativos). Ej: "el", "de" → IDF ≈ 0. "leucemia" → IDF alto.</a:t>
            </a:r>
            <a:endParaRPr lang="en-US" sz="950" dirty="0"/>
          </a:p>
        </p:txBody>
      </p:sp>
      <p:sp>
        <p:nvSpPr>
          <p:cNvPr id="19" name="Shape 17"/>
          <p:cNvSpPr/>
          <p:nvPr/>
        </p:nvSpPr>
        <p:spPr>
          <a:xfrm>
            <a:off x="661475" y="3784600"/>
            <a:ext cx="2647388" cy="1023739"/>
          </a:xfrm>
          <a:prstGeom prst="roundRect">
            <a:avLst>
              <a:gd name="adj" fmla="val 744"/>
            </a:avLst>
          </a:prstGeom>
          <a:solidFill>
            <a:srgbClr val="FFFFFF">
              <a:alpha val="95000"/>
            </a:srgbClr>
          </a:solidFill>
          <a:ln w="12700">
            <a:solidFill>
              <a:srgbClr val="D8D4D4"/>
            </a:solidFill>
            <a:prstDash val="solid"/>
          </a:ln>
        </p:spPr>
      </p:sp>
      <p:sp>
        <p:nvSpPr>
          <p:cNvPr id="20" name="Text 18"/>
          <p:cNvSpPr/>
          <p:nvPr/>
        </p:nvSpPr>
        <p:spPr>
          <a:xfrm>
            <a:off x="798195" y="3921323"/>
            <a:ext cx="2373948" cy="694531"/>
          </a:xfrm>
          <a:prstGeom prst="rect">
            <a:avLst/>
          </a:prstGeom>
          <a:noFill/>
          <a:ln/>
        </p:spPr>
        <p:txBody>
          <a:bodyPr wrap="square" lIns="0" tIns="0" rIns="0" bIns="0" rtlCol="0" anchor="t">
            <a:normAutofit/>
          </a:bodyPr>
          <a:lstStyle/>
          <a:p>
            <a:pPr algn="l" indent="0" marL="0">
              <a:lnSpc>
                <a:spcPct val="117000"/>
              </a:lnSpc>
              <a:buNone/>
            </a:pPr>
            <a:r>
              <a:rPr lang="en-US" sz="950" b="1" dirty="0">
                <a:solidFill>
                  <a:srgbClr val="3B3535"/>
                </a:solidFill>
                <a:latin typeface="Roboto Bold" pitchFamily="34" charset="0"/>
                <a:ea typeface="Roboto Bold" pitchFamily="34" charset="-122"/>
                <a:cs typeface="Roboto Bold" pitchFamily="34" charset="-120"/>
              </a:rPr>
              <a:t>t</a:t>
            </a:r>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 = un término (palabra o token) específico. Es el término cuya importancia queremos medir. Ejemplo: t = "leucemia", t = "gato", t = "el".</a:t>
            </a:r>
            <a:endParaRPr lang="en-US" sz="950" dirty="0"/>
          </a:p>
        </p:txBody>
      </p:sp>
      <p:sp>
        <p:nvSpPr>
          <p:cNvPr id="21" name="Shape 19"/>
          <p:cNvSpPr/>
          <p:nvPr/>
        </p:nvSpPr>
        <p:spPr>
          <a:xfrm>
            <a:off x="3401828" y="3784600"/>
            <a:ext cx="2647487" cy="1023739"/>
          </a:xfrm>
          <a:prstGeom prst="roundRect">
            <a:avLst>
              <a:gd name="adj" fmla="val 744"/>
            </a:avLst>
          </a:prstGeom>
          <a:solidFill>
            <a:srgbClr val="FFFFFF">
              <a:alpha val="95000"/>
            </a:srgbClr>
          </a:solidFill>
          <a:ln w="12700">
            <a:solidFill>
              <a:srgbClr val="D8D4D4"/>
            </a:solidFill>
            <a:prstDash val="solid"/>
          </a:ln>
        </p:spPr>
      </p:sp>
      <p:sp>
        <p:nvSpPr>
          <p:cNvPr id="22" name="Text 20"/>
          <p:cNvSpPr/>
          <p:nvPr/>
        </p:nvSpPr>
        <p:spPr>
          <a:xfrm>
            <a:off x="3538548" y="3921323"/>
            <a:ext cx="2374047" cy="694531"/>
          </a:xfrm>
          <a:prstGeom prst="rect">
            <a:avLst/>
          </a:prstGeom>
          <a:noFill/>
          <a:ln/>
        </p:spPr>
        <p:txBody>
          <a:bodyPr wrap="square" lIns="0" tIns="0" rIns="0" bIns="0" rtlCol="0" anchor="t">
            <a:normAutofit/>
          </a:bodyPr>
          <a:lstStyle/>
          <a:p>
            <a:pPr algn="l" indent="0" marL="0">
              <a:lnSpc>
                <a:spcPct val="117000"/>
              </a:lnSpc>
              <a:buNone/>
            </a:pPr>
            <a:r>
              <a:rPr lang="en-US" sz="950" b="1" dirty="0">
                <a:solidFill>
                  <a:srgbClr val="3B3535"/>
                </a:solidFill>
                <a:latin typeface="Roboto Bold" pitchFamily="34" charset="0"/>
                <a:ea typeface="Roboto Bold" pitchFamily="34" charset="-122"/>
                <a:cs typeface="Roboto Bold" pitchFamily="34" charset="-120"/>
              </a:rPr>
              <a:t>d</a:t>
            </a:r>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 = un documento específico del corpus. Es el documento para el cual estamos calculando el score. Ejemplo: "Doc 1: el gato come pescado fresco" → d = Doc 1.</a:t>
            </a:r>
            <a:endParaRPr lang="en-US" sz="950" dirty="0"/>
          </a:p>
        </p:txBody>
      </p:sp>
      <p:sp>
        <p:nvSpPr>
          <p:cNvPr id="23" name="Shape 21"/>
          <p:cNvSpPr/>
          <p:nvPr/>
        </p:nvSpPr>
        <p:spPr>
          <a:xfrm>
            <a:off x="6142281" y="3784600"/>
            <a:ext cx="2647487" cy="1023739"/>
          </a:xfrm>
          <a:prstGeom prst="roundRect">
            <a:avLst>
              <a:gd name="adj" fmla="val 744"/>
            </a:avLst>
          </a:prstGeom>
          <a:solidFill>
            <a:srgbClr val="FFFFFF">
              <a:alpha val="95000"/>
            </a:srgbClr>
          </a:solidFill>
          <a:ln w="12700">
            <a:solidFill>
              <a:srgbClr val="D8D4D4"/>
            </a:solidFill>
            <a:prstDash val="solid"/>
          </a:ln>
        </p:spPr>
      </p:sp>
      <p:sp>
        <p:nvSpPr>
          <p:cNvPr id="24" name="Text 22"/>
          <p:cNvSpPr/>
          <p:nvPr/>
        </p:nvSpPr>
        <p:spPr>
          <a:xfrm>
            <a:off x="6279001" y="3921323"/>
            <a:ext cx="2374047" cy="750292"/>
          </a:xfrm>
          <a:prstGeom prst="rect">
            <a:avLst/>
          </a:prstGeom>
          <a:noFill/>
          <a:ln/>
        </p:spPr>
        <p:txBody>
          <a:bodyPr wrap="square" lIns="0" tIns="0" rIns="0" bIns="0" rtlCol="0" anchor="t">
            <a:normAutofit/>
          </a:bodyPr>
          <a:lstStyle/>
          <a:p>
            <a:pPr algn="l" indent="0" marL="0">
              <a:lnSpc>
                <a:spcPct val="117000"/>
              </a:lnSpc>
              <a:spcAft>
                <a:spcPts val="400"/>
              </a:spcAft>
              <a:buNone/>
            </a:pPr>
            <a:r>
              <a:rPr lang="en-US" sz="950" b="1" dirty="0">
                <a:solidFill>
                  <a:srgbClr val="3B3535"/>
                </a:solidFill>
                <a:latin typeface="Roboto Bold" pitchFamily="34" charset="0"/>
                <a:ea typeface="Roboto Bold" pitchFamily="34" charset="-122"/>
                <a:cs typeface="Roboto Bold" pitchFamily="34" charset="-120"/>
              </a:rPr>
              <a:t>N</a:t>
            </a:r>
            <a:pPr algn="l" indent="0" marL="0">
              <a:lnSpc>
                <a:spcPct val="117000"/>
              </a:lnSpc>
              <a:spcAft>
                <a:spcPts val="400"/>
              </a:spcAft>
              <a:buNone/>
            </a:pPr>
            <a:r>
              <a:rPr lang="en-US" sz="950" dirty="0">
                <a:solidFill>
                  <a:srgbClr val="3B3535"/>
                </a:solidFill>
                <a:latin typeface="Roboto" pitchFamily="34" charset="0"/>
                <a:ea typeface="Roboto" pitchFamily="34" charset="-122"/>
                <a:cs typeface="Roboto" pitchFamily="34" charset="-120"/>
              </a:rPr>
              <a:t> = número total de documentos en el corpus.</a:t>
            </a:r>
            <a:endParaRPr lang="en-US" sz="950" dirty="0"/>
          </a:p>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Ejemplo: si tenemos 10.000 artículos médicos, </a:t>
            </a:r>
            <a:pPr algn="l" indent="0" marL="0">
              <a:lnSpc>
                <a:spcPct val="117000"/>
              </a:lnSpc>
              <a:buNone/>
            </a:pPr>
            <a:r>
              <a:rPr lang="en-US" sz="950" b="1" dirty="0">
                <a:solidFill>
                  <a:srgbClr val="3B3535"/>
                </a:solidFill>
                <a:latin typeface="Roboto Bold" pitchFamily="34" charset="0"/>
                <a:ea typeface="Roboto Bold" pitchFamily="34" charset="-122"/>
                <a:cs typeface="Roboto Bold" pitchFamily="34" charset="-120"/>
              </a:rPr>
              <a:t>N = 10.000</a:t>
            </a:r>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a:t>
            </a:r>
            <a:endParaRPr lang="en-US" sz="950" dirty="0"/>
          </a:p>
        </p:txBody>
      </p:sp>
      <p:sp>
        <p:nvSpPr>
          <p:cNvPr id="25" name="Shape 23"/>
          <p:cNvSpPr/>
          <p:nvPr/>
        </p:nvSpPr>
        <p:spPr>
          <a:xfrm>
            <a:off x="8882733" y="3784600"/>
            <a:ext cx="2647487" cy="1023739"/>
          </a:xfrm>
          <a:prstGeom prst="roundRect">
            <a:avLst>
              <a:gd name="adj" fmla="val 744"/>
            </a:avLst>
          </a:prstGeom>
          <a:solidFill>
            <a:srgbClr val="FFFFFF">
              <a:alpha val="95000"/>
            </a:srgbClr>
          </a:solidFill>
          <a:ln w="12700">
            <a:solidFill>
              <a:srgbClr val="D8D4D4"/>
            </a:solidFill>
            <a:prstDash val="solid"/>
          </a:ln>
        </p:spPr>
      </p:sp>
      <p:sp>
        <p:nvSpPr>
          <p:cNvPr id="26" name="Text 24"/>
          <p:cNvSpPr/>
          <p:nvPr/>
        </p:nvSpPr>
        <p:spPr>
          <a:xfrm>
            <a:off x="9019453" y="3921323"/>
            <a:ext cx="2374047" cy="750292"/>
          </a:xfrm>
          <a:prstGeom prst="rect">
            <a:avLst/>
          </a:prstGeom>
          <a:noFill/>
          <a:ln/>
        </p:spPr>
        <p:txBody>
          <a:bodyPr wrap="square" lIns="0" tIns="0" rIns="0" bIns="0" rtlCol="0" anchor="t">
            <a:normAutofit/>
          </a:bodyPr>
          <a:lstStyle/>
          <a:p>
            <a:pPr algn="l" indent="0" marL="0">
              <a:lnSpc>
                <a:spcPct val="117000"/>
              </a:lnSpc>
              <a:spcAft>
                <a:spcPts val="400"/>
              </a:spcAft>
              <a:buNone/>
            </a:pPr>
            <a:r>
              <a:rPr lang="en-US" sz="950" b="1" dirty="0">
                <a:solidFill>
                  <a:srgbClr val="3B3535"/>
                </a:solidFill>
                <a:latin typeface="Roboto Bold" pitchFamily="34" charset="0"/>
                <a:ea typeface="Roboto Bold" pitchFamily="34" charset="-122"/>
                <a:cs typeface="Roboto Bold" pitchFamily="34" charset="-120"/>
              </a:rPr>
              <a:t>df(t)</a:t>
            </a:r>
            <a:pPr algn="l" indent="0" marL="0">
              <a:lnSpc>
                <a:spcPct val="117000"/>
              </a:lnSpc>
              <a:spcAft>
                <a:spcPts val="400"/>
              </a:spcAft>
              <a:buNone/>
            </a:pPr>
            <a:r>
              <a:rPr lang="en-US" sz="950" dirty="0">
                <a:solidFill>
                  <a:srgbClr val="3B3535"/>
                </a:solidFill>
                <a:latin typeface="Roboto" pitchFamily="34" charset="0"/>
                <a:ea typeface="Roboto" pitchFamily="34" charset="-122"/>
                <a:cs typeface="Roboto" pitchFamily="34" charset="-120"/>
              </a:rPr>
              <a:t> = número de documentos en los que aparece el término </a:t>
            </a:r>
            <a:pPr algn="l" indent="0" marL="0">
              <a:lnSpc>
                <a:spcPct val="117000"/>
              </a:lnSpc>
              <a:spcAft>
                <a:spcPts val="400"/>
              </a:spcAft>
              <a:buNone/>
            </a:pPr>
            <a:r>
              <a:rPr lang="en-US" sz="950" i="1" dirty="0">
                <a:solidFill>
                  <a:srgbClr val="3B3535"/>
                </a:solidFill>
                <a:latin typeface="Roboto" pitchFamily="34" charset="0"/>
                <a:ea typeface="Roboto" pitchFamily="34" charset="-122"/>
                <a:cs typeface="Roboto" pitchFamily="34" charset="-120"/>
              </a:rPr>
              <a:t>t</a:t>
            </a:r>
            <a:pPr algn="l" indent="0" marL="0">
              <a:lnSpc>
                <a:spcPct val="117000"/>
              </a:lnSpc>
              <a:spcAft>
                <a:spcPts val="400"/>
              </a:spcAft>
              <a:buNone/>
            </a:pPr>
            <a:r>
              <a:rPr lang="en-US" sz="950" dirty="0">
                <a:solidFill>
                  <a:srgbClr val="3B3535"/>
                </a:solidFill>
                <a:latin typeface="Roboto" pitchFamily="34" charset="0"/>
                <a:ea typeface="Roboto" pitchFamily="34" charset="-122"/>
                <a:cs typeface="Roboto" pitchFamily="34" charset="-120"/>
              </a:rPr>
              <a:t>.</a:t>
            </a:r>
            <a:endParaRPr lang="en-US" sz="950" dirty="0"/>
          </a:p>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Ejemplo: "leucemia" aparece en 200 documentos → </a:t>
            </a:r>
            <a:pPr algn="l" indent="0" marL="0">
              <a:lnSpc>
                <a:spcPct val="117000"/>
              </a:lnSpc>
              <a:buNone/>
            </a:pPr>
            <a:r>
              <a:rPr lang="en-US" sz="950" b="1" dirty="0">
                <a:solidFill>
                  <a:srgbClr val="3B3535"/>
                </a:solidFill>
                <a:latin typeface="Roboto Bold" pitchFamily="34" charset="0"/>
                <a:ea typeface="Roboto Bold" pitchFamily="34" charset="-122"/>
                <a:cs typeface="Roboto Bold" pitchFamily="34" charset="-120"/>
              </a:rPr>
              <a:t>df("leucemia") = 200</a:t>
            </a:r>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a:t>
            </a:r>
            <a:endParaRPr lang="en-US" sz="950" dirty="0"/>
          </a:p>
        </p:txBody>
      </p:sp>
      <p:sp>
        <p:nvSpPr>
          <p:cNvPr id="27" name="Text 25"/>
          <p:cNvSpPr/>
          <p:nvPr/>
        </p:nvSpPr>
        <p:spPr>
          <a:xfrm>
            <a:off x="661475" y="4912916"/>
            <a:ext cx="11478330" cy="173633"/>
          </a:xfrm>
          <a:prstGeom prst="rect">
            <a:avLst/>
          </a:prstGeom>
          <a:noFill/>
          <a:ln/>
        </p:spPr>
        <p:txBody>
          <a:bodyPr wrap="none" lIns="0" tIns="0" rIns="0" bIns="0" rtlCol="0" anchor="t"/>
          <a:lstStyle/>
          <a:p>
            <a:pPr algn="l" indent="0" marL="0">
              <a:lnSpc>
                <a:spcPct val="117000"/>
              </a:lnSpc>
              <a:buNone/>
            </a:pPr>
            <a:r>
              <a:rPr lang="en-US" sz="950" b="1" dirty="0">
                <a:solidFill>
                  <a:srgbClr val="3B3535"/>
                </a:solidFill>
                <a:latin typeface="Roboto Bold" pitchFamily="34" charset="0"/>
                <a:ea typeface="Roboto Bold" pitchFamily="34" charset="-122"/>
                <a:cs typeface="Roboto Bold" pitchFamily="34" charset="-120"/>
              </a:rPr>
              <a:t>Score final:</a:t>
            </a:r>
            <a:endParaRPr lang="en-US" sz="950" dirty="0"/>
          </a:p>
        </p:txBody>
      </p:sp>
      <p:sp>
        <p:nvSpPr>
          <p:cNvPr id="28" name="Shape 26"/>
          <p:cNvSpPr/>
          <p:nvPr/>
        </p:nvSpPr>
        <p:spPr>
          <a:xfrm>
            <a:off x="661475" y="5191125"/>
            <a:ext cx="10868745" cy="446484"/>
          </a:xfrm>
          <a:prstGeom prst="roundRect">
            <a:avLst>
              <a:gd name="adj" fmla="val 1707"/>
            </a:avLst>
          </a:prstGeom>
          <a:solidFill>
            <a:srgbClr val="F2F2F2"/>
          </a:solidFill>
          <a:ln/>
        </p:spPr>
      </p:sp>
      <p:sp>
        <p:nvSpPr>
          <p:cNvPr id="29" name="Text 27"/>
          <p:cNvSpPr/>
          <p:nvPr/>
        </p:nvSpPr>
        <p:spPr>
          <a:xfrm>
            <a:off x="810299" y="5315148"/>
            <a:ext cx="11180681" cy="198438"/>
          </a:xfrm>
          <a:prstGeom prst="rect">
            <a:avLst/>
          </a:prstGeom>
          <a:noFill/>
          <a:ln/>
        </p:spPr>
        <p:txBody>
          <a:bodyPr wrap="none" lIns="0" tIns="0" rIns="0" bIns="0" rtlCol="0" anchor="t"/>
          <a:lstStyle/>
          <a:p>
            <a:pPr algn="l" indent="0" marL="0">
              <a:lnSpc>
                <a:spcPct val="133000"/>
              </a:lnSpc>
              <a:buNone/>
            </a:pPr>
            <a:r>
              <a:rPr lang="en-US" sz="950" dirty="0">
                <a:solidFill>
                  <a:srgbClr val="E36209"/>
                </a:solidFill>
                <a:latin typeface="Consolas" pitchFamily="34" charset="0"/>
                <a:ea typeface="Consolas" pitchFamily="34" charset="-122"/>
                <a:cs typeface="Consolas" pitchFamily="34" charset="-120"/>
              </a:rPr>
              <a:t>TF-IDF(t, d) = TF(t, d) × IDF(t)</a:t>
            </a:r>
            <a:endParaRPr lang="en-US" sz="950" dirty="0"/>
          </a:p>
        </p:txBody>
      </p:sp>
      <p:sp>
        <p:nvSpPr>
          <p:cNvPr id="30" name="Shape 28"/>
          <p:cNvSpPr/>
          <p:nvPr/>
        </p:nvSpPr>
        <p:spPr>
          <a:xfrm>
            <a:off x="661475" y="5742186"/>
            <a:ext cx="10868745" cy="412155"/>
          </a:xfrm>
          <a:prstGeom prst="roundRect">
            <a:avLst>
              <a:gd name="adj" fmla="val 1849"/>
            </a:avLst>
          </a:prstGeom>
          <a:solidFill>
            <a:srgbClr val="F9D2D6"/>
          </a:solidFill>
          <a:ln/>
        </p:spPr>
      </p:sp>
      <p:pic>
        <p:nvPicPr>
          <p:cNvPr id="31" name="Image 0" descr="preencoded.png">    </p:cNvPr>
          <p:cNvPicPr>
            <a:picLocks noChangeAspect="1"/>
          </p:cNvPicPr>
          <p:nvPr/>
        </p:nvPicPr>
        <p:blipFill>
          <a:blip r:embed="rId1"/>
          <a:stretch>
            <a:fillRect/>
          </a:stretch>
        </p:blipFill>
        <p:spPr>
          <a:xfrm>
            <a:off x="785495" y="5878215"/>
            <a:ext cx="154976" cy="124023"/>
          </a:xfrm>
          <a:prstGeom prst="rect">
            <a:avLst/>
          </a:prstGeom>
        </p:spPr>
      </p:pic>
      <p:sp>
        <p:nvSpPr>
          <p:cNvPr id="32" name="Text 29"/>
          <p:cNvSpPr/>
          <p:nvPr/>
        </p:nvSpPr>
        <p:spPr>
          <a:xfrm>
            <a:off x="1064491" y="5866110"/>
            <a:ext cx="10951293"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Roboto" pitchFamily="34" charset="0"/>
                <a:ea typeface="Roboto" pitchFamily="34" charset="-122"/>
                <a:cs typeface="Roboto" pitchFamily="34" charset="-120"/>
              </a:rPr>
              <a:t>⚠️</a:t>
            </a:r>
            <a:pPr algn="l" indent="0" marL="0">
              <a:lnSpc>
                <a:spcPct val="117000"/>
              </a:lnSpc>
              <a:buNone/>
            </a:pPr>
            <a:r>
              <a:rPr lang="en-US" sz="950" dirty="0">
                <a:solidFill>
                  <a:srgbClr val="000000"/>
                </a:solidFill>
                <a:latin typeface="Roboto" pitchFamily="34" charset="0"/>
                <a:ea typeface="Roboto" pitchFamily="34" charset="-122"/>
                <a:cs typeface="Roboto" pitchFamily="34" charset="-120"/>
              </a:rPr>
              <a:t> Limitación: TF-IDF no satura — un término que aparece 100 veces vale 100x más que uno que aparece 1 vez. → BM25 resuelve esto.</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61475" y="623391"/>
            <a:ext cx="1837287" cy="201116"/>
          </a:xfrm>
          <a:prstGeom prst="roundRect">
            <a:avLst>
              <a:gd name="adj" fmla="val 3789"/>
            </a:avLst>
          </a:prstGeom>
          <a:solidFill>
            <a:srgbClr val="F9D2D6"/>
          </a:solidFill>
          <a:ln/>
        </p:spPr>
      </p:sp>
      <p:sp>
        <p:nvSpPr>
          <p:cNvPr id="3" name="Text 1"/>
          <p:cNvSpPr/>
          <p:nvPr/>
        </p:nvSpPr>
        <p:spPr>
          <a:xfrm>
            <a:off x="740848" y="663079"/>
            <a:ext cx="2288126" cy="121741"/>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Roboto" pitchFamily="34" charset="0"/>
                <a:ea typeface="Roboto" pitchFamily="34" charset="-122"/>
                <a:cs typeface="Roboto" pitchFamily="34" charset="-120"/>
              </a:rPr>
              <a:t>RAG: BÚSQUEDA Y RECUPERACIÓN</a:t>
            </a:r>
            <a:endParaRPr lang="en-US" sz="800" dirty="0"/>
          </a:p>
        </p:txBody>
      </p:sp>
      <p:sp>
        <p:nvSpPr>
          <p:cNvPr id="4" name="Text 2"/>
          <p:cNvSpPr/>
          <p:nvPr/>
        </p:nvSpPr>
        <p:spPr>
          <a:xfrm>
            <a:off x="661475" y="866775"/>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1F1E1E"/>
                </a:solidFill>
                <a:latin typeface="Roboto Mono Medium" pitchFamily="34" charset="0"/>
                <a:ea typeface="Roboto Mono Medium" pitchFamily="34" charset="-122"/>
                <a:cs typeface="Roboto Mono Medium" pitchFamily="34" charset="-120"/>
              </a:rPr>
              <a:t>TF-IDF en acción: Ejemplo visual</a:t>
            </a:r>
            <a:endParaRPr lang="en-US" sz="2600" dirty="0"/>
          </a:p>
        </p:txBody>
      </p:sp>
      <p:sp>
        <p:nvSpPr>
          <p:cNvPr id="5" name="Text 3"/>
          <p:cNvSpPr/>
          <p:nvPr/>
        </p:nvSpPr>
        <p:spPr>
          <a:xfrm>
            <a:off x="661475" y="1322487"/>
            <a:ext cx="10868745" cy="330696"/>
          </a:xfrm>
          <a:prstGeom prst="rect">
            <a:avLst/>
          </a:prstGeom>
          <a:noFill/>
          <a:ln/>
        </p:spPr>
        <p:txBody>
          <a:bodyPr wrap="none" lIns="0" tIns="0" rIns="0" bIns="0" rtlCol="0" anchor="t"/>
          <a:lstStyle/>
          <a:p>
            <a:pPr algn="l" indent="0" marL="0">
              <a:lnSpc>
                <a:spcPct val="104000"/>
              </a:lnSpc>
              <a:buNone/>
            </a:pPr>
            <a:r>
              <a:rPr lang="en-US" sz="2050" dirty="0">
                <a:solidFill>
                  <a:srgbClr val="1F1E1E"/>
                </a:solidFill>
                <a:latin typeface="Roboto Mono Medium" pitchFamily="34" charset="0"/>
                <a:ea typeface="Roboto Mono Medium" pitchFamily="34" charset="-122"/>
                <a:cs typeface="Roboto Mono Medium" pitchFamily="34" charset="-120"/>
              </a:rPr>
              <a:t>El corpus (3 documentos)</a:t>
            </a:r>
            <a:endParaRPr lang="en-US" sz="2050" dirty="0"/>
          </a:p>
        </p:txBody>
      </p:sp>
      <p:sp>
        <p:nvSpPr>
          <p:cNvPr id="6" name="Shape 4"/>
          <p:cNvSpPr/>
          <p:nvPr/>
        </p:nvSpPr>
        <p:spPr>
          <a:xfrm>
            <a:off x="661475" y="1811933"/>
            <a:ext cx="3552339" cy="991890"/>
          </a:xfrm>
          <a:prstGeom prst="roundRect">
            <a:avLst>
              <a:gd name="adj" fmla="val 768"/>
            </a:avLst>
          </a:prstGeom>
          <a:solidFill>
            <a:srgbClr val="F2EEEE"/>
          </a:solidFill>
          <a:ln w="6350">
            <a:solidFill>
              <a:srgbClr val="D8D4D4"/>
            </a:solidFill>
            <a:prstDash val="solid"/>
          </a:ln>
        </p:spPr>
      </p:sp>
      <p:sp>
        <p:nvSpPr>
          <p:cNvPr id="7" name="Text 5"/>
          <p:cNvSpPr/>
          <p:nvPr/>
        </p:nvSpPr>
        <p:spPr>
          <a:xfrm>
            <a:off x="800080" y="1950541"/>
            <a:ext cx="3275129"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Doc 1</a:t>
            </a:r>
            <a:endParaRPr lang="en-US" sz="1300" dirty="0"/>
          </a:p>
        </p:txBody>
      </p:sp>
      <p:sp>
        <p:nvSpPr>
          <p:cNvPr id="8" name="Text 6"/>
          <p:cNvSpPr/>
          <p:nvPr/>
        </p:nvSpPr>
        <p:spPr>
          <a:xfrm>
            <a:off x="800080" y="2220714"/>
            <a:ext cx="3275129" cy="444500"/>
          </a:xfrm>
          <a:prstGeom prst="rect">
            <a:avLst/>
          </a:prstGeom>
          <a:noFill/>
          <a:ln/>
        </p:spPr>
        <p:txBody>
          <a:bodyPr wrap="square" lIns="0" tIns="0" rIns="0" bIns="0" rtlCol="0" anchor="t"/>
          <a:lstStyle/>
          <a:p>
            <a:pPr algn="l" indent="0" marL="0">
              <a:lnSpc>
                <a:spcPct val="120000"/>
              </a:lnSpc>
              <a:spcAft>
                <a:spcPts val="450"/>
              </a:spcAft>
              <a:buNone/>
            </a:pPr>
            <a:r>
              <a:rPr lang="en-US" sz="1000" dirty="0">
                <a:solidFill>
                  <a:srgbClr val="3B3535"/>
                </a:solidFill>
                <a:latin typeface="Roboto" pitchFamily="34" charset="0"/>
                <a:ea typeface="Roboto" pitchFamily="34" charset="-122"/>
                <a:cs typeface="Roboto" pitchFamily="34" charset="-120"/>
              </a:rPr>
              <a:t>el gato come </a:t>
            </a:r>
            <a:pPr algn="l" indent="0" marL="0">
              <a:lnSpc>
                <a:spcPct val="120000"/>
              </a:lnSpc>
              <a:spcAft>
                <a:spcPts val="450"/>
              </a:spcAft>
              <a:buNone/>
            </a:pPr>
            <a:r>
              <a:rPr lang="en-US" sz="1000" b="1" dirty="0">
                <a:solidFill>
                  <a:srgbClr val="3B3535"/>
                </a:solidFill>
                <a:latin typeface="Roboto Bold" pitchFamily="34" charset="0"/>
                <a:ea typeface="Roboto Bold" pitchFamily="34" charset="-122"/>
                <a:cs typeface="Roboto Bold" pitchFamily="34" charset="-120"/>
              </a:rPr>
              <a:t>pescado</a:t>
            </a:r>
            <a:pPr algn="l" indent="0" marL="0">
              <a:lnSpc>
                <a:spcPct val="120000"/>
              </a:lnSpc>
              <a:spcAft>
                <a:spcPts val="450"/>
              </a:spcAft>
              <a:buNone/>
            </a:pPr>
            <a:r>
              <a:rPr lang="en-US" sz="1000" dirty="0">
                <a:solidFill>
                  <a:srgbClr val="3B3535"/>
                </a:solidFill>
                <a:latin typeface="Roboto" pitchFamily="34" charset="0"/>
                <a:ea typeface="Roboto" pitchFamily="34" charset="-122"/>
                <a:cs typeface="Roboto" pitchFamily="34" charset="-120"/>
              </a:rPr>
              <a:t> </a:t>
            </a:r>
            <a:pPr algn="l" indent="0" marL="0">
              <a:lnSpc>
                <a:spcPct val="120000"/>
              </a:lnSpc>
              <a:spcAft>
                <a:spcPts val="450"/>
              </a:spcAft>
              <a:buNone/>
            </a:pPr>
            <a:r>
              <a:rPr lang="en-US" sz="1000" b="1" dirty="0">
                <a:solidFill>
                  <a:srgbClr val="3B3535"/>
                </a:solidFill>
                <a:latin typeface="Roboto Bold" pitchFamily="34" charset="0"/>
                <a:ea typeface="Roboto Bold" pitchFamily="34" charset="-122"/>
                <a:cs typeface="Roboto Bold" pitchFamily="34" charset="-120"/>
              </a:rPr>
              <a:t>fresco</a:t>
            </a:r>
            <a:endParaRPr lang="en-US" sz="1000" dirty="0"/>
          </a:p>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5 tokens</a:t>
            </a:r>
            <a:endParaRPr lang="en-US" sz="1000" dirty="0"/>
          </a:p>
        </p:txBody>
      </p:sp>
      <p:sp>
        <p:nvSpPr>
          <p:cNvPr id="9" name="Shape 7"/>
          <p:cNvSpPr/>
          <p:nvPr/>
        </p:nvSpPr>
        <p:spPr>
          <a:xfrm>
            <a:off x="4319579" y="1811933"/>
            <a:ext cx="3552438" cy="991890"/>
          </a:xfrm>
          <a:prstGeom prst="roundRect">
            <a:avLst>
              <a:gd name="adj" fmla="val 768"/>
            </a:avLst>
          </a:prstGeom>
          <a:solidFill>
            <a:srgbClr val="F2EEEE"/>
          </a:solidFill>
          <a:ln w="6350">
            <a:solidFill>
              <a:srgbClr val="D8D4D4"/>
            </a:solidFill>
            <a:prstDash val="solid"/>
          </a:ln>
        </p:spPr>
      </p:sp>
      <p:sp>
        <p:nvSpPr>
          <p:cNvPr id="10" name="Text 8"/>
          <p:cNvSpPr/>
          <p:nvPr/>
        </p:nvSpPr>
        <p:spPr>
          <a:xfrm>
            <a:off x="4458184" y="1950541"/>
            <a:ext cx="3275228"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Doc 2</a:t>
            </a:r>
            <a:endParaRPr lang="en-US" sz="1300" dirty="0"/>
          </a:p>
        </p:txBody>
      </p:sp>
      <p:sp>
        <p:nvSpPr>
          <p:cNvPr id="11" name="Text 9"/>
          <p:cNvSpPr/>
          <p:nvPr/>
        </p:nvSpPr>
        <p:spPr>
          <a:xfrm>
            <a:off x="4458184" y="2220714"/>
            <a:ext cx="3275228" cy="444500"/>
          </a:xfrm>
          <a:prstGeom prst="rect">
            <a:avLst/>
          </a:prstGeom>
          <a:noFill/>
          <a:ln/>
        </p:spPr>
        <p:txBody>
          <a:bodyPr wrap="square" lIns="0" tIns="0" rIns="0" bIns="0" rtlCol="0" anchor="t"/>
          <a:lstStyle/>
          <a:p>
            <a:pPr algn="l" indent="0" marL="0">
              <a:lnSpc>
                <a:spcPct val="120000"/>
              </a:lnSpc>
              <a:spcAft>
                <a:spcPts val="450"/>
              </a:spcAft>
              <a:buNone/>
            </a:pPr>
            <a:r>
              <a:rPr lang="en-US" sz="1000" dirty="0">
                <a:solidFill>
                  <a:srgbClr val="3B3535"/>
                </a:solidFill>
                <a:latin typeface="Roboto" pitchFamily="34" charset="0"/>
                <a:ea typeface="Roboto" pitchFamily="34" charset="-122"/>
                <a:cs typeface="Roboto" pitchFamily="34" charset="-120"/>
              </a:rPr>
              <a:t>el perro come </a:t>
            </a:r>
            <a:pPr algn="l" indent="0" marL="0">
              <a:lnSpc>
                <a:spcPct val="120000"/>
              </a:lnSpc>
              <a:spcAft>
                <a:spcPts val="450"/>
              </a:spcAft>
              <a:buNone/>
            </a:pPr>
            <a:r>
              <a:rPr lang="en-US" sz="1000" b="1" dirty="0">
                <a:solidFill>
                  <a:srgbClr val="3B3535"/>
                </a:solidFill>
                <a:latin typeface="Roboto Bold" pitchFamily="34" charset="0"/>
                <a:ea typeface="Roboto Bold" pitchFamily="34" charset="-122"/>
                <a:cs typeface="Roboto Bold" pitchFamily="34" charset="-120"/>
              </a:rPr>
              <a:t>carne</a:t>
            </a:r>
            <a:pPr algn="l" indent="0" marL="0">
              <a:lnSpc>
                <a:spcPct val="120000"/>
              </a:lnSpc>
              <a:spcAft>
                <a:spcPts val="450"/>
              </a:spcAft>
              <a:buNone/>
            </a:pPr>
            <a:r>
              <a:rPr lang="en-US" sz="1000" dirty="0">
                <a:solidFill>
                  <a:srgbClr val="3B3535"/>
                </a:solidFill>
                <a:latin typeface="Roboto" pitchFamily="34" charset="0"/>
                <a:ea typeface="Roboto" pitchFamily="34" charset="-122"/>
                <a:cs typeface="Roboto" pitchFamily="34" charset="-120"/>
              </a:rPr>
              <a:t> y hueso</a:t>
            </a:r>
            <a:endParaRPr lang="en-US" sz="1000" dirty="0"/>
          </a:p>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6 tokens</a:t>
            </a:r>
            <a:endParaRPr lang="en-US" sz="1000" dirty="0"/>
          </a:p>
        </p:txBody>
      </p:sp>
      <p:sp>
        <p:nvSpPr>
          <p:cNvPr id="12" name="Shape 10"/>
          <p:cNvSpPr/>
          <p:nvPr/>
        </p:nvSpPr>
        <p:spPr>
          <a:xfrm>
            <a:off x="7977782" y="1811933"/>
            <a:ext cx="3552438" cy="991890"/>
          </a:xfrm>
          <a:prstGeom prst="roundRect">
            <a:avLst>
              <a:gd name="adj" fmla="val 768"/>
            </a:avLst>
          </a:prstGeom>
          <a:solidFill>
            <a:srgbClr val="F2EEEE"/>
          </a:solidFill>
          <a:ln w="6350">
            <a:solidFill>
              <a:srgbClr val="D8D4D4"/>
            </a:solidFill>
            <a:prstDash val="solid"/>
          </a:ln>
        </p:spPr>
      </p:sp>
      <p:sp>
        <p:nvSpPr>
          <p:cNvPr id="13" name="Text 11"/>
          <p:cNvSpPr/>
          <p:nvPr/>
        </p:nvSpPr>
        <p:spPr>
          <a:xfrm>
            <a:off x="8116387" y="1950541"/>
            <a:ext cx="3275228"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Doc 3</a:t>
            </a:r>
            <a:endParaRPr lang="en-US" sz="1300" dirty="0"/>
          </a:p>
        </p:txBody>
      </p:sp>
      <p:sp>
        <p:nvSpPr>
          <p:cNvPr id="14" name="Text 12"/>
          <p:cNvSpPr/>
          <p:nvPr/>
        </p:nvSpPr>
        <p:spPr>
          <a:xfrm>
            <a:off x="8116387" y="2220714"/>
            <a:ext cx="3275228" cy="444500"/>
          </a:xfrm>
          <a:prstGeom prst="rect">
            <a:avLst/>
          </a:prstGeom>
          <a:noFill/>
          <a:ln/>
        </p:spPr>
        <p:txBody>
          <a:bodyPr wrap="square" lIns="0" tIns="0" rIns="0" bIns="0" rtlCol="0" anchor="t"/>
          <a:lstStyle/>
          <a:p>
            <a:pPr algn="l" indent="0" marL="0">
              <a:lnSpc>
                <a:spcPct val="120000"/>
              </a:lnSpc>
              <a:spcAft>
                <a:spcPts val="450"/>
              </a:spcAft>
              <a:buNone/>
            </a:pPr>
            <a:r>
              <a:rPr lang="en-US" sz="1000" dirty="0">
                <a:solidFill>
                  <a:srgbClr val="3B3535"/>
                </a:solidFill>
                <a:latin typeface="Roboto" pitchFamily="34" charset="0"/>
                <a:ea typeface="Roboto" pitchFamily="34" charset="-122"/>
                <a:cs typeface="Roboto" pitchFamily="34" charset="-120"/>
              </a:rPr>
              <a:t>el gato y el perro son </a:t>
            </a:r>
            <a:pPr algn="l" indent="0" marL="0">
              <a:lnSpc>
                <a:spcPct val="120000"/>
              </a:lnSpc>
              <a:spcAft>
                <a:spcPts val="450"/>
              </a:spcAft>
              <a:buNone/>
            </a:pPr>
            <a:r>
              <a:rPr lang="en-US" sz="1000" b="1" dirty="0">
                <a:solidFill>
                  <a:srgbClr val="3B3535"/>
                </a:solidFill>
                <a:latin typeface="Roboto Bold" pitchFamily="34" charset="0"/>
                <a:ea typeface="Roboto Bold" pitchFamily="34" charset="-122"/>
                <a:cs typeface="Roboto Bold" pitchFamily="34" charset="-120"/>
              </a:rPr>
              <a:t>amigos</a:t>
            </a:r>
            <a:endParaRPr lang="en-US" sz="1000" dirty="0"/>
          </a:p>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7 tokens</a:t>
            </a:r>
            <a:endParaRPr lang="en-US" sz="1000" dirty="0"/>
          </a:p>
        </p:txBody>
      </p:sp>
      <p:sp>
        <p:nvSpPr>
          <p:cNvPr id="15" name="Text 13"/>
          <p:cNvSpPr/>
          <p:nvPr/>
        </p:nvSpPr>
        <p:spPr>
          <a:xfrm>
            <a:off x="661475" y="3028652"/>
            <a:ext cx="5832528" cy="206673"/>
          </a:xfrm>
          <a:prstGeom prst="rect">
            <a:avLst/>
          </a:prstGeom>
          <a:noFill/>
          <a:ln/>
        </p:spPr>
        <p:txBody>
          <a:bodyPr wrap="none" lIns="0" tIns="0" rIns="0" bIns="0" rtlCol="0" anchor="t"/>
          <a:lstStyle/>
          <a:p>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Índice invertido con scores TF-IDF</a:t>
            </a:r>
            <a:endParaRPr lang="en-US" sz="1300" dirty="0"/>
          </a:p>
        </p:txBody>
      </p:sp>
      <p:sp>
        <p:nvSpPr>
          <p:cNvPr id="16" name="Shape 14"/>
          <p:cNvSpPr/>
          <p:nvPr/>
        </p:nvSpPr>
        <p:spPr>
          <a:xfrm>
            <a:off x="661475" y="3354388"/>
            <a:ext cx="5832528" cy="2184400"/>
          </a:xfrm>
          <a:prstGeom prst="roundRect">
            <a:avLst>
              <a:gd name="adj" fmla="val 349"/>
            </a:avLst>
          </a:prstGeom>
          <a:noFill/>
          <a:ln w="6350">
            <a:solidFill>
              <a:srgbClr val="000000">
                <a:alpha val="8000"/>
              </a:srgbClr>
            </a:solidFill>
            <a:prstDash val="solid"/>
          </a:ln>
        </p:spPr>
      </p:sp>
      <p:sp>
        <p:nvSpPr>
          <p:cNvPr id="17" name="Shape 15"/>
          <p:cNvSpPr/>
          <p:nvPr/>
        </p:nvSpPr>
        <p:spPr>
          <a:xfrm>
            <a:off x="667825" y="3360737"/>
            <a:ext cx="5819828" cy="330200"/>
          </a:xfrm>
          <a:prstGeom prst="rect">
            <a:avLst/>
          </a:prstGeom>
          <a:solidFill>
            <a:srgbClr val="FFFFFF">
              <a:alpha val="4000"/>
            </a:srgbClr>
          </a:solidFill>
          <a:ln/>
        </p:spPr>
      </p:sp>
      <p:sp>
        <p:nvSpPr>
          <p:cNvPr id="18" name="Text 16"/>
          <p:cNvSpPr/>
          <p:nvPr/>
        </p:nvSpPr>
        <p:spPr>
          <a:xfrm>
            <a:off x="800378" y="3430587"/>
            <a:ext cx="1505805"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Término</a:t>
            </a:r>
            <a:endParaRPr lang="en-US" sz="1000" dirty="0"/>
          </a:p>
        </p:txBody>
      </p:sp>
      <p:sp>
        <p:nvSpPr>
          <p:cNvPr id="19" name="Text 17"/>
          <p:cNvSpPr/>
          <p:nvPr/>
        </p:nvSpPr>
        <p:spPr>
          <a:xfrm>
            <a:off x="1967459" y="3430587"/>
            <a:ext cx="1502630"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En docs</a:t>
            </a:r>
            <a:endParaRPr lang="en-US" sz="1000" dirty="0"/>
          </a:p>
        </p:txBody>
      </p:sp>
      <p:sp>
        <p:nvSpPr>
          <p:cNvPr id="20" name="Text 18"/>
          <p:cNvSpPr/>
          <p:nvPr/>
        </p:nvSpPr>
        <p:spPr>
          <a:xfrm>
            <a:off x="3131365" y="3430587"/>
            <a:ext cx="1502630"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TF (Doc1)</a:t>
            </a:r>
            <a:endParaRPr lang="en-US" sz="1000" dirty="0"/>
          </a:p>
        </p:txBody>
      </p:sp>
      <p:sp>
        <p:nvSpPr>
          <p:cNvPr id="21" name="Text 19"/>
          <p:cNvSpPr/>
          <p:nvPr/>
        </p:nvSpPr>
        <p:spPr>
          <a:xfrm>
            <a:off x="4295271" y="3430587"/>
            <a:ext cx="1502630"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IDF</a:t>
            </a:r>
            <a:endParaRPr lang="en-US" sz="1000" dirty="0"/>
          </a:p>
        </p:txBody>
      </p:sp>
      <p:sp>
        <p:nvSpPr>
          <p:cNvPr id="22" name="Text 20"/>
          <p:cNvSpPr/>
          <p:nvPr/>
        </p:nvSpPr>
        <p:spPr>
          <a:xfrm>
            <a:off x="5459177" y="3430587"/>
            <a:ext cx="1505805"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TF-IDF</a:t>
            </a:r>
            <a:endParaRPr lang="en-US" sz="1000" dirty="0"/>
          </a:p>
        </p:txBody>
      </p:sp>
      <p:sp>
        <p:nvSpPr>
          <p:cNvPr id="23" name="Shape 21"/>
          <p:cNvSpPr/>
          <p:nvPr/>
        </p:nvSpPr>
        <p:spPr>
          <a:xfrm>
            <a:off x="667825" y="3690938"/>
            <a:ext cx="5819828" cy="520700"/>
          </a:xfrm>
          <a:prstGeom prst="rect">
            <a:avLst/>
          </a:prstGeom>
          <a:solidFill>
            <a:srgbClr val="000000">
              <a:alpha val="4000"/>
            </a:srgbClr>
          </a:solidFill>
          <a:ln/>
        </p:spPr>
      </p:sp>
      <p:sp>
        <p:nvSpPr>
          <p:cNvPr id="24" name="Text 22"/>
          <p:cNvSpPr/>
          <p:nvPr/>
        </p:nvSpPr>
        <p:spPr>
          <a:xfrm>
            <a:off x="800378" y="3760788"/>
            <a:ext cx="1505805"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el</a:t>
            </a:r>
            <a:endParaRPr lang="en-US" sz="1000" dirty="0"/>
          </a:p>
        </p:txBody>
      </p:sp>
      <p:sp>
        <p:nvSpPr>
          <p:cNvPr id="25" name="Text 23"/>
          <p:cNvSpPr/>
          <p:nvPr/>
        </p:nvSpPr>
        <p:spPr>
          <a:xfrm>
            <a:off x="1967459" y="3760788"/>
            <a:ext cx="893046"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Doc1, Doc2, Doc3</a:t>
            </a:r>
            <a:endParaRPr lang="en-US" sz="1000" dirty="0"/>
          </a:p>
        </p:txBody>
      </p:sp>
      <p:sp>
        <p:nvSpPr>
          <p:cNvPr id="26" name="Text 24"/>
          <p:cNvSpPr/>
          <p:nvPr/>
        </p:nvSpPr>
        <p:spPr>
          <a:xfrm>
            <a:off x="3131365" y="37607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2/5=0.40</a:t>
            </a:r>
            <a:endParaRPr lang="en-US" sz="1000" dirty="0"/>
          </a:p>
        </p:txBody>
      </p:sp>
      <p:sp>
        <p:nvSpPr>
          <p:cNvPr id="27" name="Text 25"/>
          <p:cNvSpPr/>
          <p:nvPr/>
        </p:nvSpPr>
        <p:spPr>
          <a:xfrm>
            <a:off x="4295271" y="37607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log(3/3)=0.00</a:t>
            </a:r>
            <a:endParaRPr lang="en-US" sz="1000" dirty="0"/>
          </a:p>
        </p:txBody>
      </p:sp>
      <p:sp>
        <p:nvSpPr>
          <p:cNvPr id="28" name="Text 26"/>
          <p:cNvSpPr/>
          <p:nvPr/>
        </p:nvSpPr>
        <p:spPr>
          <a:xfrm>
            <a:off x="5459177" y="3760788"/>
            <a:ext cx="896221" cy="381000"/>
          </a:xfrm>
          <a:prstGeom prst="rect">
            <a:avLst/>
          </a:prstGeom>
          <a:noFill/>
          <a:ln/>
        </p:spPr>
        <p:txBody>
          <a:bodyPr wrap="square" lIns="0" tIns="0" rIns="0" bIns="0" rtlCol="0" anchor="t">
            <a:normAutofit/>
          </a:bodyPr>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0.00</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(stopword)</a:t>
            </a:r>
            <a:endParaRPr lang="en-US" sz="1000" dirty="0"/>
          </a:p>
        </p:txBody>
      </p:sp>
      <p:sp>
        <p:nvSpPr>
          <p:cNvPr id="29" name="Shape 27"/>
          <p:cNvSpPr/>
          <p:nvPr/>
        </p:nvSpPr>
        <p:spPr>
          <a:xfrm>
            <a:off x="667825" y="4211638"/>
            <a:ext cx="5819828" cy="330200"/>
          </a:xfrm>
          <a:prstGeom prst="rect">
            <a:avLst/>
          </a:prstGeom>
          <a:solidFill>
            <a:srgbClr val="FFFFFF">
              <a:alpha val="4000"/>
            </a:srgbClr>
          </a:solidFill>
          <a:ln/>
        </p:spPr>
      </p:sp>
      <p:sp>
        <p:nvSpPr>
          <p:cNvPr id="30" name="Text 28"/>
          <p:cNvSpPr/>
          <p:nvPr/>
        </p:nvSpPr>
        <p:spPr>
          <a:xfrm>
            <a:off x="800378" y="4281488"/>
            <a:ext cx="1505805"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gato</a:t>
            </a:r>
            <a:endParaRPr lang="en-US" sz="1000" dirty="0"/>
          </a:p>
        </p:txBody>
      </p:sp>
      <p:sp>
        <p:nvSpPr>
          <p:cNvPr id="31" name="Text 29"/>
          <p:cNvSpPr/>
          <p:nvPr/>
        </p:nvSpPr>
        <p:spPr>
          <a:xfrm>
            <a:off x="1967459" y="42814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Doc1, Doc3</a:t>
            </a:r>
            <a:endParaRPr lang="en-US" sz="1000" dirty="0"/>
          </a:p>
        </p:txBody>
      </p:sp>
      <p:sp>
        <p:nvSpPr>
          <p:cNvPr id="32" name="Text 30"/>
          <p:cNvSpPr/>
          <p:nvPr/>
        </p:nvSpPr>
        <p:spPr>
          <a:xfrm>
            <a:off x="3131365" y="42814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1/5=0.20</a:t>
            </a:r>
            <a:endParaRPr lang="en-US" sz="1000" dirty="0"/>
          </a:p>
        </p:txBody>
      </p:sp>
      <p:sp>
        <p:nvSpPr>
          <p:cNvPr id="33" name="Text 31"/>
          <p:cNvSpPr/>
          <p:nvPr/>
        </p:nvSpPr>
        <p:spPr>
          <a:xfrm>
            <a:off x="4295271" y="42814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log(3/2)=0.18</a:t>
            </a:r>
            <a:endParaRPr lang="en-US" sz="1000" dirty="0"/>
          </a:p>
        </p:txBody>
      </p:sp>
      <p:sp>
        <p:nvSpPr>
          <p:cNvPr id="34" name="Text 32"/>
          <p:cNvSpPr/>
          <p:nvPr/>
        </p:nvSpPr>
        <p:spPr>
          <a:xfrm>
            <a:off x="5459177" y="4281488"/>
            <a:ext cx="1505805"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0.04</a:t>
            </a:r>
            <a:endParaRPr lang="en-US" sz="1000" dirty="0"/>
          </a:p>
        </p:txBody>
      </p:sp>
      <p:sp>
        <p:nvSpPr>
          <p:cNvPr id="35" name="Shape 33"/>
          <p:cNvSpPr/>
          <p:nvPr/>
        </p:nvSpPr>
        <p:spPr>
          <a:xfrm>
            <a:off x="667825" y="4541837"/>
            <a:ext cx="5819828" cy="330200"/>
          </a:xfrm>
          <a:prstGeom prst="rect">
            <a:avLst/>
          </a:prstGeom>
          <a:solidFill>
            <a:srgbClr val="000000">
              <a:alpha val="4000"/>
            </a:srgbClr>
          </a:solidFill>
          <a:ln/>
        </p:spPr>
      </p:sp>
      <p:sp>
        <p:nvSpPr>
          <p:cNvPr id="36" name="Text 34"/>
          <p:cNvSpPr/>
          <p:nvPr/>
        </p:nvSpPr>
        <p:spPr>
          <a:xfrm>
            <a:off x="800378" y="4611688"/>
            <a:ext cx="1505805"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come</a:t>
            </a:r>
            <a:endParaRPr lang="en-US" sz="1000" dirty="0"/>
          </a:p>
        </p:txBody>
      </p:sp>
      <p:sp>
        <p:nvSpPr>
          <p:cNvPr id="37" name="Text 35"/>
          <p:cNvSpPr/>
          <p:nvPr/>
        </p:nvSpPr>
        <p:spPr>
          <a:xfrm>
            <a:off x="1967459" y="46116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Doc1, Doc2</a:t>
            </a:r>
            <a:endParaRPr lang="en-US" sz="1000" dirty="0"/>
          </a:p>
        </p:txBody>
      </p:sp>
      <p:sp>
        <p:nvSpPr>
          <p:cNvPr id="38" name="Text 36"/>
          <p:cNvSpPr/>
          <p:nvPr/>
        </p:nvSpPr>
        <p:spPr>
          <a:xfrm>
            <a:off x="3131365" y="46116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1/5=0.20</a:t>
            </a:r>
            <a:endParaRPr lang="en-US" sz="1000" dirty="0"/>
          </a:p>
        </p:txBody>
      </p:sp>
      <p:sp>
        <p:nvSpPr>
          <p:cNvPr id="39" name="Text 37"/>
          <p:cNvSpPr/>
          <p:nvPr/>
        </p:nvSpPr>
        <p:spPr>
          <a:xfrm>
            <a:off x="4295271" y="46116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log(3/2)=0.18</a:t>
            </a:r>
            <a:endParaRPr lang="en-US" sz="1000" dirty="0"/>
          </a:p>
        </p:txBody>
      </p:sp>
      <p:sp>
        <p:nvSpPr>
          <p:cNvPr id="40" name="Text 38"/>
          <p:cNvSpPr/>
          <p:nvPr/>
        </p:nvSpPr>
        <p:spPr>
          <a:xfrm>
            <a:off x="5459177" y="4611688"/>
            <a:ext cx="1505805"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0.04</a:t>
            </a:r>
            <a:endParaRPr lang="en-US" sz="1000" dirty="0"/>
          </a:p>
        </p:txBody>
      </p:sp>
      <p:sp>
        <p:nvSpPr>
          <p:cNvPr id="41" name="Shape 39"/>
          <p:cNvSpPr/>
          <p:nvPr/>
        </p:nvSpPr>
        <p:spPr>
          <a:xfrm>
            <a:off x="667825" y="4872038"/>
            <a:ext cx="5819828" cy="330200"/>
          </a:xfrm>
          <a:prstGeom prst="rect">
            <a:avLst/>
          </a:prstGeom>
          <a:solidFill>
            <a:srgbClr val="FFFFFF">
              <a:alpha val="4000"/>
            </a:srgbClr>
          </a:solidFill>
          <a:ln/>
        </p:spPr>
      </p:sp>
      <p:sp>
        <p:nvSpPr>
          <p:cNvPr id="42" name="Text 40"/>
          <p:cNvSpPr/>
          <p:nvPr/>
        </p:nvSpPr>
        <p:spPr>
          <a:xfrm>
            <a:off x="800378" y="4941888"/>
            <a:ext cx="1505805"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pescado</a:t>
            </a:r>
            <a:endParaRPr lang="en-US" sz="1000" dirty="0"/>
          </a:p>
        </p:txBody>
      </p:sp>
      <p:sp>
        <p:nvSpPr>
          <p:cNvPr id="43" name="Text 41"/>
          <p:cNvSpPr/>
          <p:nvPr/>
        </p:nvSpPr>
        <p:spPr>
          <a:xfrm>
            <a:off x="1967459" y="49418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Doc1</a:t>
            </a:r>
            <a:endParaRPr lang="en-US" sz="1000" dirty="0"/>
          </a:p>
        </p:txBody>
      </p:sp>
      <p:sp>
        <p:nvSpPr>
          <p:cNvPr id="44" name="Text 42"/>
          <p:cNvSpPr/>
          <p:nvPr/>
        </p:nvSpPr>
        <p:spPr>
          <a:xfrm>
            <a:off x="3131365" y="49418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1/5=0.20</a:t>
            </a:r>
            <a:endParaRPr lang="en-US" sz="1000" dirty="0"/>
          </a:p>
        </p:txBody>
      </p:sp>
      <p:sp>
        <p:nvSpPr>
          <p:cNvPr id="45" name="Text 43"/>
          <p:cNvSpPr/>
          <p:nvPr/>
        </p:nvSpPr>
        <p:spPr>
          <a:xfrm>
            <a:off x="4295271" y="49418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log(3/1)=0.48</a:t>
            </a:r>
            <a:endParaRPr lang="en-US" sz="1000" dirty="0"/>
          </a:p>
        </p:txBody>
      </p:sp>
      <p:sp>
        <p:nvSpPr>
          <p:cNvPr id="46" name="Text 44"/>
          <p:cNvSpPr/>
          <p:nvPr/>
        </p:nvSpPr>
        <p:spPr>
          <a:xfrm>
            <a:off x="5459177" y="4941888"/>
            <a:ext cx="1505805"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0.10</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a:t>
            </a:r>
            <a:pPr algn="l" indent="0" marL="0">
              <a:lnSpc>
                <a:spcPct val="120000"/>
              </a:lnSpc>
              <a:buNone/>
            </a:pPr>
            <a:r>
              <a:rPr lang="en-US" sz="1000" dirty="0">
                <a:solidFill>
                  <a:srgbClr val="000000"/>
                </a:solidFill>
                <a:latin typeface="Roboto" pitchFamily="34" charset="0"/>
                <a:ea typeface="Roboto" pitchFamily="34" charset="-122"/>
                <a:cs typeface="Roboto" pitchFamily="34" charset="-120"/>
              </a:rPr>
              <a:t>⭐</a:t>
            </a:r>
            <a:endParaRPr lang="en-US" sz="1000" dirty="0"/>
          </a:p>
        </p:txBody>
      </p:sp>
      <p:sp>
        <p:nvSpPr>
          <p:cNvPr id="47" name="Shape 45"/>
          <p:cNvSpPr/>
          <p:nvPr/>
        </p:nvSpPr>
        <p:spPr>
          <a:xfrm>
            <a:off x="667825" y="5202238"/>
            <a:ext cx="5819828" cy="330200"/>
          </a:xfrm>
          <a:prstGeom prst="rect">
            <a:avLst/>
          </a:prstGeom>
          <a:solidFill>
            <a:srgbClr val="000000">
              <a:alpha val="4000"/>
            </a:srgbClr>
          </a:solidFill>
          <a:ln/>
        </p:spPr>
      </p:sp>
      <p:sp>
        <p:nvSpPr>
          <p:cNvPr id="48" name="Text 46"/>
          <p:cNvSpPr/>
          <p:nvPr/>
        </p:nvSpPr>
        <p:spPr>
          <a:xfrm>
            <a:off x="800378" y="5272088"/>
            <a:ext cx="1505805"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fresco</a:t>
            </a:r>
            <a:endParaRPr lang="en-US" sz="1000" dirty="0"/>
          </a:p>
        </p:txBody>
      </p:sp>
      <p:sp>
        <p:nvSpPr>
          <p:cNvPr id="49" name="Text 47"/>
          <p:cNvSpPr/>
          <p:nvPr/>
        </p:nvSpPr>
        <p:spPr>
          <a:xfrm>
            <a:off x="1967459" y="52720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Doc1</a:t>
            </a:r>
            <a:endParaRPr lang="en-US" sz="1000" dirty="0"/>
          </a:p>
        </p:txBody>
      </p:sp>
      <p:sp>
        <p:nvSpPr>
          <p:cNvPr id="50" name="Text 48"/>
          <p:cNvSpPr/>
          <p:nvPr/>
        </p:nvSpPr>
        <p:spPr>
          <a:xfrm>
            <a:off x="3131365" y="52720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1/5=0.20</a:t>
            </a:r>
            <a:endParaRPr lang="en-US" sz="1000" dirty="0"/>
          </a:p>
        </p:txBody>
      </p:sp>
      <p:sp>
        <p:nvSpPr>
          <p:cNvPr id="51" name="Text 49"/>
          <p:cNvSpPr/>
          <p:nvPr/>
        </p:nvSpPr>
        <p:spPr>
          <a:xfrm>
            <a:off x="4295271" y="5272088"/>
            <a:ext cx="15026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log(3/1)=0.48</a:t>
            </a:r>
            <a:endParaRPr lang="en-US" sz="1000" dirty="0"/>
          </a:p>
        </p:txBody>
      </p:sp>
      <p:sp>
        <p:nvSpPr>
          <p:cNvPr id="52" name="Text 50"/>
          <p:cNvSpPr/>
          <p:nvPr/>
        </p:nvSpPr>
        <p:spPr>
          <a:xfrm>
            <a:off x="5459177" y="5272088"/>
            <a:ext cx="1505805"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0.10</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a:t>
            </a:r>
            <a:pPr algn="l" indent="0" marL="0">
              <a:lnSpc>
                <a:spcPct val="120000"/>
              </a:lnSpc>
              <a:buNone/>
            </a:pPr>
            <a:r>
              <a:rPr lang="en-US" sz="1000" dirty="0">
                <a:solidFill>
                  <a:srgbClr val="000000"/>
                </a:solidFill>
                <a:latin typeface="Roboto" pitchFamily="34" charset="0"/>
                <a:ea typeface="Roboto" pitchFamily="34" charset="-122"/>
                <a:cs typeface="Roboto" pitchFamily="34" charset="-120"/>
              </a:rPr>
              <a:t>⭐</a:t>
            </a:r>
            <a:endParaRPr lang="en-US" sz="1000" dirty="0"/>
          </a:p>
        </p:txBody>
      </p:sp>
      <p:sp>
        <p:nvSpPr>
          <p:cNvPr id="53" name="Text 51"/>
          <p:cNvSpPr/>
          <p:nvPr/>
        </p:nvSpPr>
        <p:spPr>
          <a:xfrm>
            <a:off x="6823004" y="3028652"/>
            <a:ext cx="4713467" cy="206673"/>
          </a:xfrm>
          <a:prstGeom prst="rect">
            <a:avLst/>
          </a:prstGeom>
          <a:noFill/>
          <a:ln/>
        </p:spPr>
        <p:txBody>
          <a:bodyPr wrap="none" lIns="0" tIns="0" rIns="0" bIns="0" rtlCol="0" anchor="t"/>
          <a:lstStyle/>
          <a:p>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¿Por qué funciona?</a:t>
            </a:r>
            <a:endParaRPr lang="en-US" sz="1300" dirty="0"/>
          </a:p>
        </p:txBody>
      </p:sp>
      <p:pic>
        <p:nvPicPr>
          <p:cNvPr id="5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803954" y="3335338"/>
            <a:ext cx="4732517" cy="419100"/>
          </a:xfrm>
          <a:prstGeom prst="rect">
            <a:avLst/>
          </a:prstGeom>
        </p:spPr>
      </p:pic>
      <p:sp>
        <p:nvSpPr>
          <p:cNvPr id="55" name="Text 52"/>
          <p:cNvSpPr/>
          <p:nvPr/>
        </p:nvSpPr>
        <p:spPr>
          <a:xfrm>
            <a:off x="6993358" y="3354388"/>
            <a:ext cx="4543113"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"el" aparece en los 3 docs → IDF = log(3/3) = 0 → score 0. Las stopwords se eliminan solas.</a:t>
            </a:r>
            <a:endParaRPr lang="en-US" sz="1000" dirty="0"/>
          </a:p>
        </p:txBody>
      </p:sp>
      <p:pic>
        <p:nvPicPr>
          <p:cNvPr id="5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03954" y="3927971"/>
            <a:ext cx="4732517" cy="228600"/>
          </a:xfrm>
          <a:prstGeom prst="rect">
            <a:avLst/>
          </a:prstGeom>
        </p:spPr>
      </p:pic>
      <p:sp>
        <p:nvSpPr>
          <p:cNvPr id="57" name="Text 53"/>
          <p:cNvSpPr/>
          <p:nvPr/>
        </p:nvSpPr>
        <p:spPr>
          <a:xfrm>
            <a:off x="6993358" y="3947021"/>
            <a:ext cx="4543113"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"gato" aparece en 2/3 docs → IDF bajo → score bajo. Es común en el corpus.</a:t>
            </a:r>
            <a:endParaRPr lang="en-US" sz="1000" dirty="0"/>
          </a:p>
        </p:txBody>
      </p:sp>
      <p:pic>
        <p:nvPicPr>
          <p:cNvPr id="5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03954" y="4330105"/>
            <a:ext cx="4732517" cy="419100"/>
          </a:xfrm>
          <a:prstGeom prst="rect">
            <a:avLst/>
          </a:prstGeom>
        </p:spPr>
      </p:pic>
      <p:sp>
        <p:nvSpPr>
          <p:cNvPr id="59" name="Text 54"/>
          <p:cNvSpPr/>
          <p:nvPr/>
        </p:nvSpPr>
        <p:spPr>
          <a:xfrm>
            <a:off x="6993358" y="4349155"/>
            <a:ext cx="4543113"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"pescado" y "fresco" solo en Doc1 → IDF alto → score alto. Son los términos más discriminativos.</a:t>
            </a:r>
            <a:endParaRPr lang="en-US" sz="1000" dirty="0"/>
          </a:p>
        </p:txBody>
      </p:sp>
      <p:sp>
        <p:nvSpPr>
          <p:cNvPr id="60" name="Shape 55"/>
          <p:cNvSpPr/>
          <p:nvPr/>
        </p:nvSpPr>
        <p:spPr>
          <a:xfrm>
            <a:off x="661475" y="5776913"/>
            <a:ext cx="10868745" cy="457597"/>
          </a:xfrm>
          <a:prstGeom prst="roundRect">
            <a:avLst>
              <a:gd name="adj" fmla="val 1665"/>
            </a:avLst>
          </a:prstGeom>
          <a:solidFill>
            <a:srgbClr val="F9D2D6"/>
          </a:solidFill>
          <a:ln/>
        </p:spPr>
      </p:sp>
      <p:pic>
        <p:nvPicPr>
          <p:cNvPr id="61" name="Image 3" descr="preencoded.png">    </p:cNvPr>
          <p:cNvPicPr>
            <a:picLocks noChangeAspect="1"/>
          </p:cNvPicPr>
          <p:nvPr/>
        </p:nvPicPr>
        <p:blipFill>
          <a:blip r:embed="rId7"/>
          <a:stretch>
            <a:fillRect/>
          </a:stretch>
        </p:blipFill>
        <p:spPr>
          <a:xfrm>
            <a:off x="793730" y="5933281"/>
            <a:ext cx="165294" cy="132259"/>
          </a:xfrm>
          <a:prstGeom prst="rect">
            <a:avLst/>
          </a:prstGeom>
        </p:spPr>
      </p:pic>
      <p:sp>
        <p:nvSpPr>
          <p:cNvPr id="62" name="Text 56"/>
          <p:cNvSpPr/>
          <p:nvPr/>
        </p:nvSpPr>
        <p:spPr>
          <a:xfrm>
            <a:off x="1091280" y="5915720"/>
            <a:ext cx="10916270" cy="190500"/>
          </a:xfrm>
          <a:prstGeom prst="rect">
            <a:avLst/>
          </a:prstGeom>
          <a:noFill/>
          <a:ln/>
        </p:spPr>
        <p:txBody>
          <a:bodyPr wrap="none" lIns="0" tIns="0" rIns="0" bIns="0" rtlCol="0" anchor="t"/>
          <a:lstStyle/>
          <a:p>
            <a:pPr algn="l" indent="0" marL="0">
              <a:lnSpc>
                <a:spcPct val="120000"/>
              </a:lnSpc>
              <a:buNone/>
            </a:pPr>
            <a:r>
              <a:rPr lang="en-US" sz="1000" dirty="0">
                <a:solidFill>
                  <a:srgbClr val="000000"/>
                </a:solidFill>
                <a:latin typeface="Roboto" pitchFamily="34" charset="0"/>
                <a:ea typeface="Roboto" pitchFamily="34" charset="-122"/>
                <a:cs typeface="Roboto" pitchFamily="34" charset="-120"/>
              </a:rPr>
              <a:t>💡</a:t>
            </a:r>
            <a:pPr algn="l" indent="0" marL="0">
              <a:lnSpc>
                <a:spcPct val="120000"/>
              </a:lnSpc>
              <a:buNone/>
            </a:pPr>
            <a:r>
              <a:rPr lang="en-US" sz="1000" dirty="0">
                <a:solidFill>
                  <a:srgbClr val="000000"/>
                </a:solidFill>
                <a:latin typeface="Roboto" pitchFamily="34" charset="0"/>
                <a:ea typeface="Roboto" pitchFamily="34" charset="-122"/>
                <a:cs typeface="Roboto" pitchFamily="34" charset="-120"/>
              </a:rPr>
              <a:t> El índice invertido es como el índice de un libro: vas directo al término y te dice en qué documentos aparece y con qué relevancia.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61475" y="821630"/>
            <a:ext cx="1492610" cy="163413"/>
          </a:xfrm>
          <a:prstGeom prst="roundRect">
            <a:avLst>
              <a:gd name="adj" fmla="val 4663"/>
            </a:avLst>
          </a:prstGeom>
          <a:solidFill>
            <a:srgbClr val="F9D2D6"/>
          </a:solidFill>
          <a:ln/>
        </p:spPr>
      </p:sp>
      <p:sp>
        <p:nvSpPr>
          <p:cNvPr id="3" name="Text 1"/>
          <p:cNvSpPr/>
          <p:nvPr/>
        </p:nvSpPr>
        <p:spPr>
          <a:xfrm>
            <a:off x="725965" y="853877"/>
            <a:ext cx="1973213" cy="98921"/>
          </a:xfrm>
          <a:prstGeom prst="rect">
            <a:avLst/>
          </a:prstGeom>
          <a:noFill/>
          <a:ln/>
        </p:spPr>
        <p:txBody>
          <a:bodyPr wrap="none" lIns="0" tIns="0" rIns="0" bIns="0" rtlCol="0" anchor="t"/>
          <a:lstStyle/>
          <a:p>
            <a:pPr algn="l" indent="0" marL="0">
              <a:lnSpc>
                <a:spcPct val="96000"/>
              </a:lnSpc>
              <a:buNone/>
            </a:pPr>
            <a:r>
              <a:rPr lang="en-US" sz="650" dirty="0">
                <a:solidFill>
                  <a:srgbClr val="3B3535"/>
                </a:solidFill>
                <a:latin typeface="Roboto" pitchFamily="34" charset="0"/>
                <a:ea typeface="Roboto" pitchFamily="34" charset="-122"/>
                <a:cs typeface="Roboto" pitchFamily="34" charset="-120"/>
              </a:rPr>
              <a:t>RAG: BÚSQUEDA Y RECUPERACIÓN</a:t>
            </a:r>
            <a:endParaRPr lang="en-US" sz="650" dirty="0"/>
          </a:p>
        </p:txBody>
      </p:sp>
      <p:sp>
        <p:nvSpPr>
          <p:cNvPr id="4" name="Text 2"/>
          <p:cNvSpPr/>
          <p:nvPr/>
        </p:nvSpPr>
        <p:spPr>
          <a:xfrm>
            <a:off x="661475" y="1012924"/>
            <a:ext cx="10868745" cy="335955"/>
          </a:xfrm>
          <a:prstGeom prst="rect">
            <a:avLst/>
          </a:prstGeom>
          <a:noFill/>
          <a:ln/>
        </p:spPr>
        <p:txBody>
          <a:bodyPr wrap="none" lIns="0" tIns="0" rIns="0" bIns="0" rtlCol="0" anchor="t"/>
          <a:lstStyle/>
          <a:p>
            <a:pPr algn="l" indent="0" marL="0">
              <a:lnSpc>
                <a:spcPct val="104000"/>
              </a:lnSpc>
              <a:buNone/>
            </a:pPr>
            <a:r>
              <a:rPr lang="en-US" sz="2100" dirty="0">
                <a:solidFill>
                  <a:srgbClr val="1F1E1E"/>
                </a:solidFill>
                <a:latin typeface="Roboto Mono Medium" pitchFamily="34" charset="0"/>
                <a:ea typeface="Roboto Mono Medium" pitchFamily="34" charset="-122"/>
                <a:cs typeface="Roboto Mono Medium" pitchFamily="34" charset="-120"/>
              </a:rPr>
              <a:t>TF-IDF: De la búsqueda al ranking de documentos</a:t>
            </a:r>
            <a:endParaRPr lang="en-US" sz="2100" dirty="0"/>
          </a:p>
        </p:txBody>
      </p:sp>
      <p:pic>
        <p:nvPicPr>
          <p:cNvPr id="5" name="Image 0" descr="preencoded.png">    </p:cNvPr>
          <p:cNvPicPr>
            <a:picLocks noChangeAspect="1"/>
          </p:cNvPicPr>
          <p:nvPr/>
        </p:nvPicPr>
        <p:blipFill>
          <a:blip r:embed="rId1"/>
          <a:stretch>
            <a:fillRect/>
          </a:stretch>
        </p:blipFill>
        <p:spPr>
          <a:xfrm>
            <a:off x="661475" y="1937345"/>
            <a:ext cx="2664751" cy="952500"/>
          </a:xfrm>
          <a:prstGeom prst="rect">
            <a:avLst/>
          </a:prstGeom>
        </p:spPr>
      </p:pic>
      <p:sp>
        <p:nvSpPr>
          <p:cNvPr id="6" name="Text 3"/>
          <p:cNvSpPr/>
          <p:nvPr/>
        </p:nvSpPr>
        <p:spPr>
          <a:xfrm>
            <a:off x="768926" y="2329656"/>
            <a:ext cx="2449848" cy="1678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oboto Mono Medium" pitchFamily="34" charset="0"/>
                <a:ea typeface="Roboto Mono Medium" pitchFamily="34" charset="-122"/>
                <a:cs typeface="Roboto Mono Medium" pitchFamily="34" charset="-120"/>
              </a:rPr>
              <a:t>Query del usuario</a:t>
            </a:r>
            <a:endParaRPr lang="en-US" sz="1050" dirty="0"/>
          </a:p>
        </p:txBody>
      </p:sp>
      <p:sp>
        <p:nvSpPr>
          <p:cNvPr id="7" name="Text 4"/>
          <p:cNvSpPr/>
          <p:nvPr/>
        </p:nvSpPr>
        <p:spPr>
          <a:xfrm>
            <a:off x="768926" y="2539405"/>
            <a:ext cx="2449848"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“¿Qué documentos hablan de pescado fresco?” → Se tokeniza igual que los docs: [pescado, fresco]</a:t>
            </a:r>
            <a:endParaRPr lang="en-US" sz="800" dirty="0"/>
          </a:p>
        </p:txBody>
      </p:sp>
      <p:pic>
        <p:nvPicPr>
          <p:cNvPr id="8" name="Image 1" descr="preencoded.png">    </p:cNvPr>
          <p:cNvPicPr>
            <a:picLocks noChangeAspect="1"/>
          </p:cNvPicPr>
          <p:nvPr/>
        </p:nvPicPr>
        <p:blipFill>
          <a:blip r:embed="rId2"/>
          <a:stretch>
            <a:fillRect/>
          </a:stretch>
        </p:blipFill>
        <p:spPr>
          <a:xfrm>
            <a:off x="3396074" y="1776115"/>
            <a:ext cx="2664850" cy="952500"/>
          </a:xfrm>
          <a:prstGeom prst="rect">
            <a:avLst/>
          </a:prstGeom>
        </p:spPr>
      </p:pic>
      <p:sp>
        <p:nvSpPr>
          <p:cNvPr id="9" name="Text 5"/>
          <p:cNvSpPr/>
          <p:nvPr/>
        </p:nvSpPr>
        <p:spPr>
          <a:xfrm>
            <a:off x="3503525" y="2168426"/>
            <a:ext cx="2449947" cy="1678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oboto Mono Medium" pitchFamily="34" charset="0"/>
                <a:ea typeface="Roboto Mono Medium" pitchFamily="34" charset="-122"/>
                <a:cs typeface="Roboto Mono Medium" pitchFamily="34" charset="-120"/>
              </a:rPr>
              <a:t>Lookup en el índice</a:t>
            </a:r>
            <a:endParaRPr lang="en-US" sz="1050" dirty="0"/>
          </a:p>
        </p:txBody>
      </p:sp>
      <p:sp>
        <p:nvSpPr>
          <p:cNvPr id="10" name="Text 6"/>
          <p:cNvSpPr/>
          <p:nvPr/>
        </p:nvSpPr>
        <p:spPr>
          <a:xfrm>
            <a:off x="3503525" y="2378174"/>
            <a:ext cx="2449947"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Se buscan las posting lists: "pescado" → [Doc1] "fresco" → [Doc1] Intersección: Doc1 ✓</a:t>
            </a:r>
            <a:endParaRPr lang="en-US" sz="800" dirty="0"/>
          </a:p>
        </p:txBody>
      </p:sp>
      <p:pic>
        <p:nvPicPr>
          <p:cNvPr id="11" name="Image 2" descr="preencoded.png">    </p:cNvPr>
          <p:cNvPicPr>
            <a:picLocks noChangeAspect="1"/>
          </p:cNvPicPr>
          <p:nvPr/>
        </p:nvPicPr>
        <p:blipFill>
          <a:blip r:embed="rId3"/>
          <a:stretch>
            <a:fillRect/>
          </a:stretch>
        </p:blipFill>
        <p:spPr>
          <a:xfrm>
            <a:off x="6130772" y="1614884"/>
            <a:ext cx="2664751" cy="952500"/>
          </a:xfrm>
          <a:prstGeom prst="rect">
            <a:avLst/>
          </a:prstGeom>
        </p:spPr>
      </p:pic>
      <p:sp>
        <p:nvSpPr>
          <p:cNvPr id="12" name="Text 7"/>
          <p:cNvSpPr/>
          <p:nvPr/>
        </p:nvSpPr>
        <p:spPr>
          <a:xfrm>
            <a:off x="6238223" y="2007195"/>
            <a:ext cx="2449848" cy="1678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oboto Mono Medium" pitchFamily="34" charset="0"/>
                <a:ea typeface="Roboto Mono Medium" pitchFamily="34" charset="-122"/>
                <a:cs typeface="Roboto Mono Medium" pitchFamily="34" charset="-120"/>
              </a:rPr>
              <a:t>Cálculo de scores TF-IDF</a:t>
            </a:r>
            <a:endParaRPr lang="en-US" sz="1050" dirty="0"/>
          </a:p>
        </p:txBody>
      </p:sp>
      <p:sp>
        <p:nvSpPr>
          <p:cNvPr id="13" name="Text 8"/>
          <p:cNvSpPr/>
          <p:nvPr/>
        </p:nvSpPr>
        <p:spPr>
          <a:xfrm>
            <a:off x="6238223" y="2216944"/>
            <a:ext cx="2449848"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Doc1: TF-IDF("pescado") = 0.22 TF-IDF("fresco") = 0.22 Score total = 0.44 </a:t>
            </a:r>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endParaRPr lang="en-US" sz="800" dirty="0"/>
          </a:p>
        </p:txBody>
      </p:sp>
      <p:pic>
        <p:nvPicPr>
          <p:cNvPr id="14" name="Image 3" descr="preencoded.png">    </p:cNvPr>
          <p:cNvPicPr>
            <a:picLocks noChangeAspect="1"/>
          </p:cNvPicPr>
          <p:nvPr/>
        </p:nvPicPr>
        <p:blipFill>
          <a:blip r:embed="rId4"/>
          <a:stretch>
            <a:fillRect/>
          </a:stretch>
        </p:blipFill>
        <p:spPr>
          <a:xfrm>
            <a:off x="8865370" y="1453654"/>
            <a:ext cx="2664850" cy="952500"/>
          </a:xfrm>
          <a:prstGeom prst="rect">
            <a:avLst/>
          </a:prstGeom>
        </p:spPr>
      </p:pic>
      <p:sp>
        <p:nvSpPr>
          <p:cNvPr id="15" name="Text 9"/>
          <p:cNvSpPr/>
          <p:nvPr/>
        </p:nvSpPr>
        <p:spPr>
          <a:xfrm>
            <a:off x="8972822" y="1845965"/>
            <a:ext cx="2449947" cy="1678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oboto Mono Medium" pitchFamily="34" charset="0"/>
                <a:ea typeface="Roboto Mono Medium" pitchFamily="34" charset="-122"/>
                <a:cs typeface="Roboto Mono Medium" pitchFamily="34" charset="-120"/>
              </a:rPr>
              <a:t>Ranking y entrega al LLM</a:t>
            </a:r>
            <a:endParaRPr lang="en-US" sz="1050" dirty="0"/>
          </a:p>
        </p:txBody>
      </p:sp>
      <p:sp>
        <p:nvSpPr>
          <p:cNvPr id="16" name="Text 10"/>
          <p:cNvSpPr/>
          <p:nvPr/>
        </p:nvSpPr>
        <p:spPr>
          <a:xfrm>
            <a:off x="8972822" y="2055713"/>
            <a:ext cx="2449947" cy="42564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Se ordenan docs por score descendente. Doc1 (0.44) → top resultado. Se inyecta como contexto en el prompt RAG.</a:t>
            </a:r>
            <a:endParaRPr lang="en-US" sz="800" dirty="0"/>
          </a:p>
        </p:txBody>
      </p:sp>
      <p:sp>
        <p:nvSpPr>
          <p:cNvPr id="17" name="Text 11"/>
          <p:cNvSpPr/>
          <p:nvPr/>
        </p:nvSpPr>
        <p:spPr>
          <a:xfrm>
            <a:off x="661475" y="3035399"/>
            <a:ext cx="10868745" cy="167878"/>
          </a:xfrm>
          <a:prstGeom prst="rect">
            <a:avLst/>
          </a:prstGeom>
          <a:noFill/>
          <a:ln/>
        </p:spPr>
        <p:txBody>
          <a:bodyPr wrap="none" lIns="0" tIns="0" rIns="0" bIns="0" rtlCol="0" anchor="t"/>
          <a:lstStyle/>
          <a:p>
            <a:pPr algn="l" indent="0" marL="0">
              <a:lnSpc>
                <a:spcPct val="104000"/>
              </a:lnSpc>
              <a:buNone/>
            </a:pPr>
            <a:r>
              <a:rPr lang="en-US" sz="1050" dirty="0">
                <a:solidFill>
                  <a:srgbClr val="1F1E1E"/>
                </a:solidFill>
                <a:latin typeface="Roboto Mono Medium" pitchFamily="34" charset="0"/>
                <a:ea typeface="Roboto Mono Medium" pitchFamily="34" charset="-122"/>
                <a:cs typeface="Roboto Mono Medium" pitchFamily="34" charset="-120"/>
              </a:rPr>
              <a:t>Query: 'pescado fresco' → Ranking de resultados</a:t>
            </a:r>
            <a:endParaRPr lang="en-US" sz="1050" dirty="0"/>
          </a:p>
        </p:txBody>
      </p:sp>
      <p:sp>
        <p:nvSpPr>
          <p:cNvPr id="18" name="Shape 12"/>
          <p:cNvSpPr/>
          <p:nvPr/>
        </p:nvSpPr>
        <p:spPr>
          <a:xfrm>
            <a:off x="661475" y="3308052"/>
            <a:ext cx="10868745" cy="2101056"/>
          </a:xfrm>
          <a:prstGeom prst="roundRect">
            <a:avLst>
              <a:gd name="adj" fmla="val 363"/>
            </a:avLst>
          </a:prstGeom>
          <a:noFill/>
          <a:ln w="6350">
            <a:solidFill>
              <a:srgbClr val="000000">
                <a:alpha val="8000"/>
              </a:srgbClr>
            </a:solidFill>
            <a:prstDash val="solid"/>
          </a:ln>
        </p:spPr>
      </p:sp>
      <p:sp>
        <p:nvSpPr>
          <p:cNvPr id="19" name="Shape 13"/>
          <p:cNvSpPr/>
          <p:nvPr/>
        </p:nvSpPr>
        <p:spPr>
          <a:xfrm>
            <a:off x="667825" y="3314402"/>
            <a:ext cx="10856046" cy="238323"/>
          </a:xfrm>
          <a:prstGeom prst="rect">
            <a:avLst/>
          </a:prstGeom>
          <a:solidFill>
            <a:srgbClr val="FFFFFF">
              <a:alpha val="4000"/>
            </a:srgbClr>
          </a:solidFill>
          <a:ln/>
        </p:spPr>
      </p:sp>
      <p:sp>
        <p:nvSpPr>
          <p:cNvPr id="20" name="Text 14"/>
          <p:cNvSpPr/>
          <p:nvPr/>
        </p:nvSpPr>
        <p:spPr>
          <a:xfrm>
            <a:off x="775474" y="3362623"/>
            <a:ext cx="1694217"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Score</a:t>
            </a:r>
            <a:endParaRPr lang="en-US" sz="800" dirty="0"/>
          </a:p>
        </p:txBody>
      </p:sp>
      <p:sp>
        <p:nvSpPr>
          <p:cNvPr id="21" name="Text 15"/>
          <p:cNvSpPr/>
          <p:nvPr/>
        </p:nvSpPr>
        <p:spPr>
          <a:xfrm>
            <a:off x="2081359" y="3362623"/>
            <a:ext cx="2016670"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Contenido</a:t>
            </a:r>
            <a:endParaRPr lang="en-US" sz="800" dirty="0"/>
          </a:p>
        </p:txBody>
      </p:sp>
      <p:sp>
        <p:nvSpPr>
          <p:cNvPr id="22" name="Text 16"/>
          <p:cNvSpPr/>
          <p:nvPr/>
        </p:nvSpPr>
        <p:spPr>
          <a:xfrm>
            <a:off x="3709696" y="3362623"/>
            <a:ext cx="4187919"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Cálculo</a:t>
            </a:r>
            <a:endParaRPr lang="en-US" sz="800" dirty="0"/>
          </a:p>
        </p:txBody>
      </p:sp>
      <p:sp>
        <p:nvSpPr>
          <p:cNvPr id="23" name="Text 17"/>
          <p:cNvSpPr/>
          <p:nvPr/>
        </p:nvSpPr>
        <p:spPr>
          <a:xfrm>
            <a:off x="7509282" y="3362623"/>
            <a:ext cx="2342397"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Documento</a:t>
            </a:r>
            <a:endParaRPr lang="en-US" sz="800" dirty="0"/>
          </a:p>
        </p:txBody>
      </p:sp>
      <p:sp>
        <p:nvSpPr>
          <p:cNvPr id="24" name="Text 18"/>
          <p:cNvSpPr/>
          <p:nvPr/>
        </p:nvSpPr>
        <p:spPr>
          <a:xfrm>
            <a:off x="9463347" y="3362623"/>
            <a:ext cx="2562657"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Entregado al LLM</a:t>
            </a:r>
            <a:endParaRPr lang="en-US" sz="800" dirty="0"/>
          </a:p>
        </p:txBody>
      </p:sp>
      <p:sp>
        <p:nvSpPr>
          <p:cNvPr id="25" name="Shape 19"/>
          <p:cNvSpPr/>
          <p:nvPr/>
        </p:nvSpPr>
        <p:spPr>
          <a:xfrm>
            <a:off x="667825" y="3552726"/>
            <a:ext cx="10856046" cy="805855"/>
          </a:xfrm>
          <a:prstGeom prst="rect">
            <a:avLst/>
          </a:prstGeom>
          <a:solidFill>
            <a:srgbClr val="000000">
              <a:alpha val="4000"/>
            </a:srgbClr>
          </a:solidFill>
          <a:ln/>
        </p:spPr>
      </p:sp>
      <p:sp>
        <p:nvSpPr>
          <p:cNvPr id="26" name="Text 20"/>
          <p:cNvSpPr/>
          <p:nvPr/>
        </p:nvSpPr>
        <p:spPr>
          <a:xfrm>
            <a:off x="775474" y="3600946"/>
            <a:ext cx="1694217"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0.44</a:t>
            </a:r>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 </a:t>
            </a:r>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endParaRPr lang="en-US" sz="800" dirty="0"/>
          </a:p>
        </p:txBody>
      </p:sp>
      <p:sp>
        <p:nvSpPr>
          <p:cNvPr id="27" name="Text 21"/>
          <p:cNvSpPr/>
          <p:nvPr/>
        </p:nvSpPr>
        <p:spPr>
          <a:xfrm>
            <a:off x="2081359" y="3600946"/>
            <a:ext cx="1407085"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“el gato come pescado fresco”</a:t>
            </a:r>
            <a:endParaRPr lang="en-US" sz="800" dirty="0"/>
          </a:p>
        </p:txBody>
      </p:sp>
      <p:sp>
        <p:nvSpPr>
          <p:cNvPr id="28" name="Text 22"/>
          <p:cNvSpPr/>
          <p:nvPr/>
        </p:nvSpPr>
        <p:spPr>
          <a:xfrm>
            <a:off x="3709696" y="3600946"/>
            <a:ext cx="3578334" cy="709414"/>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TF("pescado",Doc1) = 1/5 = 0.20</a:t>
            </a:r>
            <a:endParaRPr lang="en-US" sz="800" dirty="0"/>
          </a:p>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IDF("pescado") = log(3/1) = 1.10</a:t>
            </a:r>
            <a:endParaRPr lang="en-US" sz="800" dirty="0"/>
          </a:p>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TF("fresco",Doc1) = 1/5 = 0.20</a:t>
            </a:r>
            <a:endParaRPr lang="en-US" sz="800" dirty="0"/>
          </a:p>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IDF("fresco") = log(3/1) = 1.10</a:t>
            </a:r>
            <a:endParaRPr lang="en-US" sz="800" dirty="0"/>
          </a:p>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Score = (0.20×1.10) + (0.20×1.10) = </a:t>
            </a:r>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0.44</a:t>
            </a:r>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 </a:t>
            </a:r>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endParaRPr lang="en-US" sz="800" dirty="0"/>
          </a:p>
        </p:txBody>
      </p:sp>
      <p:sp>
        <p:nvSpPr>
          <p:cNvPr id="29" name="Text 23"/>
          <p:cNvSpPr/>
          <p:nvPr/>
        </p:nvSpPr>
        <p:spPr>
          <a:xfrm>
            <a:off x="7509282" y="3600946"/>
            <a:ext cx="2342397"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Doc 1</a:t>
            </a:r>
            <a:endParaRPr lang="en-US" sz="800" dirty="0"/>
          </a:p>
        </p:txBody>
      </p:sp>
      <p:sp>
        <p:nvSpPr>
          <p:cNvPr id="30" name="Text 24"/>
          <p:cNvSpPr/>
          <p:nvPr/>
        </p:nvSpPr>
        <p:spPr>
          <a:xfrm>
            <a:off x="9463347" y="3600946"/>
            <a:ext cx="2562657" cy="141883"/>
          </a:xfrm>
          <a:prstGeom prst="rect">
            <a:avLst/>
          </a:prstGeom>
          <a:noFill/>
          <a:ln/>
        </p:spPr>
        <p:txBody>
          <a:bodyPr wrap="none" lIns="0" tIns="0" rIns="0" bIns="0" rtlCol="0" anchor="t"/>
          <a:lstStyle/>
          <a:p>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 Sí (top resultado)</a:t>
            </a:r>
            <a:endParaRPr lang="en-US" sz="800" dirty="0"/>
          </a:p>
        </p:txBody>
      </p:sp>
      <p:sp>
        <p:nvSpPr>
          <p:cNvPr id="31" name="Shape 25"/>
          <p:cNvSpPr/>
          <p:nvPr/>
        </p:nvSpPr>
        <p:spPr>
          <a:xfrm>
            <a:off x="667825" y="4358580"/>
            <a:ext cx="10856046" cy="522089"/>
          </a:xfrm>
          <a:prstGeom prst="rect">
            <a:avLst/>
          </a:prstGeom>
          <a:solidFill>
            <a:srgbClr val="FFFFFF">
              <a:alpha val="4000"/>
            </a:srgbClr>
          </a:solidFill>
          <a:ln/>
        </p:spPr>
      </p:sp>
      <p:sp>
        <p:nvSpPr>
          <p:cNvPr id="32" name="Text 26"/>
          <p:cNvSpPr/>
          <p:nvPr/>
        </p:nvSpPr>
        <p:spPr>
          <a:xfrm>
            <a:off x="775474" y="4406801"/>
            <a:ext cx="1694217"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0.00</a:t>
            </a:r>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 </a:t>
            </a:r>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endParaRPr lang="en-US" sz="800" dirty="0"/>
          </a:p>
        </p:txBody>
      </p:sp>
      <p:sp>
        <p:nvSpPr>
          <p:cNvPr id="33" name="Text 27"/>
          <p:cNvSpPr/>
          <p:nvPr/>
        </p:nvSpPr>
        <p:spPr>
          <a:xfrm>
            <a:off x="2081359" y="4406801"/>
            <a:ext cx="1407085"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“el perro come carne y hueso”</a:t>
            </a:r>
            <a:endParaRPr lang="en-US" sz="800" dirty="0"/>
          </a:p>
        </p:txBody>
      </p:sp>
      <p:sp>
        <p:nvSpPr>
          <p:cNvPr id="34" name="Text 28"/>
          <p:cNvSpPr/>
          <p:nvPr/>
        </p:nvSpPr>
        <p:spPr>
          <a:xfrm>
            <a:off x="3709696" y="4406801"/>
            <a:ext cx="3578334" cy="42564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TF("pescado",Doc2) = 0 → 0.00</a:t>
            </a:r>
            <a:endParaRPr lang="en-US" sz="800" dirty="0"/>
          </a:p>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TF("fresco",Doc2) = 0 → 0.00</a:t>
            </a:r>
            <a:endParaRPr lang="en-US" sz="800" dirty="0"/>
          </a:p>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Score = </a:t>
            </a:r>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0.00</a:t>
            </a:r>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 </a:t>
            </a:r>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endParaRPr lang="en-US" sz="800" dirty="0"/>
          </a:p>
        </p:txBody>
      </p:sp>
      <p:sp>
        <p:nvSpPr>
          <p:cNvPr id="35" name="Text 29"/>
          <p:cNvSpPr/>
          <p:nvPr/>
        </p:nvSpPr>
        <p:spPr>
          <a:xfrm>
            <a:off x="7509282" y="4406801"/>
            <a:ext cx="2342397"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Doc 2</a:t>
            </a:r>
            <a:endParaRPr lang="en-US" sz="800" dirty="0"/>
          </a:p>
        </p:txBody>
      </p:sp>
      <p:sp>
        <p:nvSpPr>
          <p:cNvPr id="36" name="Text 30"/>
          <p:cNvSpPr/>
          <p:nvPr/>
        </p:nvSpPr>
        <p:spPr>
          <a:xfrm>
            <a:off x="9463347" y="4406801"/>
            <a:ext cx="2562657" cy="141883"/>
          </a:xfrm>
          <a:prstGeom prst="rect">
            <a:avLst/>
          </a:prstGeom>
          <a:noFill/>
          <a:ln/>
        </p:spPr>
        <p:txBody>
          <a:bodyPr wrap="none" lIns="0" tIns="0" rIns="0" bIns="0" rtlCol="0" anchor="t"/>
          <a:lstStyle/>
          <a:p>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 No (sin match)</a:t>
            </a:r>
            <a:endParaRPr lang="en-US" sz="800" dirty="0"/>
          </a:p>
        </p:txBody>
      </p:sp>
      <p:sp>
        <p:nvSpPr>
          <p:cNvPr id="37" name="Shape 31"/>
          <p:cNvSpPr/>
          <p:nvPr/>
        </p:nvSpPr>
        <p:spPr>
          <a:xfrm>
            <a:off x="667825" y="4880670"/>
            <a:ext cx="10856046" cy="522089"/>
          </a:xfrm>
          <a:prstGeom prst="rect">
            <a:avLst/>
          </a:prstGeom>
          <a:solidFill>
            <a:srgbClr val="000000">
              <a:alpha val="4000"/>
            </a:srgbClr>
          </a:solidFill>
          <a:ln/>
        </p:spPr>
      </p:sp>
      <p:sp>
        <p:nvSpPr>
          <p:cNvPr id="38" name="Text 32"/>
          <p:cNvSpPr/>
          <p:nvPr/>
        </p:nvSpPr>
        <p:spPr>
          <a:xfrm>
            <a:off x="775474" y="4928890"/>
            <a:ext cx="1694217"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0.00</a:t>
            </a:r>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 </a:t>
            </a:r>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endParaRPr lang="en-US" sz="800" dirty="0"/>
          </a:p>
        </p:txBody>
      </p:sp>
      <p:sp>
        <p:nvSpPr>
          <p:cNvPr id="39" name="Text 33"/>
          <p:cNvSpPr/>
          <p:nvPr/>
        </p:nvSpPr>
        <p:spPr>
          <a:xfrm>
            <a:off x="2081359" y="4928890"/>
            <a:ext cx="1407085"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“el gato y el perro son amigos”</a:t>
            </a:r>
            <a:endParaRPr lang="en-US" sz="800" dirty="0"/>
          </a:p>
        </p:txBody>
      </p:sp>
      <p:sp>
        <p:nvSpPr>
          <p:cNvPr id="40" name="Text 34"/>
          <p:cNvSpPr/>
          <p:nvPr/>
        </p:nvSpPr>
        <p:spPr>
          <a:xfrm>
            <a:off x="3709696" y="4928890"/>
            <a:ext cx="3578334" cy="42564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TF("pescado",Doc3) = 0 → 0.00</a:t>
            </a:r>
            <a:endParaRPr lang="en-US" sz="800" dirty="0"/>
          </a:p>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TF("fresco",Doc3) = 0 → 0.00</a:t>
            </a:r>
            <a:endParaRPr lang="en-US" sz="800" dirty="0"/>
          </a:p>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Score = </a:t>
            </a:r>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0.00</a:t>
            </a:r>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 </a:t>
            </a:r>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endParaRPr lang="en-US" sz="800" dirty="0"/>
          </a:p>
        </p:txBody>
      </p:sp>
      <p:sp>
        <p:nvSpPr>
          <p:cNvPr id="41" name="Text 35"/>
          <p:cNvSpPr/>
          <p:nvPr/>
        </p:nvSpPr>
        <p:spPr>
          <a:xfrm>
            <a:off x="7509282" y="4928890"/>
            <a:ext cx="2342397"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Doc 3</a:t>
            </a:r>
            <a:endParaRPr lang="en-US" sz="800" dirty="0"/>
          </a:p>
        </p:txBody>
      </p:sp>
      <p:sp>
        <p:nvSpPr>
          <p:cNvPr id="42" name="Text 36"/>
          <p:cNvSpPr/>
          <p:nvPr/>
        </p:nvSpPr>
        <p:spPr>
          <a:xfrm>
            <a:off x="9463347" y="4928890"/>
            <a:ext cx="2562657" cy="141883"/>
          </a:xfrm>
          <a:prstGeom prst="rect">
            <a:avLst/>
          </a:prstGeom>
          <a:noFill/>
          <a:ln/>
        </p:spPr>
        <p:txBody>
          <a:bodyPr wrap="none" lIns="0" tIns="0" rIns="0" bIns="0" rtlCol="0" anchor="t"/>
          <a:lstStyle/>
          <a:p>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 No (sin match)</a:t>
            </a:r>
            <a:endParaRPr lang="en-US" sz="800" dirty="0"/>
          </a:p>
        </p:txBody>
      </p:sp>
      <p:sp>
        <p:nvSpPr>
          <p:cNvPr id="43" name="Text 37"/>
          <p:cNvSpPr/>
          <p:nvPr/>
        </p:nvSpPr>
        <p:spPr>
          <a:xfrm>
            <a:off x="661475" y="5487690"/>
            <a:ext cx="11478330"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Solo Doc1 contiene los términos 'pescado' y 'fresco' → score 0.44. Los demás documentos no matchean ningún término de la query → score 0.00 → no se entregan al LLM.</a:t>
            </a:r>
            <a:endParaRPr lang="en-US" sz="800" dirty="0"/>
          </a:p>
        </p:txBody>
      </p:sp>
      <p:sp>
        <p:nvSpPr>
          <p:cNvPr id="44" name="Shape 38"/>
          <p:cNvSpPr/>
          <p:nvPr/>
        </p:nvSpPr>
        <p:spPr>
          <a:xfrm>
            <a:off x="661475" y="5708154"/>
            <a:ext cx="10868745" cy="328116"/>
          </a:xfrm>
          <a:prstGeom prst="roundRect">
            <a:avLst>
              <a:gd name="adj" fmla="val 2322"/>
            </a:avLst>
          </a:prstGeom>
          <a:solidFill>
            <a:srgbClr val="F9D2D6"/>
          </a:solidFill>
          <a:ln/>
        </p:spPr>
      </p:sp>
      <p:pic>
        <p:nvPicPr>
          <p:cNvPr id="45" name="Image 4" descr="preencoded.png">    </p:cNvPr>
          <p:cNvPicPr>
            <a:picLocks noChangeAspect="1"/>
          </p:cNvPicPr>
          <p:nvPr/>
        </p:nvPicPr>
        <p:blipFill>
          <a:blip r:embed="rId5"/>
          <a:stretch>
            <a:fillRect/>
          </a:stretch>
        </p:blipFill>
        <p:spPr>
          <a:xfrm>
            <a:off x="768926" y="5812334"/>
            <a:ext cx="134339" cy="107454"/>
          </a:xfrm>
          <a:prstGeom prst="rect">
            <a:avLst/>
          </a:prstGeom>
        </p:spPr>
      </p:pic>
      <p:sp>
        <p:nvSpPr>
          <p:cNvPr id="46" name="Text 39"/>
          <p:cNvSpPr/>
          <p:nvPr/>
        </p:nvSpPr>
        <p:spPr>
          <a:xfrm>
            <a:off x="1010716" y="5804793"/>
            <a:ext cx="11021638" cy="141883"/>
          </a:xfrm>
          <a:prstGeom prst="rect">
            <a:avLst/>
          </a:prstGeom>
          <a:noFill/>
          <a:ln/>
        </p:spPr>
        <p:txBody>
          <a:bodyPr wrap="none" lIns="0" tIns="0" rIns="0" bIns="0" rtlCol="0" anchor="t"/>
          <a:lstStyle/>
          <a:p>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 El índice TF-IDF actúa como el 'motor de búsqueda' del pipeline RAG: convierte millones de documentos en una lista ordenada de candidatos relevantes en milisegundos, antes de que el LLM genere la respuesta.</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61475" y="2209800"/>
            <a:ext cx="2297353" cy="251420"/>
          </a:xfrm>
          <a:prstGeom prst="roundRect">
            <a:avLst>
              <a:gd name="adj" fmla="val 3031"/>
            </a:avLst>
          </a:prstGeom>
          <a:solidFill>
            <a:srgbClr val="F9D2D6"/>
          </a:solidFill>
          <a:ln/>
        </p:spPr>
      </p:sp>
      <p:sp>
        <p:nvSpPr>
          <p:cNvPr id="3" name="Text 1"/>
          <p:cNvSpPr/>
          <p:nvPr/>
        </p:nvSpPr>
        <p:spPr>
          <a:xfrm>
            <a:off x="760691" y="2259409"/>
            <a:ext cx="2708505"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BÚSQUEDA Y RECUPERACIÓN</a:t>
            </a:r>
            <a:endParaRPr lang="en-US" sz="1000" dirty="0"/>
          </a:p>
        </p:txBody>
      </p:sp>
      <p:sp>
        <p:nvSpPr>
          <p:cNvPr id="4" name="Text 2"/>
          <p:cNvSpPr/>
          <p:nvPr/>
        </p:nvSpPr>
        <p:spPr>
          <a:xfrm>
            <a:off x="661475" y="252730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Ejemplo Indice Invertido</a:t>
            </a:r>
            <a:endParaRPr lang="en-US" sz="3250" dirty="0"/>
          </a:p>
        </p:txBody>
      </p:sp>
      <p:sp>
        <p:nvSpPr>
          <p:cNvPr id="5" name="Text 3"/>
          <p:cNvSpPr/>
          <p:nvPr/>
        </p:nvSpPr>
        <p:spPr>
          <a:xfrm>
            <a:off x="661475" y="3292078"/>
            <a:ext cx="10868745" cy="715268"/>
          </a:xfrm>
          <a:prstGeom prst="rect">
            <a:avLst/>
          </a:prstGeom>
          <a:noFill/>
          <a:ln/>
        </p:spPr>
        <p:txBody>
          <a:bodyPr wrap="square" lIns="0" tIns="0" rIns="0" bIns="0" rtlCol="0" anchor="t"/>
          <a:lstStyle/>
          <a:p>
            <a:pPr algn="l" indent="0" marL="0">
              <a:lnSpc>
                <a:spcPct val="133000"/>
              </a:lnSpc>
              <a:spcAft>
                <a:spcPts val="1450"/>
              </a:spcAft>
              <a:buNone/>
            </a:pPr>
            <a:endParaRPr lang="en-US" sz="1300" dirty="0"/>
          </a:p>
        </p:txBody>
      </p:sp>
      <p:pic>
        <p:nvPicPr>
          <p:cNvPr id="6" name="Image 0" descr="preencoded.png">
            <a:hlinkClick r:id="rId2" tooltip=""/>
          </p:cNvPr>
          <p:cNvPicPr>
            <a:picLocks noChangeAspect="1"/>
          </p:cNvPicPr>
          <p:nvPr/>
        </p:nvPicPr>
        <p:blipFill>
          <a:blip r:embed="rId1"/>
          <a:stretch>
            <a:fillRect/>
          </a:stretch>
        </p:blipFill>
        <p:spPr>
          <a:xfrm>
            <a:off x="661475" y="4193381"/>
            <a:ext cx="1279096" cy="45481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661475" y="1595338"/>
            <a:ext cx="2297353" cy="251420"/>
          </a:xfrm>
          <a:prstGeom prst="roundRect">
            <a:avLst>
              <a:gd name="adj" fmla="val 3031"/>
            </a:avLst>
          </a:prstGeom>
          <a:solidFill>
            <a:srgbClr val="F9D2D6"/>
          </a:solidFill>
          <a:ln/>
        </p:spPr>
      </p:sp>
      <p:sp>
        <p:nvSpPr>
          <p:cNvPr id="3" name="Text 1"/>
          <p:cNvSpPr/>
          <p:nvPr/>
        </p:nvSpPr>
        <p:spPr>
          <a:xfrm>
            <a:off x="760691" y="1644948"/>
            <a:ext cx="2708505"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BÚSQUEDA Y RECUPERACIÓN</a:t>
            </a:r>
            <a:endParaRPr lang="en-US" sz="1000" dirty="0"/>
          </a:p>
        </p:txBody>
      </p:sp>
      <p:sp>
        <p:nvSpPr>
          <p:cNvPr id="4" name="Text 2"/>
          <p:cNvSpPr/>
          <p:nvPr/>
        </p:nvSpPr>
        <p:spPr>
          <a:xfrm>
            <a:off x="661475" y="1912838"/>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¿Cómo funciona la búsqueda vectorial?</a:t>
            </a:r>
            <a:endParaRPr lang="en-US" sz="3250" dirty="0"/>
          </a:p>
        </p:txBody>
      </p:sp>
      <p:sp>
        <p:nvSpPr>
          <p:cNvPr id="5" name="Shape 3"/>
          <p:cNvSpPr/>
          <p:nvPr/>
        </p:nvSpPr>
        <p:spPr>
          <a:xfrm>
            <a:off x="661475" y="2677616"/>
            <a:ext cx="372061" cy="372070"/>
          </a:xfrm>
          <a:prstGeom prst="roundRect">
            <a:avLst>
              <a:gd name="adj" fmla="val 2048"/>
            </a:avLst>
          </a:prstGeom>
          <a:solidFill>
            <a:srgbClr val="F2EEEE"/>
          </a:solidFill>
          <a:ln w="6350">
            <a:solidFill>
              <a:srgbClr val="D8D4D4"/>
            </a:solidFill>
            <a:prstDash val="solid"/>
          </a:ln>
        </p:spPr>
      </p:sp>
      <p:sp>
        <p:nvSpPr>
          <p:cNvPr id="6" name="Text 4"/>
          <p:cNvSpPr/>
          <p:nvPr/>
        </p:nvSpPr>
        <p:spPr>
          <a:xfrm>
            <a:off x="723485" y="2708622"/>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3B3535"/>
                </a:solidFill>
                <a:latin typeface="Roboto Mono Medium" pitchFamily="34" charset="0"/>
                <a:ea typeface="Roboto Mono Medium" pitchFamily="34" charset="-122"/>
                <a:cs typeface="Roboto Mono Medium" pitchFamily="34" charset="-120"/>
              </a:rPr>
              <a:t>1</a:t>
            </a:r>
            <a:endParaRPr lang="en-US" sz="1950" dirty="0"/>
          </a:p>
        </p:txBody>
      </p:sp>
      <p:sp>
        <p:nvSpPr>
          <p:cNvPr id="7" name="Text 5"/>
          <p:cNvSpPr/>
          <p:nvPr/>
        </p:nvSpPr>
        <p:spPr>
          <a:xfrm>
            <a:off x="1198830" y="2734469"/>
            <a:ext cx="29477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Conversión a vectores</a:t>
            </a:r>
            <a:endParaRPr lang="en-US" sz="1600" dirty="0"/>
          </a:p>
        </p:txBody>
      </p:sp>
      <p:sp>
        <p:nvSpPr>
          <p:cNvPr id="8" name="Text 6"/>
          <p:cNvSpPr/>
          <p:nvPr/>
        </p:nvSpPr>
        <p:spPr>
          <a:xfrm>
            <a:off x="1198830" y="3092152"/>
            <a:ext cx="2947715"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Transforma el texto en representaciones numéricas multidimensionales mediante modelos de embeddings entrenados para capturar semántica.</a:t>
            </a:r>
            <a:endParaRPr lang="en-US" sz="1300" dirty="0"/>
          </a:p>
        </p:txBody>
      </p:sp>
      <p:sp>
        <p:nvSpPr>
          <p:cNvPr id="9" name="Shape 7"/>
          <p:cNvSpPr/>
          <p:nvPr/>
        </p:nvSpPr>
        <p:spPr>
          <a:xfrm>
            <a:off x="4353213" y="2677616"/>
            <a:ext cx="372061" cy="372070"/>
          </a:xfrm>
          <a:prstGeom prst="roundRect">
            <a:avLst>
              <a:gd name="adj" fmla="val 2048"/>
            </a:avLst>
          </a:prstGeom>
          <a:solidFill>
            <a:srgbClr val="F2EEEE"/>
          </a:solidFill>
          <a:ln w="6350">
            <a:solidFill>
              <a:srgbClr val="D8D4D4"/>
            </a:solidFill>
            <a:prstDash val="solid"/>
          </a:ln>
        </p:spPr>
      </p:sp>
      <p:sp>
        <p:nvSpPr>
          <p:cNvPr id="10" name="Text 8"/>
          <p:cNvSpPr/>
          <p:nvPr/>
        </p:nvSpPr>
        <p:spPr>
          <a:xfrm>
            <a:off x="4415223" y="2708622"/>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3B3535"/>
                </a:solidFill>
                <a:latin typeface="Roboto Mono Medium" pitchFamily="34" charset="0"/>
                <a:ea typeface="Roboto Mono Medium" pitchFamily="34" charset="-122"/>
                <a:cs typeface="Roboto Mono Medium" pitchFamily="34" charset="-120"/>
              </a:rPr>
              <a:t>2</a:t>
            </a:r>
            <a:endParaRPr lang="en-US" sz="1950" dirty="0"/>
          </a:p>
        </p:txBody>
      </p:sp>
      <p:sp>
        <p:nvSpPr>
          <p:cNvPr id="11" name="Text 9"/>
          <p:cNvSpPr/>
          <p:nvPr/>
        </p:nvSpPr>
        <p:spPr>
          <a:xfrm>
            <a:off x="4890568" y="2734469"/>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Cálculo de similitud</a:t>
            </a:r>
            <a:endParaRPr lang="en-US" sz="1600" dirty="0"/>
          </a:p>
        </p:txBody>
      </p:sp>
      <p:sp>
        <p:nvSpPr>
          <p:cNvPr id="12" name="Text 10"/>
          <p:cNvSpPr/>
          <p:nvPr/>
        </p:nvSpPr>
        <p:spPr>
          <a:xfrm>
            <a:off x="4890568" y="3092152"/>
            <a:ext cx="294781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Mide la distancia o similitud semántica entre vectores usando métricas como similitud coseno o distancia euclidiana.</a:t>
            </a:r>
            <a:endParaRPr lang="en-US" sz="1300" dirty="0"/>
          </a:p>
        </p:txBody>
      </p:sp>
      <p:sp>
        <p:nvSpPr>
          <p:cNvPr id="13" name="Shape 11"/>
          <p:cNvSpPr/>
          <p:nvPr/>
        </p:nvSpPr>
        <p:spPr>
          <a:xfrm>
            <a:off x="8045050" y="2677616"/>
            <a:ext cx="372061" cy="372070"/>
          </a:xfrm>
          <a:prstGeom prst="roundRect">
            <a:avLst>
              <a:gd name="adj" fmla="val 2048"/>
            </a:avLst>
          </a:prstGeom>
          <a:solidFill>
            <a:srgbClr val="F2EEEE"/>
          </a:solidFill>
          <a:ln w="6350">
            <a:solidFill>
              <a:srgbClr val="D8D4D4"/>
            </a:solidFill>
            <a:prstDash val="solid"/>
          </a:ln>
        </p:spPr>
      </p:sp>
      <p:sp>
        <p:nvSpPr>
          <p:cNvPr id="14" name="Text 12"/>
          <p:cNvSpPr/>
          <p:nvPr/>
        </p:nvSpPr>
        <p:spPr>
          <a:xfrm>
            <a:off x="8107060" y="2708622"/>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3B3535"/>
                </a:solidFill>
                <a:latin typeface="Roboto Mono Medium" pitchFamily="34" charset="0"/>
                <a:ea typeface="Roboto Mono Medium" pitchFamily="34" charset="-122"/>
                <a:cs typeface="Roboto Mono Medium" pitchFamily="34" charset="-120"/>
              </a:rPr>
              <a:t>3</a:t>
            </a:r>
            <a:endParaRPr lang="en-US" sz="1950" dirty="0"/>
          </a:p>
        </p:txBody>
      </p:sp>
      <p:sp>
        <p:nvSpPr>
          <p:cNvPr id="15" name="Text 13"/>
          <p:cNvSpPr/>
          <p:nvPr/>
        </p:nvSpPr>
        <p:spPr>
          <a:xfrm>
            <a:off x="8582406" y="2734469"/>
            <a:ext cx="2947815"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Recuperación inteligente</a:t>
            </a:r>
            <a:endParaRPr lang="en-US" sz="1600" dirty="0"/>
          </a:p>
        </p:txBody>
      </p:sp>
      <p:sp>
        <p:nvSpPr>
          <p:cNvPr id="16" name="Text 14"/>
          <p:cNvSpPr/>
          <p:nvPr/>
        </p:nvSpPr>
        <p:spPr>
          <a:xfrm>
            <a:off x="8582406" y="3350617"/>
            <a:ext cx="29478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Encuentra documentos relevantes aunque no contengan las palabras exactas de la consulta, entendiendo la intención subyacente.</a:t>
            </a:r>
            <a:endParaRPr lang="en-US" sz="1300" dirty="0"/>
          </a:p>
        </p:txBody>
      </p:sp>
      <p:sp>
        <p:nvSpPr>
          <p:cNvPr id="17" name="Shape 15"/>
          <p:cNvSpPr/>
          <p:nvPr/>
        </p:nvSpPr>
        <p:spPr>
          <a:xfrm>
            <a:off x="661475" y="4601270"/>
            <a:ext cx="10868745" cy="661293"/>
          </a:xfrm>
          <a:prstGeom prst="roundRect">
            <a:avLst>
              <a:gd name="adj" fmla="val 1152"/>
            </a:avLst>
          </a:prstGeom>
          <a:solidFill>
            <a:srgbClr val="F9D2D6"/>
          </a:solidFill>
          <a:ln/>
        </p:spPr>
      </p:sp>
      <p:pic>
        <p:nvPicPr>
          <p:cNvPr id="18" name="Image 0" descr="preencoded.png">    </p:cNvPr>
          <p:cNvPicPr>
            <a:picLocks noChangeAspect="1"/>
          </p:cNvPicPr>
          <p:nvPr/>
        </p:nvPicPr>
        <p:blipFill>
          <a:blip r:embed="rId1"/>
          <a:stretch>
            <a:fillRect/>
          </a:stretch>
        </p:blipFill>
        <p:spPr>
          <a:xfrm>
            <a:off x="826769" y="4840982"/>
            <a:ext cx="206667" cy="165298"/>
          </a:xfrm>
          <a:prstGeom prst="rect">
            <a:avLst/>
          </a:prstGeom>
        </p:spPr>
      </p:pic>
      <p:sp>
        <p:nvSpPr>
          <p:cNvPr id="19" name="Text 16"/>
          <p:cNvSpPr/>
          <p:nvPr/>
        </p:nvSpPr>
        <p:spPr>
          <a:xfrm>
            <a:off x="1198731" y="4807843"/>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Permite búsquedas más flexibles y contextuales, entendiendo la intención real detrás de las consultas del usuario.</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661475" y="480120"/>
            <a:ext cx="1952675" cy="213717"/>
          </a:xfrm>
          <a:prstGeom prst="roundRect">
            <a:avLst>
              <a:gd name="adj" fmla="val 3565"/>
            </a:avLst>
          </a:prstGeom>
          <a:solidFill>
            <a:srgbClr val="F9D2D6"/>
          </a:solidFill>
          <a:ln/>
        </p:spPr>
      </p:sp>
      <p:sp>
        <p:nvSpPr>
          <p:cNvPr id="3" name="Text 1"/>
          <p:cNvSpPr/>
          <p:nvPr/>
        </p:nvSpPr>
        <p:spPr>
          <a:xfrm>
            <a:off x="745809" y="522288"/>
            <a:ext cx="2393592" cy="129381"/>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RAG: BÚSQUEDA Y RECUPERACIÓN</a:t>
            </a:r>
            <a:endParaRPr lang="en-US" sz="850" dirty="0"/>
          </a:p>
        </p:txBody>
      </p:sp>
      <p:sp>
        <p:nvSpPr>
          <p:cNvPr id="4" name="Text 2"/>
          <p:cNvSpPr/>
          <p:nvPr/>
        </p:nvSpPr>
        <p:spPr>
          <a:xfrm>
            <a:off x="661475" y="741561"/>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Embeddings: Convirtiendo texto en vectores</a:t>
            </a:r>
            <a:endParaRPr lang="en-US" sz="2750" dirty="0"/>
          </a:p>
        </p:txBody>
      </p:sp>
      <p:sp>
        <p:nvSpPr>
          <p:cNvPr id="5" name="Text 3"/>
          <p:cNvSpPr/>
          <p:nvPr/>
        </p:nvSpPr>
        <p:spPr>
          <a:xfrm>
            <a:off x="872309" y="1494334"/>
            <a:ext cx="1126749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Roboto" pitchFamily="34" charset="0"/>
                <a:ea typeface="Roboto" pitchFamily="34" charset="-122"/>
                <a:cs typeface="Roboto" pitchFamily="34" charset="-120"/>
              </a:rPr>
              <a:t>💡</a:t>
            </a:r>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 Idea: Las palabras con significado similar deben estar cerca en el espacio vectorial. 'gato' y 'felino' deben ser vecinos. 'gato' y 'automóvil' deben estar lejos.</a:t>
            </a:r>
            <a:endParaRPr lang="en-US" sz="1100" dirty="0"/>
          </a:p>
        </p:txBody>
      </p:sp>
      <p:sp>
        <p:nvSpPr>
          <p:cNvPr id="6" name="Shape 4"/>
          <p:cNvSpPr/>
          <p:nvPr/>
        </p:nvSpPr>
        <p:spPr>
          <a:xfrm>
            <a:off x="661475" y="1359991"/>
            <a:ext cx="19050" cy="476746"/>
          </a:xfrm>
          <a:prstGeom prst="roundRect">
            <a:avLst>
              <a:gd name="adj" fmla="val 49999"/>
            </a:avLst>
          </a:prstGeom>
          <a:solidFill>
            <a:srgbClr val="DA1B2E"/>
          </a:solidFill>
          <a:ln/>
        </p:spPr>
      </p:sp>
      <p:sp>
        <p:nvSpPr>
          <p:cNvPr id="7" name="Shape 5"/>
          <p:cNvSpPr/>
          <p:nvPr/>
        </p:nvSpPr>
        <p:spPr>
          <a:xfrm>
            <a:off x="560274" y="1971080"/>
            <a:ext cx="5465328" cy="3559076"/>
          </a:xfrm>
          <a:prstGeom prst="roundRect">
            <a:avLst>
              <a:gd name="adj" fmla="val 592"/>
            </a:avLst>
          </a:prstGeom>
          <a:solidFill>
            <a:srgbClr val="F7F7F2">
              <a:alpha val="95000"/>
            </a:srgbClr>
          </a:solidFill>
          <a:ln/>
        </p:spPr>
      </p:sp>
      <p:sp>
        <p:nvSpPr>
          <p:cNvPr id="8" name="Text 6"/>
          <p:cNvSpPr/>
          <p:nvPr/>
        </p:nvSpPr>
        <p:spPr>
          <a:xfrm>
            <a:off x="700765" y="2090539"/>
            <a:ext cx="5184348" cy="219571"/>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Roboto Mono Medium" pitchFamily="34" charset="0"/>
                <a:ea typeface="Roboto Mono Medium" pitchFamily="34" charset="-122"/>
                <a:cs typeface="Roboto Mono Medium" pitchFamily="34" charset="-120"/>
              </a:rPr>
              <a:t>¿Qué es un embedding?</a:t>
            </a:r>
            <a:endParaRPr lang="en-US" sz="1350" dirty="0"/>
          </a:p>
        </p:txBody>
      </p:sp>
      <p:sp>
        <p:nvSpPr>
          <p:cNvPr id="9" name="Text 7"/>
          <p:cNvSpPr/>
          <p:nvPr/>
        </p:nvSpPr>
        <p:spPr>
          <a:xfrm>
            <a:off x="700765" y="2429570"/>
            <a:ext cx="5793932" cy="208062"/>
          </a:xfrm>
          <a:prstGeom prst="rect">
            <a:avLst/>
          </a:prstGeom>
          <a:noFill/>
          <a:ln/>
        </p:spPr>
        <p:txBody>
          <a:bodyPr wrap="none" lIns="0" tIns="0" rIns="0" bIns="0" rtlCol="0" anchor="t"/>
          <a:lstStyle/>
          <a:p>
            <a:pPr algn="l" indent="0" marL="0">
              <a:lnSpc>
                <a:spcPct val="123000"/>
              </a:lnSpc>
              <a:buNone/>
            </a:pPr>
            <a:r>
              <a:rPr lang="en-US" sz="1100" i="1" dirty="0">
                <a:solidFill>
                  <a:srgbClr val="3B3535"/>
                </a:solidFill>
                <a:latin typeface="Roboto" pitchFamily="34" charset="0"/>
                <a:ea typeface="Roboto" pitchFamily="34" charset="-122"/>
                <a:cs typeface="Roboto" pitchFamily="34" charset="-120"/>
              </a:rPr>
              <a:t>Un embedding convierte texto en un punto en un espacio de N dimensiones.</a:t>
            </a:r>
            <a:endParaRPr lang="en-US" sz="1100" dirty="0"/>
          </a:p>
        </p:txBody>
      </p:sp>
      <p:sp>
        <p:nvSpPr>
          <p:cNvPr id="10" name="Shape 8"/>
          <p:cNvSpPr/>
          <p:nvPr/>
        </p:nvSpPr>
        <p:spPr>
          <a:xfrm>
            <a:off x="700765" y="2771973"/>
            <a:ext cx="5184348" cy="1180703"/>
          </a:xfrm>
          <a:prstGeom prst="roundRect">
            <a:avLst>
              <a:gd name="adj" fmla="val 645"/>
            </a:avLst>
          </a:prstGeom>
          <a:solidFill>
            <a:srgbClr val="EAEAE5"/>
          </a:solidFill>
          <a:ln/>
        </p:spPr>
      </p:sp>
      <p:sp>
        <p:nvSpPr>
          <p:cNvPr id="11" name="Text 9"/>
          <p:cNvSpPr/>
          <p:nvPr/>
        </p:nvSpPr>
        <p:spPr>
          <a:xfrm>
            <a:off x="869432" y="2912467"/>
            <a:ext cx="4847012" cy="89971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"gato"   → [0.82, -0.31, 0.54, 0.12, ...]  (384 dims)</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"felino" → [0.79, -0.28, 0.51, 0.15, ...]  (384 dims)</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"perro"  → [0.71, -0.22, 0.48, 0.09, ...]  (384 dims)</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"auto"   → [-0.12, 0.65, -0.33, 0.87, ...] (384 dims)</a:t>
            </a:r>
            <a:endParaRPr lang="en-US" sz="1100" dirty="0"/>
          </a:p>
        </p:txBody>
      </p:sp>
      <p:sp>
        <p:nvSpPr>
          <p:cNvPr id="12" name="Text 10"/>
          <p:cNvSpPr/>
          <p:nvPr/>
        </p:nvSpPr>
        <p:spPr>
          <a:xfrm>
            <a:off x="700765" y="4087019"/>
            <a:ext cx="5184348" cy="332978"/>
          </a:xfrm>
          <a:prstGeom prst="rect">
            <a:avLst/>
          </a:prstGeom>
          <a:noFill/>
          <a:ln/>
        </p:spPr>
        <p:txBody>
          <a:bodyPr wrap="square" lIns="0" tIns="0" rIns="0" bIns="0" rtlCol="0" anchor="t">
            <a:normAutofit/>
          </a:bodyPr>
          <a:lstStyle/>
          <a:p>
            <a:pPr algn="l" indent="0" marL="0">
              <a:lnSpc>
                <a:spcPct val="123000"/>
              </a:lnSpc>
              <a:buNone/>
            </a:pPr>
            <a:r>
              <a:rPr lang="en-US" sz="850" dirty="0">
                <a:solidFill>
                  <a:srgbClr val="3B3535"/>
                </a:solidFill>
                <a:latin typeface="Roboto" pitchFamily="34" charset="0"/>
                <a:ea typeface="Roboto" pitchFamily="34" charset="-122"/>
                <a:cs typeface="Roboto" pitchFamily="34" charset="-120"/>
              </a:rPr>
              <a:t>Modelos populares: text-embedding-3-small (OpenAI), all-MiniLM-L6-v2 (open source), embed-multilingual-v3 (Cohere)</a:t>
            </a:r>
            <a:endParaRPr lang="en-US" sz="850" dirty="0"/>
          </a:p>
        </p:txBody>
      </p:sp>
      <p:sp>
        <p:nvSpPr>
          <p:cNvPr id="13" name="Shape 11"/>
          <p:cNvSpPr/>
          <p:nvPr/>
        </p:nvSpPr>
        <p:spPr>
          <a:xfrm>
            <a:off x="6172442" y="1971080"/>
            <a:ext cx="5465328" cy="3559076"/>
          </a:xfrm>
          <a:prstGeom prst="roundRect">
            <a:avLst>
              <a:gd name="adj" fmla="val 592"/>
            </a:avLst>
          </a:prstGeom>
          <a:solidFill>
            <a:srgbClr val="F0F4F8">
              <a:alpha val="95000"/>
            </a:srgbClr>
          </a:solidFill>
          <a:ln/>
        </p:spPr>
      </p:sp>
      <p:sp>
        <p:nvSpPr>
          <p:cNvPr id="14" name="Text 12"/>
          <p:cNvSpPr/>
          <p:nvPr/>
        </p:nvSpPr>
        <p:spPr>
          <a:xfrm>
            <a:off x="6312933" y="2090539"/>
            <a:ext cx="5184348" cy="219571"/>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Roboto Mono Medium" pitchFamily="34" charset="0"/>
                <a:ea typeface="Roboto Mono Medium" pitchFamily="34" charset="-122"/>
                <a:cs typeface="Roboto Mono Medium" pitchFamily="34" charset="-120"/>
              </a:rPr>
              <a:t>¿Cómo se entrena?</a:t>
            </a:r>
            <a:endParaRPr lang="en-US" sz="1350"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65617" y="2448719"/>
            <a:ext cx="210835" cy="210840"/>
          </a:xfrm>
          <a:prstGeom prst="rect">
            <a:avLst/>
          </a:prstGeom>
        </p:spPr>
      </p:pic>
      <p:sp>
        <p:nvSpPr>
          <p:cNvPr id="16" name="Text 13"/>
          <p:cNvSpPr/>
          <p:nvPr/>
        </p:nvSpPr>
        <p:spPr>
          <a:xfrm>
            <a:off x="6769724" y="2444452"/>
            <a:ext cx="4727556"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Entrenamiento contrastivo</a:t>
            </a:r>
            <a:endParaRPr lang="en-US" sz="1350" dirty="0"/>
          </a:p>
        </p:txBody>
      </p:sp>
      <p:sp>
        <p:nvSpPr>
          <p:cNvPr id="17" name="Text 14"/>
          <p:cNvSpPr/>
          <p:nvPr/>
        </p:nvSpPr>
        <p:spPr>
          <a:xfrm>
            <a:off x="6769724" y="2783483"/>
            <a:ext cx="4727556"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El modelo aprende que frases con significado similar deben producir vectores cercanos. Se entrena con millones de pares (pregunta, respuesta relevante).</a:t>
            </a:r>
            <a:endParaRPr lang="en-US" sz="1100" dirty="0"/>
          </a:p>
        </p:txBody>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65617" y="3650853"/>
            <a:ext cx="210835" cy="210840"/>
          </a:xfrm>
          <a:prstGeom prst="rect">
            <a:avLst/>
          </a:prstGeom>
        </p:spPr>
      </p:pic>
      <p:sp>
        <p:nvSpPr>
          <p:cNvPr id="19" name="Text 15"/>
          <p:cNvSpPr/>
          <p:nvPr/>
        </p:nvSpPr>
        <p:spPr>
          <a:xfrm>
            <a:off x="6769724" y="3646587"/>
            <a:ext cx="4727556"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Dimensionalidad</a:t>
            </a:r>
            <a:endParaRPr lang="en-US" sz="1350" dirty="0"/>
          </a:p>
        </p:txBody>
      </p:sp>
      <p:sp>
        <p:nvSpPr>
          <p:cNvPr id="20" name="Text 16"/>
          <p:cNvSpPr/>
          <p:nvPr/>
        </p:nvSpPr>
        <p:spPr>
          <a:xfrm>
            <a:off x="6769724" y="3985617"/>
            <a:ext cx="4727556"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Los vectores tienen entre 384 y 3072 dimensiones. Más dimensiones = más capacidad semántica, pero más costo de almacenamiento y cómputo.</a:t>
            </a:r>
            <a:endParaRPr lang="en-US" sz="110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5617" y="4644926"/>
            <a:ext cx="210835" cy="210840"/>
          </a:xfrm>
          <a:prstGeom prst="rect">
            <a:avLst/>
          </a:prstGeom>
        </p:spPr>
      </p:pic>
      <p:sp>
        <p:nvSpPr>
          <p:cNvPr id="22" name="Text 17"/>
          <p:cNvSpPr/>
          <p:nvPr/>
        </p:nvSpPr>
        <p:spPr>
          <a:xfrm>
            <a:off x="6769724" y="4640659"/>
            <a:ext cx="4727556"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Multilingüe</a:t>
            </a:r>
            <a:endParaRPr lang="en-US" sz="1350" dirty="0"/>
          </a:p>
        </p:txBody>
      </p:sp>
      <p:sp>
        <p:nvSpPr>
          <p:cNvPr id="23" name="Text 18"/>
          <p:cNvSpPr/>
          <p:nvPr/>
        </p:nvSpPr>
        <p:spPr>
          <a:xfrm>
            <a:off x="6769724" y="4979690"/>
            <a:ext cx="4727556"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Los modelos multilingües mapean "cat" (inglés) y "gato" (español) a vectores cercanos — la búsqueda funciona entre idiomas sin traducción.</a:t>
            </a:r>
            <a:endParaRPr lang="en-US" sz="1100" dirty="0"/>
          </a:p>
        </p:txBody>
      </p:sp>
      <p:sp>
        <p:nvSpPr>
          <p:cNvPr id="24" name="Shape 19"/>
          <p:cNvSpPr/>
          <p:nvPr/>
        </p:nvSpPr>
        <p:spPr>
          <a:xfrm>
            <a:off x="661475" y="5664498"/>
            <a:ext cx="10868745" cy="713284"/>
          </a:xfrm>
          <a:prstGeom prst="roundRect">
            <a:avLst>
              <a:gd name="adj" fmla="val 1068"/>
            </a:avLst>
          </a:prstGeom>
          <a:solidFill>
            <a:srgbClr val="F9D2D6"/>
          </a:solidFill>
          <a:ln/>
        </p:spPr>
      </p:sp>
      <p:pic>
        <p:nvPicPr>
          <p:cNvPr id="25" name="Image 3" descr="preencoded.png">    </p:cNvPr>
          <p:cNvPicPr>
            <a:picLocks noChangeAspect="1"/>
          </p:cNvPicPr>
          <p:nvPr/>
        </p:nvPicPr>
        <p:blipFill>
          <a:blip r:embed="rId7"/>
          <a:stretch>
            <a:fillRect/>
          </a:stretch>
        </p:blipFill>
        <p:spPr>
          <a:xfrm>
            <a:off x="801965" y="5835848"/>
            <a:ext cx="175712" cy="140494"/>
          </a:xfrm>
          <a:prstGeom prst="rect">
            <a:avLst/>
          </a:prstGeom>
        </p:spPr>
      </p:pic>
      <p:sp>
        <p:nvSpPr>
          <p:cNvPr id="26" name="Text 20"/>
          <p:cNvSpPr/>
          <p:nvPr/>
        </p:nvSpPr>
        <p:spPr>
          <a:xfrm>
            <a:off x="1118167" y="5819080"/>
            <a:ext cx="10271563"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000000"/>
                </a:solidFill>
                <a:latin typeface="Roboto" pitchFamily="34" charset="0"/>
                <a:ea typeface="Roboto" pitchFamily="34" charset="-122"/>
                <a:cs typeface="Roboto" pitchFamily="34" charset="-120"/>
              </a:rPr>
              <a:t>💡</a:t>
            </a:r>
            <a:pPr algn="l" indent="0" marL="0">
              <a:lnSpc>
                <a:spcPct val="123000"/>
              </a:lnSpc>
              <a:buNone/>
            </a:pPr>
            <a:r>
              <a:rPr lang="en-US" sz="1100" dirty="0">
                <a:solidFill>
                  <a:srgbClr val="000000"/>
                </a:solidFill>
                <a:latin typeface="Roboto" pitchFamily="34" charset="0"/>
                <a:ea typeface="Roboto" pitchFamily="34" charset="-122"/>
                <a:cs typeface="Roboto" pitchFamily="34" charset="-120"/>
              </a:rPr>
              <a:t> El embedding captura semántica, no sintaxis. 'No puedo iniciar sesión' y 'olvidé mi contraseña' producen vectores muy cercanos aunque no compartan ninguna palabra.</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661475" y="656332"/>
            <a:ext cx="1721898" cy="188516"/>
          </a:xfrm>
          <a:prstGeom prst="roundRect">
            <a:avLst>
              <a:gd name="adj" fmla="val 4042"/>
            </a:avLst>
          </a:prstGeom>
          <a:solidFill>
            <a:srgbClr val="F9D2D6"/>
          </a:solidFill>
          <a:ln/>
        </p:spPr>
      </p:sp>
      <p:sp>
        <p:nvSpPr>
          <p:cNvPr id="3" name="Text 1"/>
          <p:cNvSpPr/>
          <p:nvPr/>
        </p:nvSpPr>
        <p:spPr>
          <a:xfrm>
            <a:off x="735887" y="693539"/>
            <a:ext cx="2182659" cy="114102"/>
          </a:xfrm>
          <a:prstGeom prst="rect">
            <a:avLst/>
          </a:prstGeom>
          <a:noFill/>
          <a:ln/>
        </p:spPr>
        <p:txBody>
          <a:bodyPr wrap="none" lIns="0" tIns="0" rIns="0" bIns="0" rtlCol="0" anchor="t"/>
          <a:lstStyle/>
          <a:p>
            <a:pPr algn="l" indent="0" marL="0">
              <a:lnSpc>
                <a:spcPct val="96000"/>
              </a:lnSpc>
              <a:buNone/>
            </a:pPr>
            <a:r>
              <a:rPr lang="en-US" sz="750" dirty="0">
                <a:solidFill>
                  <a:srgbClr val="3B3535"/>
                </a:solidFill>
                <a:latin typeface="Roboto" pitchFamily="34" charset="0"/>
                <a:ea typeface="Roboto" pitchFamily="34" charset="-122"/>
                <a:cs typeface="Roboto" pitchFamily="34" charset="-120"/>
              </a:rPr>
              <a:t>RAG: BÚSQUEDA Y RECUPERACIÓN</a:t>
            </a:r>
            <a:endParaRPr lang="en-US" sz="750" dirty="0"/>
          </a:p>
        </p:txBody>
      </p:sp>
      <p:sp>
        <p:nvSpPr>
          <p:cNvPr id="4" name="Text 2"/>
          <p:cNvSpPr/>
          <p:nvPr/>
        </p:nvSpPr>
        <p:spPr>
          <a:xfrm>
            <a:off x="661475" y="882055"/>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oboto Mono Medium" pitchFamily="34" charset="0"/>
                <a:ea typeface="Roboto Mono Medium" pitchFamily="34" charset="-122"/>
                <a:cs typeface="Roboto Mono Medium" pitchFamily="34" charset="-120"/>
              </a:rPr>
              <a:t>Similitud Coseno: Midiendo cercanía semántica</a:t>
            </a:r>
            <a:endParaRPr lang="en-US" sz="2400" dirty="0"/>
          </a:p>
        </p:txBody>
      </p:sp>
      <p:sp>
        <p:nvSpPr>
          <p:cNvPr id="5" name="Text 3"/>
          <p:cNvSpPr/>
          <p:nvPr/>
        </p:nvSpPr>
        <p:spPr>
          <a:xfrm>
            <a:off x="847505" y="1513780"/>
            <a:ext cx="11292300"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Roboto" pitchFamily="34" charset="0"/>
                <a:ea typeface="Roboto" pitchFamily="34" charset="-122"/>
                <a:cs typeface="Roboto" pitchFamily="34" charset="-120"/>
              </a:rPr>
              <a:t>💡</a:t>
            </a:r>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 Idea: No nos importa el tamaño del vector, sino su dirección. Dos textos son similares si apuntan en la misma dirección en el espacio vectorial.</a:t>
            </a:r>
            <a:endParaRPr lang="en-US" sz="950" dirty="0"/>
          </a:p>
        </p:txBody>
      </p:sp>
      <p:sp>
        <p:nvSpPr>
          <p:cNvPr id="6" name="Shape 4"/>
          <p:cNvSpPr/>
          <p:nvPr/>
        </p:nvSpPr>
        <p:spPr>
          <a:xfrm>
            <a:off x="661475" y="1409204"/>
            <a:ext cx="12700" cy="382786"/>
          </a:xfrm>
          <a:prstGeom prst="roundRect">
            <a:avLst>
              <a:gd name="adj" fmla="val 49999"/>
            </a:avLst>
          </a:prstGeom>
          <a:solidFill>
            <a:srgbClr val="DA1B2E"/>
          </a:solidFill>
          <a:ln/>
        </p:spPr>
      </p:sp>
      <p:sp>
        <p:nvSpPr>
          <p:cNvPr id="7" name="Shape 5"/>
          <p:cNvSpPr/>
          <p:nvPr/>
        </p:nvSpPr>
        <p:spPr>
          <a:xfrm>
            <a:off x="572180" y="1896566"/>
            <a:ext cx="5461657" cy="3614638"/>
          </a:xfrm>
          <a:prstGeom prst="roundRect">
            <a:avLst>
              <a:gd name="adj" fmla="val 515"/>
            </a:avLst>
          </a:prstGeom>
          <a:solidFill>
            <a:srgbClr val="F7F7F2">
              <a:alpha val="95000"/>
            </a:srgbClr>
          </a:solidFill>
          <a:ln/>
        </p:spPr>
      </p:sp>
      <p:sp>
        <p:nvSpPr>
          <p:cNvPr id="8" name="Text 6"/>
          <p:cNvSpPr/>
          <p:nvPr/>
        </p:nvSpPr>
        <p:spPr>
          <a:xfrm>
            <a:off x="696201" y="1989534"/>
            <a:ext cx="5213616" cy="193774"/>
          </a:xfrm>
          <a:prstGeom prst="rect">
            <a:avLst/>
          </a:prstGeom>
          <a:noFill/>
          <a:ln/>
        </p:spPr>
        <p:txBody>
          <a:bodyPr wrap="none" lIns="0" tIns="0" rIns="0" bIns="0" rtlCol="0" anchor="t"/>
          <a:lstStyle/>
          <a:p>
            <a:pPr algn="l" indent="0" marL="0">
              <a:lnSpc>
                <a:spcPct val="104000"/>
              </a:lnSpc>
              <a:buNone/>
            </a:pPr>
            <a:r>
              <a:rPr lang="en-US" sz="1200" dirty="0">
                <a:solidFill>
                  <a:srgbClr val="1F1E1E"/>
                </a:solidFill>
                <a:latin typeface="Roboto Mono Medium" pitchFamily="34" charset="0"/>
                <a:ea typeface="Roboto Mono Medium" pitchFamily="34" charset="-122"/>
                <a:cs typeface="Roboto Mono Medium" pitchFamily="34" charset="-120"/>
              </a:rPr>
              <a:t>La fórmula</a:t>
            </a:r>
            <a:endParaRPr lang="en-US" sz="1200" dirty="0"/>
          </a:p>
        </p:txBody>
      </p:sp>
      <p:sp>
        <p:nvSpPr>
          <p:cNvPr id="9" name="Text 7"/>
          <p:cNvSpPr/>
          <p:nvPr/>
        </p:nvSpPr>
        <p:spPr>
          <a:xfrm>
            <a:off x="696201" y="2276277"/>
            <a:ext cx="5823201" cy="173633"/>
          </a:xfrm>
          <a:prstGeom prst="rect">
            <a:avLst/>
          </a:prstGeom>
          <a:noFill/>
          <a:ln/>
        </p:spPr>
        <p:txBody>
          <a:bodyPr wrap="none" lIns="0" tIns="0" rIns="0" bIns="0" rtlCol="0" anchor="t"/>
          <a:lstStyle/>
          <a:p>
            <a:pPr algn="l" indent="0" marL="0">
              <a:lnSpc>
                <a:spcPct val="117000"/>
              </a:lnSpc>
              <a:buNone/>
            </a:pPr>
            <a:r>
              <a:rPr lang="en-US" sz="950" i="1" dirty="0">
                <a:solidFill>
                  <a:srgbClr val="3B3535"/>
                </a:solidFill>
                <a:latin typeface="Roboto" pitchFamily="34" charset="0"/>
                <a:ea typeface="Roboto" pitchFamily="34" charset="-122"/>
                <a:cs typeface="Roboto" pitchFamily="34" charset="-120"/>
              </a:rPr>
              <a:t>Similitud coseno responde: ¿Qué tan parecida es la dirección de dos vectores?</a:t>
            </a:r>
            <a:endParaRPr lang="en-US" sz="950" dirty="0"/>
          </a:p>
        </p:txBody>
      </p:sp>
      <p:sp>
        <p:nvSpPr>
          <p:cNvPr id="10" name="Shape 8"/>
          <p:cNvSpPr/>
          <p:nvPr/>
        </p:nvSpPr>
        <p:spPr>
          <a:xfrm>
            <a:off x="696201" y="2554486"/>
            <a:ext cx="5213616" cy="446484"/>
          </a:xfrm>
          <a:prstGeom prst="roundRect">
            <a:avLst>
              <a:gd name="adj" fmla="val 1707"/>
            </a:avLst>
          </a:prstGeom>
          <a:solidFill>
            <a:srgbClr val="EAEAE5"/>
          </a:solidFill>
          <a:ln/>
        </p:spPr>
      </p:sp>
      <p:sp>
        <p:nvSpPr>
          <p:cNvPr id="11" name="Text 9"/>
          <p:cNvSpPr/>
          <p:nvPr/>
        </p:nvSpPr>
        <p:spPr>
          <a:xfrm>
            <a:off x="845025" y="2678509"/>
            <a:ext cx="5525552" cy="198438"/>
          </a:xfrm>
          <a:prstGeom prst="rect">
            <a:avLst/>
          </a:prstGeom>
          <a:noFill/>
          <a:ln/>
        </p:spPr>
        <p:txBody>
          <a:bodyPr wrap="none" lIns="0" tIns="0" rIns="0" bIns="0" rtlCol="0" anchor="t"/>
          <a:lstStyle/>
          <a:p>
            <a:pPr algn="l" indent="0" marL="0">
              <a:lnSpc>
                <a:spcPct val="133000"/>
              </a:lnSpc>
              <a:buNone/>
            </a:pPr>
            <a:r>
              <a:rPr lang="en-US" sz="950" dirty="0">
                <a:solidFill>
                  <a:srgbClr val="24292E"/>
                </a:solidFill>
                <a:latin typeface="Consolas" pitchFamily="34" charset="0"/>
                <a:ea typeface="Consolas" pitchFamily="34" charset="-122"/>
                <a:cs typeface="Consolas" pitchFamily="34" charset="-120"/>
              </a:rPr>
              <a:t>cos(θ) = (A · B) / (||A|| × ||B||)</a:t>
            </a:r>
            <a:endParaRPr lang="en-US" sz="950" dirty="0"/>
          </a:p>
        </p:txBody>
      </p:sp>
      <p:sp>
        <p:nvSpPr>
          <p:cNvPr id="12" name="Text 10"/>
          <p:cNvSpPr/>
          <p:nvPr/>
        </p:nvSpPr>
        <p:spPr>
          <a:xfrm>
            <a:off x="696201" y="3105547"/>
            <a:ext cx="5213616" cy="694531"/>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Where:</a:t>
            </a:r>
            <a:endParaRPr lang="en-US" sz="950" dirty="0"/>
          </a:p>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 A · B = producto punto (suma de productos elemento a elemento)</a:t>
            </a:r>
            <a:endParaRPr lang="en-US" sz="950" dirty="0"/>
          </a:p>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 ||A|| = magnitud del vector A (raíz de suma de cuadrados)</a:t>
            </a:r>
            <a:endParaRPr lang="en-US" sz="950" dirty="0"/>
          </a:p>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 Resultado: entre -1 (opuestos) y 1 (idénticos)</a:t>
            </a:r>
            <a:endParaRPr lang="en-US" sz="950" dirty="0"/>
          </a:p>
        </p:txBody>
      </p:sp>
      <p:sp>
        <p:nvSpPr>
          <p:cNvPr id="13" name="Shape 11"/>
          <p:cNvSpPr/>
          <p:nvPr/>
        </p:nvSpPr>
        <p:spPr>
          <a:xfrm>
            <a:off x="696201" y="3904655"/>
            <a:ext cx="5213616" cy="1501973"/>
          </a:xfrm>
          <a:prstGeom prst="roundRect">
            <a:avLst>
              <a:gd name="adj" fmla="val 507"/>
            </a:avLst>
          </a:prstGeom>
          <a:noFill/>
          <a:ln w="6350">
            <a:solidFill>
              <a:srgbClr val="000000">
                <a:alpha val="8000"/>
              </a:srgbClr>
            </a:solidFill>
            <a:prstDash val="solid"/>
          </a:ln>
        </p:spPr>
      </p:sp>
      <p:sp>
        <p:nvSpPr>
          <p:cNvPr id="14" name="Shape 12"/>
          <p:cNvSpPr/>
          <p:nvPr/>
        </p:nvSpPr>
        <p:spPr>
          <a:xfrm>
            <a:off x="702550" y="3911005"/>
            <a:ext cx="5200917" cy="297855"/>
          </a:xfrm>
          <a:prstGeom prst="rect">
            <a:avLst/>
          </a:prstGeom>
          <a:solidFill>
            <a:srgbClr val="FFFFFF">
              <a:alpha val="4000"/>
            </a:srgbClr>
          </a:solidFill>
          <a:ln/>
        </p:spPr>
      </p:sp>
      <p:sp>
        <p:nvSpPr>
          <p:cNvPr id="15" name="Text 13"/>
          <p:cNvSpPr/>
          <p:nvPr/>
        </p:nvSpPr>
        <p:spPr>
          <a:xfrm>
            <a:off x="826571" y="3973116"/>
            <a:ext cx="1918644" cy="173633"/>
          </a:xfrm>
          <a:prstGeom prst="rect">
            <a:avLst/>
          </a:prstGeom>
          <a:noFill/>
          <a:ln/>
        </p:spPr>
        <p:txBody>
          <a:bodyPr wrap="none" lIns="0" tIns="0" rIns="0" bIns="0" rtlCol="0" anchor="t"/>
          <a:lstStyle/>
          <a:p>
            <a:pPr algn="l" indent="0" marL="0">
              <a:lnSpc>
                <a:spcPct val="117000"/>
              </a:lnSpc>
              <a:buNone/>
            </a:pPr>
            <a:r>
              <a:rPr lang="en-US" sz="950" b="1" dirty="0">
                <a:solidFill>
                  <a:srgbClr val="3B3535"/>
                </a:solidFill>
                <a:latin typeface="Roboto Bold" pitchFamily="34" charset="0"/>
                <a:ea typeface="Roboto Bold" pitchFamily="34" charset="-122"/>
                <a:cs typeface="Roboto Bold" pitchFamily="34" charset="-120"/>
              </a:rPr>
              <a:t>Par de términos</a:t>
            </a:r>
            <a:endParaRPr lang="en-US" sz="950" dirty="0"/>
          </a:p>
        </p:txBody>
      </p:sp>
      <p:sp>
        <p:nvSpPr>
          <p:cNvPr id="16" name="Text 14"/>
          <p:cNvSpPr/>
          <p:nvPr/>
        </p:nvSpPr>
        <p:spPr>
          <a:xfrm>
            <a:off x="2390021" y="3973116"/>
            <a:ext cx="2175515" cy="173633"/>
          </a:xfrm>
          <a:prstGeom prst="rect">
            <a:avLst/>
          </a:prstGeom>
          <a:noFill/>
          <a:ln/>
        </p:spPr>
        <p:txBody>
          <a:bodyPr wrap="none" lIns="0" tIns="0" rIns="0" bIns="0" rtlCol="0" anchor="t"/>
          <a:lstStyle/>
          <a:p>
            <a:pPr algn="l" indent="0" marL="0">
              <a:lnSpc>
                <a:spcPct val="117000"/>
              </a:lnSpc>
              <a:buNone/>
            </a:pPr>
            <a:r>
              <a:rPr lang="en-US" sz="950" b="1" dirty="0">
                <a:solidFill>
                  <a:srgbClr val="3B3535"/>
                </a:solidFill>
                <a:latin typeface="Roboto Bold" pitchFamily="34" charset="0"/>
                <a:ea typeface="Roboto Bold" pitchFamily="34" charset="-122"/>
                <a:cs typeface="Roboto Bold" pitchFamily="34" charset="-120"/>
              </a:rPr>
              <a:t>Similitud coseno</a:t>
            </a:r>
            <a:endParaRPr lang="en-US" sz="950" dirty="0"/>
          </a:p>
        </p:txBody>
      </p:sp>
      <p:sp>
        <p:nvSpPr>
          <p:cNvPr id="17" name="Text 15"/>
          <p:cNvSpPr/>
          <p:nvPr/>
        </p:nvSpPr>
        <p:spPr>
          <a:xfrm>
            <a:off x="4210342" y="3973116"/>
            <a:ext cx="2178690" cy="173633"/>
          </a:xfrm>
          <a:prstGeom prst="rect">
            <a:avLst/>
          </a:prstGeom>
          <a:noFill/>
          <a:ln/>
        </p:spPr>
        <p:txBody>
          <a:bodyPr wrap="none" lIns="0" tIns="0" rIns="0" bIns="0" rtlCol="0" anchor="t"/>
          <a:lstStyle/>
          <a:p>
            <a:pPr algn="l" indent="0" marL="0">
              <a:lnSpc>
                <a:spcPct val="117000"/>
              </a:lnSpc>
              <a:buNone/>
            </a:pPr>
            <a:r>
              <a:rPr lang="en-US" sz="950" b="1" dirty="0">
                <a:solidFill>
                  <a:srgbClr val="3B3535"/>
                </a:solidFill>
                <a:latin typeface="Roboto Bold" pitchFamily="34" charset="0"/>
                <a:ea typeface="Roboto Bold" pitchFamily="34" charset="-122"/>
                <a:cs typeface="Roboto Bold" pitchFamily="34" charset="-120"/>
              </a:rPr>
              <a:t>Interpretación</a:t>
            </a:r>
            <a:endParaRPr lang="en-US" sz="950" dirty="0"/>
          </a:p>
        </p:txBody>
      </p:sp>
      <p:sp>
        <p:nvSpPr>
          <p:cNvPr id="18" name="Shape 16"/>
          <p:cNvSpPr/>
          <p:nvPr/>
        </p:nvSpPr>
        <p:spPr>
          <a:xfrm>
            <a:off x="702550" y="4208859"/>
            <a:ext cx="5200917" cy="297855"/>
          </a:xfrm>
          <a:prstGeom prst="rect">
            <a:avLst/>
          </a:prstGeom>
          <a:solidFill>
            <a:srgbClr val="000000">
              <a:alpha val="4000"/>
            </a:srgbClr>
          </a:solidFill>
          <a:ln/>
        </p:spPr>
      </p:sp>
      <p:sp>
        <p:nvSpPr>
          <p:cNvPr id="19" name="Text 17"/>
          <p:cNvSpPr/>
          <p:nvPr/>
        </p:nvSpPr>
        <p:spPr>
          <a:xfrm>
            <a:off x="826571" y="4270970"/>
            <a:ext cx="1918644"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"gato" vs "felino"</a:t>
            </a:r>
            <a:endParaRPr lang="en-US" sz="950" dirty="0"/>
          </a:p>
        </p:txBody>
      </p:sp>
      <p:sp>
        <p:nvSpPr>
          <p:cNvPr id="20" name="Text 18"/>
          <p:cNvSpPr/>
          <p:nvPr/>
        </p:nvSpPr>
        <p:spPr>
          <a:xfrm>
            <a:off x="2390021" y="4270970"/>
            <a:ext cx="2175515"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0.91</a:t>
            </a:r>
            <a:endParaRPr lang="en-US" sz="950" dirty="0"/>
          </a:p>
        </p:txBody>
      </p:sp>
      <p:sp>
        <p:nvSpPr>
          <p:cNvPr id="21" name="Text 19"/>
          <p:cNvSpPr/>
          <p:nvPr/>
        </p:nvSpPr>
        <p:spPr>
          <a:xfrm>
            <a:off x="4210342" y="4270970"/>
            <a:ext cx="2178690"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Muy similares </a:t>
            </a:r>
            <a:pPr algn="l" indent="0" marL="0">
              <a:lnSpc>
                <a:spcPct val="117000"/>
              </a:lnSpc>
              <a:buNone/>
            </a:pPr>
            <a:r>
              <a:rPr lang="en-US" sz="950" dirty="0">
                <a:solidFill>
                  <a:srgbClr val="000000"/>
                </a:solidFill>
                <a:latin typeface="Roboto" pitchFamily="34" charset="0"/>
                <a:ea typeface="Roboto" pitchFamily="34" charset="-122"/>
                <a:cs typeface="Roboto" pitchFamily="34" charset="-120"/>
              </a:rPr>
              <a:t>✅</a:t>
            </a:r>
            <a:endParaRPr lang="en-US" sz="950" dirty="0"/>
          </a:p>
        </p:txBody>
      </p:sp>
      <p:sp>
        <p:nvSpPr>
          <p:cNvPr id="22" name="Shape 20"/>
          <p:cNvSpPr/>
          <p:nvPr/>
        </p:nvSpPr>
        <p:spPr>
          <a:xfrm>
            <a:off x="702550" y="4506714"/>
            <a:ext cx="5200917" cy="297855"/>
          </a:xfrm>
          <a:prstGeom prst="rect">
            <a:avLst/>
          </a:prstGeom>
          <a:solidFill>
            <a:srgbClr val="FFFFFF">
              <a:alpha val="4000"/>
            </a:srgbClr>
          </a:solidFill>
          <a:ln/>
        </p:spPr>
      </p:sp>
      <p:sp>
        <p:nvSpPr>
          <p:cNvPr id="23" name="Text 21"/>
          <p:cNvSpPr/>
          <p:nvPr/>
        </p:nvSpPr>
        <p:spPr>
          <a:xfrm>
            <a:off x="826571" y="4568825"/>
            <a:ext cx="1918644"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"gato" vs "perro"</a:t>
            </a:r>
            <a:endParaRPr lang="en-US" sz="950" dirty="0"/>
          </a:p>
        </p:txBody>
      </p:sp>
      <p:sp>
        <p:nvSpPr>
          <p:cNvPr id="24" name="Text 22"/>
          <p:cNvSpPr/>
          <p:nvPr/>
        </p:nvSpPr>
        <p:spPr>
          <a:xfrm>
            <a:off x="2390021" y="4568825"/>
            <a:ext cx="2175515"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0.76</a:t>
            </a:r>
            <a:endParaRPr lang="en-US" sz="950" dirty="0"/>
          </a:p>
        </p:txBody>
      </p:sp>
      <p:sp>
        <p:nvSpPr>
          <p:cNvPr id="25" name="Text 23"/>
          <p:cNvSpPr/>
          <p:nvPr/>
        </p:nvSpPr>
        <p:spPr>
          <a:xfrm>
            <a:off x="4210342" y="4568825"/>
            <a:ext cx="2178690"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Relacionados</a:t>
            </a:r>
            <a:endParaRPr lang="en-US" sz="950" dirty="0"/>
          </a:p>
        </p:txBody>
      </p:sp>
      <p:sp>
        <p:nvSpPr>
          <p:cNvPr id="26" name="Shape 24"/>
          <p:cNvSpPr/>
          <p:nvPr/>
        </p:nvSpPr>
        <p:spPr>
          <a:xfrm>
            <a:off x="702550" y="4804569"/>
            <a:ext cx="5200917" cy="297855"/>
          </a:xfrm>
          <a:prstGeom prst="rect">
            <a:avLst/>
          </a:prstGeom>
          <a:solidFill>
            <a:srgbClr val="000000">
              <a:alpha val="4000"/>
            </a:srgbClr>
          </a:solidFill>
          <a:ln/>
        </p:spPr>
      </p:sp>
      <p:sp>
        <p:nvSpPr>
          <p:cNvPr id="27" name="Text 25"/>
          <p:cNvSpPr/>
          <p:nvPr/>
        </p:nvSpPr>
        <p:spPr>
          <a:xfrm>
            <a:off x="826571" y="4866680"/>
            <a:ext cx="1918644"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"gato" vs "auto"</a:t>
            </a:r>
            <a:endParaRPr lang="en-US" sz="950" dirty="0"/>
          </a:p>
        </p:txBody>
      </p:sp>
      <p:sp>
        <p:nvSpPr>
          <p:cNvPr id="28" name="Text 26"/>
          <p:cNvSpPr/>
          <p:nvPr/>
        </p:nvSpPr>
        <p:spPr>
          <a:xfrm>
            <a:off x="2390021" y="4866680"/>
            <a:ext cx="2175515"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0.12</a:t>
            </a:r>
            <a:endParaRPr lang="en-US" sz="950" dirty="0"/>
          </a:p>
        </p:txBody>
      </p:sp>
      <p:sp>
        <p:nvSpPr>
          <p:cNvPr id="29" name="Text 27"/>
          <p:cNvSpPr/>
          <p:nvPr/>
        </p:nvSpPr>
        <p:spPr>
          <a:xfrm>
            <a:off x="4210342" y="4866680"/>
            <a:ext cx="2178690"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Sin relación </a:t>
            </a:r>
            <a:pPr algn="l" indent="0" marL="0">
              <a:lnSpc>
                <a:spcPct val="117000"/>
              </a:lnSpc>
              <a:buNone/>
            </a:pPr>
            <a:r>
              <a:rPr lang="en-US" sz="950" dirty="0">
                <a:solidFill>
                  <a:srgbClr val="000000"/>
                </a:solidFill>
                <a:latin typeface="Roboto" pitchFamily="34" charset="0"/>
                <a:ea typeface="Roboto" pitchFamily="34" charset="-122"/>
                <a:cs typeface="Roboto" pitchFamily="34" charset="-120"/>
              </a:rPr>
              <a:t>❌</a:t>
            </a:r>
            <a:endParaRPr lang="en-US" sz="950" dirty="0"/>
          </a:p>
        </p:txBody>
      </p:sp>
      <p:sp>
        <p:nvSpPr>
          <p:cNvPr id="30" name="Shape 28"/>
          <p:cNvSpPr/>
          <p:nvPr/>
        </p:nvSpPr>
        <p:spPr>
          <a:xfrm>
            <a:off x="702550" y="5102423"/>
            <a:ext cx="5200917" cy="297855"/>
          </a:xfrm>
          <a:prstGeom prst="rect">
            <a:avLst/>
          </a:prstGeom>
          <a:solidFill>
            <a:srgbClr val="FFFFFF">
              <a:alpha val="4000"/>
            </a:srgbClr>
          </a:solidFill>
          <a:ln/>
        </p:spPr>
      </p:sp>
      <p:sp>
        <p:nvSpPr>
          <p:cNvPr id="31" name="Text 29"/>
          <p:cNvSpPr/>
          <p:nvPr/>
        </p:nvSpPr>
        <p:spPr>
          <a:xfrm>
            <a:off x="826571" y="5164534"/>
            <a:ext cx="1918644"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Query vs Doc1</a:t>
            </a:r>
            <a:endParaRPr lang="en-US" sz="950" dirty="0"/>
          </a:p>
        </p:txBody>
      </p:sp>
      <p:sp>
        <p:nvSpPr>
          <p:cNvPr id="32" name="Text 30"/>
          <p:cNvSpPr/>
          <p:nvPr/>
        </p:nvSpPr>
        <p:spPr>
          <a:xfrm>
            <a:off x="2390021" y="5164534"/>
            <a:ext cx="2175515"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0.87</a:t>
            </a:r>
            <a:endParaRPr lang="en-US" sz="950" dirty="0"/>
          </a:p>
        </p:txBody>
      </p:sp>
      <p:sp>
        <p:nvSpPr>
          <p:cNvPr id="33" name="Text 31"/>
          <p:cNvSpPr/>
          <p:nvPr/>
        </p:nvSpPr>
        <p:spPr>
          <a:xfrm>
            <a:off x="4210342" y="5164534"/>
            <a:ext cx="2178690"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Alta relevancia </a:t>
            </a:r>
            <a:pPr algn="l" indent="0" marL="0">
              <a:lnSpc>
                <a:spcPct val="117000"/>
              </a:lnSpc>
              <a:buNone/>
            </a:pPr>
            <a:r>
              <a:rPr lang="en-US" sz="950" dirty="0">
                <a:solidFill>
                  <a:srgbClr val="000000"/>
                </a:solidFill>
                <a:latin typeface="Roboto" pitchFamily="34" charset="0"/>
                <a:ea typeface="Roboto" pitchFamily="34" charset="-122"/>
                <a:cs typeface="Roboto" pitchFamily="34" charset="-120"/>
              </a:rPr>
              <a:t>⭐</a:t>
            </a:r>
            <a:endParaRPr lang="en-US" sz="950" dirty="0"/>
          </a:p>
        </p:txBody>
      </p:sp>
      <p:sp>
        <p:nvSpPr>
          <p:cNvPr id="34" name="Shape 32"/>
          <p:cNvSpPr/>
          <p:nvPr/>
        </p:nvSpPr>
        <p:spPr>
          <a:xfrm>
            <a:off x="6164208" y="1896566"/>
            <a:ext cx="5461657" cy="3614638"/>
          </a:xfrm>
          <a:prstGeom prst="roundRect">
            <a:avLst>
              <a:gd name="adj" fmla="val 515"/>
            </a:avLst>
          </a:prstGeom>
          <a:solidFill>
            <a:srgbClr val="F0F4F8">
              <a:alpha val="95000"/>
            </a:srgbClr>
          </a:solidFill>
          <a:ln/>
        </p:spPr>
      </p:sp>
      <p:sp>
        <p:nvSpPr>
          <p:cNvPr id="35" name="Text 33"/>
          <p:cNvSpPr/>
          <p:nvPr/>
        </p:nvSpPr>
        <p:spPr>
          <a:xfrm>
            <a:off x="6288228" y="1989534"/>
            <a:ext cx="5213616" cy="193774"/>
          </a:xfrm>
          <a:prstGeom prst="rect">
            <a:avLst/>
          </a:prstGeom>
          <a:noFill/>
          <a:ln/>
        </p:spPr>
        <p:txBody>
          <a:bodyPr wrap="none" lIns="0" tIns="0" rIns="0" bIns="0" rtlCol="0" anchor="t"/>
          <a:lstStyle/>
          <a:p>
            <a:pPr algn="l" indent="0" marL="0">
              <a:lnSpc>
                <a:spcPct val="104000"/>
              </a:lnSpc>
              <a:buNone/>
            </a:pPr>
            <a:r>
              <a:rPr lang="en-US" sz="1200" dirty="0">
                <a:solidFill>
                  <a:srgbClr val="1F1E1E"/>
                </a:solidFill>
                <a:latin typeface="Roboto Mono Medium" pitchFamily="34" charset="0"/>
                <a:ea typeface="Roboto Mono Medium" pitchFamily="34" charset="-122"/>
                <a:cs typeface="Roboto Mono Medium" pitchFamily="34" charset="-120"/>
              </a:rPr>
              <a:t>Intuición geométrica</a:t>
            </a:r>
            <a:endParaRPr lang="en-US" sz="1200" dirty="0"/>
          </a:p>
        </p:txBody>
      </p:sp>
      <p:pic>
        <p:nvPicPr>
          <p:cNvPr id="3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34760" y="2291606"/>
            <a:ext cx="186031" cy="186035"/>
          </a:xfrm>
          <a:prstGeom prst="rect">
            <a:avLst/>
          </a:prstGeom>
        </p:spPr>
      </p:pic>
      <p:sp>
        <p:nvSpPr>
          <p:cNvPr id="37" name="Text 34"/>
          <p:cNvSpPr/>
          <p:nvPr/>
        </p:nvSpPr>
        <p:spPr>
          <a:xfrm>
            <a:off x="6691344" y="2287885"/>
            <a:ext cx="4810501"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Ángulo, no distancia</a:t>
            </a:r>
            <a:endParaRPr lang="en-US" sz="1200" dirty="0"/>
          </a:p>
        </p:txBody>
      </p:sp>
      <p:sp>
        <p:nvSpPr>
          <p:cNvPr id="38" name="Text 35"/>
          <p:cNvSpPr/>
          <p:nvPr/>
        </p:nvSpPr>
        <p:spPr>
          <a:xfrm>
            <a:off x="6691344" y="2574627"/>
            <a:ext cx="4810501"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cos(0°) = 1 → idénticos. cos(90°) = 0 → sin relación. cos(180°) = -1 → opuestos. Usamos el ángulo entre vectores, no su distancia absoluta.</a:t>
            </a:r>
            <a:endParaRPr lang="en-US" sz="950" dirty="0"/>
          </a:p>
        </p:txBody>
      </p:sp>
      <p:pic>
        <p:nvPicPr>
          <p:cNvPr id="3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4760" y="3111649"/>
            <a:ext cx="186031" cy="186035"/>
          </a:xfrm>
          <a:prstGeom prst="rect">
            <a:avLst/>
          </a:prstGeom>
        </p:spPr>
      </p:pic>
      <p:sp>
        <p:nvSpPr>
          <p:cNvPr id="40" name="Text 36"/>
          <p:cNvSpPr/>
          <p:nvPr/>
        </p:nvSpPr>
        <p:spPr>
          <a:xfrm>
            <a:off x="6691344" y="3107928"/>
            <a:ext cx="4810501"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Invariante a la longitud</a:t>
            </a:r>
            <a:endParaRPr lang="en-US" sz="1200" dirty="0"/>
          </a:p>
        </p:txBody>
      </p:sp>
      <p:sp>
        <p:nvSpPr>
          <p:cNvPr id="41" name="Text 37"/>
          <p:cNvSpPr/>
          <p:nvPr/>
        </p:nvSpPr>
        <p:spPr>
          <a:xfrm>
            <a:off x="6691344" y="3394670"/>
            <a:ext cx="4810501"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"gato" y "El gato doméstico es un felino" producen vectores de distinto tamaño pero dirección similar → similitud alta. Esto es clave para comparar chunks de distinto largo.</a:t>
            </a:r>
            <a:endParaRPr lang="en-US" sz="950" dirty="0"/>
          </a:p>
        </p:txBody>
      </p:sp>
      <p:pic>
        <p:nvPicPr>
          <p:cNvPr id="4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34760" y="3931692"/>
            <a:ext cx="186031" cy="186035"/>
          </a:xfrm>
          <a:prstGeom prst="rect">
            <a:avLst/>
          </a:prstGeom>
        </p:spPr>
      </p:pic>
      <p:sp>
        <p:nvSpPr>
          <p:cNvPr id="43" name="Text 38"/>
          <p:cNvSpPr/>
          <p:nvPr/>
        </p:nvSpPr>
        <p:spPr>
          <a:xfrm>
            <a:off x="6691344" y="3927971"/>
            <a:ext cx="4810501"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Alternativas: distancia euclidiana y producto punto</a:t>
            </a:r>
            <a:endParaRPr lang="en-US" sz="1200" dirty="0"/>
          </a:p>
        </p:txBody>
      </p:sp>
      <p:sp>
        <p:nvSpPr>
          <p:cNvPr id="44" name="Text 39"/>
          <p:cNvSpPr/>
          <p:nvPr/>
        </p:nvSpPr>
        <p:spPr>
          <a:xfrm>
            <a:off x="6691344" y="4214713"/>
            <a:ext cx="4810501"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Distancia euclidiana: más intuitiva pero sensible a la magnitud. Producto punto: más rápido, usado en ANN (Approximate Nearest Neighbors) para escala.</a:t>
            </a:r>
            <a:endParaRPr lang="en-US" sz="950" dirty="0"/>
          </a:p>
        </p:txBody>
      </p:sp>
      <p:sp>
        <p:nvSpPr>
          <p:cNvPr id="45" name="Shape 40"/>
          <p:cNvSpPr/>
          <p:nvPr/>
        </p:nvSpPr>
        <p:spPr>
          <a:xfrm>
            <a:off x="661475" y="5615781"/>
            <a:ext cx="10868745" cy="585787"/>
          </a:xfrm>
          <a:prstGeom prst="roundRect">
            <a:avLst>
              <a:gd name="adj" fmla="val 1301"/>
            </a:avLst>
          </a:prstGeom>
          <a:solidFill>
            <a:srgbClr val="F9D2D6"/>
          </a:solidFill>
          <a:ln/>
        </p:spPr>
      </p:sp>
      <p:pic>
        <p:nvPicPr>
          <p:cNvPr id="46" name="Image 3" descr="preencoded.png">    </p:cNvPr>
          <p:cNvPicPr>
            <a:picLocks noChangeAspect="1"/>
          </p:cNvPicPr>
          <p:nvPr/>
        </p:nvPicPr>
        <p:blipFill>
          <a:blip r:embed="rId7"/>
          <a:stretch>
            <a:fillRect/>
          </a:stretch>
        </p:blipFill>
        <p:spPr>
          <a:xfrm>
            <a:off x="785495" y="5751810"/>
            <a:ext cx="154976" cy="124023"/>
          </a:xfrm>
          <a:prstGeom prst="rect">
            <a:avLst/>
          </a:prstGeom>
        </p:spPr>
      </p:pic>
      <p:sp>
        <p:nvSpPr>
          <p:cNvPr id="47" name="Text 41"/>
          <p:cNvSpPr/>
          <p:nvPr/>
        </p:nvSpPr>
        <p:spPr>
          <a:xfrm>
            <a:off x="1064491" y="5739705"/>
            <a:ext cx="10341708"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Roboto" pitchFamily="34" charset="0"/>
                <a:ea typeface="Roboto" pitchFamily="34" charset="-122"/>
                <a:cs typeface="Roboto" pitchFamily="34" charset="-120"/>
              </a:rPr>
              <a:t>💡</a:t>
            </a:r>
            <a:pPr algn="l" indent="0" marL="0">
              <a:lnSpc>
                <a:spcPct val="117000"/>
              </a:lnSpc>
              <a:buNone/>
            </a:pPr>
            <a:r>
              <a:rPr lang="en-US" sz="950" dirty="0">
                <a:solidFill>
                  <a:srgbClr val="000000"/>
                </a:solidFill>
                <a:latin typeface="Roboto" pitchFamily="34" charset="0"/>
                <a:ea typeface="Roboto" pitchFamily="34" charset="-122"/>
                <a:cs typeface="Roboto" pitchFamily="34" charset="-120"/>
              </a:rPr>
              <a:t> En producción, la búsqueda exacta de vecinos más cercanos es O(n) — demasiado lenta para millones de vectores. Se usan índices ANN (HNSW, IVF) que sacrifican un poco de precisión por velocidad sub-lineal.</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661475" y="610195"/>
            <a:ext cx="1607998" cy="176014"/>
          </a:xfrm>
          <a:prstGeom prst="roundRect">
            <a:avLst>
              <a:gd name="adj" fmla="val 4329"/>
            </a:avLst>
          </a:prstGeom>
          <a:solidFill>
            <a:srgbClr val="F9D2D6"/>
          </a:solidFill>
          <a:ln/>
        </p:spPr>
      </p:sp>
      <p:sp>
        <p:nvSpPr>
          <p:cNvPr id="3" name="Text 1"/>
          <p:cNvSpPr/>
          <p:nvPr/>
        </p:nvSpPr>
        <p:spPr>
          <a:xfrm>
            <a:off x="730926" y="644922"/>
            <a:ext cx="2078680" cy="106561"/>
          </a:xfrm>
          <a:prstGeom prst="rect">
            <a:avLst/>
          </a:prstGeom>
          <a:noFill/>
          <a:ln/>
        </p:spPr>
        <p:txBody>
          <a:bodyPr wrap="none" lIns="0" tIns="0" rIns="0" bIns="0" rtlCol="0" anchor="t"/>
          <a:lstStyle/>
          <a:p>
            <a:pPr algn="l" indent="0" marL="0">
              <a:lnSpc>
                <a:spcPct val="96000"/>
              </a:lnSpc>
              <a:buNone/>
            </a:pPr>
            <a:r>
              <a:rPr lang="en-US" sz="700" dirty="0">
                <a:solidFill>
                  <a:srgbClr val="3B3535"/>
                </a:solidFill>
                <a:latin typeface="Roboto" pitchFamily="34" charset="0"/>
                <a:ea typeface="Roboto" pitchFamily="34" charset="-122"/>
                <a:cs typeface="Roboto" pitchFamily="34" charset="-120"/>
              </a:rPr>
              <a:t>RAG: BÚSQUEDA Y RECUPERACIÓN</a:t>
            </a:r>
            <a:endParaRPr lang="en-US" sz="700" dirty="0"/>
          </a:p>
        </p:txBody>
      </p:sp>
      <p:sp>
        <p:nvSpPr>
          <p:cNvPr id="4" name="Text 2"/>
          <p:cNvSpPr/>
          <p:nvPr/>
        </p:nvSpPr>
        <p:spPr>
          <a:xfrm>
            <a:off x="661475" y="818555"/>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1F1E1E"/>
                </a:solidFill>
                <a:latin typeface="Roboto Mono Medium" pitchFamily="34" charset="0"/>
                <a:ea typeface="Roboto Mono Medium" pitchFamily="34" charset="-122"/>
                <a:cs typeface="Roboto Mono Medium" pitchFamily="34" charset="-120"/>
              </a:rPr>
              <a:t>Búsqueda Vectorial: De la query al ranking de documentos</a:t>
            </a:r>
            <a:endParaRPr lang="en-US" sz="2250" dirty="0"/>
          </a:p>
        </p:txBody>
      </p:sp>
      <p:pic>
        <p:nvPicPr>
          <p:cNvPr id="5" name="Image 0" descr="preencoded.png">    </p:cNvPr>
          <p:cNvPicPr>
            <a:picLocks noChangeAspect="1"/>
          </p:cNvPicPr>
          <p:nvPr/>
        </p:nvPicPr>
        <p:blipFill>
          <a:blip r:embed="rId1"/>
          <a:stretch>
            <a:fillRect/>
          </a:stretch>
        </p:blipFill>
        <p:spPr>
          <a:xfrm>
            <a:off x="661475" y="1475482"/>
            <a:ext cx="5393892" cy="952500"/>
          </a:xfrm>
          <a:prstGeom prst="rect">
            <a:avLst/>
          </a:prstGeom>
        </p:spPr>
      </p:pic>
      <p:sp>
        <p:nvSpPr>
          <p:cNvPr id="6" name="Text 3"/>
          <p:cNvSpPr/>
          <p:nvPr/>
        </p:nvSpPr>
        <p:spPr>
          <a:xfrm>
            <a:off x="777161" y="1903710"/>
            <a:ext cx="5162520" cy="180876"/>
          </a:xfrm>
          <a:prstGeom prst="rect">
            <a:avLst/>
          </a:prstGeom>
          <a:noFill/>
          <a:ln/>
        </p:spPr>
        <p:txBody>
          <a:bodyPr wrap="none" lIns="0" tIns="0" rIns="0" bIns="0" rtlCol="0" anchor="t"/>
          <a:lstStyle/>
          <a:p>
            <a:pPr algn="l" indent="0" marL="0">
              <a:lnSpc>
                <a:spcPct val="104000"/>
              </a:lnSpc>
              <a:buNone/>
            </a:pPr>
            <a:r>
              <a:rPr lang="en-US" sz="1100" dirty="0">
                <a:solidFill>
                  <a:srgbClr val="3B3535"/>
                </a:solidFill>
                <a:latin typeface="Roboto Mono Medium" pitchFamily="34" charset="0"/>
                <a:ea typeface="Roboto Mono Medium" pitchFamily="34" charset="-122"/>
                <a:cs typeface="Roboto Mono Medium" pitchFamily="34" charset="-120"/>
              </a:rPr>
              <a:t>Query del usuario</a:t>
            </a:r>
            <a:endParaRPr lang="en-US" sz="1100" dirty="0"/>
          </a:p>
        </p:txBody>
      </p:sp>
      <p:sp>
        <p:nvSpPr>
          <p:cNvPr id="7" name="Text 4"/>
          <p:cNvSpPr/>
          <p:nvPr/>
        </p:nvSpPr>
        <p:spPr>
          <a:xfrm>
            <a:off x="777161" y="2133203"/>
            <a:ext cx="5162520"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"¿Qué animales comen pescado?" → se convierte en embedding: [0.81, -0.29, 0.52, ...]</a:t>
            </a:r>
            <a:endParaRPr lang="en-US" sz="900" dirty="0"/>
          </a:p>
        </p:txBody>
      </p:sp>
      <p:pic>
        <p:nvPicPr>
          <p:cNvPr id="8" name="Image 1" descr="preencoded.png">    </p:cNvPr>
          <p:cNvPicPr>
            <a:picLocks noChangeAspect="1"/>
          </p:cNvPicPr>
          <p:nvPr/>
        </p:nvPicPr>
        <p:blipFill>
          <a:blip r:embed="rId2"/>
          <a:stretch>
            <a:fillRect/>
          </a:stretch>
        </p:blipFill>
        <p:spPr>
          <a:xfrm>
            <a:off x="6136328" y="1301849"/>
            <a:ext cx="5393892" cy="952500"/>
          </a:xfrm>
          <a:prstGeom prst="rect">
            <a:avLst/>
          </a:prstGeom>
        </p:spPr>
      </p:pic>
      <p:sp>
        <p:nvSpPr>
          <p:cNvPr id="9" name="Text 5"/>
          <p:cNvSpPr/>
          <p:nvPr/>
        </p:nvSpPr>
        <p:spPr>
          <a:xfrm>
            <a:off x="6252014" y="1730077"/>
            <a:ext cx="5162520" cy="180876"/>
          </a:xfrm>
          <a:prstGeom prst="rect">
            <a:avLst/>
          </a:prstGeom>
          <a:noFill/>
          <a:ln/>
        </p:spPr>
        <p:txBody>
          <a:bodyPr wrap="none" lIns="0" tIns="0" rIns="0" bIns="0" rtlCol="0" anchor="t"/>
          <a:lstStyle/>
          <a:p>
            <a:pPr algn="l" indent="0" marL="0">
              <a:lnSpc>
                <a:spcPct val="104000"/>
              </a:lnSpc>
              <a:buNone/>
            </a:pPr>
            <a:r>
              <a:rPr lang="en-US" sz="1100" dirty="0">
                <a:solidFill>
                  <a:srgbClr val="3B3535"/>
                </a:solidFill>
                <a:latin typeface="Roboto Mono Medium" pitchFamily="34" charset="0"/>
                <a:ea typeface="Roboto Mono Medium" pitchFamily="34" charset="-122"/>
                <a:cs typeface="Roboto Mono Medium" pitchFamily="34" charset="-120"/>
              </a:rPr>
              <a:t>Búsqueda ANN</a:t>
            </a:r>
            <a:endParaRPr lang="en-US" sz="1100" dirty="0"/>
          </a:p>
        </p:txBody>
      </p:sp>
      <p:sp>
        <p:nvSpPr>
          <p:cNvPr id="10" name="Text 6"/>
          <p:cNvSpPr/>
          <p:nvPr/>
        </p:nvSpPr>
        <p:spPr>
          <a:xfrm>
            <a:off x="6252014" y="1959570"/>
            <a:ext cx="5162520"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Se buscan los K vectores más cercanos en la base de datos vectorial usando índice HNSW o IVF. Sub-lineal en tiempo.</a:t>
            </a:r>
            <a:endParaRPr lang="en-US" sz="900" dirty="0"/>
          </a:p>
        </p:txBody>
      </p:sp>
      <p:pic>
        <p:nvPicPr>
          <p:cNvPr id="11" name="Image 2" descr="preencoded.png">    </p:cNvPr>
          <p:cNvPicPr>
            <a:picLocks noChangeAspect="1"/>
          </p:cNvPicPr>
          <p:nvPr/>
        </p:nvPicPr>
        <p:blipFill>
          <a:blip r:embed="rId3"/>
          <a:stretch>
            <a:fillRect/>
          </a:stretch>
        </p:blipFill>
        <p:spPr>
          <a:xfrm>
            <a:off x="661475" y="2660948"/>
            <a:ext cx="5393892" cy="952500"/>
          </a:xfrm>
          <a:prstGeom prst="rect">
            <a:avLst/>
          </a:prstGeom>
        </p:spPr>
      </p:pic>
      <p:sp>
        <p:nvSpPr>
          <p:cNvPr id="12" name="Text 7"/>
          <p:cNvSpPr/>
          <p:nvPr/>
        </p:nvSpPr>
        <p:spPr>
          <a:xfrm>
            <a:off x="777161" y="3089176"/>
            <a:ext cx="5162520" cy="180876"/>
          </a:xfrm>
          <a:prstGeom prst="rect">
            <a:avLst/>
          </a:prstGeom>
          <a:noFill/>
          <a:ln/>
        </p:spPr>
        <p:txBody>
          <a:bodyPr wrap="none" lIns="0" tIns="0" rIns="0" bIns="0" rtlCol="0" anchor="t"/>
          <a:lstStyle/>
          <a:p>
            <a:pPr algn="l" indent="0" marL="0">
              <a:lnSpc>
                <a:spcPct val="104000"/>
              </a:lnSpc>
              <a:buNone/>
            </a:pPr>
            <a:r>
              <a:rPr lang="en-US" sz="1100" dirty="0">
                <a:solidFill>
                  <a:srgbClr val="3B3535"/>
                </a:solidFill>
                <a:latin typeface="Roboto Mono Medium" pitchFamily="34" charset="0"/>
                <a:ea typeface="Roboto Mono Medium" pitchFamily="34" charset="-122"/>
                <a:cs typeface="Roboto Mono Medium" pitchFamily="34" charset="-120"/>
              </a:rPr>
              <a:t>Score de similitud coseno</a:t>
            </a:r>
            <a:endParaRPr lang="en-US" sz="1100" dirty="0"/>
          </a:p>
        </p:txBody>
      </p:sp>
      <p:sp>
        <p:nvSpPr>
          <p:cNvPr id="13" name="Text 8"/>
          <p:cNvSpPr/>
          <p:nvPr/>
        </p:nvSpPr>
        <p:spPr>
          <a:xfrm>
            <a:off x="777161" y="3318669"/>
            <a:ext cx="5162520"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Se calcula cos(θ) entre el vector de la query y cada candidato recuperado.</a:t>
            </a:r>
            <a:endParaRPr lang="en-US" sz="900" dirty="0"/>
          </a:p>
        </p:txBody>
      </p:sp>
      <p:pic>
        <p:nvPicPr>
          <p:cNvPr id="14" name="Image 3" descr="preencoded.png">    </p:cNvPr>
          <p:cNvPicPr>
            <a:picLocks noChangeAspect="1"/>
          </p:cNvPicPr>
          <p:nvPr/>
        </p:nvPicPr>
        <p:blipFill>
          <a:blip r:embed="rId4"/>
          <a:stretch>
            <a:fillRect/>
          </a:stretch>
        </p:blipFill>
        <p:spPr>
          <a:xfrm>
            <a:off x="6136328" y="2487315"/>
            <a:ext cx="5393892" cy="952500"/>
          </a:xfrm>
          <a:prstGeom prst="rect">
            <a:avLst/>
          </a:prstGeom>
        </p:spPr>
      </p:pic>
      <p:sp>
        <p:nvSpPr>
          <p:cNvPr id="15" name="Text 9"/>
          <p:cNvSpPr/>
          <p:nvPr/>
        </p:nvSpPr>
        <p:spPr>
          <a:xfrm>
            <a:off x="6252014" y="2915543"/>
            <a:ext cx="5162520" cy="180876"/>
          </a:xfrm>
          <a:prstGeom prst="rect">
            <a:avLst/>
          </a:prstGeom>
          <a:noFill/>
          <a:ln/>
        </p:spPr>
        <p:txBody>
          <a:bodyPr wrap="none" lIns="0" tIns="0" rIns="0" bIns="0" rtlCol="0" anchor="t"/>
          <a:lstStyle/>
          <a:p>
            <a:pPr algn="l" indent="0" marL="0">
              <a:lnSpc>
                <a:spcPct val="104000"/>
              </a:lnSpc>
              <a:buNone/>
            </a:pPr>
            <a:r>
              <a:rPr lang="en-US" sz="1100" dirty="0">
                <a:solidFill>
                  <a:srgbClr val="3B3535"/>
                </a:solidFill>
                <a:latin typeface="Roboto Mono Medium" pitchFamily="34" charset="0"/>
                <a:ea typeface="Roboto Mono Medium" pitchFamily="34" charset="-122"/>
                <a:cs typeface="Roboto Mono Medium" pitchFamily="34" charset="-120"/>
              </a:rPr>
              <a:t>Ranking y entrega al LLM</a:t>
            </a:r>
            <a:endParaRPr lang="en-US" sz="1100" dirty="0"/>
          </a:p>
        </p:txBody>
      </p:sp>
      <p:sp>
        <p:nvSpPr>
          <p:cNvPr id="16" name="Text 10"/>
          <p:cNvSpPr/>
          <p:nvPr/>
        </p:nvSpPr>
        <p:spPr>
          <a:xfrm>
            <a:off x="6252014" y="3145036"/>
            <a:ext cx="5162520"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Los documentos se ordenan por similitud descendente. Los top-K se inyectan como contexto en el prompt RAG.</a:t>
            </a:r>
            <a:endParaRPr lang="en-US" sz="900" dirty="0"/>
          </a:p>
        </p:txBody>
      </p:sp>
      <p:sp>
        <p:nvSpPr>
          <p:cNvPr id="17" name="Text 11"/>
          <p:cNvSpPr/>
          <p:nvPr/>
        </p:nvSpPr>
        <p:spPr>
          <a:xfrm>
            <a:off x="661475" y="3713361"/>
            <a:ext cx="10868745" cy="180876"/>
          </a:xfrm>
          <a:prstGeom prst="rect">
            <a:avLst/>
          </a:prstGeom>
          <a:noFill/>
          <a:ln/>
        </p:spPr>
        <p:txBody>
          <a:bodyPr wrap="none" lIns="0" tIns="0" rIns="0" bIns="0" rtlCol="0" anchor="t"/>
          <a:lstStyle/>
          <a:p>
            <a:pPr algn="l" indent="0" marL="0">
              <a:lnSpc>
                <a:spcPct val="104000"/>
              </a:lnSpc>
              <a:buNone/>
            </a:pPr>
            <a:r>
              <a:rPr lang="en-US" sz="1100" dirty="0">
                <a:solidFill>
                  <a:srgbClr val="1F1E1E"/>
                </a:solidFill>
                <a:latin typeface="Roboto Mono Medium" pitchFamily="34" charset="0"/>
                <a:ea typeface="Roboto Mono Medium" pitchFamily="34" charset="-122"/>
                <a:cs typeface="Roboto Mono Medium" pitchFamily="34" charset="-120"/>
              </a:rPr>
              <a:t>Query: '¿Qué animales comen pescado?' → Ranking vectorial</a:t>
            </a:r>
            <a:endParaRPr lang="en-US" sz="1100" dirty="0"/>
          </a:p>
        </p:txBody>
      </p:sp>
      <p:sp>
        <p:nvSpPr>
          <p:cNvPr id="18" name="Shape 12"/>
          <p:cNvSpPr/>
          <p:nvPr/>
        </p:nvSpPr>
        <p:spPr>
          <a:xfrm>
            <a:off x="661475" y="4015780"/>
            <a:ext cx="10868745" cy="1397198"/>
          </a:xfrm>
          <a:prstGeom prst="roundRect">
            <a:avLst>
              <a:gd name="adj" fmla="val 545"/>
            </a:avLst>
          </a:prstGeom>
          <a:noFill/>
          <a:ln w="6350">
            <a:solidFill>
              <a:srgbClr val="000000">
                <a:alpha val="8000"/>
              </a:srgbClr>
            </a:solidFill>
            <a:prstDash val="solid"/>
          </a:ln>
        </p:spPr>
      </p:sp>
      <p:sp>
        <p:nvSpPr>
          <p:cNvPr id="19" name="Shape 13"/>
          <p:cNvSpPr/>
          <p:nvPr/>
        </p:nvSpPr>
        <p:spPr>
          <a:xfrm>
            <a:off x="667825" y="4022130"/>
            <a:ext cx="10856046" cy="267395"/>
          </a:xfrm>
          <a:prstGeom prst="rect">
            <a:avLst/>
          </a:prstGeom>
          <a:solidFill>
            <a:srgbClr val="FFFFFF">
              <a:alpha val="4000"/>
            </a:srgbClr>
          </a:solidFill>
          <a:ln/>
        </p:spPr>
      </p:sp>
      <p:sp>
        <p:nvSpPr>
          <p:cNvPr id="20" name="Text 14"/>
          <p:cNvSpPr/>
          <p:nvPr/>
        </p:nvSpPr>
        <p:spPr>
          <a:xfrm>
            <a:off x="783709" y="4077097"/>
            <a:ext cx="2546187" cy="157460"/>
          </a:xfrm>
          <a:prstGeom prst="rect">
            <a:avLst/>
          </a:prstGeom>
          <a:noFill/>
          <a:ln/>
        </p:spPr>
        <p:txBody>
          <a:bodyPr wrap="none" lIns="0" tIns="0" rIns="0" bIns="0" rtlCol="0" anchor="t"/>
          <a:lstStyle/>
          <a:p>
            <a:pPr algn="l" indent="0" marL="0">
              <a:lnSpc>
                <a:spcPct val="113000"/>
              </a:lnSpc>
              <a:buNone/>
            </a:pPr>
            <a:r>
              <a:rPr lang="en-US" sz="900" b="1" dirty="0">
                <a:solidFill>
                  <a:srgbClr val="3B3535"/>
                </a:solidFill>
                <a:latin typeface="Roboto Bold" pitchFamily="34" charset="0"/>
                <a:ea typeface="Roboto Bold" pitchFamily="34" charset="-122"/>
                <a:cs typeface="Roboto Bold" pitchFamily="34" charset="-120"/>
              </a:rPr>
              <a:t>Score coseno</a:t>
            </a:r>
            <a:endParaRPr lang="en-US" sz="900" dirty="0"/>
          </a:p>
        </p:txBody>
      </p:sp>
      <p:sp>
        <p:nvSpPr>
          <p:cNvPr id="21" name="Text 15"/>
          <p:cNvSpPr/>
          <p:nvPr/>
        </p:nvSpPr>
        <p:spPr>
          <a:xfrm>
            <a:off x="2958034" y="4077097"/>
            <a:ext cx="4714261" cy="157460"/>
          </a:xfrm>
          <a:prstGeom prst="rect">
            <a:avLst/>
          </a:prstGeom>
          <a:noFill/>
          <a:ln/>
        </p:spPr>
        <p:txBody>
          <a:bodyPr wrap="none" lIns="0" tIns="0" rIns="0" bIns="0" rtlCol="0" anchor="t"/>
          <a:lstStyle/>
          <a:p>
            <a:pPr algn="l" indent="0" marL="0">
              <a:lnSpc>
                <a:spcPct val="113000"/>
              </a:lnSpc>
              <a:buNone/>
            </a:pPr>
            <a:r>
              <a:rPr lang="en-US" sz="900" b="1" dirty="0">
                <a:solidFill>
                  <a:srgbClr val="3B3535"/>
                </a:solidFill>
                <a:latin typeface="Roboto Bold" pitchFamily="34" charset="0"/>
                <a:ea typeface="Roboto Bold" pitchFamily="34" charset="-122"/>
                <a:cs typeface="Roboto Bold" pitchFamily="34" charset="-120"/>
              </a:rPr>
              <a:t>Contenido</a:t>
            </a:r>
            <a:endParaRPr lang="en-US" sz="900" dirty="0"/>
          </a:p>
        </p:txBody>
      </p:sp>
      <p:sp>
        <p:nvSpPr>
          <p:cNvPr id="22" name="Text 16"/>
          <p:cNvSpPr/>
          <p:nvPr/>
        </p:nvSpPr>
        <p:spPr>
          <a:xfrm>
            <a:off x="7300432" y="4077097"/>
            <a:ext cx="2543012" cy="157460"/>
          </a:xfrm>
          <a:prstGeom prst="rect">
            <a:avLst/>
          </a:prstGeom>
          <a:noFill/>
          <a:ln/>
        </p:spPr>
        <p:txBody>
          <a:bodyPr wrap="none" lIns="0" tIns="0" rIns="0" bIns="0" rtlCol="0" anchor="t"/>
          <a:lstStyle/>
          <a:p>
            <a:pPr algn="l" indent="0" marL="0">
              <a:lnSpc>
                <a:spcPct val="113000"/>
              </a:lnSpc>
              <a:buNone/>
            </a:pPr>
            <a:r>
              <a:rPr lang="en-US" sz="900" b="1" dirty="0">
                <a:solidFill>
                  <a:srgbClr val="3B3535"/>
                </a:solidFill>
                <a:latin typeface="Roboto Bold" pitchFamily="34" charset="0"/>
                <a:ea typeface="Roboto Bold" pitchFamily="34" charset="-122"/>
                <a:cs typeface="Roboto Bold" pitchFamily="34" charset="-120"/>
              </a:rPr>
              <a:t>Documento</a:t>
            </a:r>
            <a:endParaRPr lang="en-US" sz="900" dirty="0"/>
          </a:p>
        </p:txBody>
      </p:sp>
      <p:sp>
        <p:nvSpPr>
          <p:cNvPr id="23" name="Text 17"/>
          <p:cNvSpPr/>
          <p:nvPr/>
        </p:nvSpPr>
        <p:spPr>
          <a:xfrm>
            <a:off x="9471582" y="4077097"/>
            <a:ext cx="2546187" cy="157460"/>
          </a:xfrm>
          <a:prstGeom prst="rect">
            <a:avLst/>
          </a:prstGeom>
          <a:noFill/>
          <a:ln/>
        </p:spPr>
        <p:txBody>
          <a:bodyPr wrap="none" lIns="0" tIns="0" rIns="0" bIns="0" rtlCol="0" anchor="t"/>
          <a:lstStyle/>
          <a:p>
            <a:pPr algn="l" indent="0" marL="0">
              <a:lnSpc>
                <a:spcPct val="113000"/>
              </a:lnSpc>
              <a:buNone/>
            </a:pPr>
            <a:r>
              <a:rPr lang="en-US" sz="900" b="1" dirty="0">
                <a:solidFill>
                  <a:srgbClr val="3B3535"/>
                </a:solidFill>
                <a:latin typeface="Roboto Bold" pitchFamily="34" charset="0"/>
                <a:ea typeface="Roboto Bold" pitchFamily="34" charset="-122"/>
                <a:cs typeface="Roboto Bold" pitchFamily="34" charset="-120"/>
              </a:rPr>
              <a:t>Entregado al LLM</a:t>
            </a:r>
            <a:endParaRPr lang="en-US" sz="900" dirty="0"/>
          </a:p>
        </p:txBody>
      </p:sp>
      <p:sp>
        <p:nvSpPr>
          <p:cNvPr id="24" name="Shape 18"/>
          <p:cNvSpPr/>
          <p:nvPr/>
        </p:nvSpPr>
        <p:spPr>
          <a:xfrm>
            <a:off x="667825" y="4289524"/>
            <a:ext cx="10856046" cy="267395"/>
          </a:xfrm>
          <a:prstGeom prst="rect">
            <a:avLst/>
          </a:prstGeom>
          <a:solidFill>
            <a:srgbClr val="000000">
              <a:alpha val="4000"/>
            </a:srgbClr>
          </a:solidFill>
          <a:ln/>
        </p:spPr>
      </p:sp>
      <p:sp>
        <p:nvSpPr>
          <p:cNvPr id="25" name="Text 19"/>
          <p:cNvSpPr/>
          <p:nvPr/>
        </p:nvSpPr>
        <p:spPr>
          <a:xfrm>
            <a:off x="783709" y="4344491"/>
            <a:ext cx="254618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0.91</a:t>
            </a:r>
            <a:endParaRPr lang="en-US" sz="900" dirty="0"/>
          </a:p>
        </p:txBody>
      </p:sp>
      <p:sp>
        <p:nvSpPr>
          <p:cNvPr id="26" name="Text 20"/>
          <p:cNvSpPr/>
          <p:nvPr/>
        </p:nvSpPr>
        <p:spPr>
          <a:xfrm>
            <a:off x="2958034" y="4344491"/>
            <a:ext cx="4714261"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"el gato come pescado fresco"</a:t>
            </a:r>
            <a:endParaRPr lang="en-US" sz="900" dirty="0"/>
          </a:p>
        </p:txBody>
      </p:sp>
      <p:sp>
        <p:nvSpPr>
          <p:cNvPr id="27" name="Text 21"/>
          <p:cNvSpPr/>
          <p:nvPr/>
        </p:nvSpPr>
        <p:spPr>
          <a:xfrm>
            <a:off x="7300432" y="4344491"/>
            <a:ext cx="2543012"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Doc 1</a:t>
            </a:r>
            <a:endParaRPr lang="en-US" sz="900" dirty="0"/>
          </a:p>
        </p:txBody>
      </p:sp>
      <p:sp>
        <p:nvSpPr>
          <p:cNvPr id="28" name="Text 22"/>
          <p:cNvSpPr/>
          <p:nvPr/>
        </p:nvSpPr>
        <p:spPr>
          <a:xfrm>
            <a:off x="9471582" y="4344491"/>
            <a:ext cx="2546187"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 Sí — alta similitud semántica</a:t>
            </a:r>
            <a:endParaRPr lang="en-US" sz="900" dirty="0"/>
          </a:p>
        </p:txBody>
      </p:sp>
      <p:sp>
        <p:nvSpPr>
          <p:cNvPr id="29" name="Shape 23"/>
          <p:cNvSpPr/>
          <p:nvPr/>
        </p:nvSpPr>
        <p:spPr>
          <a:xfrm>
            <a:off x="667825" y="4556919"/>
            <a:ext cx="10856046" cy="424855"/>
          </a:xfrm>
          <a:prstGeom prst="rect">
            <a:avLst/>
          </a:prstGeom>
          <a:solidFill>
            <a:srgbClr val="FFFFFF">
              <a:alpha val="4000"/>
            </a:srgbClr>
          </a:solidFill>
          <a:ln/>
        </p:spPr>
      </p:sp>
      <p:sp>
        <p:nvSpPr>
          <p:cNvPr id="30" name="Text 24"/>
          <p:cNvSpPr/>
          <p:nvPr/>
        </p:nvSpPr>
        <p:spPr>
          <a:xfrm>
            <a:off x="783709" y="4611886"/>
            <a:ext cx="254618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0.43</a:t>
            </a:r>
            <a:endParaRPr lang="en-US" sz="900" dirty="0"/>
          </a:p>
        </p:txBody>
      </p:sp>
      <p:sp>
        <p:nvSpPr>
          <p:cNvPr id="31" name="Text 25"/>
          <p:cNvSpPr/>
          <p:nvPr/>
        </p:nvSpPr>
        <p:spPr>
          <a:xfrm>
            <a:off x="2958034" y="4611886"/>
            <a:ext cx="4714261"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"el gato y el perro son amigos"</a:t>
            </a:r>
            <a:endParaRPr lang="en-US" sz="900" dirty="0"/>
          </a:p>
        </p:txBody>
      </p:sp>
      <p:sp>
        <p:nvSpPr>
          <p:cNvPr id="32" name="Text 26"/>
          <p:cNvSpPr/>
          <p:nvPr/>
        </p:nvSpPr>
        <p:spPr>
          <a:xfrm>
            <a:off x="7300432" y="4611886"/>
            <a:ext cx="2543012"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Doc 3</a:t>
            </a:r>
            <a:endParaRPr lang="en-US" sz="900" dirty="0"/>
          </a:p>
        </p:txBody>
      </p:sp>
      <p:sp>
        <p:nvSpPr>
          <p:cNvPr id="33" name="Text 27"/>
          <p:cNvSpPr/>
          <p:nvPr/>
        </p:nvSpPr>
        <p:spPr>
          <a:xfrm>
            <a:off x="9471582" y="4611886"/>
            <a:ext cx="1936602"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 No — menciona animales pero no alimentación</a:t>
            </a:r>
            <a:endParaRPr lang="en-US" sz="900" dirty="0"/>
          </a:p>
        </p:txBody>
      </p:sp>
      <p:sp>
        <p:nvSpPr>
          <p:cNvPr id="34" name="Shape 28"/>
          <p:cNvSpPr/>
          <p:nvPr/>
        </p:nvSpPr>
        <p:spPr>
          <a:xfrm>
            <a:off x="667825" y="4981773"/>
            <a:ext cx="10856046" cy="424855"/>
          </a:xfrm>
          <a:prstGeom prst="rect">
            <a:avLst/>
          </a:prstGeom>
          <a:solidFill>
            <a:srgbClr val="000000">
              <a:alpha val="4000"/>
            </a:srgbClr>
          </a:solidFill>
          <a:ln/>
        </p:spPr>
      </p:sp>
      <p:sp>
        <p:nvSpPr>
          <p:cNvPr id="35" name="Text 29"/>
          <p:cNvSpPr/>
          <p:nvPr/>
        </p:nvSpPr>
        <p:spPr>
          <a:xfrm>
            <a:off x="783709" y="5036741"/>
            <a:ext cx="254618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0.21</a:t>
            </a:r>
            <a:endParaRPr lang="en-US" sz="900" dirty="0"/>
          </a:p>
        </p:txBody>
      </p:sp>
      <p:sp>
        <p:nvSpPr>
          <p:cNvPr id="36" name="Text 30"/>
          <p:cNvSpPr/>
          <p:nvPr/>
        </p:nvSpPr>
        <p:spPr>
          <a:xfrm>
            <a:off x="2958034" y="5036741"/>
            <a:ext cx="4714261"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"el perro come carne y hueso"</a:t>
            </a:r>
            <a:endParaRPr lang="en-US" sz="900" dirty="0"/>
          </a:p>
        </p:txBody>
      </p:sp>
      <p:sp>
        <p:nvSpPr>
          <p:cNvPr id="37" name="Text 31"/>
          <p:cNvSpPr/>
          <p:nvPr/>
        </p:nvSpPr>
        <p:spPr>
          <a:xfrm>
            <a:off x="7300432" y="5036741"/>
            <a:ext cx="2543012"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Doc 2</a:t>
            </a:r>
            <a:endParaRPr lang="en-US" sz="900" dirty="0"/>
          </a:p>
        </p:txBody>
      </p:sp>
      <p:sp>
        <p:nvSpPr>
          <p:cNvPr id="38" name="Text 32"/>
          <p:cNvSpPr/>
          <p:nvPr/>
        </p:nvSpPr>
        <p:spPr>
          <a:xfrm>
            <a:off x="9471582" y="5036741"/>
            <a:ext cx="1936602"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 No — alimentación pero no pescado</a:t>
            </a:r>
            <a:endParaRPr lang="en-US" sz="900" dirty="0"/>
          </a:p>
        </p:txBody>
      </p:sp>
      <p:sp>
        <p:nvSpPr>
          <p:cNvPr id="39" name="Text 33"/>
          <p:cNvSpPr/>
          <p:nvPr/>
        </p:nvSpPr>
        <p:spPr>
          <a:xfrm>
            <a:off x="661475" y="5504061"/>
            <a:ext cx="11478330" cy="126008"/>
          </a:xfrm>
          <a:prstGeom prst="rect">
            <a:avLst/>
          </a:prstGeom>
          <a:noFill/>
          <a:ln/>
        </p:spPr>
        <p:txBody>
          <a:bodyPr wrap="none" lIns="0" tIns="0" rIns="0" bIns="0" rtlCol="0" anchor="t"/>
          <a:lstStyle/>
          <a:p>
            <a:pPr algn="l" indent="0" marL="0">
              <a:lnSpc>
                <a:spcPct val="113000"/>
              </a:lnSpc>
              <a:buNone/>
            </a:pPr>
            <a:r>
              <a:rPr lang="en-US" sz="700" dirty="0">
                <a:solidFill>
                  <a:srgbClr val="3B3535"/>
                </a:solidFill>
                <a:latin typeface="Roboto" pitchFamily="34" charset="0"/>
                <a:ea typeface="Roboto" pitchFamily="34" charset="-122"/>
                <a:cs typeface="Roboto" pitchFamily="34" charset="-120"/>
              </a:rPr>
              <a:t>A diferencia de TF-IDF, Doc1 es recuperado aunque la query no contenga exactamente 'gato' ni 'pescado' — la similitud semántica captura la intención.</a:t>
            </a:r>
            <a:endParaRPr lang="en-US" sz="700" dirty="0"/>
          </a:p>
        </p:txBody>
      </p:sp>
      <p:sp>
        <p:nvSpPr>
          <p:cNvPr id="40" name="Shape 34"/>
          <p:cNvSpPr/>
          <p:nvPr/>
        </p:nvSpPr>
        <p:spPr>
          <a:xfrm>
            <a:off x="661475" y="5721152"/>
            <a:ext cx="10868745" cy="526554"/>
          </a:xfrm>
          <a:prstGeom prst="roundRect">
            <a:avLst>
              <a:gd name="adj" fmla="val 1447"/>
            </a:avLst>
          </a:prstGeom>
          <a:solidFill>
            <a:srgbClr val="F9D2D6"/>
          </a:solidFill>
          <a:ln/>
        </p:spPr>
      </p:sp>
      <p:pic>
        <p:nvPicPr>
          <p:cNvPr id="41" name="Image 4" descr="preencoded.png">    </p:cNvPr>
          <p:cNvPicPr>
            <a:picLocks noChangeAspect="1"/>
          </p:cNvPicPr>
          <p:nvPr/>
        </p:nvPicPr>
        <p:blipFill>
          <a:blip r:embed="rId5"/>
          <a:stretch>
            <a:fillRect/>
          </a:stretch>
        </p:blipFill>
        <p:spPr>
          <a:xfrm>
            <a:off x="777161" y="5837634"/>
            <a:ext cx="144657" cy="115689"/>
          </a:xfrm>
          <a:prstGeom prst="rect">
            <a:avLst/>
          </a:prstGeom>
        </p:spPr>
      </p:pic>
      <p:sp>
        <p:nvSpPr>
          <p:cNvPr id="42" name="Text 35"/>
          <p:cNvSpPr/>
          <p:nvPr/>
        </p:nvSpPr>
        <p:spPr>
          <a:xfrm>
            <a:off x="1037505" y="5830987"/>
            <a:ext cx="1037702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 Ventaja clave sobre TF-IDF: 'infarto de miocardio' y 'ataque al corazón' tienen similitud coseno ~0.89 → el sistema vectorial los conecta. TF-IDF los trataría como documentos completamente distintos.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661475" y="2209800"/>
            <a:ext cx="2297353" cy="251420"/>
          </a:xfrm>
          <a:prstGeom prst="roundRect">
            <a:avLst>
              <a:gd name="adj" fmla="val 3031"/>
            </a:avLst>
          </a:prstGeom>
          <a:solidFill>
            <a:srgbClr val="F9D2D6"/>
          </a:solidFill>
          <a:ln/>
        </p:spPr>
      </p:sp>
      <p:sp>
        <p:nvSpPr>
          <p:cNvPr id="3" name="Text 1"/>
          <p:cNvSpPr/>
          <p:nvPr/>
        </p:nvSpPr>
        <p:spPr>
          <a:xfrm>
            <a:off x="760691" y="2259409"/>
            <a:ext cx="2708505"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BÚSQUEDA Y RECUPERACIÓN</a:t>
            </a:r>
            <a:endParaRPr lang="en-US" sz="1000" dirty="0"/>
          </a:p>
        </p:txBody>
      </p:sp>
      <p:sp>
        <p:nvSpPr>
          <p:cNvPr id="4" name="Text 2"/>
          <p:cNvSpPr/>
          <p:nvPr/>
        </p:nvSpPr>
        <p:spPr>
          <a:xfrm>
            <a:off x="661475" y="252730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Ejemplo Busqueda Semantica</a:t>
            </a:r>
            <a:endParaRPr lang="en-US" sz="3250" dirty="0"/>
          </a:p>
        </p:txBody>
      </p:sp>
      <p:sp>
        <p:nvSpPr>
          <p:cNvPr id="5" name="Text 3"/>
          <p:cNvSpPr/>
          <p:nvPr/>
        </p:nvSpPr>
        <p:spPr>
          <a:xfrm>
            <a:off x="661475" y="3292078"/>
            <a:ext cx="10868745" cy="715268"/>
          </a:xfrm>
          <a:prstGeom prst="rect">
            <a:avLst/>
          </a:prstGeom>
          <a:noFill/>
          <a:ln/>
        </p:spPr>
        <p:txBody>
          <a:bodyPr wrap="square" lIns="0" tIns="0" rIns="0" bIns="0" rtlCol="0" anchor="t"/>
          <a:lstStyle/>
          <a:p>
            <a:pPr algn="l" indent="0" marL="0">
              <a:lnSpc>
                <a:spcPct val="133000"/>
              </a:lnSpc>
              <a:spcAft>
                <a:spcPts val="1450"/>
              </a:spcAft>
              <a:buNone/>
            </a:pPr>
            <a:endParaRPr lang="en-US" sz="1300" dirty="0"/>
          </a:p>
        </p:txBody>
      </p:sp>
      <p:pic>
        <p:nvPicPr>
          <p:cNvPr id="6" name="Image 0" descr="preencoded.png">
            <a:hlinkClick r:id="rId2" tooltip=""/>
          </p:cNvPr>
          <p:cNvPicPr>
            <a:picLocks noChangeAspect="1"/>
          </p:cNvPicPr>
          <p:nvPr/>
        </p:nvPicPr>
        <p:blipFill>
          <a:blip r:embed="rId1"/>
          <a:stretch>
            <a:fillRect/>
          </a:stretch>
        </p:blipFill>
        <p:spPr>
          <a:xfrm>
            <a:off x="661475" y="4193381"/>
            <a:ext cx="1279096" cy="45481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61475" y="1084163"/>
            <a:ext cx="2297353" cy="251420"/>
          </a:xfrm>
          <a:prstGeom prst="roundRect">
            <a:avLst>
              <a:gd name="adj" fmla="val 3031"/>
            </a:avLst>
          </a:prstGeom>
          <a:solidFill>
            <a:srgbClr val="F9D2D6"/>
          </a:solidFill>
          <a:ln/>
        </p:spPr>
      </p:sp>
      <p:sp>
        <p:nvSpPr>
          <p:cNvPr id="3" name="Text 1"/>
          <p:cNvSpPr/>
          <p:nvPr/>
        </p:nvSpPr>
        <p:spPr>
          <a:xfrm>
            <a:off x="760691" y="1133773"/>
            <a:ext cx="2708505"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BÚSQUEDA Y RECUPERACIÓN</a:t>
            </a:r>
            <a:endParaRPr lang="en-US" sz="1000" dirty="0"/>
          </a:p>
        </p:txBody>
      </p:sp>
      <p:sp>
        <p:nvSpPr>
          <p:cNvPr id="4" name="Text 2"/>
          <p:cNvSpPr/>
          <p:nvPr/>
        </p:nvSpPr>
        <p:spPr>
          <a:xfrm>
            <a:off x="661475" y="1401663"/>
            <a:ext cx="10868745" cy="1033463"/>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Estrategias de búsqueda: Léxica vs Semántica vs Híbrida</a:t>
            </a:r>
            <a:endParaRPr lang="en-US" sz="3250" dirty="0"/>
          </a:p>
        </p:txBody>
      </p:sp>
      <p:sp>
        <p:nvSpPr>
          <p:cNvPr id="5" name="Shape 3"/>
          <p:cNvSpPr/>
          <p:nvPr/>
        </p:nvSpPr>
        <p:spPr>
          <a:xfrm>
            <a:off x="661475" y="2683173"/>
            <a:ext cx="3512653" cy="3090664"/>
          </a:xfrm>
          <a:prstGeom prst="roundRect">
            <a:avLst>
              <a:gd name="adj" fmla="val 247"/>
            </a:avLst>
          </a:prstGeom>
          <a:solidFill>
            <a:srgbClr val="F2EEEE"/>
          </a:solidFill>
          <a:ln w="6350">
            <a:solidFill>
              <a:srgbClr val="D8D4D4"/>
            </a:solidFill>
            <a:prstDash val="solid"/>
          </a:ln>
        </p:spPr>
      </p:sp>
      <p:sp>
        <p:nvSpPr>
          <p:cNvPr id="6" name="Text 4"/>
          <p:cNvSpPr/>
          <p:nvPr/>
        </p:nvSpPr>
        <p:spPr>
          <a:xfrm>
            <a:off x="833119" y="2854821"/>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Búsqueda Léxica</a:t>
            </a:r>
            <a:endParaRPr lang="en-US" sz="1600" dirty="0"/>
          </a:p>
        </p:txBody>
      </p:sp>
      <p:sp>
        <p:nvSpPr>
          <p:cNvPr id="7" name="Text 5"/>
          <p:cNvSpPr/>
          <p:nvPr/>
        </p:nvSpPr>
        <p:spPr>
          <a:xfrm>
            <a:off x="833119" y="3212505"/>
            <a:ext cx="3169364" cy="264616"/>
          </a:xfrm>
          <a:prstGeom prst="rect">
            <a:avLst/>
          </a:prstGeom>
          <a:noFill/>
          <a:ln/>
        </p:spPr>
        <p:txBody>
          <a:bodyPr wrap="none" lIns="0" tIns="0" rIns="0" bIns="0" rtlCol="0" anchor="t"/>
          <a:lstStyle/>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BM25 / Keywords</a:t>
            </a:r>
            <a:endParaRPr lang="en-US" sz="1300" dirty="0"/>
          </a:p>
        </p:txBody>
      </p:sp>
      <p:sp>
        <p:nvSpPr>
          <p:cNvPr id="8" name="Text 6"/>
          <p:cNvSpPr/>
          <p:nvPr/>
        </p:nvSpPr>
        <p:spPr>
          <a:xfrm>
            <a:off x="833119" y="3576340"/>
            <a:ext cx="3169364" cy="2025848"/>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b="1" dirty="0">
                <a:solidFill>
                  <a:srgbClr val="3B3535"/>
                </a:solidFill>
                <a:latin typeface="Roboto Bold" pitchFamily="34" charset="0"/>
                <a:ea typeface="Roboto Bold" pitchFamily="34" charset="-122"/>
                <a:cs typeface="Roboto Bold" pitchFamily="34" charset="-120"/>
              </a:rPr>
              <a:t>✓</a:t>
            </a:r>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 Rápida, precisa en términos exactos, sin GPU</a:t>
            </a:r>
            <a:endParaRPr lang="en-US" sz="1300" dirty="0"/>
          </a:p>
          <a:p>
            <a:pPr algn="l" marL="264160" indent="-264160">
              <a:lnSpc>
                <a:spcPct val="133000"/>
              </a:lnSpc>
              <a:buSzPct val="100000"/>
              <a:buChar char="•"/>
            </a:pPr>
            <a:r>
              <a:rPr lang="en-US" sz="1300" b="1" dirty="0">
                <a:solidFill>
                  <a:srgbClr val="3B3535"/>
                </a:solidFill>
                <a:latin typeface="Roboto Bold" pitchFamily="34" charset="0"/>
                <a:ea typeface="Roboto Bold" pitchFamily="34" charset="-122"/>
                <a:cs typeface="Roboto Bold" pitchFamily="34" charset="-120"/>
              </a:rPr>
              <a:t>✗</a:t>
            </a:r>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 No reconoce sinónimos ni abstracciones</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Ideal: Códigos ICD-10, terminología legal</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Coste: ~$0.0001/query</a:t>
            </a:r>
            <a:endParaRPr lang="en-US" sz="1300" dirty="0"/>
          </a:p>
        </p:txBody>
      </p:sp>
      <p:sp>
        <p:nvSpPr>
          <p:cNvPr id="9" name="Shape 7"/>
          <p:cNvSpPr/>
          <p:nvPr/>
        </p:nvSpPr>
        <p:spPr>
          <a:xfrm>
            <a:off x="4339422" y="2683173"/>
            <a:ext cx="3512752" cy="3090664"/>
          </a:xfrm>
          <a:prstGeom prst="roundRect">
            <a:avLst>
              <a:gd name="adj" fmla="val 247"/>
            </a:avLst>
          </a:prstGeom>
          <a:solidFill>
            <a:srgbClr val="F2EEEE"/>
          </a:solidFill>
          <a:ln w="6350">
            <a:solidFill>
              <a:srgbClr val="D8D4D4"/>
            </a:solidFill>
            <a:prstDash val="solid"/>
          </a:ln>
        </p:spPr>
      </p:sp>
      <p:sp>
        <p:nvSpPr>
          <p:cNvPr id="10" name="Text 8"/>
          <p:cNvSpPr/>
          <p:nvPr/>
        </p:nvSpPr>
        <p:spPr>
          <a:xfrm>
            <a:off x="4511066" y="2854821"/>
            <a:ext cx="31694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Búsqueda Semántica</a:t>
            </a:r>
            <a:endParaRPr lang="en-US" sz="1600" dirty="0"/>
          </a:p>
        </p:txBody>
      </p:sp>
      <p:sp>
        <p:nvSpPr>
          <p:cNvPr id="11" name="Text 9"/>
          <p:cNvSpPr/>
          <p:nvPr/>
        </p:nvSpPr>
        <p:spPr>
          <a:xfrm>
            <a:off x="4511066" y="3212505"/>
            <a:ext cx="3169464" cy="264616"/>
          </a:xfrm>
          <a:prstGeom prst="rect">
            <a:avLst/>
          </a:prstGeom>
          <a:noFill/>
          <a:ln/>
        </p:spPr>
        <p:txBody>
          <a:bodyPr wrap="none" lIns="0" tIns="0" rIns="0" bIns="0" rtlCol="0" anchor="t"/>
          <a:lstStyle/>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Embeddings / Vectores</a:t>
            </a:r>
            <a:endParaRPr lang="en-US" sz="1300" dirty="0"/>
          </a:p>
        </p:txBody>
      </p:sp>
      <p:sp>
        <p:nvSpPr>
          <p:cNvPr id="12" name="Text 10"/>
          <p:cNvSpPr/>
          <p:nvPr/>
        </p:nvSpPr>
        <p:spPr>
          <a:xfrm>
            <a:off x="4511066" y="3576340"/>
            <a:ext cx="3169464" cy="1761232"/>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b="1" dirty="0">
                <a:solidFill>
                  <a:srgbClr val="3B3535"/>
                </a:solidFill>
                <a:latin typeface="Roboto Bold" pitchFamily="34" charset="0"/>
                <a:ea typeface="Roboto Bold" pitchFamily="34" charset="-122"/>
                <a:cs typeface="Roboto Bold" pitchFamily="34" charset="-120"/>
              </a:rPr>
              <a:t>✓</a:t>
            </a:r>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 Sinónimos, multilenguaje, relaciones conceptuales</a:t>
            </a:r>
            <a:endParaRPr lang="en-US" sz="1300" dirty="0"/>
          </a:p>
          <a:p>
            <a:pPr algn="l" marL="264160" indent="-264160">
              <a:lnSpc>
                <a:spcPct val="133000"/>
              </a:lnSpc>
              <a:buSzPct val="100000"/>
              <a:buChar char="•"/>
            </a:pPr>
            <a:r>
              <a:rPr lang="en-US" sz="1300" b="1" dirty="0">
                <a:solidFill>
                  <a:srgbClr val="3B3535"/>
                </a:solidFill>
                <a:latin typeface="Roboto Bold" pitchFamily="34" charset="0"/>
                <a:ea typeface="Roboto Bold" pitchFamily="34" charset="-122"/>
                <a:cs typeface="Roboto Bold" pitchFamily="34" charset="-120"/>
              </a:rPr>
              <a:t>✗</a:t>
            </a:r>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 Más lenta (100-500ms), requiere GPU</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Ideal: Papers académicos, FAQs, help desk</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Coste: ~$0.001-0.01/query</a:t>
            </a:r>
            <a:endParaRPr lang="en-US" sz="1300" dirty="0"/>
          </a:p>
        </p:txBody>
      </p:sp>
      <p:sp>
        <p:nvSpPr>
          <p:cNvPr id="13" name="Shape 11"/>
          <p:cNvSpPr/>
          <p:nvPr/>
        </p:nvSpPr>
        <p:spPr>
          <a:xfrm>
            <a:off x="8017468" y="2683173"/>
            <a:ext cx="3512653" cy="3090664"/>
          </a:xfrm>
          <a:prstGeom prst="roundRect">
            <a:avLst>
              <a:gd name="adj" fmla="val 247"/>
            </a:avLst>
          </a:prstGeom>
          <a:solidFill>
            <a:srgbClr val="F2EEEE"/>
          </a:solidFill>
          <a:ln w="6350">
            <a:solidFill>
              <a:srgbClr val="D8D4D4"/>
            </a:solidFill>
            <a:prstDash val="solid"/>
          </a:ln>
        </p:spPr>
      </p:sp>
      <p:sp>
        <p:nvSpPr>
          <p:cNvPr id="14" name="Text 12"/>
          <p:cNvSpPr/>
          <p:nvPr/>
        </p:nvSpPr>
        <p:spPr>
          <a:xfrm>
            <a:off x="8189112" y="2854821"/>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Búsqueda Híbrida</a:t>
            </a:r>
            <a:endParaRPr lang="en-US" sz="1600" dirty="0"/>
          </a:p>
        </p:txBody>
      </p:sp>
      <p:sp>
        <p:nvSpPr>
          <p:cNvPr id="15" name="Text 13"/>
          <p:cNvSpPr/>
          <p:nvPr/>
        </p:nvSpPr>
        <p:spPr>
          <a:xfrm>
            <a:off x="8189112" y="3212505"/>
            <a:ext cx="3169364" cy="264616"/>
          </a:xfrm>
          <a:prstGeom prst="rect">
            <a:avLst/>
          </a:prstGeom>
          <a:noFill/>
          <a:ln/>
        </p:spPr>
        <p:txBody>
          <a:bodyPr wrap="none" lIns="0" tIns="0" rIns="0" bIns="0" rtlCol="0" anchor="t"/>
          <a:lstStyle/>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Léxica + Semántica</a:t>
            </a:r>
            <a:endParaRPr lang="en-US" sz="1300" dirty="0"/>
          </a:p>
        </p:txBody>
      </p:sp>
      <p:sp>
        <p:nvSpPr>
          <p:cNvPr id="16" name="Text 14"/>
          <p:cNvSpPr/>
          <p:nvPr/>
        </p:nvSpPr>
        <p:spPr>
          <a:xfrm>
            <a:off x="8189112" y="3576340"/>
            <a:ext cx="3169364" cy="1761232"/>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b="1" dirty="0">
                <a:solidFill>
                  <a:srgbClr val="3B3535"/>
                </a:solidFill>
                <a:latin typeface="Roboto Bold" pitchFamily="34" charset="0"/>
                <a:ea typeface="Roboto Bold" pitchFamily="34" charset="-122"/>
                <a:cs typeface="Roboto Bold" pitchFamily="34" charset="-120"/>
              </a:rPr>
              <a:t>✓</a:t>
            </a:r>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 Mejor cobertura, 85-92% relevancia</a:t>
            </a:r>
            <a:endParaRPr lang="en-US" sz="1300" dirty="0"/>
          </a:p>
          <a:p>
            <a:pPr algn="l" marL="264160" indent="-264160">
              <a:lnSpc>
                <a:spcPct val="133000"/>
              </a:lnSpc>
              <a:buSzPct val="100000"/>
              <a:buChar char="•"/>
            </a:pPr>
            <a:r>
              <a:rPr lang="en-US" sz="1300" b="1" dirty="0">
                <a:solidFill>
                  <a:srgbClr val="3B3535"/>
                </a:solidFill>
                <a:latin typeface="Roboto Bold" pitchFamily="34" charset="0"/>
                <a:ea typeface="Roboto Bold" pitchFamily="34" charset="-122"/>
                <a:cs typeface="Roboto Bold" pitchFamily="34" charset="-120"/>
              </a:rPr>
              <a:t>✗</a:t>
            </a:r>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 Mayor complejidad, requiere tuning de pesos</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Ideal: Producción general, consultas biomedicina</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Coste: ~$0.002-0.015/query</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661475" y="490835"/>
            <a:ext cx="1721898" cy="188516"/>
          </a:xfrm>
          <a:prstGeom prst="roundRect">
            <a:avLst>
              <a:gd name="adj" fmla="val 4042"/>
            </a:avLst>
          </a:prstGeom>
          <a:solidFill>
            <a:srgbClr val="F9D2D6"/>
          </a:solidFill>
          <a:ln/>
        </p:spPr>
      </p:sp>
      <p:sp>
        <p:nvSpPr>
          <p:cNvPr id="3" name="Text 1"/>
          <p:cNvSpPr/>
          <p:nvPr/>
        </p:nvSpPr>
        <p:spPr>
          <a:xfrm>
            <a:off x="735887" y="528042"/>
            <a:ext cx="2182659" cy="114102"/>
          </a:xfrm>
          <a:prstGeom prst="rect">
            <a:avLst/>
          </a:prstGeom>
          <a:noFill/>
          <a:ln/>
        </p:spPr>
        <p:txBody>
          <a:bodyPr wrap="none" lIns="0" tIns="0" rIns="0" bIns="0" rtlCol="0" anchor="t"/>
          <a:lstStyle/>
          <a:p>
            <a:pPr algn="l" indent="0" marL="0">
              <a:lnSpc>
                <a:spcPct val="96000"/>
              </a:lnSpc>
              <a:buNone/>
            </a:pPr>
            <a:r>
              <a:rPr lang="en-US" sz="750" dirty="0">
                <a:solidFill>
                  <a:srgbClr val="3B3535"/>
                </a:solidFill>
                <a:latin typeface="Roboto" pitchFamily="34" charset="0"/>
                <a:ea typeface="Roboto" pitchFamily="34" charset="-122"/>
                <a:cs typeface="Roboto" pitchFamily="34" charset="-120"/>
              </a:rPr>
              <a:t>RAG: BÚSQUEDA Y RECUPERACIÓN</a:t>
            </a:r>
            <a:endParaRPr lang="en-US" sz="750" dirty="0"/>
          </a:p>
        </p:txBody>
      </p:sp>
      <p:sp>
        <p:nvSpPr>
          <p:cNvPr id="4" name="Text 2"/>
          <p:cNvSpPr/>
          <p:nvPr/>
        </p:nvSpPr>
        <p:spPr>
          <a:xfrm>
            <a:off x="661475" y="716558"/>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oboto Mono Medium" pitchFamily="34" charset="0"/>
                <a:ea typeface="Roboto Mono Medium" pitchFamily="34" charset="-122"/>
                <a:cs typeface="Roboto Mono Medium" pitchFamily="34" charset="-120"/>
              </a:rPr>
              <a:t>Flujo completo de RAG</a:t>
            </a:r>
            <a:endParaRPr lang="en-US" sz="2400" dirty="0"/>
          </a:p>
        </p:txBody>
      </p:sp>
      <p:pic>
        <p:nvPicPr>
          <p:cNvPr id="5" name="Image 0" descr="preencoded.png">    </p:cNvPr>
          <p:cNvPicPr>
            <a:picLocks noChangeAspect="1"/>
          </p:cNvPicPr>
          <p:nvPr/>
        </p:nvPicPr>
        <p:blipFill>
          <a:blip r:embed="rId1"/>
          <a:stretch>
            <a:fillRect/>
          </a:stretch>
        </p:blipFill>
        <p:spPr>
          <a:xfrm>
            <a:off x="2319875" y="1243707"/>
            <a:ext cx="7551846" cy="4606627"/>
          </a:xfrm>
          <a:prstGeom prst="rect">
            <a:avLst/>
          </a:prstGeom>
        </p:spPr>
      </p:pic>
      <p:sp>
        <p:nvSpPr>
          <p:cNvPr id="6" name="Text 3"/>
          <p:cNvSpPr/>
          <p:nvPr/>
        </p:nvSpPr>
        <p:spPr>
          <a:xfrm>
            <a:off x="2501715" y="2144298"/>
            <a:ext cx="1721092" cy="229264"/>
          </a:xfrm>
          <a:prstGeom prst="rect">
            <a:avLst/>
          </a:prstGeom>
          <a:noFill/>
          <a:ln/>
        </p:spPr>
        <p:txBody>
          <a:bodyPr wrap="none" lIns="0" tIns="0" rIns="0" bIns="0" rtlCol="0" anchor="t"/>
          <a:lstStyle/>
          <a:p>
            <a:pPr algn="ctr" indent="0" marL="0">
              <a:lnSpc>
                <a:spcPct val="104000"/>
              </a:lnSpc>
              <a:buNone/>
            </a:pPr>
            <a:r>
              <a:rPr lang="en-US" sz="1400" dirty="0">
                <a:solidFill>
                  <a:srgbClr val="3B3535"/>
                </a:solidFill>
                <a:latin typeface="Roboto Mono Medium" pitchFamily="34" charset="0"/>
                <a:ea typeface="Roboto Mono Medium" pitchFamily="34" charset="-122"/>
                <a:cs typeface="Roboto Mono Medium" pitchFamily="34" charset="-120"/>
              </a:rPr>
              <a:t>Consulta</a:t>
            </a:r>
            <a:endParaRPr lang="en-US" sz="1400" dirty="0"/>
          </a:p>
        </p:txBody>
      </p:sp>
      <p:sp>
        <p:nvSpPr>
          <p:cNvPr id="7" name="Text 4"/>
          <p:cNvSpPr/>
          <p:nvPr/>
        </p:nvSpPr>
        <p:spPr>
          <a:xfrm>
            <a:off x="3707231" y="4186530"/>
            <a:ext cx="1721092" cy="229264"/>
          </a:xfrm>
          <a:prstGeom prst="rect">
            <a:avLst/>
          </a:prstGeom>
          <a:noFill/>
          <a:ln/>
        </p:spPr>
        <p:txBody>
          <a:bodyPr wrap="none" lIns="0" tIns="0" rIns="0" bIns="0" rtlCol="0" anchor="t"/>
          <a:lstStyle/>
          <a:p>
            <a:pPr algn="ctr" indent="0" marL="0">
              <a:lnSpc>
                <a:spcPct val="104000"/>
              </a:lnSpc>
              <a:buNone/>
            </a:pPr>
            <a:r>
              <a:rPr lang="en-US" sz="1400" dirty="0">
                <a:solidFill>
                  <a:srgbClr val="3B3535"/>
                </a:solidFill>
                <a:latin typeface="Roboto Mono Medium" pitchFamily="34" charset="0"/>
                <a:ea typeface="Roboto Mono Medium" pitchFamily="34" charset="-122"/>
                <a:cs typeface="Roboto Mono Medium" pitchFamily="34" charset="-120"/>
              </a:rPr>
              <a:t>Vectorizar</a:t>
            </a:r>
            <a:endParaRPr lang="en-US" sz="1400" dirty="0"/>
          </a:p>
        </p:txBody>
      </p:sp>
      <p:sp>
        <p:nvSpPr>
          <p:cNvPr id="8" name="Text 5"/>
          <p:cNvSpPr/>
          <p:nvPr/>
        </p:nvSpPr>
        <p:spPr>
          <a:xfrm>
            <a:off x="5173846" y="2364009"/>
            <a:ext cx="1777006" cy="229264"/>
          </a:xfrm>
          <a:prstGeom prst="rect">
            <a:avLst/>
          </a:prstGeom>
          <a:noFill/>
          <a:ln/>
        </p:spPr>
        <p:txBody>
          <a:bodyPr wrap="none" lIns="0" tIns="0" rIns="0" bIns="0" rtlCol="0" anchor="t"/>
          <a:lstStyle/>
          <a:p>
            <a:pPr algn="ctr" indent="0" marL="0">
              <a:lnSpc>
                <a:spcPct val="104000"/>
              </a:lnSpc>
              <a:buNone/>
            </a:pPr>
            <a:r>
              <a:rPr lang="en-US" sz="1400" dirty="0">
                <a:solidFill>
                  <a:srgbClr val="3B3535"/>
                </a:solidFill>
                <a:latin typeface="Roboto Mono Medium" pitchFamily="34" charset="0"/>
                <a:ea typeface="Roboto Mono Medium" pitchFamily="34" charset="-122"/>
                <a:cs typeface="Roboto Mono Medium" pitchFamily="34" charset="-120"/>
              </a:rPr>
              <a:t>Búsqueda VDB</a:t>
            </a:r>
            <a:endParaRPr lang="en-US" sz="1400" dirty="0"/>
          </a:p>
        </p:txBody>
      </p:sp>
      <p:sp>
        <p:nvSpPr>
          <p:cNvPr id="9" name="Text 6"/>
          <p:cNvSpPr/>
          <p:nvPr/>
        </p:nvSpPr>
        <p:spPr>
          <a:xfrm>
            <a:off x="6366880" y="4720332"/>
            <a:ext cx="1721092" cy="229264"/>
          </a:xfrm>
          <a:prstGeom prst="rect">
            <a:avLst/>
          </a:prstGeom>
          <a:noFill/>
          <a:ln/>
        </p:spPr>
        <p:txBody>
          <a:bodyPr wrap="none" lIns="0" tIns="0" rIns="0" bIns="0" rtlCol="0" anchor="t"/>
          <a:lstStyle/>
          <a:p>
            <a:pPr algn="ctr" indent="0" marL="0">
              <a:lnSpc>
                <a:spcPct val="104000"/>
              </a:lnSpc>
              <a:buNone/>
            </a:pPr>
            <a:r>
              <a:rPr lang="en-US" sz="1400" dirty="0">
                <a:solidFill>
                  <a:srgbClr val="3B3535"/>
                </a:solidFill>
                <a:latin typeface="Roboto Mono Medium" pitchFamily="34" charset="0"/>
                <a:ea typeface="Roboto Mono Medium" pitchFamily="34" charset="-122"/>
                <a:cs typeface="Roboto Mono Medium" pitchFamily="34" charset="-120"/>
              </a:rPr>
              <a:t>Recuperar doc</a:t>
            </a:r>
            <a:endParaRPr lang="en-US" sz="1400" dirty="0"/>
          </a:p>
        </p:txBody>
      </p:sp>
      <p:sp>
        <p:nvSpPr>
          <p:cNvPr id="10" name="Text 7"/>
          <p:cNvSpPr/>
          <p:nvPr/>
        </p:nvSpPr>
        <p:spPr>
          <a:xfrm>
            <a:off x="7894503" y="2614544"/>
            <a:ext cx="1721092" cy="458528"/>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3B3535"/>
                </a:solidFill>
                <a:latin typeface="Roboto Mono Medium" pitchFamily="34" charset="0"/>
                <a:ea typeface="Roboto Mono Medium" pitchFamily="34" charset="-122"/>
                <a:cs typeface="Roboto Mono Medium" pitchFamily="34" charset="-120"/>
              </a:rPr>
              <a:t>Generar respuesta</a:t>
            </a:r>
            <a:endParaRPr lang="en-US" sz="1400" dirty="0"/>
          </a:p>
        </p:txBody>
      </p:sp>
      <p:sp>
        <p:nvSpPr>
          <p:cNvPr id="11" name="Shape 8"/>
          <p:cNvSpPr/>
          <p:nvPr/>
        </p:nvSpPr>
        <p:spPr>
          <a:xfrm>
            <a:off x="661475" y="5954911"/>
            <a:ext cx="10868745" cy="412155"/>
          </a:xfrm>
          <a:prstGeom prst="roundRect">
            <a:avLst>
              <a:gd name="adj" fmla="val 1849"/>
            </a:avLst>
          </a:prstGeom>
          <a:solidFill>
            <a:srgbClr val="F9D2D6"/>
          </a:solidFill>
          <a:ln/>
        </p:spPr>
      </p:sp>
      <p:pic>
        <p:nvPicPr>
          <p:cNvPr id="12" name="Image 1" descr="preencoded.png">    </p:cNvPr>
          <p:cNvPicPr>
            <a:picLocks noChangeAspect="1"/>
          </p:cNvPicPr>
          <p:nvPr/>
        </p:nvPicPr>
        <p:blipFill>
          <a:blip r:embed="rId2"/>
          <a:stretch>
            <a:fillRect/>
          </a:stretch>
        </p:blipFill>
        <p:spPr>
          <a:xfrm>
            <a:off x="785495" y="6090940"/>
            <a:ext cx="154976" cy="124023"/>
          </a:xfrm>
          <a:prstGeom prst="rect">
            <a:avLst/>
          </a:prstGeom>
        </p:spPr>
      </p:pic>
      <p:sp>
        <p:nvSpPr>
          <p:cNvPr id="13" name="Text 9"/>
          <p:cNvSpPr/>
          <p:nvPr/>
        </p:nvSpPr>
        <p:spPr>
          <a:xfrm>
            <a:off x="1064491" y="6078835"/>
            <a:ext cx="10951293"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Roboto" pitchFamily="34" charset="0"/>
                <a:ea typeface="Roboto" pitchFamily="34" charset="-122"/>
                <a:cs typeface="Roboto" pitchFamily="34" charset="-120"/>
              </a:rPr>
              <a:t>El sistema completo trabaja en milisegundos para proporcionar respuestas precisas y fundamentadas en datos verificables, sin importar el tamaño del corpus.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661475" y="1869678"/>
            <a:ext cx="2297353" cy="251420"/>
          </a:xfrm>
          <a:prstGeom prst="roundRect">
            <a:avLst>
              <a:gd name="adj" fmla="val 3031"/>
            </a:avLst>
          </a:prstGeom>
          <a:solidFill>
            <a:srgbClr val="F9D2D6"/>
          </a:solidFill>
          <a:ln/>
        </p:spPr>
      </p:sp>
      <p:sp>
        <p:nvSpPr>
          <p:cNvPr id="3" name="Text 1"/>
          <p:cNvSpPr/>
          <p:nvPr/>
        </p:nvSpPr>
        <p:spPr>
          <a:xfrm>
            <a:off x="760691" y="1919288"/>
            <a:ext cx="2708505"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BÚSQUEDA Y RECUPERACIÓN</a:t>
            </a:r>
            <a:endParaRPr lang="en-US" sz="1000" dirty="0"/>
          </a:p>
        </p:txBody>
      </p:sp>
      <p:sp>
        <p:nvSpPr>
          <p:cNvPr id="4" name="Text 2"/>
          <p:cNvSpPr/>
          <p:nvPr/>
        </p:nvSpPr>
        <p:spPr>
          <a:xfrm>
            <a:off x="661475" y="2187178"/>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El desafío del tamaño del contexto</a:t>
            </a:r>
            <a:endParaRPr lang="en-US"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951956"/>
            <a:ext cx="413434" cy="413445"/>
          </a:xfrm>
          <a:prstGeom prst="rect">
            <a:avLst/>
          </a:prstGeom>
        </p:spPr>
      </p:pic>
      <p:sp>
        <p:nvSpPr>
          <p:cNvPr id="6" name="Text 3"/>
          <p:cNvSpPr/>
          <p:nvPr/>
        </p:nvSpPr>
        <p:spPr>
          <a:xfrm>
            <a:off x="661475" y="3572073"/>
            <a:ext cx="3485071"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Límite de tokens</a:t>
            </a:r>
            <a:endParaRPr lang="en-US" sz="1600" dirty="0"/>
          </a:p>
        </p:txBody>
      </p:sp>
      <p:sp>
        <p:nvSpPr>
          <p:cNvPr id="7" name="Text 4"/>
          <p:cNvSpPr/>
          <p:nvPr/>
        </p:nvSpPr>
        <p:spPr>
          <a:xfrm>
            <a:off x="661475" y="3929757"/>
            <a:ext cx="3485071"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Los LLMs tienen un límite máximo de tokens que pueden procesar simultáneamente en una consulta. Superar este límite produce errores o truncado de información.</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2951956"/>
            <a:ext cx="413434" cy="413445"/>
          </a:xfrm>
          <a:prstGeom prst="rect">
            <a:avLst/>
          </a:prstGeom>
        </p:spPr>
      </p:pic>
      <p:sp>
        <p:nvSpPr>
          <p:cNvPr id="9" name="Text 5"/>
          <p:cNvSpPr/>
          <p:nvPr/>
        </p:nvSpPr>
        <p:spPr>
          <a:xfrm>
            <a:off x="4353213" y="3572073"/>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Documentos extensos</a:t>
            </a:r>
            <a:endParaRPr lang="en-US" sz="1600" dirty="0"/>
          </a:p>
        </p:txBody>
      </p:sp>
      <p:sp>
        <p:nvSpPr>
          <p:cNvPr id="10" name="Text 6"/>
          <p:cNvSpPr/>
          <p:nvPr/>
        </p:nvSpPr>
        <p:spPr>
          <a:xfrm>
            <a:off x="4353213" y="3929757"/>
            <a:ext cx="348517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Documentos largos o múltiples fuentes de información pueden exceder fácilmente ese límite técnico, especialmente en corpus biomédicos.</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2951956"/>
            <a:ext cx="413434" cy="413445"/>
          </a:xfrm>
          <a:prstGeom prst="rect">
            <a:avLst/>
          </a:prstGeom>
        </p:spPr>
      </p:pic>
      <p:sp>
        <p:nvSpPr>
          <p:cNvPr id="12" name="Text 7"/>
          <p:cNvSpPr/>
          <p:nvPr/>
        </p:nvSpPr>
        <p:spPr>
          <a:xfrm>
            <a:off x="8045050" y="3572073"/>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Solución RAG</a:t>
            </a:r>
            <a:endParaRPr lang="en-US" sz="1600" dirty="0"/>
          </a:p>
        </p:txBody>
      </p:sp>
      <p:sp>
        <p:nvSpPr>
          <p:cNvPr id="13" name="Text 8"/>
          <p:cNvSpPr/>
          <p:nvPr/>
        </p:nvSpPr>
        <p:spPr>
          <a:xfrm>
            <a:off x="8045050" y="3929757"/>
            <a:ext cx="348517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RAG selecciona inteligentemente solo la información más relevante para incluir en el contexto, optimizando el uso de la ventana disponible.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61475" y="628055"/>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oboto Mono Medium" pitchFamily="34" charset="0"/>
                <a:ea typeface="Roboto Mono Medium" pitchFamily="34" charset="-122"/>
                <a:cs typeface="Roboto Mono Medium" pitchFamily="34" charset="-120"/>
              </a:rPr>
              <a:t>Agenda</a:t>
            </a:r>
            <a:endParaRPr lang="en-US" sz="2400" dirty="0"/>
          </a:p>
        </p:txBody>
      </p:sp>
      <p:sp>
        <p:nvSpPr>
          <p:cNvPr id="3" name="Shape 1"/>
          <p:cNvSpPr/>
          <p:nvPr/>
        </p:nvSpPr>
        <p:spPr>
          <a:xfrm>
            <a:off x="800973" y="1201738"/>
            <a:ext cx="12700" cy="5028109"/>
          </a:xfrm>
          <a:prstGeom prst="roundRect">
            <a:avLst>
              <a:gd name="adj" fmla="val 49999"/>
            </a:avLst>
          </a:prstGeom>
          <a:solidFill>
            <a:srgbClr val="D8D4D4"/>
          </a:solidFill>
          <a:ln/>
        </p:spPr>
      </p:sp>
      <p:sp>
        <p:nvSpPr>
          <p:cNvPr id="4" name="Shape 2"/>
          <p:cNvSpPr/>
          <p:nvPr/>
        </p:nvSpPr>
        <p:spPr>
          <a:xfrm>
            <a:off x="927821" y="1334889"/>
            <a:ext cx="372061" cy="12700"/>
          </a:xfrm>
          <a:prstGeom prst="roundRect">
            <a:avLst>
              <a:gd name="adj" fmla="val 49999"/>
            </a:avLst>
          </a:prstGeom>
          <a:solidFill>
            <a:srgbClr val="D8D4D4"/>
          </a:solidFill>
          <a:ln/>
        </p:spPr>
      </p:sp>
      <p:sp>
        <p:nvSpPr>
          <p:cNvPr id="5" name="Shape 3"/>
          <p:cNvSpPr/>
          <p:nvPr/>
        </p:nvSpPr>
        <p:spPr>
          <a:xfrm>
            <a:off x="661425" y="1201738"/>
            <a:ext cx="279095" cy="279102"/>
          </a:xfrm>
          <a:prstGeom prst="roundRect">
            <a:avLst>
              <a:gd name="adj" fmla="val 2730"/>
            </a:avLst>
          </a:prstGeom>
          <a:solidFill>
            <a:srgbClr val="F2EEEE"/>
          </a:solidFill>
          <a:ln w="6350">
            <a:solidFill>
              <a:srgbClr val="D8D4D4"/>
            </a:solidFill>
            <a:prstDash val="solid"/>
          </a:ln>
        </p:spPr>
      </p:sp>
      <p:sp>
        <p:nvSpPr>
          <p:cNvPr id="6" name="Text 4"/>
          <p:cNvSpPr/>
          <p:nvPr/>
        </p:nvSpPr>
        <p:spPr>
          <a:xfrm>
            <a:off x="707908" y="122495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1</a:t>
            </a:r>
            <a:endParaRPr lang="en-US" sz="1450" dirty="0"/>
          </a:p>
        </p:txBody>
      </p:sp>
      <p:sp>
        <p:nvSpPr>
          <p:cNvPr id="7" name="Text 5"/>
          <p:cNvSpPr/>
          <p:nvPr/>
        </p:nvSpPr>
        <p:spPr>
          <a:xfrm>
            <a:off x="1421174" y="124430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Fundamentos ✓</a:t>
            </a:r>
            <a:endParaRPr lang="en-US" sz="1200" dirty="0"/>
          </a:p>
        </p:txBody>
      </p:sp>
      <p:sp>
        <p:nvSpPr>
          <p:cNvPr id="8" name="Text 6"/>
          <p:cNvSpPr/>
          <p:nvPr/>
        </p:nvSpPr>
        <p:spPr>
          <a:xfrm>
            <a:off x="1421174" y="1493838"/>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RAG, por qué lo necesitamos y arquitectura básica.</a:t>
            </a:r>
            <a:endParaRPr lang="en-US" sz="950" dirty="0"/>
          </a:p>
        </p:txBody>
      </p:sp>
      <p:sp>
        <p:nvSpPr>
          <p:cNvPr id="9" name="Shape 7"/>
          <p:cNvSpPr/>
          <p:nvPr/>
        </p:nvSpPr>
        <p:spPr>
          <a:xfrm>
            <a:off x="927821" y="1986657"/>
            <a:ext cx="372061" cy="12700"/>
          </a:xfrm>
          <a:prstGeom prst="roundRect">
            <a:avLst>
              <a:gd name="adj" fmla="val 49999"/>
            </a:avLst>
          </a:prstGeom>
          <a:solidFill>
            <a:srgbClr val="D8D4D4"/>
          </a:solidFill>
          <a:ln/>
        </p:spPr>
      </p:sp>
      <p:sp>
        <p:nvSpPr>
          <p:cNvPr id="10" name="Shape 8"/>
          <p:cNvSpPr/>
          <p:nvPr/>
        </p:nvSpPr>
        <p:spPr>
          <a:xfrm>
            <a:off x="661425" y="1853505"/>
            <a:ext cx="279095" cy="279102"/>
          </a:xfrm>
          <a:prstGeom prst="roundRect">
            <a:avLst>
              <a:gd name="adj" fmla="val 2730"/>
            </a:avLst>
          </a:prstGeom>
          <a:solidFill>
            <a:srgbClr val="F2EEEE"/>
          </a:solidFill>
          <a:ln w="6350">
            <a:solidFill>
              <a:srgbClr val="D8D4D4"/>
            </a:solidFill>
            <a:prstDash val="solid"/>
          </a:ln>
        </p:spPr>
      </p:sp>
      <p:sp>
        <p:nvSpPr>
          <p:cNvPr id="11" name="Text 9"/>
          <p:cNvSpPr/>
          <p:nvPr/>
        </p:nvSpPr>
        <p:spPr>
          <a:xfrm>
            <a:off x="707908" y="187672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2</a:t>
            </a:r>
            <a:endParaRPr lang="en-US" sz="1450" dirty="0"/>
          </a:p>
        </p:txBody>
      </p:sp>
      <p:sp>
        <p:nvSpPr>
          <p:cNvPr id="12" name="Text 10"/>
          <p:cNvSpPr/>
          <p:nvPr/>
        </p:nvSpPr>
        <p:spPr>
          <a:xfrm>
            <a:off x="1421174" y="189607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Búsqueda y Recuperación ✓</a:t>
            </a:r>
            <a:endParaRPr lang="en-US" sz="1200" dirty="0"/>
          </a:p>
        </p:txBody>
      </p:sp>
      <p:sp>
        <p:nvSpPr>
          <p:cNvPr id="13" name="Text 11"/>
          <p:cNvSpPr/>
          <p:nvPr/>
        </p:nvSpPr>
        <p:spPr>
          <a:xfrm>
            <a:off x="1421174" y="214560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Búsqueda vectorial, léxica, semántica e híbrida. Bases de datos y flujo completo.</a:t>
            </a:r>
            <a:endParaRPr lang="en-US" sz="950" dirty="0"/>
          </a:p>
        </p:txBody>
      </p:sp>
      <p:sp>
        <p:nvSpPr>
          <p:cNvPr id="14" name="Shape 12"/>
          <p:cNvSpPr/>
          <p:nvPr/>
        </p:nvSpPr>
        <p:spPr>
          <a:xfrm>
            <a:off x="927821" y="2638425"/>
            <a:ext cx="372061" cy="12700"/>
          </a:xfrm>
          <a:prstGeom prst="roundRect">
            <a:avLst>
              <a:gd name="adj" fmla="val 49999"/>
            </a:avLst>
          </a:prstGeom>
          <a:solidFill>
            <a:srgbClr val="F33447"/>
          </a:solidFill>
          <a:ln/>
        </p:spPr>
      </p:sp>
      <p:sp>
        <p:nvSpPr>
          <p:cNvPr id="15" name="Shape 13"/>
          <p:cNvSpPr/>
          <p:nvPr/>
        </p:nvSpPr>
        <p:spPr>
          <a:xfrm>
            <a:off x="661425" y="2505273"/>
            <a:ext cx="279095" cy="279102"/>
          </a:xfrm>
          <a:prstGeom prst="roundRect">
            <a:avLst>
              <a:gd name="adj" fmla="val 2730"/>
            </a:avLst>
          </a:prstGeom>
          <a:solidFill>
            <a:srgbClr val="DA1B2E"/>
          </a:solidFill>
          <a:ln w="6350">
            <a:solidFill>
              <a:srgbClr val="F33447"/>
            </a:solidFill>
            <a:prstDash val="solid"/>
          </a:ln>
        </p:spPr>
      </p:sp>
      <p:sp>
        <p:nvSpPr>
          <p:cNvPr id="16" name="Text 14"/>
          <p:cNvSpPr/>
          <p:nvPr/>
        </p:nvSpPr>
        <p:spPr>
          <a:xfrm>
            <a:off x="707908" y="2528491"/>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Roboto Mono Medium" pitchFamily="34" charset="0"/>
                <a:ea typeface="Roboto Mono Medium" pitchFamily="34" charset="-122"/>
                <a:cs typeface="Roboto Mono Medium" pitchFamily="34" charset="-120"/>
              </a:rPr>
              <a:t>3</a:t>
            </a:r>
            <a:endParaRPr lang="en-US" sz="1450" dirty="0"/>
          </a:p>
        </p:txBody>
      </p:sp>
      <p:sp>
        <p:nvSpPr>
          <p:cNvPr id="17" name="Text 15"/>
          <p:cNvSpPr/>
          <p:nvPr/>
        </p:nvSpPr>
        <p:spPr>
          <a:xfrm>
            <a:off x="1421174" y="254783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Reranking y Precisión</a:t>
            </a:r>
            <a:endParaRPr lang="en-US" sz="1200" dirty="0"/>
          </a:p>
        </p:txBody>
      </p:sp>
      <p:sp>
        <p:nvSpPr>
          <p:cNvPr id="18" name="Text 16"/>
          <p:cNvSpPr/>
          <p:nvPr/>
        </p:nvSpPr>
        <p:spPr>
          <a:xfrm>
            <a:off x="1421174" y="279737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Recuperación en dos etapas, cross-encoders, Reciprocal Rank Fusion y optimización de precisión.</a:t>
            </a:r>
            <a:endParaRPr lang="en-US" sz="950" dirty="0"/>
          </a:p>
        </p:txBody>
      </p:sp>
      <p:sp>
        <p:nvSpPr>
          <p:cNvPr id="19" name="Shape 17"/>
          <p:cNvSpPr/>
          <p:nvPr/>
        </p:nvSpPr>
        <p:spPr>
          <a:xfrm>
            <a:off x="927821" y="3290193"/>
            <a:ext cx="372061" cy="12700"/>
          </a:xfrm>
          <a:prstGeom prst="roundRect">
            <a:avLst>
              <a:gd name="adj" fmla="val 49999"/>
            </a:avLst>
          </a:prstGeom>
          <a:solidFill>
            <a:srgbClr val="D8D4D4"/>
          </a:solidFill>
          <a:ln/>
        </p:spPr>
      </p:sp>
      <p:sp>
        <p:nvSpPr>
          <p:cNvPr id="20" name="Shape 18"/>
          <p:cNvSpPr/>
          <p:nvPr/>
        </p:nvSpPr>
        <p:spPr>
          <a:xfrm>
            <a:off x="661425" y="3157041"/>
            <a:ext cx="279095" cy="279102"/>
          </a:xfrm>
          <a:prstGeom prst="roundRect">
            <a:avLst>
              <a:gd name="adj" fmla="val 2730"/>
            </a:avLst>
          </a:prstGeom>
          <a:solidFill>
            <a:srgbClr val="F2EEEE"/>
          </a:solidFill>
          <a:ln w="6350">
            <a:solidFill>
              <a:srgbClr val="D8D4D4"/>
            </a:solidFill>
            <a:prstDash val="solid"/>
          </a:ln>
        </p:spPr>
      </p:sp>
      <p:sp>
        <p:nvSpPr>
          <p:cNvPr id="21" name="Text 19"/>
          <p:cNvSpPr/>
          <p:nvPr/>
        </p:nvSpPr>
        <p:spPr>
          <a:xfrm>
            <a:off x="707908" y="3180259"/>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4</a:t>
            </a:r>
            <a:endParaRPr lang="en-US" sz="1450" dirty="0"/>
          </a:p>
        </p:txBody>
      </p:sp>
      <p:sp>
        <p:nvSpPr>
          <p:cNvPr id="22" name="Text 20"/>
          <p:cNvSpPr/>
          <p:nvPr/>
        </p:nvSpPr>
        <p:spPr>
          <a:xfrm>
            <a:off x="1421174" y="3199606"/>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Chunking y Metadatos</a:t>
            </a:r>
            <a:endParaRPr lang="en-US" sz="1200" dirty="0"/>
          </a:p>
        </p:txBody>
      </p:sp>
      <p:sp>
        <p:nvSpPr>
          <p:cNvPr id="23" name="Text 21"/>
          <p:cNvSpPr/>
          <p:nvPr/>
        </p:nvSpPr>
        <p:spPr>
          <a:xfrm>
            <a:off x="1421174" y="3449141"/>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Fragmentación de documentos, estrategias de chunking y metadatos esenciales.</a:t>
            </a:r>
            <a:endParaRPr lang="en-US" sz="950" dirty="0"/>
          </a:p>
        </p:txBody>
      </p:sp>
      <p:sp>
        <p:nvSpPr>
          <p:cNvPr id="24" name="Shape 22"/>
          <p:cNvSpPr/>
          <p:nvPr/>
        </p:nvSpPr>
        <p:spPr>
          <a:xfrm>
            <a:off x="927821" y="3941961"/>
            <a:ext cx="372061" cy="12700"/>
          </a:xfrm>
          <a:prstGeom prst="roundRect">
            <a:avLst>
              <a:gd name="adj" fmla="val 49999"/>
            </a:avLst>
          </a:prstGeom>
          <a:solidFill>
            <a:srgbClr val="D8D4D4"/>
          </a:solidFill>
          <a:ln/>
        </p:spPr>
      </p:sp>
      <p:sp>
        <p:nvSpPr>
          <p:cNvPr id="25" name="Shape 23"/>
          <p:cNvSpPr/>
          <p:nvPr/>
        </p:nvSpPr>
        <p:spPr>
          <a:xfrm>
            <a:off x="661425" y="3808809"/>
            <a:ext cx="279095" cy="279102"/>
          </a:xfrm>
          <a:prstGeom prst="roundRect">
            <a:avLst>
              <a:gd name="adj" fmla="val 2730"/>
            </a:avLst>
          </a:prstGeom>
          <a:solidFill>
            <a:srgbClr val="F2EEEE"/>
          </a:solidFill>
          <a:ln w="6350">
            <a:solidFill>
              <a:srgbClr val="D8D4D4"/>
            </a:solidFill>
            <a:prstDash val="solid"/>
          </a:ln>
        </p:spPr>
      </p:sp>
      <p:sp>
        <p:nvSpPr>
          <p:cNvPr id="26" name="Text 24"/>
          <p:cNvSpPr/>
          <p:nvPr/>
        </p:nvSpPr>
        <p:spPr>
          <a:xfrm>
            <a:off x="707908" y="3832027"/>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5</a:t>
            </a:r>
            <a:endParaRPr lang="en-US" sz="1450" dirty="0"/>
          </a:p>
        </p:txBody>
      </p:sp>
      <p:sp>
        <p:nvSpPr>
          <p:cNvPr id="27" name="Text 25"/>
          <p:cNvSpPr/>
          <p:nvPr/>
        </p:nvSpPr>
        <p:spPr>
          <a:xfrm>
            <a:off x="1421174" y="3851374"/>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Evaluación, Seguridad y Patrones Avanzados</a:t>
            </a:r>
            <a:endParaRPr lang="en-US" sz="1200" dirty="0"/>
          </a:p>
        </p:txBody>
      </p:sp>
      <p:sp>
        <p:nvSpPr>
          <p:cNvPr id="28" name="Text 26"/>
          <p:cNvSpPr/>
          <p:nvPr/>
        </p:nvSpPr>
        <p:spPr>
          <a:xfrm>
            <a:off x="1421174" y="4100909"/>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Métricas clave, LLM-as-Judge, riesgos, GraphRAG, Agentic RAG y RAG Multimodal.</a:t>
            </a:r>
            <a:endParaRPr lang="en-US" sz="950" dirty="0"/>
          </a:p>
        </p:txBody>
      </p:sp>
      <p:sp>
        <p:nvSpPr>
          <p:cNvPr id="29" name="Shape 27"/>
          <p:cNvSpPr/>
          <p:nvPr/>
        </p:nvSpPr>
        <p:spPr>
          <a:xfrm>
            <a:off x="927821" y="4593729"/>
            <a:ext cx="372061" cy="12700"/>
          </a:xfrm>
          <a:prstGeom prst="roundRect">
            <a:avLst>
              <a:gd name="adj" fmla="val 49999"/>
            </a:avLst>
          </a:prstGeom>
          <a:solidFill>
            <a:srgbClr val="D8D4D4"/>
          </a:solidFill>
          <a:ln/>
        </p:spPr>
      </p:sp>
      <p:sp>
        <p:nvSpPr>
          <p:cNvPr id="30" name="Shape 28"/>
          <p:cNvSpPr/>
          <p:nvPr/>
        </p:nvSpPr>
        <p:spPr>
          <a:xfrm>
            <a:off x="661425" y="4460577"/>
            <a:ext cx="279095" cy="279102"/>
          </a:xfrm>
          <a:prstGeom prst="roundRect">
            <a:avLst>
              <a:gd name="adj" fmla="val 2730"/>
            </a:avLst>
          </a:prstGeom>
          <a:solidFill>
            <a:srgbClr val="F2EEEE"/>
          </a:solidFill>
          <a:ln w="6350">
            <a:solidFill>
              <a:srgbClr val="D8D4D4"/>
            </a:solidFill>
            <a:prstDash val="solid"/>
          </a:ln>
        </p:spPr>
      </p:sp>
      <p:sp>
        <p:nvSpPr>
          <p:cNvPr id="31" name="Text 29"/>
          <p:cNvSpPr/>
          <p:nvPr/>
        </p:nvSpPr>
        <p:spPr>
          <a:xfrm>
            <a:off x="707908" y="448379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6</a:t>
            </a:r>
            <a:endParaRPr lang="en-US" sz="1450" dirty="0"/>
          </a:p>
        </p:txBody>
      </p:sp>
      <p:sp>
        <p:nvSpPr>
          <p:cNvPr id="32" name="Text 30"/>
          <p:cNvSpPr/>
          <p:nvPr/>
        </p:nvSpPr>
        <p:spPr>
          <a:xfrm>
            <a:off x="1421174" y="450314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Fundamentos</a:t>
            </a:r>
            <a:endParaRPr lang="en-US" sz="1200" dirty="0"/>
          </a:p>
        </p:txBody>
      </p:sp>
      <p:sp>
        <p:nvSpPr>
          <p:cNvPr id="33" name="Text 31"/>
          <p:cNvSpPr/>
          <p:nvPr/>
        </p:nvSpPr>
        <p:spPr>
          <a:xfrm>
            <a:off x="1421174" y="4752677"/>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MCP, historia, protocolo JSON-RPC y comparativa con HTTP/GraphQL.</a:t>
            </a:r>
            <a:endParaRPr lang="en-US" sz="950" dirty="0"/>
          </a:p>
        </p:txBody>
      </p:sp>
      <p:sp>
        <p:nvSpPr>
          <p:cNvPr id="34" name="Shape 32"/>
          <p:cNvSpPr/>
          <p:nvPr/>
        </p:nvSpPr>
        <p:spPr>
          <a:xfrm>
            <a:off x="927821" y="5245497"/>
            <a:ext cx="372061" cy="12700"/>
          </a:xfrm>
          <a:prstGeom prst="roundRect">
            <a:avLst>
              <a:gd name="adj" fmla="val 49999"/>
            </a:avLst>
          </a:prstGeom>
          <a:solidFill>
            <a:srgbClr val="D8D4D4"/>
          </a:solidFill>
          <a:ln/>
        </p:spPr>
      </p:sp>
      <p:sp>
        <p:nvSpPr>
          <p:cNvPr id="35" name="Shape 33"/>
          <p:cNvSpPr/>
          <p:nvPr/>
        </p:nvSpPr>
        <p:spPr>
          <a:xfrm>
            <a:off x="661425" y="5112345"/>
            <a:ext cx="279095" cy="279102"/>
          </a:xfrm>
          <a:prstGeom prst="roundRect">
            <a:avLst>
              <a:gd name="adj" fmla="val 2730"/>
            </a:avLst>
          </a:prstGeom>
          <a:solidFill>
            <a:srgbClr val="F2EEEE"/>
          </a:solidFill>
          <a:ln w="6350">
            <a:solidFill>
              <a:srgbClr val="D8D4D4"/>
            </a:solidFill>
            <a:prstDash val="solid"/>
          </a:ln>
        </p:spPr>
      </p:sp>
      <p:sp>
        <p:nvSpPr>
          <p:cNvPr id="36" name="Text 34"/>
          <p:cNvSpPr/>
          <p:nvPr/>
        </p:nvSpPr>
        <p:spPr>
          <a:xfrm>
            <a:off x="707908" y="513556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7</a:t>
            </a:r>
            <a:endParaRPr lang="en-US" sz="1450" dirty="0"/>
          </a:p>
        </p:txBody>
      </p:sp>
      <p:sp>
        <p:nvSpPr>
          <p:cNvPr id="37" name="Text 35"/>
          <p:cNvSpPr/>
          <p:nvPr/>
        </p:nvSpPr>
        <p:spPr>
          <a:xfrm>
            <a:off x="1421174" y="515491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Arquitectura y Uso</a:t>
            </a:r>
            <a:endParaRPr lang="en-US" sz="1200" dirty="0"/>
          </a:p>
        </p:txBody>
      </p:sp>
      <p:sp>
        <p:nvSpPr>
          <p:cNvPr id="38" name="Text 36"/>
          <p:cNvSpPr/>
          <p:nvPr/>
        </p:nvSpPr>
        <p:spPr>
          <a:xfrm>
            <a:off x="1421174" y="540444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Ciclo de vida, multi-servidor, ecosistema, casos de uso con Claude y cómo conectar servidores.</a:t>
            </a:r>
            <a:endParaRPr lang="en-US" sz="950" dirty="0"/>
          </a:p>
        </p:txBody>
      </p:sp>
      <p:sp>
        <p:nvSpPr>
          <p:cNvPr id="39" name="Shape 37"/>
          <p:cNvSpPr/>
          <p:nvPr/>
        </p:nvSpPr>
        <p:spPr>
          <a:xfrm>
            <a:off x="927821" y="5897265"/>
            <a:ext cx="372061" cy="12700"/>
          </a:xfrm>
          <a:prstGeom prst="roundRect">
            <a:avLst>
              <a:gd name="adj" fmla="val 49999"/>
            </a:avLst>
          </a:prstGeom>
          <a:solidFill>
            <a:srgbClr val="D8D4D4"/>
          </a:solidFill>
          <a:ln/>
        </p:spPr>
      </p:sp>
      <p:sp>
        <p:nvSpPr>
          <p:cNvPr id="40" name="Shape 38"/>
          <p:cNvSpPr/>
          <p:nvPr/>
        </p:nvSpPr>
        <p:spPr>
          <a:xfrm>
            <a:off x="661425" y="5764113"/>
            <a:ext cx="279095" cy="279102"/>
          </a:xfrm>
          <a:prstGeom prst="roundRect">
            <a:avLst>
              <a:gd name="adj" fmla="val 2730"/>
            </a:avLst>
          </a:prstGeom>
          <a:solidFill>
            <a:srgbClr val="F2EEEE"/>
          </a:solidFill>
          <a:ln w="6350">
            <a:solidFill>
              <a:srgbClr val="D8D4D4"/>
            </a:solidFill>
            <a:prstDash val="solid"/>
          </a:ln>
        </p:spPr>
      </p:sp>
      <p:sp>
        <p:nvSpPr>
          <p:cNvPr id="41" name="Text 39"/>
          <p:cNvSpPr/>
          <p:nvPr/>
        </p:nvSpPr>
        <p:spPr>
          <a:xfrm>
            <a:off x="707908" y="5787330"/>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8</a:t>
            </a:r>
            <a:endParaRPr lang="en-US" sz="1450" dirty="0"/>
          </a:p>
        </p:txBody>
      </p:sp>
      <p:sp>
        <p:nvSpPr>
          <p:cNvPr id="42" name="Text 40"/>
          <p:cNvSpPr/>
          <p:nvPr/>
        </p:nvSpPr>
        <p:spPr>
          <a:xfrm>
            <a:off x="1421174" y="580667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Diseño de Herramientas</a:t>
            </a:r>
            <a:endParaRPr lang="en-US" sz="1200" dirty="0"/>
          </a:p>
        </p:txBody>
      </p:sp>
      <p:sp>
        <p:nvSpPr>
          <p:cNvPr id="43" name="Text 41"/>
          <p:cNvSpPr/>
          <p:nvPr/>
        </p:nvSpPr>
        <p:spPr>
          <a:xfrm>
            <a:off x="1421174" y="605621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Selección de herramientas, routing jerárquico, grupos por contexto, diferenciación y analytics en producción.</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661475" y="462260"/>
            <a:ext cx="1639152" cy="201116"/>
          </a:xfrm>
          <a:prstGeom prst="roundRect">
            <a:avLst>
              <a:gd name="adj" fmla="val 3789"/>
            </a:avLst>
          </a:prstGeom>
          <a:solidFill>
            <a:srgbClr val="F9D2D6"/>
          </a:solidFill>
          <a:ln/>
        </p:spPr>
      </p:sp>
      <p:sp>
        <p:nvSpPr>
          <p:cNvPr id="3" name="Text 1"/>
          <p:cNvSpPr/>
          <p:nvPr/>
        </p:nvSpPr>
        <p:spPr>
          <a:xfrm>
            <a:off x="740848" y="501948"/>
            <a:ext cx="2089991" cy="121741"/>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Roboto" pitchFamily="34" charset="0"/>
                <a:ea typeface="Roboto" pitchFamily="34" charset="-122"/>
                <a:cs typeface="Roboto" pitchFamily="34" charset="-120"/>
              </a:rPr>
              <a:t>RAG: RERANKING Y PRECISIÓN</a:t>
            </a:r>
            <a:endParaRPr lang="en-US" sz="800" dirty="0"/>
          </a:p>
        </p:txBody>
      </p:sp>
      <p:sp>
        <p:nvSpPr>
          <p:cNvPr id="4" name="Text 2"/>
          <p:cNvSpPr/>
          <p:nvPr/>
        </p:nvSpPr>
        <p:spPr>
          <a:xfrm>
            <a:off x="661475" y="705644"/>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1F1E1E"/>
                </a:solidFill>
                <a:latin typeface="Roboto Mono Medium" pitchFamily="34" charset="0"/>
                <a:ea typeface="Roboto Mono Medium" pitchFamily="34" charset="-122"/>
                <a:cs typeface="Roboto Mono Medium" pitchFamily="34" charset="-120"/>
              </a:rPr>
              <a:t>¿Qué es el Reranking?</a:t>
            </a:r>
            <a:endParaRPr lang="en-US" sz="2600" dirty="0"/>
          </a:p>
        </p:txBody>
      </p:sp>
      <p:sp>
        <p:nvSpPr>
          <p:cNvPr id="5" name="Text 3"/>
          <p:cNvSpPr/>
          <p:nvPr/>
        </p:nvSpPr>
        <p:spPr>
          <a:xfrm>
            <a:off x="859907" y="1396901"/>
            <a:ext cx="11279897" cy="190500"/>
          </a:xfrm>
          <a:prstGeom prst="rect">
            <a:avLst/>
          </a:prstGeom>
          <a:noFill/>
          <a:ln/>
        </p:spPr>
        <p:txBody>
          <a:bodyPr wrap="none" lIns="0" tIns="0" rIns="0" bIns="0" rtlCol="0" anchor="t"/>
          <a:lstStyle/>
          <a:p>
            <a:pPr algn="l" indent="0" marL="0">
              <a:lnSpc>
                <a:spcPct val="120000"/>
              </a:lnSpc>
              <a:buNone/>
            </a:pPr>
            <a:r>
              <a:rPr lang="en-US" sz="1000" dirty="0">
                <a:solidFill>
                  <a:srgbClr val="000000"/>
                </a:solidFill>
                <a:latin typeface="Roboto" pitchFamily="34" charset="0"/>
                <a:ea typeface="Roboto" pitchFamily="34" charset="-122"/>
                <a:cs typeface="Roboto" pitchFamily="34" charset="-120"/>
              </a:rPr>
              <a:t>💡</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La recuperación rápida encuentra candidatos pero los rankea mal. El reranking filtra el ruido y se queda solo con los documentos verdaderamente relevantes.</a:t>
            </a:r>
            <a:endParaRPr lang="en-US" sz="1000" dirty="0"/>
          </a:p>
        </p:txBody>
      </p:sp>
      <p:sp>
        <p:nvSpPr>
          <p:cNvPr id="6" name="Shape 4"/>
          <p:cNvSpPr/>
          <p:nvPr/>
        </p:nvSpPr>
        <p:spPr>
          <a:xfrm>
            <a:off x="661475" y="1277838"/>
            <a:ext cx="19050" cy="428625"/>
          </a:xfrm>
          <a:prstGeom prst="roundRect">
            <a:avLst>
              <a:gd name="adj" fmla="val 49999"/>
            </a:avLst>
          </a:prstGeom>
          <a:solidFill>
            <a:srgbClr val="DA1B2E"/>
          </a:solidFill>
          <a:ln/>
        </p:spPr>
      </p:sp>
      <p:sp>
        <p:nvSpPr>
          <p:cNvPr id="7" name="Shape 5"/>
          <p:cNvSpPr/>
          <p:nvPr/>
        </p:nvSpPr>
        <p:spPr>
          <a:xfrm>
            <a:off x="566227" y="1825526"/>
            <a:ext cx="5463542" cy="2639715"/>
          </a:xfrm>
          <a:prstGeom prst="roundRect">
            <a:avLst>
              <a:gd name="adj" fmla="val 752"/>
            </a:avLst>
          </a:prstGeom>
          <a:solidFill>
            <a:srgbClr val="F7F7F2">
              <a:alpha val="95000"/>
            </a:srgbClr>
          </a:solidFill>
          <a:ln/>
        </p:spPr>
      </p:sp>
      <p:sp>
        <p:nvSpPr>
          <p:cNvPr id="8" name="Text 6"/>
          <p:cNvSpPr/>
          <p:nvPr/>
        </p:nvSpPr>
        <p:spPr>
          <a:xfrm>
            <a:off x="698483" y="1931293"/>
            <a:ext cx="5199032" cy="206673"/>
          </a:xfrm>
          <a:prstGeom prst="rect">
            <a:avLst/>
          </a:prstGeom>
          <a:noFill/>
          <a:ln/>
        </p:spPr>
        <p:txBody>
          <a:bodyPr wrap="none" lIns="0" tIns="0" rIns="0" bIns="0" rtlCol="0" anchor="t"/>
          <a:lstStyle/>
          <a:p>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Etapa 1: Recuperación rápida (Recall)</a:t>
            </a:r>
            <a:endParaRPr lang="en-US" sz="1300" dirty="0"/>
          </a:p>
        </p:txBody>
      </p:sp>
      <p:sp>
        <p:nvSpPr>
          <p:cNvPr id="9" name="Text 7"/>
          <p:cNvSpPr/>
          <p:nvPr/>
        </p:nvSpPr>
        <p:spPr>
          <a:xfrm>
            <a:off x="698483" y="2180233"/>
            <a:ext cx="5199032" cy="413345"/>
          </a:xfrm>
          <a:prstGeom prst="rect">
            <a:avLst/>
          </a:prstGeom>
          <a:noFill/>
          <a:ln/>
        </p:spPr>
        <p:txBody>
          <a:bodyPr wrap="square" lIns="0" tIns="0" rIns="0" bIns="0" rtlCol="0" anchor="t">
            <a:normAutofit/>
          </a:bodyPr>
          <a:lstStyle/>
          <a:p>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Objetivo: No perder documentos relevantes — red amplia</a:t>
            </a:r>
            <a:endParaRPr lang="en-US" sz="1300" dirty="0"/>
          </a:p>
        </p:txBody>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8091" y="2719189"/>
            <a:ext cx="198433" cy="198438"/>
          </a:xfrm>
          <a:prstGeom prst="rect">
            <a:avLst/>
          </a:prstGeom>
        </p:spPr>
      </p:pic>
      <p:sp>
        <p:nvSpPr>
          <p:cNvPr id="11" name="Text 8"/>
          <p:cNvSpPr/>
          <p:nvPr/>
        </p:nvSpPr>
        <p:spPr>
          <a:xfrm>
            <a:off x="1128387" y="2712641"/>
            <a:ext cx="4769128"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Método:</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BM25 léxico + búsqueda vectorial en paralelo</a:t>
            </a:r>
            <a:endParaRPr lang="en-US" sz="100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8091" y="3334246"/>
            <a:ext cx="198433" cy="198438"/>
          </a:xfrm>
          <a:prstGeom prst="rect">
            <a:avLst/>
          </a:prstGeom>
        </p:spPr>
      </p:pic>
      <p:sp>
        <p:nvSpPr>
          <p:cNvPr id="13" name="Text 9"/>
          <p:cNvSpPr/>
          <p:nvPr/>
        </p:nvSpPr>
        <p:spPr>
          <a:xfrm>
            <a:off x="1128387" y="3327698"/>
            <a:ext cx="4769128"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Resultado:</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top-50 candidatos recuperados rápidamente</a:t>
            </a:r>
            <a:endParaRPr lang="en-US" sz="100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8091" y="3949303"/>
            <a:ext cx="198433" cy="198438"/>
          </a:xfrm>
          <a:prstGeom prst="rect">
            <a:avLst/>
          </a:prstGeom>
        </p:spPr>
      </p:pic>
      <p:sp>
        <p:nvSpPr>
          <p:cNvPr id="15" name="Text 10"/>
          <p:cNvSpPr/>
          <p:nvPr/>
        </p:nvSpPr>
        <p:spPr>
          <a:xfrm>
            <a:off x="1128387" y="3942755"/>
            <a:ext cx="4769128"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Trade-off:</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rápido pero incluye ruido e irrelevantes</a:t>
            </a:r>
            <a:endParaRPr lang="en-US" sz="1000" dirty="0"/>
          </a:p>
        </p:txBody>
      </p:sp>
      <p:sp>
        <p:nvSpPr>
          <p:cNvPr id="16" name="Shape 11"/>
          <p:cNvSpPr/>
          <p:nvPr/>
        </p:nvSpPr>
        <p:spPr>
          <a:xfrm>
            <a:off x="6168275" y="1825526"/>
            <a:ext cx="5463542" cy="2639715"/>
          </a:xfrm>
          <a:prstGeom prst="roundRect">
            <a:avLst>
              <a:gd name="adj" fmla="val 752"/>
            </a:avLst>
          </a:prstGeom>
          <a:solidFill>
            <a:srgbClr val="F0F4F8">
              <a:alpha val="95000"/>
            </a:srgbClr>
          </a:solidFill>
          <a:ln/>
        </p:spPr>
      </p:sp>
      <p:sp>
        <p:nvSpPr>
          <p:cNvPr id="17" name="Text 12"/>
          <p:cNvSpPr/>
          <p:nvPr/>
        </p:nvSpPr>
        <p:spPr>
          <a:xfrm>
            <a:off x="6300531" y="1931293"/>
            <a:ext cx="5199032" cy="206673"/>
          </a:xfrm>
          <a:prstGeom prst="rect">
            <a:avLst/>
          </a:prstGeom>
          <a:noFill/>
          <a:ln/>
        </p:spPr>
        <p:txBody>
          <a:bodyPr wrap="none" lIns="0" tIns="0" rIns="0" bIns="0" rtlCol="0" anchor="t"/>
          <a:lstStyle/>
          <a:p>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Etapa 2: Reranking (Precision)</a:t>
            </a:r>
            <a:endParaRPr lang="en-US" sz="1300" dirty="0"/>
          </a:p>
        </p:txBody>
      </p:sp>
      <p:sp>
        <p:nvSpPr>
          <p:cNvPr id="18" name="Text 13"/>
          <p:cNvSpPr/>
          <p:nvPr/>
        </p:nvSpPr>
        <p:spPr>
          <a:xfrm>
            <a:off x="6300531" y="2180233"/>
            <a:ext cx="5199032" cy="413345"/>
          </a:xfrm>
          <a:prstGeom prst="rect">
            <a:avLst/>
          </a:prstGeom>
          <a:noFill/>
          <a:ln/>
        </p:spPr>
        <p:txBody>
          <a:bodyPr wrap="square" lIns="0" tIns="0" rIns="0" bIns="0" rtlCol="0" anchor="t">
            <a:normAutofit/>
          </a:bodyPr>
          <a:lstStyle/>
          <a:p>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Objetivo: Quedarse solo con los mejores — filtrar el ruido</a:t>
            </a:r>
            <a:endParaRPr lang="en-US" sz="1300" dirty="0"/>
          </a:p>
        </p:txBody>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0139" y="2719189"/>
            <a:ext cx="198433" cy="198438"/>
          </a:xfrm>
          <a:prstGeom prst="rect">
            <a:avLst/>
          </a:prstGeom>
        </p:spPr>
      </p:pic>
      <p:sp>
        <p:nvSpPr>
          <p:cNvPr id="20" name="Text 14"/>
          <p:cNvSpPr/>
          <p:nvPr/>
        </p:nvSpPr>
        <p:spPr>
          <a:xfrm>
            <a:off x="6730435" y="2712641"/>
            <a:ext cx="4769128"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Método:</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Cross-encoder analiza cada candidato en profundidad</a:t>
            </a:r>
            <a:endParaRPr lang="en-US" sz="1000" dirty="0"/>
          </a:p>
        </p:txBody>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50139" y="3334246"/>
            <a:ext cx="198433" cy="198438"/>
          </a:xfrm>
          <a:prstGeom prst="rect">
            <a:avLst/>
          </a:prstGeom>
        </p:spPr>
      </p:pic>
      <p:sp>
        <p:nvSpPr>
          <p:cNvPr id="22" name="Text 15"/>
          <p:cNvSpPr/>
          <p:nvPr/>
        </p:nvSpPr>
        <p:spPr>
          <a:xfrm>
            <a:off x="6730435" y="3327698"/>
            <a:ext cx="4769128"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Resultado:</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top-3 a top-5 documentos de alta precisión</a:t>
            </a:r>
            <a:endParaRPr lang="en-US" sz="1000" dirty="0"/>
          </a:p>
        </p:txBody>
      </p:sp>
      <p:pic>
        <p:nvPicPr>
          <p:cNvPr id="2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50139" y="3949303"/>
            <a:ext cx="198433" cy="198438"/>
          </a:xfrm>
          <a:prstGeom prst="rect">
            <a:avLst/>
          </a:prstGeom>
        </p:spPr>
      </p:pic>
      <p:sp>
        <p:nvSpPr>
          <p:cNvPr id="24" name="Text 16"/>
          <p:cNvSpPr/>
          <p:nvPr/>
        </p:nvSpPr>
        <p:spPr>
          <a:xfrm>
            <a:off x="6730435" y="3942755"/>
            <a:ext cx="4769128" cy="190500"/>
          </a:xfrm>
          <a:prstGeom prst="rect">
            <a:avLst/>
          </a:prstGeom>
          <a:noFill/>
          <a:ln/>
        </p:spPr>
        <p:txBody>
          <a:bodyPr wrap="none" lIns="0" tIns="0" rIns="0" bIns="0" rtlCol="0" anchor="t"/>
          <a:lstStyle/>
          <a:p>
            <a:pPr algn="l" indent="0" marL="0">
              <a:lnSpc>
                <a:spcPct val="120000"/>
              </a:lnSpc>
              <a:buNone/>
            </a:pPr>
            <a:r>
              <a:rPr lang="en-US" sz="1000" b="1" dirty="0">
                <a:solidFill>
                  <a:srgbClr val="3B3535"/>
                </a:solidFill>
                <a:latin typeface="Roboto Bold" pitchFamily="34" charset="0"/>
                <a:ea typeface="Roboto Bold" pitchFamily="34" charset="-122"/>
                <a:cs typeface="Roboto Bold" pitchFamily="34" charset="-120"/>
              </a:rPr>
              <a:t>Trade-off:</a:t>
            </a:r>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 más lento pero mucho más preciso en relevancia</a:t>
            </a:r>
            <a:endParaRPr lang="en-US" sz="1000" dirty="0"/>
          </a:p>
        </p:txBody>
      </p:sp>
      <p:sp>
        <p:nvSpPr>
          <p:cNvPr id="25" name="Shape 17"/>
          <p:cNvSpPr/>
          <p:nvPr/>
        </p:nvSpPr>
        <p:spPr>
          <a:xfrm>
            <a:off x="661475" y="4650383"/>
            <a:ext cx="2232465" cy="165298"/>
          </a:xfrm>
          <a:prstGeom prst="roundRect">
            <a:avLst>
              <a:gd name="adj" fmla="val 4610"/>
            </a:avLst>
          </a:prstGeom>
          <a:solidFill>
            <a:srgbClr val="F2EEEE"/>
          </a:solidFill>
          <a:ln w="6350">
            <a:solidFill>
              <a:srgbClr val="D8D4D4"/>
            </a:solidFill>
            <a:prstDash val="solid"/>
          </a:ln>
        </p:spPr>
      </p:sp>
      <p:sp>
        <p:nvSpPr>
          <p:cNvPr id="26" name="Shape 18"/>
          <p:cNvSpPr/>
          <p:nvPr/>
        </p:nvSpPr>
        <p:spPr>
          <a:xfrm>
            <a:off x="661475" y="4650383"/>
            <a:ext cx="2232465" cy="165298"/>
          </a:xfrm>
          <a:prstGeom prst="roundRect">
            <a:avLst>
              <a:gd name="adj" fmla="val 4610"/>
            </a:avLst>
          </a:prstGeom>
          <a:solidFill>
            <a:srgbClr val="DA1B2E"/>
          </a:solidFill>
          <a:ln/>
        </p:spPr>
      </p:sp>
      <p:sp>
        <p:nvSpPr>
          <p:cNvPr id="27" name="Text 19"/>
          <p:cNvSpPr/>
          <p:nvPr/>
        </p:nvSpPr>
        <p:spPr>
          <a:xfrm>
            <a:off x="2993156" y="4650284"/>
            <a:ext cx="495982" cy="165398"/>
          </a:xfrm>
          <a:prstGeom prst="rect">
            <a:avLst/>
          </a:prstGeom>
          <a:noFill/>
          <a:ln/>
        </p:spPr>
        <p:txBody>
          <a:bodyPr wrap="none" lIns="0" tIns="0" rIns="0" bIns="0" rtlCol="0" anchor="t"/>
          <a:lstStyle/>
          <a:p>
            <a:pPr algn="l" indent="0" marL="0">
              <a:lnSpc>
                <a:spcPct val="83000"/>
              </a:lnSpc>
              <a:buNone/>
            </a:pPr>
            <a:r>
              <a:rPr lang="en-US" sz="1300" dirty="0">
                <a:solidFill>
                  <a:srgbClr val="3B3535"/>
                </a:solidFill>
                <a:latin typeface="Roboto Mono Medium" pitchFamily="34" charset="0"/>
                <a:ea typeface="Roboto Mono Medium" pitchFamily="34" charset="-122"/>
                <a:cs typeface="Roboto Mono Medium" pitchFamily="34" charset="-120"/>
              </a:rPr>
              <a:t>100K+</a:t>
            </a:r>
            <a:endParaRPr lang="en-US" sz="1300" dirty="0"/>
          </a:p>
        </p:txBody>
      </p:sp>
      <p:sp>
        <p:nvSpPr>
          <p:cNvPr id="28" name="Text 20"/>
          <p:cNvSpPr/>
          <p:nvPr/>
        </p:nvSpPr>
        <p:spPr>
          <a:xfrm>
            <a:off x="661475" y="4961136"/>
            <a:ext cx="3534679"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docs</a:t>
            </a:r>
            <a:endParaRPr lang="en-US" sz="1000" dirty="0"/>
          </a:p>
        </p:txBody>
      </p:sp>
      <p:sp>
        <p:nvSpPr>
          <p:cNvPr id="29" name="Text 21"/>
          <p:cNvSpPr/>
          <p:nvPr/>
        </p:nvSpPr>
        <p:spPr>
          <a:xfrm>
            <a:off x="661475" y="5215136"/>
            <a:ext cx="3534679" cy="413345"/>
          </a:xfrm>
          <a:prstGeom prst="rect">
            <a:avLst/>
          </a:prstGeom>
          <a:noFill/>
          <a:ln/>
        </p:spPr>
        <p:txBody>
          <a:bodyPr wrap="square" lIns="0" tIns="0" rIns="0" bIns="0" rtlCol="0" anchor="t">
            <a:normAutofit/>
          </a:bodyPr>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Corpus total (búsqueda rápida lo maneja)</a:t>
            </a:r>
            <a:endParaRPr lang="en-US" sz="1300" dirty="0"/>
          </a:p>
        </p:txBody>
      </p:sp>
      <p:sp>
        <p:nvSpPr>
          <p:cNvPr id="30" name="Shape 22"/>
          <p:cNvSpPr/>
          <p:nvPr/>
        </p:nvSpPr>
        <p:spPr>
          <a:xfrm>
            <a:off x="4328409" y="4650383"/>
            <a:ext cx="2530114" cy="165298"/>
          </a:xfrm>
          <a:prstGeom prst="roundRect">
            <a:avLst>
              <a:gd name="adj" fmla="val 4610"/>
            </a:avLst>
          </a:prstGeom>
          <a:solidFill>
            <a:srgbClr val="F2EEEE"/>
          </a:solidFill>
          <a:ln w="6350">
            <a:solidFill>
              <a:srgbClr val="D8D4D4"/>
            </a:solidFill>
            <a:prstDash val="solid"/>
          </a:ln>
        </p:spPr>
      </p:sp>
      <p:sp>
        <p:nvSpPr>
          <p:cNvPr id="31" name="Shape 23"/>
          <p:cNvSpPr/>
          <p:nvPr/>
        </p:nvSpPr>
        <p:spPr>
          <a:xfrm>
            <a:off x="4328409" y="4650383"/>
            <a:ext cx="1265007" cy="165298"/>
          </a:xfrm>
          <a:prstGeom prst="roundRect">
            <a:avLst>
              <a:gd name="adj" fmla="val 4610"/>
            </a:avLst>
          </a:prstGeom>
          <a:solidFill>
            <a:srgbClr val="DA1B2E"/>
          </a:solidFill>
          <a:ln/>
        </p:spPr>
      </p:sp>
      <p:sp>
        <p:nvSpPr>
          <p:cNvPr id="32" name="Text 24"/>
          <p:cNvSpPr/>
          <p:nvPr/>
        </p:nvSpPr>
        <p:spPr>
          <a:xfrm>
            <a:off x="6957739" y="4650284"/>
            <a:ext cx="198433" cy="165398"/>
          </a:xfrm>
          <a:prstGeom prst="rect">
            <a:avLst/>
          </a:prstGeom>
          <a:noFill/>
          <a:ln/>
        </p:spPr>
        <p:txBody>
          <a:bodyPr wrap="none" lIns="0" tIns="0" rIns="0" bIns="0" rtlCol="0" anchor="t"/>
          <a:lstStyle/>
          <a:p>
            <a:pPr algn="l" indent="0" marL="0">
              <a:lnSpc>
                <a:spcPct val="83000"/>
              </a:lnSpc>
              <a:buNone/>
            </a:pPr>
            <a:r>
              <a:rPr lang="en-US" sz="1300" dirty="0">
                <a:solidFill>
                  <a:srgbClr val="3B3535"/>
                </a:solidFill>
                <a:latin typeface="Roboto Mono Medium" pitchFamily="34" charset="0"/>
                <a:ea typeface="Roboto Mono Medium" pitchFamily="34" charset="-122"/>
                <a:cs typeface="Roboto Mono Medium" pitchFamily="34" charset="-120"/>
              </a:rPr>
              <a:t>50</a:t>
            </a:r>
            <a:endParaRPr lang="en-US" sz="1300" dirty="0"/>
          </a:p>
        </p:txBody>
      </p:sp>
      <p:sp>
        <p:nvSpPr>
          <p:cNvPr id="33" name="Text 25"/>
          <p:cNvSpPr/>
          <p:nvPr/>
        </p:nvSpPr>
        <p:spPr>
          <a:xfrm>
            <a:off x="4328409" y="4961136"/>
            <a:ext cx="3534778" cy="190500"/>
          </a:xfrm>
          <a:prstGeom prst="rect">
            <a:avLst/>
          </a:prstGeom>
          <a:noFill/>
          <a:ln/>
        </p:spPr>
        <p:txBody>
          <a:bodyPr wrap="none" lIns="0" tIns="0" rIns="0" bIns="0" rtlCol="0" anchor="t"/>
          <a:lstStyle/>
          <a:p>
            <a:pPr algn="l" indent="0" marL="0">
              <a:lnSpc>
                <a:spcPct val="120000"/>
              </a:lnSpc>
              <a:buNone/>
            </a:pPr>
            <a:endParaRPr lang="en-US" sz="1000" dirty="0"/>
          </a:p>
        </p:txBody>
      </p:sp>
      <p:sp>
        <p:nvSpPr>
          <p:cNvPr id="34" name="Text 26"/>
          <p:cNvSpPr/>
          <p:nvPr/>
        </p:nvSpPr>
        <p:spPr>
          <a:xfrm>
            <a:off x="4328409" y="5215136"/>
            <a:ext cx="3534778"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Candidatos tras Stage 1</a:t>
            </a:r>
            <a:endParaRPr lang="en-US" sz="1300" dirty="0"/>
          </a:p>
        </p:txBody>
      </p:sp>
      <p:sp>
        <p:nvSpPr>
          <p:cNvPr id="35" name="Shape 27"/>
          <p:cNvSpPr/>
          <p:nvPr/>
        </p:nvSpPr>
        <p:spPr>
          <a:xfrm>
            <a:off x="7995442" y="4650383"/>
            <a:ext cx="2563153" cy="165298"/>
          </a:xfrm>
          <a:prstGeom prst="roundRect">
            <a:avLst>
              <a:gd name="adj" fmla="val 4610"/>
            </a:avLst>
          </a:prstGeom>
          <a:solidFill>
            <a:srgbClr val="F2EEEE"/>
          </a:solidFill>
          <a:ln w="6350">
            <a:solidFill>
              <a:srgbClr val="D8D4D4"/>
            </a:solidFill>
            <a:prstDash val="solid"/>
          </a:ln>
        </p:spPr>
      </p:sp>
      <p:sp>
        <p:nvSpPr>
          <p:cNvPr id="36" name="Shape 28"/>
          <p:cNvSpPr/>
          <p:nvPr/>
        </p:nvSpPr>
        <p:spPr>
          <a:xfrm>
            <a:off x="7995442" y="4650383"/>
            <a:ext cx="128088" cy="165298"/>
          </a:xfrm>
          <a:prstGeom prst="roundRect">
            <a:avLst>
              <a:gd name="adj" fmla="val 5949"/>
            </a:avLst>
          </a:prstGeom>
          <a:solidFill>
            <a:srgbClr val="DA1B2E"/>
          </a:solidFill>
          <a:ln/>
        </p:spPr>
      </p:sp>
      <p:sp>
        <p:nvSpPr>
          <p:cNvPr id="37" name="Text 29"/>
          <p:cNvSpPr/>
          <p:nvPr/>
        </p:nvSpPr>
        <p:spPr>
          <a:xfrm>
            <a:off x="10657811" y="4650284"/>
            <a:ext cx="165294" cy="165398"/>
          </a:xfrm>
          <a:prstGeom prst="rect">
            <a:avLst/>
          </a:prstGeom>
          <a:noFill/>
          <a:ln/>
        </p:spPr>
        <p:txBody>
          <a:bodyPr wrap="none" lIns="0" tIns="0" rIns="0" bIns="0" rtlCol="0" anchor="t"/>
          <a:lstStyle/>
          <a:p>
            <a:pPr algn="l" indent="0" marL="0">
              <a:lnSpc>
                <a:spcPct val="83000"/>
              </a:lnSpc>
              <a:buNone/>
            </a:pPr>
            <a:r>
              <a:rPr lang="en-US" sz="1300" dirty="0">
                <a:solidFill>
                  <a:srgbClr val="3B3535"/>
                </a:solidFill>
                <a:latin typeface="Roboto Mono Medium" pitchFamily="34" charset="0"/>
                <a:ea typeface="Roboto Mono Medium" pitchFamily="34" charset="-122"/>
                <a:cs typeface="Roboto Mono Medium" pitchFamily="34" charset="-120"/>
              </a:rPr>
              <a:t>5</a:t>
            </a:r>
            <a:endParaRPr lang="en-US" sz="1300" dirty="0"/>
          </a:p>
        </p:txBody>
      </p:sp>
      <p:sp>
        <p:nvSpPr>
          <p:cNvPr id="38" name="Text 30"/>
          <p:cNvSpPr/>
          <p:nvPr/>
        </p:nvSpPr>
        <p:spPr>
          <a:xfrm>
            <a:off x="7995442" y="4961136"/>
            <a:ext cx="3534679" cy="190500"/>
          </a:xfrm>
          <a:prstGeom prst="rect">
            <a:avLst/>
          </a:prstGeom>
          <a:noFill/>
          <a:ln/>
        </p:spPr>
        <p:txBody>
          <a:bodyPr wrap="none" lIns="0" tIns="0" rIns="0" bIns="0" rtlCol="0" anchor="t"/>
          <a:lstStyle/>
          <a:p>
            <a:pPr algn="l" indent="0" marL="0">
              <a:lnSpc>
                <a:spcPct val="120000"/>
              </a:lnSpc>
              <a:buNone/>
            </a:pPr>
            <a:endParaRPr lang="en-US" sz="1000" dirty="0"/>
          </a:p>
        </p:txBody>
      </p:sp>
      <p:sp>
        <p:nvSpPr>
          <p:cNvPr id="39" name="Text 31"/>
          <p:cNvSpPr/>
          <p:nvPr/>
        </p:nvSpPr>
        <p:spPr>
          <a:xfrm>
            <a:off x="7995442" y="5215136"/>
            <a:ext cx="3534679" cy="21302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Resultado final tras Reranking </a:t>
            </a:r>
            <a:pPr algn="l" indent="0" marL="0">
              <a:lnSpc>
                <a:spcPct val="104000"/>
              </a:lnSpc>
              <a:buNone/>
            </a:pPr>
            <a:r>
              <a:rPr lang="en-US" sz="1300" dirty="0">
                <a:solidFill>
                  <a:srgbClr val="000000"/>
                </a:solidFill>
                <a:latin typeface="Twemoji Mozilla" pitchFamily="34" charset="0"/>
                <a:ea typeface="Twemoji Mozilla" pitchFamily="34" charset="-122"/>
                <a:cs typeface="Twemoji Mozilla" pitchFamily="34" charset="-120"/>
              </a:rPr>
              <a:t>⭐</a:t>
            </a:r>
            <a:endParaRPr lang="en-US" sz="1300" dirty="0"/>
          </a:p>
        </p:txBody>
      </p:sp>
      <p:sp>
        <p:nvSpPr>
          <p:cNvPr id="40" name="Shape 32"/>
          <p:cNvSpPr/>
          <p:nvPr/>
        </p:nvSpPr>
        <p:spPr>
          <a:xfrm>
            <a:off x="661475" y="5747544"/>
            <a:ext cx="10868745" cy="648097"/>
          </a:xfrm>
          <a:prstGeom prst="roundRect">
            <a:avLst>
              <a:gd name="adj" fmla="val 1176"/>
            </a:avLst>
          </a:prstGeom>
          <a:solidFill>
            <a:srgbClr val="F9D2D6"/>
          </a:solidFill>
          <a:ln/>
        </p:spPr>
      </p:sp>
      <p:pic>
        <p:nvPicPr>
          <p:cNvPr id="41" name="Image 6" descr="preencoded.png">    </p:cNvPr>
          <p:cNvPicPr>
            <a:picLocks noChangeAspect="1"/>
          </p:cNvPicPr>
          <p:nvPr/>
        </p:nvPicPr>
        <p:blipFill>
          <a:blip r:embed="rId13"/>
          <a:stretch>
            <a:fillRect/>
          </a:stretch>
        </p:blipFill>
        <p:spPr>
          <a:xfrm>
            <a:off x="793730" y="5903913"/>
            <a:ext cx="165294" cy="132259"/>
          </a:xfrm>
          <a:prstGeom prst="rect">
            <a:avLst/>
          </a:prstGeom>
        </p:spPr>
      </p:pic>
      <p:sp>
        <p:nvSpPr>
          <p:cNvPr id="42" name="Text 33"/>
          <p:cNvSpPr/>
          <p:nvPr/>
        </p:nvSpPr>
        <p:spPr>
          <a:xfrm>
            <a:off x="1091280" y="5886351"/>
            <a:ext cx="10306685"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000000"/>
                </a:solidFill>
                <a:latin typeface="Roboto" pitchFamily="34" charset="0"/>
                <a:ea typeface="Roboto" pitchFamily="34" charset="-122"/>
                <a:cs typeface="Roboto" pitchFamily="34" charset="-120"/>
              </a:rPr>
              <a:t>💡</a:t>
            </a:r>
            <a:pPr algn="l" indent="0" marL="0">
              <a:lnSpc>
                <a:spcPct val="120000"/>
              </a:lnSpc>
              <a:buNone/>
            </a:pPr>
            <a:r>
              <a:rPr lang="en-US" sz="1000" dirty="0">
                <a:solidFill>
                  <a:srgbClr val="000000"/>
                </a:solidFill>
                <a:latin typeface="Roboto" pitchFamily="34" charset="0"/>
                <a:ea typeface="Roboto" pitchFamily="34" charset="-122"/>
                <a:cs typeface="Roboto" pitchFamily="34" charset="-120"/>
              </a:rPr>
              <a:t> ¿Por qué funciona? Los retrievers rápidos son buenos encontrando candidatos pero malos rankeándolos. Los cross-encoders son excelentes rankeando pero demasiado lentos para miles de documentos. Combinados: velocidad + precisión.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661475" y="561677"/>
            <a:ext cx="1331681" cy="163413"/>
          </a:xfrm>
          <a:prstGeom prst="roundRect">
            <a:avLst>
              <a:gd name="adj" fmla="val 4663"/>
            </a:avLst>
          </a:prstGeom>
          <a:solidFill>
            <a:srgbClr val="F9D2D6"/>
          </a:solidFill>
          <a:ln/>
        </p:spPr>
      </p:sp>
      <p:sp>
        <p:nvSpPr>
          <p:cNvPr id="3" name="Text 1"/>
          <p:cNvSpPr/>
          <p:nvPr/>
        </p:nvSpPr>
        <p:spPr>
          <a:xfrm>
            <a:off x="725965" y="593923"/>
            <a:ext cx="1812284" cy="98921"/>
          </a:xfrm>
          <a:prstGeom prst="rect">
            <a:avLst/>
          </a:prstGeom>
          <a:noFill/>
          <a:ln/>
        </p:spPr>
        <p:txBody>
          <a:bodyPr wrap="none" lIns="0" tIns="0" rIns="0" bIns="0" rtlCol="0" anchor="t"/>
          <a:lstStyle/>
          <a:p>
            <a:pPr algn="l" indent="0" marL="0">
              <a:lnSpc>
                <a:spcPct val="96000"/>
              </a:lnSpc>
              <a:buNone/>
            </a:pPr>
            <a:r>
              <a:rPr lang="en-US" sz="650" dirty="0">
                <a:solidFill>
                  <a:srgbClr val="3B3535"/>
                </a:solidFill>
                <a:latin typeface="Roboto" pitchFamily="34" charset="0"/>
                <a:ea typeface="Roboto" pitchFamily="34" charset="-122"/>
                <a:cs typeface="Roboto" pitchFamily="34" charset="-120"/>
              </a:rPr>
              <a:t>RAG: RERANKING Y PRECISIÓN</a:t>
            </a:r>
            <a:endParaRPr lang="en-US" sz="650" dirty="0"/>
          </a:p>
        </p:txBody>
      </p:sp>
      <p:sp>
        <p:nvSpPr>
          <p:cNvPr id="4" name="Text 2"/>
          <p:cNvSpPr/>
          <p:nvPr/>
        </p:nvSpPr>
        <p:spPr>
          <a:xfrm>
            <a:off x="661475" y="752971"/>
            <a:ext cx="10868745" cy="335955"/>
          </a:xfrm>
          <a:prstGeom prst="rect">
            <a:avLst/>
          </a:prstGeom>
          <a:noFill/>
          <a:ln/>
        </p:spPr>
        <p:txBody>
          <a:bodyPr wrap="none" lIns="0" tIns="0" rIns="0" bIns="0" rtlCol="0" anchor="t"/>
          <a:lstStyle/>
          <a:p>
            <a:pPr algn="l" indent="0" marL="0">
              <a:lnSpc>
                <a:spcPct val="104000"/>
              </a:lnSpc>
              <a:buNone/>
            </a:pPr>
            <a:r>
              <a:rPr lang="en-US" sz="2100" dirty="0">
                <a:solidFill>
                  <a:srgbClr val="1F1E1E"/>
                </a:solidFill>
                <a:latin typeface="Roboto Mono Medium" pitchFamily="34" charset="0"/>
                <a:ea typeface="Roboto Mono Medium" pitchFamily="34" charset="-122"/>
                <a:cs typeface="Roboto Mono Medium" pitchFamily="34" charset="-120"/>
              </a:rPr>
              <a:t>Pipeline completo: Retrieval + RRF + Reranking</a:t>
            </a:r>
            <a:endParaRPr lang="en-US" sz="2100" dirty="0"/>
          </a:p>
        </p:txBody>
      </p:sp>
      <p:sp>
        <p:nvSpPr>
          <p:cNvPr id="5" name="Text 3"/>
          <p:cNvSpPr/>
          <p:nvPr/>
        </p:nvSpPr>
        <p:spPr>
          <a:xfrm>
            <a:off x="822701" y="1272282"/>
            <a:ext cx="11317104"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El pipeline combina recuperación léxica y semántica en paralelo, fusiona los resultados con RRF, y aplica un cross-encoder para quedarse con los top-5 más precisos.</a:t>
            </a:r>
            <a:endParaRPr lang="en-US" sz="800" dirty="0"/>
          </a:p>
        </p:txBody>
      </p:sp>
      <p:sp>
        <p:nvSpPr>
          <p:cNvPr id="6" name="Shape 4"/>
          <p:cNvSpPr/>
          <p:nvPr/>
        </p:nvSpPr>
        <p:spPr>
          <a:xfrm>
            <a:off x="661475" y="1193701"/>
            <a:ext cx="12700" cy="299045"/>
          </a:xfrm>
          <a:prstGeom prst="roundRect">
            <a:avLst>
              <a:gd name="adj" fmla="val 49999"/>
            </a:avLst>
          </a:prstGeom>
          <a:solidFill>
            <a:srgbClr val="DA1B2E"/>
          </a:solidFill>
          <a:ln/>
        </p:spPr>
      </p:sp>
      <p:pic>
        <p:nvPicPr>
          <p:cNvPr id="7" name="Image 0" descr="preencoded.png">    </p:cNvPr>
          <p:cNvPicPr>
            <a:picLocks noChangeAspect="1"/>
          </p:cNvPicPr>
          <p:nvPr/>
        </p:nvPicPr>
        <p:blipFill>
          <a:blip r:embed="rId1"/>
          <a:stretch>
            <a:fillRect/>
          </a:stretch>
        </p:blipFill>
        <p:spPr>
          <a:xfrm>
            <a:off x="661475" y="1732558"/>
            <a:ext cx="5399449" cy="952500"/>
          </a:xfrm>
          <a:prstGeom prst="rect">
            <a:avLst/>
          </a:prstGeom>
        </p:spPr>
      </p:pic>
      <p:sp>
        <p:nvSpPr>
          <p:cNvPr id="8" name="Text 5"/>
          <p:cNvSpPr/>
          <p:nvPr/>
        </p:nvSpPr>
        <p:spPr>
          <a:xfrm>
            <a:off x="768926" y="2124869"/>
            <a:ext cx="5184546" cy="1678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oboto Mono Medium" pitchFamily="34" charset="0"/>
                <a:ea typeface="Roboto Mono Medium" pitchFamily="34" charset="-122"/>
                <a:cs typeface="Roboto Mono Medium" pitchFamily="34" charset="-120"/>
              </a:rPr>
              <a:t>Recuperación en paralelo</a:t>
            </a:r>
            <a:endParaRPr lang="en-US" sz="1050" dirty="0"/>
          </a:p>
        </p:txBody>
      </p:sp>
      <p:sp>
        <p:nvSpPr>
          <p:cNvPr id="9" name="Text 6"/>
          <p:cNvSpPr/>
          <p:nvPr/>
        </p:nvSpPr>
        <p:spPr>
          <a:xfrm>
            <a:off x="768926" y="2334617"/>
            <a:ext cx="5184546"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BM25 léxico + búsqueda vectorial corren simultáneamente. Cada uno retorna top-50 candidatos.</a:t>
            </a:r>
            <a:endParaRPr lang="en-US" sz="800" dirty="0"/>
          </a:p>
        </p:txBody>
      </p:sp>
      <p:pic>
        <p:nvPicPr>
          <p:cNvPr id="10" name="Image 1" descr="preencoded.png">    </p:cNvPr>
          <p:cNvPicPr>
            <a:picLocks noChangeAspect="1"/>
          </p:cNvPicPr>
          <p:nvPr/>
        </p:nvPicPr>
        <p:blipFill>
          <a:blip r:embed="rId2"/>
          <a:stretch>
            <a:fillRect/>
          </a:stretch>
        </p:blipFill>
        <p:spPr>
          <a:xfrm>
            <a:off x="6130772" y="1571327"/>
            <a:ext cx="5399449" cy="952500"/>
          </a:xfrm>
          <a:prstGeom prst="rect">
            <a:avLst/>
          </a:prstGeom>
        </p:spPr>
      </p:pic>
      <p:sp>
        <p:nvSpPr>
          <p:cNvPr id="11" name="Text 7"/>
          <p:cNvSpPr/>
          <p:nvPr/>
        </p:nvSpPr>
        <p:spPr>
          <a:xfrm>
            <a:off x="6238223" y="1963638"/>
            <a:ext cx="5184546" cy="1678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oboto Mono Medium" pitchFamily="34" charset="0"/>
                <a:ea typeface="Roboto Mono Medium" pitchFamily="34" charset="-122"/>
                <a:cs typeface="Roboto Mono Medium" pitchFamily="34" charset="-120"/>
              </a:rPr>
              <a:t>Reciprocal Rank Fusion (RRF)</a:t>
            </a:r>
            <a:endParaRPr lang="en-US" sz="1050" dirty="0"/>
          </a:p>
        </p:txBody>
      </p:sp>
      <p:sp>
        <p:nvSpPr>
          <p:cNvPr id="12" name="Text 8"/>
          <p:cNvSpPr/>
          <p:nvPr/>
        </p:nvSpPr>
        <p:spPr>
          <a:xfrm>
            <a:off x="6238223" y="2173387"/>
            <a:ext cx="5184546"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Fusiona los dos rankings en uno solo. RRF(d) = Σ 1/(k + rank(d)). Penaliza documentos que aparecen tarde en ambas listas.</a:t>
            </a:r>
            <a:endParaRPr lang="en-US" sz="800" dirty="0"/>
          </a:p>
        </p:txBody>
      </p:sp>
      <p:pic>
        <p:nvPicPr>
          <p:cNvPr id="13" name="Image 2" descr="preencoded.png">    </p:cNvPr>
          <p:cNvPicPr>
            <a:picLocks noChangeAspect="1"/>
          </p:cNvPicPr>
          <p:nvPr/>
        </p:nvPicPr>
        <p:blipFill>
          <a:blip r:embed="rId3"/>
          <a:stretch>
            <a:fillRect/>
          </a:stretch>
        </p:blipFill>
        <p:spPr>
          <a:xfrm>
            <a:off x="661475" y="2815034"/>
            <a:ext cx="5399449" cy="952500"/>
          </a:xfrm>
          <a:prstGeom prst="rect">
            <a:avLst/>
          </a:prstGeom>
        </p:spPr>
      </p:pic>
      <p:sp>
        <p:nvSpPr>
          <p:cNvPr id="14" name="Text 9"/>
          <p:cNvSpPr/>
          <p:nvPr/>
        </p:nvSpPr>
        <p:spPr>
          <a:xfrm>
            <a:off x="768926" y="3207345"/>
            <a:ext cx="5184546" cy="1678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oboto Mono Medium" pitchFamily="34" charset="0"/>
                <a:ea typeface="Roboto Mono Medium" pitchFamily="34" charset="-122"/>
                <a:cs typeface="Roboto Mono Medium" pitchFamily="34" charset="-120"/>
              </a:rPr>
              <a:t>Cross-Encoder Reranking</a:t>
            </a:r>
            <a:endParaRPr lang="en-US" sz="1050" dirty="0"/>
          </a:p>
        </p:txBody>
      </p:sp>
      <p:sp>
        <p:nvSpPr>
          <p:cNvPr id="15" name="Text 10"/>
          <p:cNvSpPr/>
          <p:nvPr/>
        </p:nvSpPr>
        <p:spPr>
          <a:xfrm>
            <a:off x="768926" y="3417094"/>
            <a:ext cx="5184546"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Analiza cada par (query, documento) en profundidad. Mucho más preciso que bi-encoders. Reduce de top-50 a top-5.</a:t>
            </a:r>
            <a:endParaRPr lang="en-US" sz="800" dirty="0"/>
          </a:p>
        </p:txBody>
      </p:sp>
      <p:pic>
        <p:nvPicPr>
          <p:cNvPr id="16" name="Image 3" descr="preencoded.png">    </p:cNvPr>
          <p:cNvPicPr>
            <a:picLocks noChangeAspect="1"/>
          </p:cNvPicPr>
          <p:nvPr/>
        </p:nvPicPr>
        <p:blipFill>
          <a:blip r:embed="rId4"/>
          <a:stretch>
            <a:fillRect/>
          </a:stretch>
        </p:blipFill>
        <p:spPr>
          <a:xfrm>
            <a:off x="6130772" y="2653804"/>
            <a:ext cx="5399449" cy="952500"/>
          </a:xfrm>
          <a:prstGeom prst="rect">
            <a:avLst/>
          </a:prstGeom>
        </p:spPr>
      </p:pic>
      <p:sp>
        <p:nvSpPr>
          <p:cNvPr id="17" name="Text 11"/>
          <p:cNvSpPr/>
          <p:nvPr/>
        </p:nvSpPr>
        <p:spPr>
          <a:xfrm>
            <a:off x="6238223" y="3046115"/>
            <a:ext cx="5184546" cy="1678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oboto Mono Medium" pitchFamily="34" charset="0"/>
                <a:ea typeface="Roboto Mono Medium" pitchFamily="34" charset="-122"/>
                <a:cs typeface="Roboto Mono Medium" pitchFamily="34" charset="-120"/>
              </a:rPr>
              <a:t>Contexto al LLM</a:t>
            </a:r>
            <a:endParaRPr lang="en-US" sz="1050" dirty="0"/>
          </a:p>
        </p:txBody>
      </p:sp>
      <p:sp>
        <p:nvSpPr>
          <p:cNvPr id="18" name="Text 12"/>
          <p:cNvSpPr/>
          <p:nvPr/>
        </p:nvSpPr>
        <p:spPr>
          <a:xfrm>
            <a:off x="6238223" y="3255863"/>
            <a:ext cx="5184546"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Los top-5 documentos de alta precisión se inyectan en el prompt. Mejor contexto → mejor respuesta.</a:t>
            </a:r>
            <a:endParaRPr lang="en-US" sz="800" dirty="0"/>
          </a:p>
        </p:txBody>
      </p:sp>
      <p:sp>
        <p:nvSpPr>
          <p:cNvPr id="19" name="Shape 13"/>
          <p:cNvSpPr/>
          <p:nvPr/>
        </p:nvSpPr>
        <p:spPr>
          <a:xfrm>
            <a:off x="584086" y="3886895"/>
            <a:ext cx="5458085" cy="2002730"/>
          </a:xfrm>
          <a:prstGeom prst="roundRect">
            <a:avLst>
              <a:gd name="adj" fmla="val 805"/>
            </a:avLst>
          </a:prstGeom>
          <a:solidFill>
            <a:srgbClr val="F7F7F2">
              <a:alpha val="95000"/>
            </a:srgbClr>
          </a:solidFill>
          <a:ln/>
        </p:spPr>
      </p:sp>
      <p:sp>
        <p:nvSpPr>
          <p:cNvPr id="20" name="Text 14"/>
          <p:cNvSpPr/>
          <p:nvPr/>
        </p:nvSpPr>
        <p:spPr>
          <a:xfrm>
            <a:off x="691537" y="3956745"/>
            <a:ext cx="5243183" cy="167878"/>
          </a:xfrm>
          <a:prstGeom prst="rect">
            <a:avLst/>
          </a:prstGeom>
          <a:noFill/>
          <a:ln/>
        </p:spPr>
        <p:txBody>
          <a:bodyPr wrap="none" lIns="0" tIns="0" rIns="0" bIns="0" rtlCol="0" anchor="t"/>
          <a:lstStyle/>
          <a:p>
            <a:pPr algn="l" indent="0" marL="0">
              <a:lnSpc>
                <a:spcPct val="104000"/>
              </a:lnSpc>
              <a:buNone/>
            </a:pPr>
            <a:r>
              <a:rPr lang="en-US" sz="1050" dirty="0">
                <a:solidFill>
                  <a:srgbClr val="1F1E1E"/>
                </a:solidFill>
                <a:latin typeface="Roboto Mono Medium" pitchFamily="34" charset="0"/>
                <a:ea typeface="Roboto Mono Medium" pitchFamily="34" charset="-122"/>
                <a:cs typeface="Roboto Mono Medium" pitchFamily="34" charset="-120"/>
              </a:rPr>
              <a:t>¿Qué es un Cross-Encoder?</a:t>
            </a:r>
            <a:endParaRPr lang="en-US" sz="1050" dirty="0"/>
          </a:p>
        </p:txBody>
      </p:sp>
      <p:sp>
        <p:nvSpPr>
          <p:cNvPr id="21" name="Text 15"/>
          <p:cNvSpPr/>
          <p:nvPr/>
        </p:nvSpPr>
        <p:spPr>
          <a:xfrm>
            <a:off x="691537" y="4194473"/>
            <a:ext cx="5852768"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A cross-encoder recibe la query Y el documento juntos como input:</a:t>
            </a:r>
            <a:endParaRPr lang="en-US" sz="800" dirty="0"/>
          </a:p>
        </p:txBody>
      </p:sp>
      <p:sp>
        <p:nvSpPr>
          <p:cNvPr id="22" name="Shape 16"/>
          <p:cNvSpPr/>
          <p:nvPr/>
        </p:nvSpPr>
        <p:spPr>
          <a:xfrm>
            <a:off x="691537" y="4414937"/>
            <a:ext cx="5243183" cy="558998"/>
          </a:xfrm>
          <a:prstGeom prst="roundRect">
            <a:avLst>
              <a:gd name="adj" fmla="val 1363"/>
            </a:avLst>
          </a:prstGeom>
          <a:solidFill>
            <a:srgbClr val="EAEAE5"/>
          </a:solidFill>
          <a:ln/>
        </p:spPr>
      </p:sp>
      <p:sp>
        <p:nvSpPr>
          <p:cNvPr id="23" name="Text 17"/>
          <p:cNvSpPr/>
          <p:nvPr/>
        </p:nvSpPr>
        <p:spPr>
          <a:xfrm>
            <a:off x="820519" y="4522391"/>
            <a:ext cx="4985221" cy="344091"/>
          </a:xfrm>
          <a:prstGeom prst="rect">
            <a:avLst/>
          </a:prstGeom>
          <a:noFill/>
          <a:ln/>
        </p:spPr>
        <p:txBody>
          <a:bodyPr wrap="square" lIns="0" tIns="0" rIns="0" bIns="0" rtlCol="0" anchor="t">
            <a:normAutofit/>
          </a:bodyPr>
          <a:lstStyle/>
          <a:p>
            <a:pPr algn="l" indent="0" marL="0">
              <a:lnSpc>
                <a:spcPct val="133000"/>
              </a:lnSpc>
              <a:buNone/>
            </a:pPr>
            <a:r>
              <a:rPr lang="en-US" sz="800" dirty="0">
                <a:solidFill>
                  <a:srgbClr val="E36209"/>
                </a:solidFill>
                <a:latin typeface="Consolas" pitchFamily="34" charset="0"/>
                <a:ea typeface="Consolas" pitchFamily="34" charset="-122"/>
                <a:cs typeface="Consolas" pitchFamily="34" charset="-120"/>
              </a:rPr>
              <a:t>input: "[CLS] query [SEP] documento [SEP]"</a:t>
            </a:r>
            <a:endParaRPr lang="en-US" sz="800" dirty="0"/>
          </a:p>
          <a:p>
            <a:pPr algn="l" indent="0" marL="0">
              <a:lnSpc>
                <a:spcPct val="133000"/>
              </a:lnSpc>
              <a:buNone/>
            </a:pPr>
            <a:r>
              <a:rPr lang="en-US" sz="800" dirty="0">
                <a:solidFill>
                  <a:srgbClr val="E36209"/>
                </a:solidFill>
                <a:latin typeface="Consolas" pitchFamily="34" charset="0"/>
                <a:ea typeface="Consolas" pitchFamily="34" charset="-122"/>
                <a:cs typeface="Consolas" pitchFamily="34" charset="-120"/>
              </a:rPr>
              <a:t>output: score de relevancia (0 a 1)</a:t>
            </a:r>
            <a:endParaRPr lang="en-US" sz="800" dirty="0"/>
          </a:p>
        </p:txBody>
      </p:sp>
      <p:sp>
        <p:nvSpPr>
          <p:cNvPr id="24" name="Text 18"/>
          <p:cNvSpPr/>
          <p:nvPr/>
        </p:nvSpPr>
        <p:spPr>
          <a:xfrm>
            <a:off x="691537" y="5052516"/>
            <a:ext cx="5243183" cy="640755"/>
          </a:xfrm>
          <a:prstGeom prst="rect">
            <a:avLst/>
          </a:prstGeom>
          <a:noFill/>
          <a:ln/>
        </p:spPr>
        <p:txBody>
          <a:bodyPr wrap="square" lIns="0" tIns="43002" rIns="0" bIns="0" rtlCol="0" anchor="t">
            <a:normAutofit/>
          </a:bodyPr>
          <a:lstStyle/>
          <a:p>
            <a:pPr algn="l" marL="162560" indent="-162560">
              <a:lnSpc>
                <a:spcPct val="110000"/>
              </a:lnSpc>
              <a:buSzPct val="100000"/>
              <a:buChar char="•"/>
            </a:pPr>
            <a:r>
              <a:rPr lang="en-US" sz="800" dirty="0">
                <a:solidFill>
                  <a:srgbClr val="3B3535"/>
                </a:solidFill>
                <a:latin typeface="Roboto" pitchFamily="34" charset="0"/>
                <a:ea typeface="Roboto" pitchFamily="34" charset="-122"/>
                <a:cs typeface="Roboto" pitchFamily="34" charset="-120"/>
              </a:rPr>
              <a:t>Analiza la interacción entre query y documento</a:t>
            </a:r>
            <a:endParaRPr lang="en-US" sz="800" dirty="0"/>
          </a:p>
          <a:p>
            <a:pPr algn="l" marL="162560" indent="-162560">
              <a:lnSpc>
                <a:spcPct val="110000"/>
              </a:lnSpc>
              <a:buSzPct val="100000"/>
              <a:buChar char="•"/>
            </a:pPr>
            <a:r>
              <a:rPr lang="en-US" sz="800" dirty="0">
                <a:solidFill>
                  <a:srgbClr val="3B3535"/>
                </a:solidFill>
                <a:latin typeface="Roboto" pitchFamily="34" charset="0"/>
                <a:ea typeface="Roboto" pitchFamily="34" charset="-122"/>
                <a:cs typeface="Roboto" pitchFamily="34" charset="-120"/>
              </a:rPr>
              <a:t>Mucho más preciso que similitud coseno</a:t>
            </a:r>
            <a:endParaRPr lang="en-US" sz="800" dirty="0"/>
          </a:p>
          <a:p>
            <a:pPr algn="l" marL="162560" indent="-162560">
              <a:lnSpc>
                <a:spcPct val="110000"/>
              </a:lnSpc>
              <a:buSzPct val="100000"/>
              <a:buChar char="•"/>
            </a:pPr>
            <a:r>
              <a:rPr lang="en-US" sz="800" dirty="0">
                <a:solidFill>
                  <a:srgbClr val="3B3535"/>
                </a:solidFill>
                <a:latin typeface="Roboto" pitchFamily="34" charset="0"/>
                <a:ea typeface="Roboto" pitchFamily="34" charset="-122"/>
                <a:cs typeface="Roboto" pitchFamily="34" charset="-120"/>
              </a:rPr>
              <a:t>Modelos: Cohere Rerank, BGE-Reranker, ms-marco-MiniLM</a:t>
            </a:r>
            <a:endParaRPr lang="en-US" sz="800" dirty="0"/>
          </a:p>
          <a:p>
            <a:pPr algn="l" marL="162560" indent="-162560">
              <a:lnSpc>
                <a:spcPct val="110000"/>
              </a:lnSpc>
              <a:buSzPct val="100000"/>
              <a:buChar char="•"/>
            </a:pPr>
            <a:r>
              <a:rPr lang="en-US" sz="800" dirty="0">
                <a:solidFill>
                  <a:srgbClr val="3B3535"/>
                </a:solidFill>
                <a:latin typeface="Roboto" pitchFamily="34" charset="0"/>
                <a:ea typeface="Roboto" pitchFamily="34" charset="-122"/>
                <a:cs typeface="Roboto" pitchFamily="34" charset="-120"/>
              </a:rPr>
              <a:t>Limitación: O(n) — no escala a millones de docs</a:t>
            </a:r>
            <a:endParaRPr lang="en-US" sz="800" dirty="0"/>
          </a:p>
        </p:txBody>
      </p:sp>
      <p:sp>
        <p:nvSpPr>
          <p:cNvPr id="25" name="Shape 19"/>
          <p:cNvSpPr/>
          <p:nvPr/>
        </p:nvSpPr>
        <p:spPr>
          <a:xfrm>
            <a:off x="6155873" y="3886895"/>
            <a:ext cx="5458085" cy="2002730"/>
          </a:xfrm>
          <a:prstGeom prst="roundRect">
            <a:avLst>
              <a:gd name="adj" fmla="val 805"/>
            </a:avLst>
          </a:prstGeom>
          <a:solidFill>
            <a:srgbClr val="F0F4F8">
              <a:alpha val="95000"/>
            </a:srgbClr>
          </a:solidFill>
          <a:ln/>
        </p:spPr>
      </p:sp>
      <p:sp>
        <p:nvSpPr>
          <p:cNvPr id="26" name="Text 20"/>
          <p:cNvSpPr/>
          <p:nvPr/>
        </p:nvSpPr>
        <p:spPr>
          <a:xfrm>
            <a:off x="6263325" y="3956745"/>
            <a:ext cx="5243183" cy="167878"/>
          </a:xfrm>
          <a:prstGeom prst="rect">
            <a:avLst/>
          </a:prstGeom>
          <a:noFill/>
          <a:ln/>
        </p:spPr>
        <p:txBody>
          <a:bodyPr wrap="none" lIns="0" tIns="0" rIns="0" bIns="0" rtlCol="0" anchor="t"/>
          <a:lstStyle/>
          <a:p>
            <a:pPr algn="l" indent="0" marL="0">
              <a:lnSpc>
                <a:spcPct val="104000"/>
              </a:lnSpc>
              <a:buNone/>
            </a:pPr>
            <a:r>
              <a:rPr lang="en-US" sz="1050" dirty="0">
                <a:solidFill>
                  <a:srgbClr val="1F1E1E"/>
                </a:solidFill>
                <a:latin typeface="Roboto Mono Medium" pitchFamily="34" charset="0"/>
                <a:ea typeface="Roboto Mono Medium" pitchFamily="34" charset="-122"/>
                <a:cs typeface="Roboto Mono Medium" pitchFamily="34" charset="-120"/>
              </a:rPr>
              <a:t>RRF: Reciprocal Rank Fusion</a:t>
            </a:r>
            <a:endParaRPr lang="en-US" sz="1050" dirty="0"/>
          </a:p>
        </p:txBody>
      </p:sp>
      <p:sp>
        <p:nvSpPr>
          <p:cNvPr id="27" name="Shape 21"/>
          <p:cNvSpPr/>
          <p:nvPr/>
        </p:nvSpPr>
        <p:spPr>
          <a:xfrm>
            <a:off x="6263325" y="4203204"/>
            <a:ext cx="5243183" cy="386953"/>
          </a:xfrm>
          <a:prstGeom prst="roundRect">
            <a:avLst>
              <a:gd name="adj" fmla="val 1969"/>
            </a:avLst>
          </a:prstGeom>
          <a:solidFill>
            <a:srgbClr val="E3E7EB"/>
          </a:solidFill>
          <a:ln/>
        </p:spPr>
      </p:sp>
      <p:sp>
        <p:nvSpPr>
          <p:cNvPr id="28" name="Text 22"/>
          <p:cNvSpPr/>
          <p:nvPr/>
        </p:nvSpPr>
        <p:spPr>
          <a:xfrm>
            <a:off x="6392306" y="4310658"/>
            <a:ext cx="5594805" cy="172045"/>
          </a:xfrm>
          <a:prstGeom prst="rect">
            <a:avLst/>
          </a:prstGeom>
          <a:noFill/>
          <a:ln/>
        </p:spPr>
        <p:txBody>
          <a:bodyPr wrap="none" lIns="0" tIns="0" rIns="0" bIns="0" rtlCol="0" anchor="t"/>
          <a:lstStyle/>
          <a:p>
            <a:pPr algn="l" indent="0" marL="0">
              <a:lnSpc>
                <a:spcPct val="133000"/>
              </a:lnSpc>
              <a:buNone/>
            </a:pPr>
            <a:r>
              <a:rPr lang="en-US" sz="800" dirty="0">
                <a:solidFill>
                  <a:srgbClr val="E36209"/>
                </a:solidFill>
                <a:latin typeface="Consolas" pitchFamily="34" charset="0"/>
                <a:ea typeface="Consolas" pitchFamily="34" charset="-122"/>
                <a:cs typeface="Consolas" pitchFamily="34" charset="-120"/>
              </a:rPr>
              <a:t>RRF(d) = Σ 1 / (k + rank_i(d))   [k=60 por defecto]</a:t>
            </a:r>
            <a:endParaRPr lang="en-US" sz="800" dirty="0"/>
          </a:p>
        </p:txBody>
      </p:sp>
      <p:sp>
        <p:nvSpPr>
          <p:cNvPr id="29" name="Shape 23"/>
          <p:cNvSpPr/>
          <p:nvPr/>
        </p:nvSpPr>
        <p:spPr>
          <a:xfrm>
            <a:off x="6263325" y="4668738"/>
            <a:ext cx="5243183" cy="965994"/>
          </a:xfrm>
          <a:prstGeom prst="roundRect">
            <a:avLst>
              <a:gd name="adj" fmla="val 789"/>
            </a:avLst>
          </a:prstGeom>
          <a:noFill/>
          <a:ln w="6350">
            <a:solidFill>
              <a:srgbClr val="000000">
                <a:alpha val="8000"/>
              </a:srgbClr>
            </a:solidFill>
            <a:prstDash val="solid"/>
          </a:ln>
        </p:spPr>
      </p:sp>
      <p:sp>
        <p:nvSpPr>
          <p:cNvPr id="30" name="Shape 24"/>
          <p:cNvSpPr/>
          <p:nvPr/>
        </p:nvSpPr>
        <p:spPr>
          <a:xfrm>
            <a:off x="6269674" y="4675088"/>
            <a:ext cx="5230483" cy="238323"/>
          </a:xfrm>
          <a:prstGeom prst="rect">
            <a:avLst/>
          </a:prstGeom>
          <a:solidFill>
            <a:srgbClr val="FFFFFF">
              <a:alpha val="4000"/>
            </a:srgbClr>
          </a:solidFill>
          <a:ln/>
        </p:spPr>
      </p:sp>
      <p:sp>
        <p:nvSpPr>
          <p:cNvPr id="31" name="Text 25"/>
          <p:cNvSpPr/>
          <p:nvPr/>
        </p:nvSpPr>
        <p:spPr>
          <a:xfrm>
            <a:off x="6377324" y="4723309"/>
            <a:ext cx="1699079"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Documento</a:t>
            </a:r>
            <a:endParaRPr lang="en-US" sz="800" dirty="0"/>
          </a:p>
        </p:txBody>
      </p:sp>
      <p:sp>
        <p:nvSpPr>
          <p:cNvPr id="32" name="Text 26"/>
          <p:cNvSpPr/>
          <p:nvPr/>
        </p:nvSpPr>
        <p:spPr>
          <a:xfrm>
            <a:off x="7688070" y="4723309"/>
            <a:ext cx="1695904"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Rank BM25</a:t>
            </a:r>
            <a:endParaRPr lang="en-US" sz="800" dirty="0"/>
          </a:p>
        </p:txBody>
      </p:sp>
      <p:sp>
        <p:nvSpPr>
          <p:cNvPr id="33" name="Text 27"/>
          <p:cNvSpPr/>
          <p:nvPr/>
        </p:nvSpPr>
        <p:spPr>
          <a:xfrm>
            <a:off x="8995641" y="4723309"/>
            <a:ext cx="1695904"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Rank Vectorial</a:t>
            </a:r>
            <a:endParaRPr lang="en-US" sz="800" dirty="0"/>
          </a:p>
        </p:txBody>
      </p:sp>
      <p:sp>
        <p:nvSpPr>
          <p:cNvPr id="34" name="Text 28"/>
          <p:cNvSpPr/>
          <p:nvPr/>
        </p:nvSpPr>
        <p:spPr>
          <a:xfrm>
            <a:off x="10303213" y="4723309"/>
            <a:ext cx="1699079" cy="141883"/>
          </a:xfrm>
          <a:prstGeom prst="rect">
            <a:avLst/>
          </a:prstGeom>
          <a:noFill/>
          <a:ln/>
        </p:spPr>
        <p:txBody>
          <a:bodyPr wrap="none" lIns="0" tIns="0" rIns="0" bIns="0" rtlCol="0" anchor="t"/>
          <a:lstStyle/>
          <a:p>
            <a:pPr algn="l" indent="0" marL="0">
              <a:lnSpc>
                <a:spcPct val="110000"/>
              </a:lnSpc>
              <a:buNone/>
            </a:pPr>
            <a:r>
              <a:rPr lang="en-US" sz="800" b="1" dirty="0">
                <a:solidFill>
                  <a:srgbClr val="3B3535"/>
                </a:solidFill>
                <a:latin typeface="Roboto Bold" pitchFamily="34" charset="0"/>
                <a:ea typeface="Roboto Bold" pitchFamily="34" charset="-122"/>
                <a:cs typeface="Roboto Bold" pitchFamily="34" charset="-120"/>
              </a:rPr>
              <a:t>RRF Score</a:t>
            </a:r>
            <a:endParaRPr lang="en-US" sz="800" dirty="0"/>
          </a:p>
        </p:txBody>
      </p:sp>
      <p:sp>
        <p:nvSpPr>
          <p:cNvPr id="35" name="Shape 29"/>
          <p:cNvSpPr/>
          <p:nvPr/>
        </p:nvSpPr>
        <p:spPr>
          <a:xfrm>
            <a:off x="6269674" y="4913412"/>
            <a:ext cx="5230483" cy="238323"/>
          </a:xfrm>
          <a:prstGeom prst="rect">
            <a:avLst/>
          </a:prstGeom>
          <a:solidFill>
            <a:srgbClr val="000000">
              <a:alpha val="4000"/>
            </a:srgbClr>
          </a:solidFill>
          <a:ln/>
        </p:spPr>
      </p:sp>
      <p:sp>
        <p:nvSpPr>
          <p:cNvPr id="36" name="Text 30"/>
          <p:cNvSpPr/>
          <p:nvPr/>
        </p:nvSpPr>
        <p:spPr>
          <a:xfrm>
            <a:off x="6377324" y="4961632"/>
            <a:ext cx="1699079"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Doc A</a:t>
            </a:r>
            <a:endParaRPr lang="en-US" sz="800" dirty="0"/>
          </a:p>
        </p:txBody>
      </p:sp>
      <p:sp>
        <p:nvSpPr>
          <p:cNvPr id="37" name="Text 31"/>
          <p:cNvSpPr/>
          <p:nvPr/>
        </p:nvSpPr>
        <p:spPr>
          <a:xfrm>
            <a:off x="7688070" y="4961632"/>
            <a:ext cx="1695904"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1</a:t>
            </a:r>
            <a:endParaRPr lang="en-US" sz="800" dirty="0"/>
          </a:p>
        </p:txBody>
      </p:sp>
      <p:sp>
        <p:nvSpPr>
          <p:cNvPr id="38" name="Text 32"/>
          <p:cNvSpPr/>
          <p:nvPr/>
        </p:nvSpPr>
        <p:spPr>
          <a:xfrm>
            <a:off x="8995641" y="4961632"/>
            <a:ext cx="1695904"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3</a:t>
            </a:r>
            <a:endParaRPr lang="en-US" sz="800" dirty="0"/>
          </a:p>
        </p:txBody>
      </p:sp>
      <p:sp>
        <p:nvSpPr>
          <p:cNvPr id="39" name="Text 33"/>
          <p:cNvSpPr/>
          <p:nvPr/>
        </p:nvSpPr>
        <p:spPr>
          <a:xfrm>
            <a:off x="10303213" y="4961632"/>
            <a:ext cx="1699079"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0.032</a:t>
            </a:r>
            <a:endParaRPr lang="en-US" sz="800" dirty="0"/>
          </a:p>
        </p:txBody>
      </p:sp>
      <p:sp>
        <p:nvSpPr>
          <p:cNvPr id="40" name="Shape 34"/>
          <p:cNvSpPr/>
          <p:nvPr/>
        </p:nvSpPr>
        <p:spPr>
          <a:xfrm>
            <a:off x="6269674" y="5151735"/>
            <a:ext cx="5230483" cy="238323"/>
          </a:xfrm>
          <a:prstGeom prst="rect">
            <a:avLst/>
          </a:prstGeom>
          <a:solidFill>
            <a:srgbClr val="FFFFFF">
              <a:alpha val="4000"/>
            </a:srgbClr>
          </a:solidFill>
          <a:ln/>
        </p:spPr>
      </p:sp>
      <p:sp>
        <p:nvSpPr>
          <p:cNvPr id="41" name="Text 35"/>
          <p:cNvSpPr/>
          <p:nvPr/>
        </p:nvSpPr>
        <p:spPr>
          <a:xfrm>
            <a:off x="6377324" y="5199955"/>
            <a:ext cx="1699079"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Doc B</a:t>
            </a:r>
            <a:endParaRPr lang="en-US" sz="800" dirty="0"/>
          </a:p>
        </p:txBody>
      </p:sp>
      <p:sp>
        <p:nvSpPr>
          <p:cNvPr id="42" name="Text 36"/>
          <p:cNvSpPr/>
          <p:nvPr/>
        </p:nvSpPr>
        <p:spPr>
          <a:xfrm>
            <a:off x="7688070" y="5199955"/>
            <a:ext cx="1695904"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5</a:t>
            </a:r>
            <a:endParaRPr lang="en-US" sz="800" dirty="0"/>
          </a:p>
        </p:txBody>
      </p:sp>
      <p:sp>
        <p:nvSpPr>
          <p:cNvPr id="43" name="Text 37"/>
          <p:cNvSpPr/>
          <p:nvPr/>
        </p:nvSpPr>
        <p:spPr>
          <a:xfrm>
            <a:off x="8995641" y="5199955"/>
            <a:ext cx="1695904"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1</a:t>
            </a:r>
            <a:endParaRPr lang="en-US" sz="800" dirty="0"/>
          </a:p>
        </p:txBody>
      </p:sp>
      <p:sp>
        <p:nvSpPr>
          <p:cNvPr id="44" name="Text 38"/>
          <p:cNvSpPr/>
          <p:nvPr/>
        </p:nvSpPr>
        <p:spPr>
          <a:xfrm>
            <a:off x="10303213" y="5199955"/>
            <a:ext cx="1699079"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0.032</a:t>
            </a:r>
            <a:endParaRPr lang="en-US" sz="800" dirty="0"/>
          </a:p>
        </p:txBody>
      </p:sp>
      <p:sp>
        <p:nvSpPr>
          <p:cNvPr id="45" name="Shape 39"/>
          <p:cNvSpPr/>
          <p:nvPr/>
        </p:nvSpPr>
        <p:spPr>
          <a:xfrm>
            <a:off x="6269674" y="5390059"/>
            <a:ext cx="5230483" cy="238323"/>
          </a:xfrm>
          <a:prstGeom prst="rect">
            <a:avLst/>
          </a:prstGeom>
          <a:solidFill>
            <a:srgbClr val="000000">
              <a:alpha val="4000"/>
            </a:srgbClr>
          </a:solidFill>
          <a:ln/>
        </p:spPr>
      </p:sp>
      <p:sp>
        <p:nvSpPr>
          <p:cNvPr id="46" name="Text 40"/>
          <p:cNvSpPr/>
          <p:nvPr/>
        </p:nvSpPr>
        <p:spPr>
          <a:xfrm>
            <a:off x="6377324" y="5438279"/>
            <a:ext cx="1699079"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Doc C</a:t>
            </a:r>
            <a:endParaRPr lang="en-US" sz="800" dirty="0"/>
          </a:p>
        </p:txBody>
      </p:sp>
      <p:sp>
        <p:nvSpPr>
          <p:cNvPr id="47" name="Text 41"/>
          <p:cNvSpPr/>
          <p:nvPr/>
        </p:nvSpPr>
        <p:spPr>
          <a:xfrm>
            <a:off x="7688070" y="5438279"/>
            <a:ext cx="1695904"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2</a:t>
            </a:r>
            <a:endParaRPr lang="en-US" sz="800" dirty="0"/>
          </a:p>
        </p:txBody>
      </p:sp>
      <p:sp>
        <p:nvSpPr>
          <p:cNvPr id="48" name="Text 42"/>
          <p:cNvSpPr/>
          <p:nvPr/>
        </p:nvSpPr>
        <p:spPr>
          <a:xfrm>
            <a:off x="8995641" y="5438279"/>
            <a:ext cx="1695904"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8</a:t>
            </a:r>
            <a:endParaRPr lang="en-US" sz="800" dirty="0"/>
          </a:p>
        </p:txBody>
      </p:sp>
      <p:sp>
        <p:nvSpPr>
          <p:cNvPr id="49" name="Text 43"/>
          <p:cNvSpPr/>
          <p:nvPr/>
        </p:nvSpPr>
        <p:spPr>
          <a:xfrm>
            <a:off x="10303213" y="5438279"/>
            <a:ext cx="1699079"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0.028</a:t>
            </a:r>
            <a:endParaRPr lang="en-US" sz="800" dirty="0"/>
          </a:p>
        </p:txBody>
      </p:sp>
      <p:sp>
        <p:nvSpPr>
          <p:cNvPr id="50" name="Text 44"/>
          <p:cNvSpPr/>
          <p:nvPr/>
        </p:nvSpPr>
        <p:spPr>
          <a:xfrm>
            <a:off x="6263325" y="5713313"/>
            <a:ext cx="5852768" cy="113506"/>
          </a:xfrm>
          <a:prstGeom prst="rect">
            <a:avLst/>
          </a:prstGeom>
          <a:noFill/>
          <a:ln/>
        </p:spPr>
        <p:txBody>
          <a:bodyPr wrap="none" lIns="0" tIns="0" rIns="0" bIns="0" rtlCol="0" anchor="t"/>
          <a:lstStyle/>
          <a:p>
            <a:pPr algn="l" indent="0" marL="0">
              <a:lnSpc>
                <a:spcPct val="110000"/>
              </a:lnSpc>
              <a:buNone/>
            </a:pPr>
            <a:r>
              <a:rPr lang="en-US" sz="650" dirty="0">
                <a:solidFill>
                  <a:srgbClr val="3B3535"/>
                </a:solidFill>
                <a:latin typeface="Roboto" pitchFamily="34" charset="0"/>
                <a:ea typeface="Roboto" pitchFamily="34" charset="-122"/>
                <a:cs typeface="Roboto" pitchFamily="34" charset="-120"/>
              </a:rPr>
              <a:t>RRF es robusto: no requiere normalizar scores de distintas fuentes.</a:t>
            </a:r>
            <a:endParaRPr lang="en-US" sz="650" dirty="0"/>
          </a:p>
        </p:txBody>
      </p:sp>
      <p:sp>
        <p:nvSpPr>
          <p:cNvPr id="51" name="Shape 45"/>
          <p:cNvSpPr/>
          <p:nvPr/>
        </p:nvSpPr>
        <p:spPr>
          <a:xfrm>
            <a:off x="661475" y="5968206"/>
            <a:ext cx="10868745" cy="328116"/>
          </a:xfrm>
          <a:prstGeom prst="roundRect">
            <a:avLst>
              <a:gd name="adj" fmla="val 2322"/>
            </a:avLst>
          </a:prstGeom>
          <a:solidFill>
            <a:srgbClr val="F9D2D6"/>
          </a:solidFill>
          <a:ln/>
        </p:spPr>
      </p:sp>
      <p:pic>
        <p:nvPicPr>
          <p:cNvPr id="52" name="Image 4" descr="preencoded.png">    </p:cNvPr>
          <p:cNvPicPr>
            <a:picLocks noChangeAspect="1"/>
          </p:cNvPicPr>
          <p:nvPr/>
        </p:nvPicPr>
        <p:blipFill>
          <a:blip r:embed="rId5"/>
          <a:stretch>
            <a:fillRect/>
          </a:stretch>
        </p:blipFill>
        <p:spPr>
          <a:xfrm>
            <a:off x="768926" y="6072386"/>
            <a:ext cx="134339" cy="107454"/>
          </a:xfrm>
          <a:prstGeom prst="rect">
            <a:avLst/>
          </a:prstGeom>
        </p:spPr>
      </p:pic>
      <p:sp>
        <p:nvSpPr>
          <p:cNvPr id="53" name="Text 46"/>
          <p:cNvSpPr/>
          <p:nvPr/>
        </p:nvSpPr>
        <p:spPr>
          <a:xfrm>
            <a:off x="1010716" y="6064845"/>
            <a:ext cx="11021638" cy="141883"/>
          </a:xfrm>
          <a:prstGeom prst="rect">
            <a:avLst/>
          </a:prstGeom>
          <a:noFill/>
          <a:ln/>
        </p:spPr>
        <p:txBody>
          <a:bodyPr wrap="none" lIns="0" tIns="0" rIns="0" bIns="0" rtlCol="0" anchor="t"/>
          <a:lstStyle/>
          <a:p>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a:t>
            </a:r>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 Tips de producción: mantener el pool de candidatos en 20-100 docs y el top_k final en 3-5. Correr BM25 y vectorial en paralelo. Loggear latencia y costo por consulta.</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661475" y="804069"/>
            <a:ext cx="1434667" cy="176014"/>
          </a:xfrm>
          <a:prstGeom prst="roundRect">
            <a:avLst>
              <a:gd name="adj" fmla="val 4329"/>
            </a:avLst>
          </a:prstGeom>
          <a:solidFill>
            <a:srgbClr val="F9D2D6"/>
          </a:solidFill>
          <a:ln/>
        </p:spPr>
      </p:sp>
      <p:sp>
        <p:nvSpPr>
          <p:cNvPr id="3" name="Text 1"/>
          <p:cNvSpPr/>
          <p:nvPr/>
        </p:nvSpPr>
        <p:spPr>
          <a:xfrm>
            <a:off x="730926" y="838795"/>
            <a:ext cx="1905349" cy="106561"/>
          </a:xfrm>
          <a:prstGeom prst="rect">
            <a:avLst/>
          </a:prstGeom>
          <a:noFill/>
          <a:ln/>
        </p:spPr>
        <p:txBody>
          <a:bodyPr wrap="none" lIns="0" tIns="0" rIns="0" bIns="0" rtlCol="0" anchor="t"/>
          <a:lstStyle/>
          <a:p>
            <a:pPr algn="l" indent="0" marL="0">
              <a:lnSpc>
                <a:spcPct val="96000"/>
              </a:lnSpc>
              <a:buNone/>
            </a:pPr>
            <a:r>
              <a:rPr lang="en-US" sz="700" dirty="0">
                <a:solidFill>
                  <a:srgbClr val="3B3535"/>
                </a:solidFill>
                <a:latin typeface="Roboto" pitchFamily="34" charset="0"/>
                <a:ea typeface="Roboto" pitchFamily="34" charset="-122"/>
                <a:cs typeface="Roboto" pitchFamily="34" charset="-120"/>
              </a:rPr>
              <a:t>RAG: RERANKING Y PRECISIÓN</a:t>
            </a:r>
            <a:endParaRPr lang="en-US" sz="700" dirty="0"/>
          </a:p>
        </p:txBody>
      </p:sp>
      <p:sp>
        <p:nvSpPr>
          <p:cNvPr id="4" name="Text 2"/>
          <p:cNvSpPr/>
          <p:nvPr/>
        </p:nvSpPr>
        <p:spPr>
          <a:xfrm>
            <a:off x="661475" y="1012428"/>
            <a:ext cx="10868745" cy="742553"/>
          </a:xfrm>
          <a:prstGeom prst="rect">
            <a:avLst/>
          </a:prstGeom>
          <a:noFill/>
          <a:ln/>
        </p:spPr>
        <p:txBody>
          <a:bodyPr wrap="square" lIns="0" tIns="0" rIns="0" bIns="0" rtlCol="0" anchor="t">
            <a:normAutofit/>
          </a:bodyPr>
          <a:lstStyle/>
          <a:p>
            <a:pPr algn="l" indent="0" marL="0">
              <a:lnSpc>
                <a:spcPct val="104000"/>
              </a:lnSpc>
              <a:buNone/>
            </a:pPr>
            <a:r>
              <a:rPr lang="en-US" sz="22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2250" dirty="0">
                <a:solidFill>
                  <a:srgbClr val="1F1E1E"/>
                </a:solidFill>
                <a:latin typeface="Roboto Mono Medium" pitchFamily="34" charset="0"/>
                <a:ea typeface="Roboto Mono Medium" pitchFamily="34" charset="-122"/>
                <a:cs typeface="Roboto Mono Medium" pitchFamily="34" charset="-120"/>
              </a:rPr>
              <a:t> ¿Por qué concatenar query + documento en el ranking con embeddings?</a:t>
            </a:r>
            <a:endParaRPr lang="en-US" sz="2250" dirty="0"/>
          </a:p>
        </p:txBody>
      </p:sp>
      <p:sp>
        <p:nvSpPr>
          <p:cNvPr id="5" name="Text 3"/>
          <p:cNvSpPr/>
          <p:nvPr/>
        </p:nvSpPr>
        <p:spPr>
          <a:xfrm>
            <a:off x="835103" y="1967607"/>
            <a:ext cx="11304702"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Un bi-encoder embeddea query y documento por separado y compara vectores. Un cross-encoder los lee juntos y entiende la relación entre ambos. Esa diferencia lo cambia todo.</a:t>
            </a:r>
            <a:endParaRPr lang="en-US" sz="900" dirty="0"/>
          </a:p>
        </p:txBody>
      </p:sp>
      <p:sp>
        <p:nvSpPr>
          <p:cNvPr id="6" name="Shape 4"/>
          <p:cNvSpPr/>
          <p:nvPr/>
        </p:nvSpPr>
        <p:spPr>
          <a:xfrm>
            <a:off x="661475" y="1876524"/>
            <a:ext cx="12700" cy="339626"/>
          </a:xfrm>
          <a:prstGeom prst="roundRect">
            <a:avLst>
              <a:gd name="adj" fmla="val 49999"/>
            </a:avLst>
          </a:prstGeom>
          <a:solidFill>
            <a:srgbClr val="DA1B2E"/>
          </a:solidFill>
          <a:ln/>
        </p:spPr>
      </p:sp>
      <p:sp>
        <p:nvSpPr>
          <p:cNvPr id="7" name="Shape 5"/>
          <p:cNvSpPr/>
          <p:nvPr/>
        </p:nvSpPr>
        <p:spPr>
          <a:xfrm>
            <a:off x="578133" y="2307233"/>
            <a:ext cx="5459871" cy="3128963"/>
          </a:xfrm>
          <a:prstGeom prst="roundRect">
            <a:avLst>
              <a:gd name="adj" fmla="val 555"/>
            </a:avLst>
          </a:prstGeom>
          <a:solidFill>
            <a:srgbClr val="F7F7F2">
              <a:alpha val="95000"/>
            </a:srgbClr>
          </a:solidFill>
          <a:ln/>
        </p:spPr>
      </p:sp>
      <p:sp>
        <p:nvSpPr>
          <p:cNvPr id="8" name="Text 6"/>
          <p:cNvSpPr/>
          <p:nvPr/>
        </p:nvSpPr>
        <p:spPr>
          <a:xfrm>
            <a:off x="693819" y="2388195"/>
            <a:ext cx="5228499" cy="180876"/>
          </a:xfrm>
          <a:prstGeom prst="rect">
            <a:avLst/>
          </a:prstGeom>
          <a:noFill/>
          <a:ln/>
        </p:spPr>
        <p:txBody>
          <a:bodyPr wrap="none" lIns="0" tIns="0" rIns="0" bIns="0" rtlCol="0" anchor="t"/>
          <a:lstStyle/>
          <a:p>
            <a:pPr algn="l" indent="0" marL="0">
              <a:lnSpc>
                <a:spcPct val="104000"/>
              </a:lnSpc>
              <a:buNone/>
            </a:pPr>
            <a:r>
              <a:rPr lang="en-US" sz="1100" dirty="0">
                <a:solidFill>
                  <a:srgbClr val="1F1E1E"/>
                </a:solidFill>
                <a:latin typeface="Roboto Mono Medium" pitchFamily="34" charset="0"/>
                <a:ea typeface="Roboto Mono Medium" pitchFamily="34" charset="-122"/>
                <a:cs typeface="Roboto Mono Medium" pitchFamily="34" charset="-120"/>
              </a:rPr>
              <a:t>Bi-encoder: embeddings separados</a:t>
            </a:r>
            <a:endParaRPr lang="en-US" sz="1100" dirty="0"/>
          </a:p>
        </p:txBody>
      </p:sp>
      <p:sp>
        <p:nvSpPr>
          <p:cNvPr id="9" name="Text 7"/>
          <p:cNvSpPr/>
          <p:nvPr/>
        </p:nvSpPr>
        <p:spPr>
          <a:xfrm>
            <a:off x="693819" y="2650034"/>
            <a:ext cx="5838084" cy="157460"/>
          </a:xfrm>
          <a:prstGeom prst="rect">
            <a:avLst/>
          </a:prstGeom>
          <a:noFill/>
          <a:ln/>
        </p:spPr>
        <p:txBody>
          <a:bodyPr wrap="none" lIns="0" tIns="0" rIns="0" bIns="0" rtlCol="0" anchor="t"/>
          <a:lstStyle/>
          <a:p>
            <a:pPr algn="l" indent="0" marL="0">
              <a:lnSpc>
                <a:spcPct val="113000"/>
              </a:lnSpc>
              <a:buNone/>
            </a:pPr>
            <a:r>
              <a:rPr lang="en-US" sz="900" i="1" dirty="0">
                <a:solidFill>
                  <a:srgbClr val="3B3535"/>
                </a:solidFill>
                <a:latin typeface="Roboto" pitchFamily="34" charset="0"/>
                <a:ea typeface="Roboto" pitchFamily="34" charset="-122"/>
                <a:cs typeface="Roboto" pitchFamily="34" charset="-120"/>
              </a:rPr>
              <a:t>Así funciona la búsqueda vectorial clásica.</a:t>
            </a:r>
            <a:endParaRPr lang="en-US" sz="900" dirty="0"/>
          </a:p>
        </p:txBody>
      </p:sp>
      <p:sp>
        <p:nvSpPr>
          <p:cNvPr id="10" name="Shape 8"/>
          <p:cNvSpPr/>
          <p:nvPr/>
        </p:nvSpPr>
        <p:spPr>
          <a:xfrm>
            <a:off x="693819" y="2898577"/>
            <a:ext cx="5228499" cy="814884"/>
          </a:xfrm>
          <a:prstGeom prst="roundRect">
            <a:avLst>
              <a:gd name="adj" fmla="val 935"/>
            </a:avLst>
          </a:prstGeom>
          <a:noFill/>
          <a:ln w="6350">
            <a:solidFill>
              <a:srgbClr val="000000">
                <a:alpha val="8000"/>
              </a:srgbClr>
            </a:solidFill>
            <a:prstDash val="solid"/>
          </a:ln>
        </p:spPr>
      </p:sp>
      <p:sp>
        <p:nvSpPr>
          <p:cNvPr id="11" name="Text 9"/>
          <p:cNvSpPr/>
          <p:nvPr/>
        </p:nvSpPr>
        <p:spPr>
          <a:xfrm>
            <a:off x="815855" y="2959894"/>
            <a:ext cx="193977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embed(query)</a:t>
            </a:r>
            <a:endParaRPr lang="en-US" sz="900" dirty="0"/>
          </a:p>
        </p:txBody>
      </p:sp>
      <p:sp>
        <p:nvSpPr>
          <p:cNvPr id="12" name="Text 10"/>
          <p:cNvSpPr/>
          <p:nvPr/>
        </p:nvSpPr>
        <p:spPr>
          <a:xfrm>
            <a:off x="2383770" y="2959894"/>
            <a:ext cx="402609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vector A → [0.81, -0.29, 0.52, ...]</a:t>
            </a:r>
            <a:endParaRPr lang="en-US" sz="900" dirty="0"/>
          </a:p>
        </p:txBody>
      </p:sp>
      <p:sp>
        <p:nvSpPr>
          <p:cNvPr id="13" name="Text 11"/>
          <p:cNvSpPr/>
          <p:nvPr/>
        </p:nvSpPr>
        <p:spPr>
          <a:xfrm>
            <a:off x="815855" y="3227288"/>
            <a:ext cx="193977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embed(documento)</a:t>
            </a:r>
            <a:endParaRPr lang="en-US" sz="900" dirty="0"/>
          </a:p>
        </p:txBody>
      </p:sp>
      <p:sp>
        <p:nvSpPr>
          <p:cNvPr id="14" name="Text 12"/>
          <p:cNvSpPr/>
          <p:nvPr/>
        </p:nvSpPr>
        <p:spPr>
          <a:xfrm>
            <a:off x="2383770" y="3227288"/>
            <a:ext cx="402609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vector B → [0.79, -0.28, 0.51, ...]</a:t>
            </a:r>
            <a:endParaRPr lang="en-US" sz="900" dirty="0"/>
          </a:p>
        </p:txBody>
      </p:sp>
      <p:sp>
        <p:nvSpPr>
          <p:cNvPr id="15" name="Text 13"/>
          <p:cNvSpPr/>
          <p:nvPr/>
        </p:nvSpPr>
        <p:spPr>
          <a:xfrm>
            <a:off x="815855" y="3494683"/>
            <a:ext cx="193977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score</a:t>
            </a:r>
            <a:endParaRPr lang="en-US" sz="900" dirty="0"/>
          </a:p>
        </p:txBody>
      </p:sp>
      <p:sp>
        <p:nvSpPr>
          <p:cNvPr id="16" name="Text 14"/>
          <p:cNvSpPr/>
          <p:nvPr/>
        </p:nvSpPr>
        <p:spPr>
          <a:xfrm>
            <a:off x="2383770" y="3494683"/>
            <a:ext cx="402609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cos(A, B) = 0.91</a:t>
            </a:r>
            <a:endParaRPr lang="en-US" sz="900" dirty="0"/>
          </a:p>
        </p:txBody>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7177" y="3810248"/>
            <a:ext cx="173628" cy="173633"/>
          </a:xfrm>
          <a:prstGeom prst="rect">
            <a:avLst/>
          </a:prstGeom>
        </p:spPr>
      </p:pic>
      <p:sp>
        <p:nvSpPr>
          <p:cNvPr id="18" name="Text 15"/>
          <p:cNvSpPr/>
          <p:nvPr/>
        </p:nvSpPr>
        <p:spPr>
          <a:xfrm>
            <a:off x="1069948" y="3804543"/>
            <a:ext cx="4852370"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3B3535"/>
                </a:solidFill>
                <a:latin typeface="Roboto Bold" pitchFamily="34" charset="0"/>
                <a:ea typeface="Roboto Bold" pitchFamily="34" charset="-122"/>
                <a:cs typeface="Roboto Bold" pitchFamily="34" charset="-120"/>
              </a:rPr>
              <a:t>Escalable — O(1) por doc en query time</a:t>
            </a:r>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 — Los embeddings de documentos se pre-computan y almacenan. Solo se embeddea la query en tiempo real. Ideal para millones de docs.</a:t>
            </a:r>
            <a:endParaRPr lang="en-US" sz="900" dirty="0"/>
          </a:p>
        </p:txBody>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177" y="4325293"/>
            <a:ext cx="173628" cy="173633"/>
          </a:xfrm>
          <a:prstGeom prst="rect">
            <a:avLst/>
          </a:prstGeom>
        </p:spPr>
      </p:pic>
      <p:sp>
        <p:nvSpPr>
          <p:cNvPr id="20" name="Text 16"/>
          <p:cNvSpPr/>
          <p:nvPr/>
        </p:nvSpPr>
        <p:spPr>
          <a:xfrm>
            <a:off x="1069948" y="4319588"/>
            <a:ext cx="4852370"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3B3535"/>
                </a:solidFill>
                <a:latin typeface="Roboto Bold" pitchFamily="34" charset="0"/>
                <a:ea typeface="Roboto Bold" pitchFamily="34" charset="-122"/>
                <a:cs typeface="Roboto Bold" pitchFamily="34" charset="-120"/>
              </a:rPr>
              <a:t>Pierde el contexto conjunto</a:t>
            </a:r>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 — El embedding de la palabra banco es el mismo sin importar si la query habla de dinero o de un río. No ve la interacción entre ambos textos.</a:t>
            </a:r>
            <a:endParaRPr lang="en-US" sz="90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7177" y="4840337"/>
            <a:ext cx="173628" cy="173633"/>
          </a:xfrm>
          <a:prstGeom prst="rect">
            <a:avLst/>
          </a:prstGeom>
        </p:spPr>
      </p:pic>
      <p:sp>
        <p:nvSpPr>
          <p:cNvPr id="22" name="Text 17"/>
          <p:cNvSpPr/>
          <p:nvPr/>
        </p:nvSpPr>
        <p:spPr>
          <a:xfrm>
            <a:off x="1069948" y="4834632"/>
            <a:ext cx="4852370"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3B3535"/>
                </a:solidFill>
                <a:latin typeface="Roboto Bold" pitchFamily="34" charset="0"/>
                <a:ea typeface="Roboto Bold" pitchFamily="34" charset="-122"/>
                <a:cs typeface="Roboto Bold" pitchFamily="34" charset="-120"/>
              </a:rPr>
              <a:t>Precisión limitada en reranking</a:t>
            </a:r>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 — Bueno para recuperar candidatos, pero no suficientemente preciso para decidir cuál de los top-50 es realmente el más relevante.</a:t>
            </a:r>
            <a:endParaRPr lang="en-US" sz="900" dirty="0"/>
          </a:p>
        </p:txBody>
      </p:sp>
      <p:sp>
        <p:nvSpPr>
          <p:cNvPr id="23" name="Shape 18"/>
          <p:cNvSpPr/>
          <p:nvPr/>
        </p:nvSpPr>
        <p:spPr>
          <a:xfrm>
            <a:off x="6160040" y="2307233"/>
            <a:ext cx="5459871" cy="3128963"/>
          </a:xfrm>
          <a:prstGeom prst="roundRect">
            <a:avLst>
              <a:gd name="adj" fmla="val 555"/>
            </a:avLst>
          </a:prstGeom>
          <a:solidFill>
            <a:srgbClr val="F0F4F8">
              <a:alpha val="95000"/>
            </a:srgbClr>
          </a:solidFill>
          <a:ln/>
        </p:spPr>
      </p:sp>
      <p:sp>
        <p:nvSpPr>
          <p:cNvPr id="24" name="Text 19"/>
          <p:cNvSpPr/>
          <p:nvPr/>
        </p:nvSpPr>
        <p:spPr>
          <a:xfrm>
            <a:off x="6275727" y="2388195"/>
            <a:ext cx="5228499" cy="180876"/>
          </a:xfrm>
          <a:prstGeom prst="rect">
            <a:avLst/>
          </a:prstGeom>
          <a:noFill/>
          <a:ln/>
        </p:spPr>
        <p:txBody>
          <a:bodyPr wrap="none" lIns="0" tIns="0" rIns="0" bIns="0" rtlCol="0" anchor="t"/>
          <a:lstStyle/>
          <a:p>
            <a:pPr algn="l" indent="0" marL="0">
              <a:lnSpc>
                <a:spcPct val="104000"/>
              </a:lnSpc>
              <a:buNone/>
            </a:pPr>
            <a:r>
              <a:rPr lang="en-US" sz="1100" dirty="0">
                <a:solidFill>
                  <a:srgbClr val="1F1E1E"/>
                </a:solidFill>
                <a:latin typeface="Roboto Mono Medium" pitchFamily="34" charset="0"/>
                <a:ea typeface="Roboto Mono Medium" pitchFamily="34" charset="-122"/>
                <a:cs typeface="Roboto Mono Medium" pitchFamily="34" charset="-120"/>
              </a:rPr>
              <a:t>Cross-encoder: query + doc juntos</a:t>
            </a:r>
            <a:endParaRPr lang="en-US" sz="1100" dirty="0"/>
          </a:p>
        </p:txBody>
      </p:sp>
      <p:sp>
        <p:nvSpPr>
          <p:cNvPr id="25" name="Text 20"/>
          <p:cNvSpPr/>
          <p:nvPr/>
        </p:nvSpPr>
        <p:spPr>
          <a:xfrm>
            <a:off x="6275727" y="2650034"/>
            <a:ext cx="5838084" cy="157460"/>
          </a:xfrm>
          <a:prstGeom prst="rect">
            <a:avLst/>
          </a:prstGeom>
          <a:noFill/>
          <a:ln/>
        </p:spPr>
        <p:txBody>
          <a:bodyPr wrap="none" lIns="0" tIns="0" rIns="0" bIns="0" rtlCol="0" anchor="t"/>
          <a:lstStyle/>
          <a:p>
            <a:pPr algn="l" indent="0" marL="0">
              <a:lnSpc>
                <a:spcPct val="113000"/>
              </a:lnSpc>
              <a:buNone/>
            </a:pPr>
            <a:r>
              <a:rPr lang="en-US" sz="900" i="1" dirty="0">
                <a:solidFill>
                  <a:srgbClr val="3B3535"/>
                </a:solidFill>
                <a:latin typeface="Roboto" pitchFamily="34" charset="0"/>
                <a:ea typeface="Roboto" pitchFamily="34" charset="-122"/>
                <a:cs typeface="Roboto" pitchFamily="34" charset="-120"/>
              </a:rPr>
              <a:t>Así funciona el reranker — lee ambos a la vez.</a:t>
            </a:r>
            <a:endParaRPr lang="en-US" sz="900" dirty="0"/>
          </a:p>
        </p:txBody>
      </p:sp>
      <p:sp>
        <p:nvSpPr>
          <p:cNvPr id="26" name="Shape 21"/>
          <p:cNvSpPr/>
          <p:nvPr/>
        </p:nvSpPr>
        <p:spPr>
          <a:xfrm>
            <a:off x="6275727" y="2898577"/>
            <a:ext cx="5228499" cy="972344"/>
          </a:xfrm>
          <a:prstGeom prst="roundRect">
            <a:avLst>
              <a:gd name="adj" fmla="val 784"/>
            </a:avLst>
          </a:prstGeom>
          <a:noFill/>
          <a:ln w="6350">
            <a:solidFill>
              <a:srgbClr val="000000">
                <a:alpha val="8000"/>
              </a:srgbClr>
            </a:solidFill>
            <a:prstDash val="solid"/>
          </a:ln>
        </p:spPr>
      </p:sp>
      <p:sp>
        <p:nvSpPr>
          <p:cNvPr id="27" name="Text 22"/>
          <p:cNvSpPr/>
          <p:nvPr/>
        </p:nvSpPr>
        <p:spPr>
          <a:xfrm>
            <a:off x="6397763" y="2959894"/>
            <a:ext cx="193977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Input al modelo:</a:t>
            </a:r>
            <a:endParaRPr lang="en-US" sz="900" dirty="0"/>
          </a:p>
        </p:txBody>
      </p:sp>
      <p:sp>
        <p:nvSpPr>
          <p:cNvPr id="28" name="Text 23"/>
          <p:cNvSpPr/>
          <p:nvPr/>
        </p:nvSpPr>
        <p:spPr>
          <a:xfrm>
            <a:off x="7965677" y="2959894"/>
            <a:ext cx="402609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query + separador + documento (texto completo)</a:t>
            </a:r>
            <a:endParaRPr lang="en-US" sz="900" dirty="0"/>
          </a:p>
        </p:txBody>
      </p:sp>
      <p:sp>
        <p:nvSpPr>
          <p:cNvPr id="29" name="Text 24"/>
          <p:cNvSpPr/>
          <p:nvPr/>
        </p:nvSpPr>
        <p:spPr>
          <a:xfrm>
            <a:off x="6397763" y="3227288"/>
            <a:ext cx="193977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Procesamiento:</a:t>
            </a:r>
            <a:endParaRPr lang="en-US" sz="900" dirty="0"/>
          </a:p>
        </p:txBody>
      </p:sp>
      <p:sp>
        <p:nvSpPr>
          <p:cNvPr id="30" name="Text 25"/>
          <p:cNvSpPr/>
          <p:nvPr/>
        </p:nvSpPr>
        <p:spPr>
          <a:xfrm>
            <a:off x="7965677" y="3227288"/>
            <a:ext cx="3416512"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Transformer atiende cada token de la query contra cada token del doc</a:t>
            </a:r>
            <a:endParaRPr lang="en-US" sz="900" dirty="0"/>
          </a:p>
        </p:txBody>
      </p:sp>
      <p:sp>
        <p:nvSpPr>
          <p:cNvPr id="31" name="Text 26"/>
          <p:cNvSpPr/>
          <p:nvPr/>
        </p:nvSpPr>
        <p:spPr>
          <a:xfrm>
            <a:off x="6397763" y="3652143"/>
            <a:ext cx="193977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Output:</a:t>
            </a:r>
            <a:endParaRPr lang="en-US" sz="900" dirty="0"/>
          </a:p>
        </p:txBody>
      </p:sp>
      <p:sp>
        <p:nvSpPr>
          <p:cNvPr id="32" name="Text 27"/>
          <p:cNvSpPr/>
          <p:nvPr/>
        </p:nvSpPr>
        <p:spPr>
          <a:xfrm>
            <a:off x="7965677" y="3652143"/>
            <a:ext cx="402609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score de relevancia entre 0 y 1</a:t>
            </a:r>
            <a:endParaRPr lang="en-US" sz="900" dirty="0"/>
          </a:p>
        </p:txBody>
      </p:sp>
      <p:pic>
        <p:nvPicPr>
          <p:cNvPr id="3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9084" y="3967708"/>
            <a:ext cx="173628" cy="173633"/>
          </a:xfrm>
          <a:prstGeom prst="rect">
            <a:avLst/>
          </a:prstGeom>
        </p:spPr>
      </p:pic>
      <p:sp>
        <p:nvSpPr>
          <p:cNvPr id="34" name="Text 28"/>
          <p:cNvSpPr/>
          <p:nvPr/>
        </p:nvSpPr>
        <p:spPr>
          <a:xfrm>
            <a:off x="6651855" y="3962003"/>
            <a:ext cx="4852370"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3B3535"/>
                </a:solidFill>
                <a:latin typeface="Roboto Bold" pitchFamily="34" charset="0"/>
                <a:ea typeface="Roboto Bold" pitchFamily="34" charset="-122"/>
                <a:cs typeface="Roboto Bold" pitchFamily="34" charset="-120"/>
              </a:rPr>
              <a:t>Ve la interacción completa</a:t>
            </a:r>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 — El modelo puede detectar que pescado en el documento responde directamente a la pregunta sobre alimentación de animales en la query.</a:t>
            </a:r>
            <a:endParaRPr lang="en-US" sz="900" dirty="0"/>
          </a:p>
        </p:txBody>
      </p:sp>
      <p:pic>
        <p:nvPicPr>
          <p:cNvPr id="3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9084" y="4482753"/>
            <a:ext cx="173628" cy="173633"/>
          </a:xfrm>
          <a:prstGeom prst="rect">
            <a:avLst/>
          </a:prstGeom>
        </p:spPr>
      </p:pic>
      <p:sp>
        <p:nvSpPr>
          <p:cNvPr id="36" name="Text 29"/>
          <p:cNvSpPr/>
          <p:nvPr/>
        </p:nvSpPr>
        <p:spPr>
          <a:xfrm>
            <a:off x="6651855" y="4477048"/>
            <a:ext cx="4852370"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3B3535"/>
                </a:solidFill>
                <a:latin typeface="Roboto Bold" pitchFamily="34" charset="0"/>
                <a:ea typeface="Roboto Bold" pitchFamily="34" charset="-122"/>
                <a:cs typeface="Roboto Bold" pitchFamily="34" charset="-120"/>
              </a:rPr>
              <a:t>Mucho más preciso</a:t>
            </a:r>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 — Distingue matices imposibles para el coseno: negaciones, contexto, ambigüedad léxica. Modelos: Cohere Rerank, BGE-Reranker, ms-marco-MiniLM.</a:t>
            </a:r>
            <a:endParaRPr lang="en-US" sz="900" dirty="0"/>
          </a:p>
        </p:txBody>
      </p:sp>
      <p:pic>
        <p:nvPicPr>
          <p:cNvPr id="3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19084" y="4997797"/>
            <a:ext cx="173628" cy="173633"/>
          </a:xfrm>
          <a:prstGeom prst="rect">
            <a:avLst/>
          </a:prstGeom>
        </p:spPr>
      </p:pic>
      <p:sp>
        <p:nvSpPr>
          <p:cNvPr id="38" name="Text 30"/>
          <p:cNvSpPr/>
          <p:nvPr/>
        </p:nvSpPr>
        <p:spPr>
          <a:xfrm>
            <a:off x="6651855" y="4992092"/>
            <a:ext cx="4852370"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3B3535"/>
                </a:solidFill>
                <a:latin typeface="Roboto Bold" pitchFamily="34" charset="0"/>
                <a:ea typeface="Roboto Bold" pitchFamily="34" charset="-122"/>
                <a:cs typeface="Roboto Bold" pitchFamily="34" charset="-120"/>
              </a:rPr>
              <a:t>No escala solo — O(n) por query</a:t>
            </a:r>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 — Requiere una inferencia completa por cada par. Con 100K docs sería inviable. Por eso se usa solo sobre los top-50 candidatos del Stage 1.</a:t>
            </a:r>
            <a:endParaRPr lang="en-US" sz="900" dirty="0"/>
          </a:p>
        </p:txBody>
      </p:sp>
      <p:sp>
        <p:nvSpPr>
          <p:cNvPr id="39" name="Shape 31"/>
          <p:cNvSpPr/>
          <p:nvPr/>
        </p:nvSpPr>
        <p:spPr>
          <a:xfrm>
            <a:off x="661475" y="5527278"/>
            <a:ext cx="10868745" cy="526554"/>
          </a:xfrm>
          <a:prstGeom prst="roundRect">
            <a:avLst>
              <a:gd name="adj" fmla="val 1447"/>
            </a:avLst>
          </a:prstGeom>
          <a:solidFill>
            <a:srgbClr val="F9D2D6"/>
          </a:solidFill>
          <a:ln/>
        </p:spPr>
      </p:sp>
      <p:pic>
        <p:nvPicPr>
          <p:cNvPr id="40" name="Image 6" descr="preencoded.png">    </p:cNvPr>
          <p:cNvPicPr>
            <a:picLocks noChangeAspect="1"/>
          </p:cNvPicPr>
          <p:nvPr/>
        </p:nvPicPr>
        <p:blipFill>
          <a:blip r:embed="rId13"/>
          <a:stretch>
            <a:fillRect/>
          </a:stretch>
        </p:blipFill>
        <p:spPr>
          <a:xfrm>
            <a:off x="777161" y="5643761"/>
            <a:ext cx="144657" cy="115689"/>
          </a:xfrm>
          <a:prstGeom prst="rect">
            <a:avLst/>
          </a:prstGeom>
        </p:spPr>
      </p:pic>
      <p:sp>
        <p:nvSpPr>
          <p:cNvPr id="41" name="Text 32"/>
          <p:cNvSpPr/>
          <p:nvPr/>
        </p:nvSpPr>
        <p:spPr>
          <a:xfrm>
            <a:off x="1037505" y="5637113"/>
            <a:ext cx="1037702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 La concatenación es la clave: al pasarle query y documento juntos al Transformer, el mecanismo de atención puede relacionar directamente cada palabra de la pregunta con cada palabra del documento. Eso es lo que el coseno entre vectores separados nunca puede hacer.</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661475" y="2435126"/>
            <a:ext cx="1898007" cy="251420"/>
          </a:xfrm>
          <a:prstGeom prst="roundRect">
            <a:avLst>
              <a:gd name="adj" fmla="val 3031"/>
            </a:avLst>
          </a:prstGeom>
          <a:solidFill>
            <a:srgbClr val="F9D2D6"/>
          </a:solidFill>
          <a:ln/>
        </p:spPr>
      </p:sp>
      <p:sp>
        <p:nvSpPr>
          <p:cNvPr id="3" name="Text 1"/>
          <p:cNvSpPr/>
          <p:nvPr/>
        </p:nvSpPr>
        <p:spPr>
          <a:xfrm>
            <a:off x="760691" y="2484735"/>
            <a:ext cx="2309159"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ARQUITECTURA Y USO</a:t>
            </a:r>
            <a:endParaRPr lang="en-US" sz="1000" dirty="0"/>
          </a:p>
        </p:txBody>
      </p:sp>
      <p:sp>
        <p:nvSpPr>
          <p:cNvPr id="4" name="Text 2"/>
          <p:cNvSpPr/>
          <p:nvPr/>
        </p:nvSpPr>
        <p:spPr>
          <a:xfrm>
            <a:off x="661475" y="2752626"/>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Ejemplo de Ranking</a:t>
            </a:r>
            <a:endParaRPr lang="en-US" sz="3250" dirty="0"/>
          </a:p>
        </p:txBody>
      </p:sp>
      <p:sp>
        <p:nvSpPr>
          <p:cNvPr id="5" name="Text 3"/>
          <p:cNvSpPr/>
          <p:nvPr/>
        </p:nvSpPr>
        <p:spPr>
          <a:xfrm>
            <a:off x="661475" y="3517404"/>
            <a:ext cx="11478330" cy="264616"/>
          </a:xfrm>
          <a:prstGeom prst="rect">
            <a:avLst/>
          </a:prstGeom>
          <a:noFill/>
          <a:ln/>
        </p:spPr>
        <p:txBody>
          <a:bodyPr wrap="none" lIns="0" tIns="0" rIns="0" bIns="0" rtlCol="0" anchor="t"/>
          <a:lstStyle/>
          <a:p>
            <a:pPr algn="l" indent="0" marL="0">
              <a:lnSpc>
                <a:spcPct val="133000"/>
              </a:lnSpc>
              <a:buNone/>
            </a:pPr>
            <a:endParaRPr lang="en-US" sz="1300" dirty="0"/>
          </a:p>
        </p:txBody>
      </p:sp>
      <p:pic>
        <p:nvPicPr>
          <p:cNvPr id="6" name="Image 0" descr="preencoded.png">
            <a:hlinkClick r:id="rId2" tooltip=""/>
          </p:cNvPr>
          <p:cNvPicPr>
            <a:picLocks noChangeAspect="1"/>
          </p:cNvPicPr>
          <p:nvPr/>
        </p:nvPicPr>
        <p:blipFill>
          <a:blip r:embed="rId1"/>
          <a:stretch>
            <a:fillRect/>
          </a:stretch>
        </p:blipFill>
        <p:spPr>
          <a:xfrm>
            <a:off x="661475" y="3968055"/>
            <a:ext cx="1279096" cy="45481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61475" y="628055"/>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oboto Mono Medium" pitchFamily="34" charset="0"/>
                <a:ea typeface="Roboto Mono Medium" pitchFamily="34" charset="-122"/>
                <a:cs typeface="Roboto Mono Medium" pitchFamily="34" charset="-120"/>
              </a:rPr>
              <a:t>Agenda</a:t>
            </a:r>
            <a:endParaRPr lang="en-US" sz="2400" dirty="0"/>
          </a:p>
        </p:txBody>
      </p:sp>
      <p:sp>
        <p:nvSpPr>
          <p:cNvPr id="3" name="Shape 1"/>
          <p:cNvSpPr/>
          <p:nvPr/>
        </p:nvSpPr>
        <p:spPr>
          <a:xfrm>
            <a:off x="800973" y="1201738"/>
            <a:ext cx="12700" cy="5028109"/>
          </a:xfrm>
          <a:prstGeom prst="roundRect">
            <a:avLst>
              <a:gd name="adj" fmla="val 49999"/>
            </a:avLst>
          </a:prstGeom>
          <a:solidFill>
            <a:srgbClr val="D8D4D4"/>
          </a:solidFill>
          <a:ln/>
        </p:spPr>
      </p:sp>
      <p:sp>
        <p:nvSpPr>
          <p:cNvPr id="4" name="Shape 2"/>
          <p:cNvSpPr/>
          <p:nvPr/>
        </p:nvSpPr>
        <p:spPr>
          <a:xfrm>
            <a:off x="927821" y="1334889"/>
            <a:ext cx="372061" cy="12700"/>
          </a:xfrm>
          <a:prstGeom prst="roundRect">
            <a:avLst>
              <a:gd name="adj" fmla="val 49999"/>
            </a:avLst>
          </a:prstGeom>
          <a:solidFill>
            <a:srgbClr val="D8D4D4"/>
          </a:solidFill>
          <a:ln/>
        </p:spPr>
      </p:sp>
      <p:sp>
        <p:nvSpPr>
          <p:cNvPr id="5" name="Shape 3"/>
          <p:cNvSpPr/>
          <p:nvPr/>
        </p:nvSpPr>
        <p:spPr>
          <a:xfrm>
            <a:off x="661425" y="1201738"/>
            <a:ext cx="279095" cy="279102"/>
          </a:xfrm>
          <a:prstGeom prst="roundRect">
            <a:avLst>
              <a:gd name="adj" fmla="val 2730"/>
            </a:avLst>
          </a:prstGeom>
          <a:solidFill>
            <a:srgbClr val="F2EEEE"/>
          </a:solidFill>
          <a:ln w="6350">
            <a:solidFill>
              <a:srgbClr val="D8D4D4"/>
            </a:solidFill>
            <a:prstDash val="solid"/>
          </a:ln>
        </p:spPr>
      </p:sp>
      <p:sp>
        <p:nvSpPr>
          <p:cNvPr id="6" name="Text 4"/>
          <p:cNvSpPr/>
          <p:nvPr/>
        </p:nvSpPr>
        <p:spPr>
          <a:xfrm>
            <a:off x="707908" y="122495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1</a:t>
            </a:r>
            <a:endParaRPr lang="en-US" sz="1450" dirty="0"/>
          </a:p>
        </p:txBody>
      </p:sp>
      <p:sp>
        <p:nvSpPr>
          <p:cNvPr id="7" name="Text 5"/>
          <p:cNvSpPr/>
          <p:nvPr/>
        </p:nvSpPr>
        <p:spPr>
          <a:xfrm>
            <a:off x="1421174" y="124430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Fundamentos ✓</a:t>
            </a:r>
            <a:endParaRPr lang="en-US" sz="1200" dirty="0"/>
          </a:p>
        </p:txBody>
      </p:sp>
      <p:sp>
        <p:nvSpPr>
          <p:cNvPr id="8" name="Text 6"/>
          <p:cNvSpPr/>
          <p:nvPr/>
        </p:nvSpPr>
        <p:spPr>
          <a:xfrm>
            <a:off x="1421174" y="1493838"/>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RAG, por qué lo necesitamos y arquitectura básica.</a:t>
            </a:r>
            <a:endParaRPr lang="en-US" sz="950" dirty="0"/>
          </a:p>
        </p:txBody>
      </p:sp>
      <p:sp>
        <p:nvSpPr>
          <p:cNvPr id="9" name="Shape 7"/>
          <p:cNvSpPr/>
          <p:nvPr/>
        </p:nvSpPr>
        <p:spPr>
          <a:xfrm>
            <a:off x="927821" y="1986657"/>
            <a:ext cx="372061" cy="12700"/>
          </a:xfrm>
          <a:prstGeom prst="roundRect">
            <a:avLst>
              <a:gd name="adj" fmla="val 49999"/>
            </a:avLst>
          </a:prstGeom>
          <a:solidFill>
            <a:srgbClr val="D8D4D4"/>
          </a:solidFill>
          <a:ln/>
        </p:spPr>
      </p:sp>
      <p:sp>
        <p:nvSpPr>
          <p:cNvPr id="10" name="Shape 8"/>
          <p:cNvSpPr/>
          <p:nvPr/>
        </p:nvSpPr>
        <p:spPr>
          <a:xfrm>
            <a:off x="661425" y="1853505"/>
            <a:ext cx="279095" cy="279102"/>
          </a:xfrm>
          <a:prstGeom prst="roundRect">
            <a:avLst>
              <a:gd name="adj" fmla="val 2730"/>
            </a:avLst>
          </a:prstGeom>
          <a:solidFill>
            <a:srgbClr val="F2EEEE"/>
          </a:solidFill>
          <a:ln w="6350">
            <a:solidFill>
              <a:srgbClr val="D8D4D4"/>
            </a:solidFill>
            <a:prstDash val="solid"/>
          </a:ln>
        </p:spPr>
      </p:sp>
      <p:sp>
        <p:nvSpPr>
          <p:cNvPr id="11" name="Text 9"/>
          <p:cNvSpPr/>
          <p:nvPr/>
        </p:nvSpPr>
        <p:spPr>
          <a:xfrm>
            <a:off x="707908" y="187672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2</a:t>
            </a:r>
            <a:endParaRPr lang="en-US" sz="1450" dirty="0"/>
          </a:p>
        </p:txBody>
      </p:sp>
      <p:sp>
        <p:nvSpPr>
          <p:cNvPr id="12" name="Text 10"/>
          <p:cNvSpPr/>
          <p:nvPr/>
        </p:nvSpPr>
        <p:spPr>
          <a:xfrm>
            <a:off x="1421174" y="189607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Búsqueda y Recuperación ✓</a:t>
            </a:r>
            <a:endParaRPr lang="en-US" sz="1200" dirty="0"/>
          </a:p>
        </p:txBody>
      </p:sp>
      <p:sp>
        <p:nvSpPr>
          <p:cNvPr id="13" name="Text 11"/>
          <p:cNvSpPr/>
          <p:nvPr/>
        </p:nvSpPr>
        <p:spPr>
          <a:xfrm>
            <a:off x="1421174" y="214560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Búsqueda vectorial, léxica, semántica e híbrida. Bases de datos y flujo completo.</a:t>
            </a:r>
            <a:endParaRPr lang="en-US" sz="950" dirty="0"/>
          </a:p>
        </p:txBody>
      </p:sp>
      <p:sp>
        <p:nvSpPr>
          <p:cNvPr id="14" name="Shape 12"/>
          <p:cNvSpPr/>
          <p:nvPr/>
        </p:nvSpPr>
        <p:spPr>
          <a:xfrm>
            <a:off x="927821" y="2638425"/>
            <a:ext cx="372061" cy="12700"/>
          </a:xfrm>
          <a:prstGeom prst="roundRect">
            <a:avLst>
              <a:gd name="adj" fmla="val 49999"/>
            </a:avLst>
          </a:prstGeom>
          <a:solidFill>
            <a:srgbClr val="D8D4D4"/>
          </a:solidFill>
          <a:ln/>
        </p:spPr>
      </p:sp>
      <p:sp>
        <p:nvSpPr>
          <p:cNvPr id="15" name="Shape 13"/>
          <p:cNvSpPr/>
          <p:nvPr/>
        </p:nvSpPr>
        <p:spPr>
          <a:xfrm>
            <a:off x="661425" y="2505273"/>
            <a:ext cx="279095" cy="279102"/>
          </a:xfrm>
          <a:prstGeom prst="roundRect">
            <a:avLst>
              <a:gd name="adj" fmla="val 2730"/>
            </a:avLst>
          </a:prstGeom>
          <a:solidFill>
            <a:srgbClr val="F2EEEE"/>
          </a:solidFill>
          <a:ln w="6350">
            <a:solidFill>
              <a:srgbClr val="D8D4D4"/>
            </a:solidFill>
            <a:prstDash val="solid"/>
          </a:ln>
        </p:spPr>
      </p:sp>
      <p:sp>
        <p:nvSpPr>
          <p:cNvPr id="16" name="Text 14"/>
          <p:cNvSpPr/>
          <p:nvPr/>
        </p:nvSpPr>
        <p:spPr>
          <a:xfrm>
            <a:off x="707908" y="2528491"/>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3</a:t>
            </a:r>
            <a:endParaRPr lang="en-US" sz="1450" dirty="0"/>
          </a:p>
        </p:txBody>
      </p:sp>
      <p:sp>
        <p:nvSpPr>
          <p:cNvPr id="17" name="Text 15"/>
          <p:cNvSpPr/>
          <p:nvPr/>
        </p:nvSpPr>
        <p:spPr>
          <a:xfrm>
            <a:off x="1421174" y="254783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Reranking y Precisión</a:t>
            </a:r>
            <a:endParaRPr lang="en-US" sz="1200" dirty="0"/>
          </a:p>
        </p:txBody>
      </p:sp>
      <p:sp>
        <p:nvSpPr>
          <p:cNvPr id="18" name="Text 16"/>
          <p:cNvSpPr/>
          <p:nvPr/>
        </p:nvSpPr>
        <p:spPr>
          <a:xfrm>
            <a:off x="1421174" y="279737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Recuperación en dos etapas, cross-encoders, Reciprocal Rank Fusion y optimización de precisión.</a:t>
            </a:r>
            <a:endParaRPr lang="en-US" sz="950" dirty="0"/>
          </a:p>
        </p:txBody>
      </p:sp>
      <p:sp>
        <p:nvSpPr>
          <p:cNvPr id="19" name="Shape 17"/>
          <p:cNvSpPr/>
          <p:nvPr/>
        </p:nvSpPr>
        <p:spPr>
          <a:xfrm>
            <a:off x="927821" y="3290193"/>
            <a:ext cx="372061" cy="12700"/>
          </a:xfrm>
          <a:prstGeom prst="roundRect">
            <a:avLst>
              <a:gd name="adj" fmla="val 49999"/>
            </a:avLst>
          </a:prstGeom>
          <a:solidFill>
            <a:srgbClr val="F33447"/>
          </a:solidFill>
          <a:ln/>
        </p:spPr>
      </p:sp>
      <p:sp>
        <p:nvSpPr>
          <p:cNvPr id="20" name="Shape 18"/>
          <p:cNvSpPr/>
          <p:nvPr/>
        </p:nvSpPr>
        <p:spPr>
          <a:xfrm>
            <a:off x="661425" y="3157041"/>
            <a:ext cx="279095" cy="279102"/>
          </a:xfrm>
          <a:prstGeom prst="roundRect">
            <a:avLst>
              <a:gd name="adj" fmla="val 2730"/>
            </a:avLst>
          </a:prstGeom>
          <a:solidFill>
            <a:srgbClr val="DA1B2E"/>
          </a:solidFill>
          <a:ln w="6350">
            <a:solidFill>
              <a:srgbClr val="F33447"/>
            </a:solidFill>
            <a:prstDash val="solid"/>
          </a:ln>
        </p:spPr>
      </p:sp>
      <p:sp>
        <p:nvSpPr>
          <p:cNvPr id="21" name="Text 19"/>
          <p:cNvSpPr/>
          <p:nvPr/>
        </p:nvSpPr>
        <p:spPr>
          <a:xfrm>
            <a:off x="707908" y="3180259"/>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Roboto Mono Medium" pitchFamily="34" charset="0"/>
                <a:ea typeface="Roboto Mono Medium" pitchFamily="34" charset="-122"/>
                <a:cs typeface="Roboto Mono Medium" pitchFamily="34" charset="-120"/>
              </a:rPr>
              <a:t>4</a:t>
            </a:r>
            <a:endParaRPr lang="en-US" sz="1450" dirty="0"/>
          </a:p>
        </p:txBody>
      </p:sp>
      <p:sp>
        <p:nvSpPr>
          <p:cNvPr id="22" name="Text 20"/>
          <p:cNvSpPr/>
          <p:nvPr/>
        </p:nvSpPr>
        <p:spPr>
          <a:xfrm>
            <a:off x="1421174" y="3199606"/>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Chunking y Metadatos</a:t>
            </a:r>
            <a:endParaRPr lang="en-US" sz="1200" dirty="0"/>
          </a:p>
        </p:txBody>
      </p:sp>
      <p:sp>
        <p:nvSpPr>
          <p:cNvPr id="23" name="Text 21"/>
          <p:cNvSpPr/>
          <p:nvPr/>
        </p:nvSpPr>
        <p:spPr>
          <a:xfrm>
            <a:off x="1421174" y="3449141"/>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Fragmentación de documentos, estrategias de chunking y metadatos esenciales.</a:t>
            </a:r>
            <a:endParaRPr lang="en-US" sz="950" dirty="0"/>
          </a:p>
        </p:txBody>
      </p:sp>
      <p:sp>
        <p:nvSpPr>
          <p:cNvPr id="24" name="Shape 22"/>
          <p:cNvSpPr/>
          <p:nvPr/>
        </p:nvSpPr>
        <p:spPr>
          <a:xfrm>
            <a:off x="927821" y="3941961"/>
            <a:ext cx="372061" cy="12700"/>
          </a:xfrm>
          <a:prstGeom prst="roundRect">
            <a:avLst>
              <a:gd name="adj" fmla="val 49999"/>
            </a:avLst>
          </a:prstGeom>
          <a:solidFill>
            <a:srgbClr val="D8D4D4"/>
          </a:solidFill>
          <a:ln/>
        </p:spPr>
      </p:sp>
      <p:sp>
        <p:nvSpPr>
          <p:cNvPr id="25" name="Shape 23"/>
          <p:cNvSpPr/>
          <p:nvPr/>
        </p:nvSpPr>
        <p:spPr>
          <a:xfrm>
            <a:off x="661425" y="3808809"/>
            <a:ext cx="279095" cy="279102"/>
          </a:xfrm>
          <a:prstGeom prst="roundRect">
            <a:avLst>
              <a:gd name="adj" fmla="val 2730"/>
            </a:avLst>
          </a:prstGeom>
          <a:solidFill>
            <a:srgbClr val="F2EEEE"/>
          </a:solidFill>
          <a:ln w="6350">
            <a:solidFill>
              <a:srgbClr val="D8D4D4"/>
            </a:solidFill>
            <a:prstDash val="solid"/>
          </a:ln>
        </p:spPr>
      </p:sp>
      <p:sp>
        <p:nvSpPr>
          <p:cNvPr id="26" name="Text 24"/>
          <p:cNvSpPr/>
          <p:nvPr/>
        </p:nvSpPr>
        <p:spPr>
          <a:xfrm>
            <a:off x="707908" y="3832027"/>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5</a:t>
            </a:r>
            <a:endParaRPr lang="en-US" sz="1450" dirty="0"/>
          </a:p>
        </p:txBody>
      </p:sp>
      <p:sp>
        <p:nvSpPr>
          <p:cNvPr id="27" name="Text 25"/>
          <p:cNvSpPr/>
          <p:nvPr/>
        </p:nvSpPr>
        <p:spPr>
          <a:xfrm>
            <a:off x="1421174" y="3851374"/>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Evaluación, Seguridad y Patrones Avanzados</a:t>
            </a:r>
            <a:endParaRPr lang="en-US" sz="1200" dirty="0"/>
          </a:p>
        </p:txBody>
      </p:sp>
      <p:sp>
        <p:nvSpPr>
          <p:cNvPr id="28" name="Text 26"/>
          <p:cNvSpPr/>
          <p:nvPr/>
        </p:nvSpPr>
        <p:spPr>
          <a:xfrm>
            <a:off x="1421174" y="4100909"/>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Métricas clave, LLM-as-Judge, riesgos, GraphRAG, Agentic RAG y RAG Multimodal.</a:t>
            </a:r>
            <a:endParaRPr lang="en-US" sz="950" dirty="0"/>
          </a:p>
        </p:txBody>
      </p:sp>
      <p:sp>
        <p:nvSpPr>
          <p:cNvPr id="29" name="Shape 27"/>
          <p:cNvSpPr/>
          <p:nvPr/>
        </p:nvSpPr>
        <p:spPr>
          <a:xfrm>
            <a:off x="927821" y="4593729"/>
            <a:ext cx="372061" cy="12700"/>
          </a:xfrm>
          <a:prstGeom prst="roundRect">
            <a:avLst>
              <a:gd name="adj" fmla="val 49999"/>
            </a:avLst>
          </a:prstGeom>
          <a:solidFill>
            <a:srgbClr val="D8D4D4"/>
          </a:solidFill>
          <a:ln/>
        </p:spPr>
      </p:sp>
      <p:sp>
        <p:nvSpPr>
          <p:cNvPr id="30" name="Shape 28"/>
          <p:cNvSpPr/>
          <p:nvPr/>
        </p:nvSpPr>
        <p:spPr>
          <a:xfrm>
            <a:off x="661425" y="4460577"/>
            <a:ext cx="279095" cy="279102"/>
          </a:xfrm>
          <a:prstGeom prst="roundRect">
            <a:avLst>
              <a:gd name="adj" fmla="val 2730"/>
            </a:avLst>
          </a:prstGeom>
          <a:solidFill>
            <a:srgbClr val="F2EEEE"/>
          </a:solidFill>
          <a:ln w="6350">
            <a:solidFill>
              <a:srgbClr val="D8D4D4"/>
            </a:solidFill>
            <a:prstDash val="solid"/>
          </a:ln>
        </p:spPr>
      </p:sp>
      <p:sp>
        <p:nvSpPr>
          <p:cNvPr id="31" name="Text 29"/>
          <p:cNvSpPr/>
          <p:nvPr/>
        </p:nvSpPr>
        <p:spPr>
          <a:xfrm>
            <a:off x="707908" y="448379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6</a:t>
            </a:r>
            <a:endParaRPr lang="en-US" sz="1450" dirty="0"/>
          </a:p>
        </p:txBody>
      </p:sp>
      <p:sp>
        <p:nvSpPr>
          <p:cNvPr id="32" name="Text 30"/>
          <p:cNvSpPr/>
          <p:nvPr/>
        </p:nvSpPr>
        <p:spPr>
          <a:xfrm>
            <a:off x="1421174" y="450314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Fundamentos</a:t>
            </a:r>
            <a:endParaRPr lang="en-US" sz="1200" dirty="0"/>
          </a:p>
        </p:txBody>
      </p:sp>
      <p:sp>
        <p:nvSpPr>
          <p:cNvPr id="33" name="Text 31"/>
          <p:cNvSpPr/>
          <p:nvPr/>
        </p:nvSpPr>
        <p:spPr>
          <a:xfrm>
            <a:off x="1421174" y="4752677"/>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MCP, historia, protocolo JSON-RPC y comparativa con HTTP/GraphQL.</a:t>
            </a:r>
            <a:endParaRPr lang="en-US" sz="950" dirty="0"/>
          </a:p>
        </p:txBody>
      </p:sp>
      <p:sp>
        <p:nvSpPr>
          <p:cNvPr id="34" name="Shape 32"/>
          <p:cNvSpPr/>
          <p:nvPr/>
        </p:nvSpPr>
        <p:spPr>
          <a:xfrm>
            <a:off x="927821" y="5245497"/>
            <a:ext cx="372061" cy="12700"/>
          </a:xfrm>
          <a:prstGeom prst="roundRect">
            <a:avLst>
              <a:gd name="adj" fmla="val 49999"/>
            </a:avLst>
          </a:prstGeom>
          <a:solidFill>
            <a:srgbClr val="D8D4D4"/>
          </a:solidFill>
          <a:ln/>
        </p:spPr>
      </p:sp>
      <p:sp>
        <p:nvSpPr>
          <p:cNvPr id="35" name="Shape 33"/>
          <p:cNvSpPr/>
          <p:nvPr/>
        </p:nvSpPr>
        <p:spPr>
          <a:xfrm>
            <a:off x="661425" y="5112345"/>
            <a:ext cx="279095" cy="279102"/>
          </a:xfrm>
          <a:prstGeom prst="roundRect">
            <a:avLst>
              <a:gd name="adj" fmla="val 2730"/>
            </a:avLst>
          </a:prstGeom>
          <a:solidFill>
            <a:srgbClr val="F2EEEE"/>
          </a:solidFill>
          <a:ln w="6350">
            <a:solidFill>
              <a:srgbClr val="D8D4D4"/>
            </a:solidFill>
            <a:prstDash val="solid"/>
          </a:ln>
        </p:spPr>
      </p:sp>
      <p:sp>
        <p:nvSpPr>
          <p:cNvPr id="36" name="Text 34"/>
          <p:cNvSpPr/>
          <p:nvPr/>
        </p:nvSpPr>
        <p:spPr>
          <a:xfrm>
            <a:off x="707908" y="513556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7</a:t>
            </a:r>
            <a:endParaRPr lang="en-US" sz="1450" dirty="0"/>
          </a:p>
        </p:txBody>
      </p:sp>
      <p:sp>
        <p:nvSpPr>
          <p:cNvPr id="37" name="Text 35"/>
          <p:cNvSpPr/>
          <p:nvPr/>
        </p:nvSpPr>
        <p:spPr>
          <a:xfrm>
            <a:off x="1421174" y="515491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Arquitectura y Uso</a:t>
            </a:r>
            <a:endParaRPr lang="en-US" sz="1200" dirty="0"/>
          </a:p>
        </p:txBody>
      </p:sp>
      <p:sp>
        <p:nvSpPr>
          <p:cNvPr id="38" name="Text 36"/>
          <p:cNvSpPr/>
          <p:nvPr/>
        </p:nvSpPr>
        <p:spPr>
          <a:xfrm>
            <a:off x="1421174" y="540444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Ciclo de vida, multi-servidor, ecosistema, casos de uso con Claude y cómo conectar servidores.</a:t>
            </a:r>
            <a:endParaRPr lang="en-US" sz="950" dirty="0"/>
          </a:p>
        </p:txBody>
      </p:sp>
      <p:sp>
        <p:nvSpPr>
          <p:cNvPr id="39" name="Shape 37"/>
          <p:cNvSpPr/>
          <p:nvPr/>
        </p:nvSpPr>
        <p:spPr>
          <a:xfrm>
            <a:off x="927821" y="5897265"/>
            <a:ext cx="372061" cy="12700"/>
          </a:xfrm>
          <a:prstGeom prst="roundRect">
            <a:avLst>
              <a:gd name="adj" fmla="val 49999"/>
            </a:avLst>
          </a:prstGeom>
          <a:solidFill>
            <a:srgbClr val="D8D4D4"/>
          </a:solidFill>
          <a:ln/>
        </p:spPr>
      </p:sp>
      <p:sp>
        <p:nvSpPr>
          <p:cNvPr id="40" name="Shape 38"/>
          <p:cNvSpPr/>
          <p:nvPr/>
        </p:nvSpPr>
        <p:spPr>
          <a:xfrm>
            <a:off x="661425" y="5764113"/>
            <a:ext cx="279095" cy="279102"/>
          </a:xfrm>
          <a:prstGeom prst="roundRect">
            <a:avLst>
              <a:gd name="adj" fmla="val 2730"/>
            </a:avLst>
          </a:prstGeom>
          <a:solidFill>
            <a:srgbClr val="F2EEEE"/>
          </a:solidFill>
          <a:ln w="6350">
            <a:solidFill>
              <a:srgbClr val="D8D4D4"/>
            </a:solidFill>
            <a:prstDash val="solid"/>
          </a:ln>
        </p:spPr>
      </p:sp>
      <p:sp>
        <p:nvSpPr>
          <p:cNvPr id="41" name="Text 39"/>
          <p:cNvSpPr/>
          <p:nvPr/>
        </p:nvSpPr>
        <p:spPr>
          <a:xfrm>
            <a:off x="707908" y="5787330"/>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8</a:t>
            </a:r>
            <a:endParaRPr lang="en-US" sz="1450" dirty="0"/>
          </a:p>
        </p:txBody>
      </p:sp>
      <p:sp>
        <p:nvSpPr>
          <p:cNvPr id="42" name="Text 40"/>
          <p:cNvSpPr/>
          <p:nvPr/>
        </p:nvSpPr>
        <p:spPr>
          <a:xfrm>
            <a:off x="1421174" y="580667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Diseño de Herramientas</a:t>
            </a:r>
            <a:endParaRPr lang="en-US" sz="1200" dirty="0"/>
          </a:p>
        </p:txBody>
      </p:sp>
      <p:sp>
        <p:nvSpPr>
          <p:cNvPr id="43" name="Text 41"/>
          <p:cNvSpPr/>
          <p:nvPr/>
        </p:nvSpPr>
        <p:spPr>
          <a:xfrm>
            <a:off x="1421174" y="605621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Selección de herramientas, routing jerárquico, grupos por contexto, diferenciación y analytics en producción.</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661475" y="933549"/>
            <a:ext cx="2872410" cy="251420"/>
          </a:xfrm>
          <a:prstGeom prst="roundRect">
            <a:avLst>
              <a:gd name="adj" fmla="val 3031"/>
            </a:avLst>
          </a:prstGeom>
          <a:solidFill>
            <a:srgbClr val="F9D2D6"/>
          </a:solidFill>
          <a:ln/>
        </p:spPr>
      </p:sp>
      <p:sp>
        <p:nvSpPr>
          <p:cNvPr id="3" name="Text 1"/>
          <p:cNvSpPr/>
          <p:nvPr/>
        </p:nvSpPr>
        <p:spPr>
          <a:xfrm>
            <a:off x="760691" y="983159"/>
            <a:ext cx="328356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CHUNKING, METADATOS Y RERANKING</a:t>
            </a:r>
            <a:endParaRPr lang="en-US" sz="1000" dirty="0"/>
          </a:p>
        </p:txBody>
      </p:sp>
      <p:sp>
        <p:nvSpPr>
          <p:cNvPr id="4" name="Text 2"/>
          <p:cNvSpPr/>
          <p:nvPr/>
        </p:nvSpPr>
        <p:spPr>
          <a:xfrm>
            <a:off x="661475" y="1251049"/>
            <a:ext cx="10868745" cy="1033463"/>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Técnicas de chunking: Fragmentación de documentos</a:t>
            </a:r>
            <a:endParaRPr lang="en-US" sz="3250" dirty="0"/>
          </a:p>
        </p:txBody>
      </p:sp>
      <p:sp>
        <p:nvSpPr>
          <p:cNvPr id="5" name="Text 3"/>
          <p:cNvSpPr/>
          <p:nvPr/>
        </p:nvSpPr>
        <p:spPr>
          <a:xfrm>
            <a:off x="661475" y="2532559"/>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chunking divide documentos extensos en fragmentos manejables. La tensión fundamental: fragmentos pequeños (100-200 tokens) mejoran la precisión pero pierden contexto; fragmentos grandes (1000+) mantienen contexto pero diluyen la señal de recuperación.</a:t>
            </a:r>
            <a:endParaRPr lang="en-US" sz="1300" dirty="0"/>
          </a:p>
        </p:txBody>
      </p:sp>
      <p:sp>
        <p:nvSpPr>
          <p:cNvPr id="6" name="Shape 4"/>
          <p:cNvSpPr/>
          <p:nvPr/>
        </p:nvSpPr>
        <p:spPr>
          <a:xfrm>
            <a:off x="661475" y="3247827"/>
            <a:ext cx="5351725" cy="1255613"/>
          </a:xfrm>
          <a:prstGeom prst="roundRect">
            <a:avLst>
              <a:gd name="adj" fmla="val 607"/>
            </a:avLst>
          </a:prstGeom>
          <a:solidFill>
            <a:srgbClr val="FFFFFF">
              <a:alpha val="95000"/>
            </a:srgbClr>
          </a:solidFill>
          <a:ln w="19050">
            <a:solidFill>
              <a:srgbClr val="D8D4D4"/>
            </a:solidFill>
            <a:prstDash val="solid"/>
          </a:ln>
        </p:spPr>
      </p:sp>
      <p:sp>
        <p:nvSpPr>
          <p:cNvPr id="7" name="Text 5"/>
          <p:cNvSpPr/>
          <p:nvPr/>
        </p:nvSpPr>
        <p:spPr>
          <a:xfrm>
            <a:off x="845819" y="3432175"/>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Tamaño fijo</a:t>
            </a:r>
            <a:endParaRPr lang="en-US" sz="1600" dirty="0"/>
          </a:p>
        </p:txBody>
      </p:sp>
      <p:sp>
        <p:nvSpPr>
          <p:cNvPr id="8" name="Text 6"/>
          <p:cNvSpPr/>
          <p:nvPr/>
        </p:nvSpPr>
        <p:spPr>
          <a:xfrm>
            <a:off x="845819" y="3789859"/>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Divide por cantidad de tokens con overlap configurable. Simple y predecible, pero puede cortar oraciones en puntos inapropiados.</a:t>
            </a:r>
            <a:endParaRPr lang="en-US" sz="1300" dirty="0"/>
          </a:p>
        </p:txBody>
      </p:sp>
      <p:sp>
        <p:nvSpPr>
          <p:cNvPr id="9" name="Shape 7"/>
          <p:cNvSpPr/>
          <p:nvPr/>
        </p:nvSpPr>
        <p:spPr>
          <a:xfrm>
            <a:off x="6178495" y="3247827"/>
            <a:ext cx="5351725" cy="1255613"/>
          </a:xfrm>
          <a:prstGeom prst="roundRect">
            <a:avLst>
              <a:gd name="adj" fmla="val 607"/>
            </a:avLst>
          </a:prstGeom>
          <a:solidFill>
            <a:srgbClr val="FFFFFF">
              <a:alpha val="95000"/>
            </a:srgbClr>
          </a:solidFill>
          <a:ln w="19050">
            <a:solidFill>
              <a:srgbClr val="D8D4D4"/>
            </a:solidFill>
            <a:prstDash val="solid"/>
          </a:ln>
        </p:spPr>
      </p:sp>
      <p:sp>
        <p:nvSpPr>
          <p:cNvPr id="10" name="Text 8"/>
          <p:cNvSpPr/>
          <p:nvPr/>
        </p:nvSpPr>
        <p:spPr>
          <a:xfrm>
            <a:off x="6362838" y="3432175"/>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Semántico</a:t>
            </a:r>
            <a:endParaRPr lang="en-US" sz="1600" dirty="0"/>
          </a:p>
        </p:txBody>
      </p:sp>
      <p:sp>
        <p:nvSpPr>
          <p:cNvPr id="11" name="Text 9"/>
          <p:cNvSpPr/>
          <p:nvPr/>
        </p:nvSpPr>
        <p:spPr>
          <a:xfrm>
            <a:off x="6362838" y="3789859"/>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Respeta límites de párrafos y secciones. Ofrece mejor coherencia semántica aunque produce tamaño variable.</a:t>
            </a:r>
            <a:endParaRPr lang="en-US" sz="1300" dirty="0"/>
          </a:p>
        </p:txBody>
      </p:sp>
      <p:sp>
        <p:nvSpPr>
          <p:cNvPr id="12" name="Shape 10"/>
          <p:cNvSpPr/>
          <p:nvPr/>
        </p:nvSpPr>
        <p:spPr>
          <a:xfrm>
            <a:off x="661475" y="4668738"/>
            <a:ext cx="5351725" cy="1255613"/>
          </a:xfrm>
          <a:prstGeom prst="roundRect">
            <a:avLst>
              <a:gd name="adj" fmla="val 607"/>
            </a:avLst>
          </a:prstGeom>
          <a:solidFill>
            <a:srgbClr val="FFFFFF">
              <a:alpha val="95000"/>
            </a:srgbClr>
          </a:solidFill>
          <a:ln w="19050">
            <a:solidFill>
              <a:srgbClr val="D8D4D4"/>
            </a:solidFill>
            <a:prstDash val="solid"/>
          </a:ln>
        </p:spPr>
      </p:sp>
      <p:sp>
        <p:nvSpPr>
          <p:cNvPr id="13" name="Text 11"/>
          <p:cNvSpPr/>
          <p:nvPr/>
        </p:nvSpPr>
        <p:spPr>
          <a:xfrm>
            <a:off x="845819" y="4853087"/>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Estructura-aware</a:t>
            </a:r>
            <a:endParaRPr lang="en-US" sz="1600" dirty="0"/>
          </a:p>
        </p:txBody>
      </p:sp>
      <p:sp>
        <p:nvSpPr>
          <p:cNvPr id="14" name="Text 12"/>
          <p:cNvSpPr/>
          <p:nvPr/>
        </p:nvSpPr>
        <p:spPr>
          <a:xfrm>
            <a:off x="845819" y="5210770"/>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Usa la jerarquía del documento (headers, secciones). Ideal para documentos técnicos, APIs y guías clínicas.</a:t>
            </a:r>
            <a:endParaRPr lang="en-US" sz="1300" dirty="0"/>
          </a:p>
        </p:txBody>
      </p:sp>
      <p:sp>
        <p:nvSpPr>
          <p:cNvPr id="15" name="Shape 13"/>
          <p:cNvSpPr/>
          <p:nvPr/>
        </p:nvSpPr>
        <p:spPr>
          <a:xfrm>
            <a:off x="6178495" y="4668738"/>
            <a:ext cx="5351725" cy="1255613"/>
          </a:xfrm>
          <a:prstGeom prst="roundRect">
            <a:avLst>
              <a:gd name="adj" fmla="val 607"/>
            </a:avLst>
          </a:prstGeom>
          <a:solidFill>
            <a:srgbClr val="FFFFFF">
              <a:alpha val="95000"/>
            </a:srgbClr>
          </a:solidFill>
          <a:ln w="19050">
            <a:solidFill>
              <a:srgbClr val="D8D4D4"/>
            </a:solidFill>
            <a:prstDash val="solid"/>
          </a:ln>
        </p:spPr>
      </p:sp>
      <p:sp>
        <p:nvSpPr>
          <p:cNvPr id="16" name="Text 14"/>
          <p:cNvSpPr/>
          <p:nvPr/>
        </p:nvSpPr>
        <p:spPr>
          <a:xfrm>
            <a:off x="6362838" y="4853087"/>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 metadatos</a:t>
            </a:r>
            <a:endParaRPr lang="en-US" sz="1600" dirty="0"/>
          </a:p>
        </p:txBody>
      </p:sp>
      <p:sp>
        <p:nvSpPr>
          <p:cNvPr id="17" name="Text 15"/>
          <p:cNvSpPr/>
          <p:nvPr/>
        </p:nvSpPr>
        <p:spPr>
          <a:xfrm>
            <a:off x="6362838" y="5210770"/>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Enriquece fragmentos con fuente, timestamp, posición y autor. Mejora el filtrado previo a la búsqueda.</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661475" y="1167011"/>
            <a:ext cx="2872410" cy="251420"/>
          </a:xfrm>
          <a:prstGeom prst="roundRect">
            <a:avLst>
              <a:gd name="adj" fmla="val 3031"/>
            </a:avLst>
          </a:prstGeom>
          <a:solidFill>
            <a:srgbClr val="F9D2D6"/>
          </a:solidFill>
          <a:ln/>
        </p:spPr>
      </p:sp>
      <p:sp>
        <p:nvSpPr>
          <p:cNvPr id="3" name="Text 1"/>
          <p:cNvSpPr/>
          <p:nvPr/>
        </p:nvSpPr>
        <p:spPr>
          <a:xfrm>
            <a:off x="760691" y="1216620"/>
            <a:ext cx="328356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CHUNKING, METADATOS Y RERANKING</a:t>
            </a:r>
            <a:endParaRPr lang="en-US" sz="1000" dirty="0"/>
          </a:p>
        </p:txBody>
      </p:sp>
      <p:sp>
        <p:nvSpPr>
          <p:cNvPr id="4" name="Text 2"/>
          <p:cNvSpPr/>
          <p:nvPr/>
        </p:nvSpPr>
        <p:spPr>
          <a:xfrm>
            <a:off x="661475" y="1484511"/>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Metadatos y guía por tipo de documento</a:t>
            </a:r>
            <a:endParaRPr lang="en-US" sz="3250" dirty="0"/>
          </a:p>
        </p:txBody>
      </p:sp>
      <p:sp>
        <p:nvSpPr>
          <p:cNvPr id="5" name="Shape 3"/>
          <p:cNvSpPr/>
          <p:nvPr/>
        </p:nvSpPr>
        <p:spPr>
          <a:xfrm>
            <a:off x="542415" y="2249289"/>
            <a:ext cx="5470785" cy="3441700"/>
          </a:xfrm>
          <a:prstGeom prst="roundRect">
            <a:avLst>
              <a:gd name="adj" fmla="val 721"/>
            </a:avLst>
          </a:prstGeom>
          <a:solidFill>
            <a:srgbClr val="F9D2D6">
              <a:alpha val="95000"/>
            </a:srgbClr>
          </a:solidFill>
          <a:ln/>
        </p:spPr>
      </p:sp>
      <p:sp>
        <p:nvSpPr>
          <p:cNvPr id="6" name="Text 4"/>
          <p:cNvSpPr/>
          <p:nvPr/>
        </p:nvSpPr>
        <p:spPr>
          <a:xfrm>
            <a:off x="707710" y="2414588"/>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Metadatos esenciales</a:t>
            </a:r>
            <a:endParaRPr lang="en-US" sz="1600" dirty="0"/>
          </a:p>
        </p:txBody>
      </p:sp>
      <p:sp>
        <p:nvSpPr>
          <p:cNvPr id="7" name="Text 5"/>
          <p:cNvSpPr/>
          <p:nvPr/>
        </p:nvSpPr>
        <p:spPr>
          <a:xfrm>
            <a:off x="707710" y="2838351"/>
            <a:ext cx="5749781" cy="264616"/>
          </a:xfrm>
          <a:prstGeom prst="rect">
            <a:avLst/>
          </a:prstGeom>
          <a:noFill/>
          <a:ln/>
        </p:spPr>
        <p:txBody>
          <a:bodyPr wrap="none" lIns="0" tIns="0" rIns="0" bIns="0" rtlCol="0" anchor="t"/>
          <a:lstStyle/>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Siempre incluir:</a:t>
            </a:r>
            <a:endParaRPr lang="en-US" sz="1300" dirty="0"/>
          </a:p>
        </p:txBody>
      </p:sp>
      <p:sp>
        <p:nvSpPr>
          <p:cNvPr id="8" name="Text 6"/>
          <p:cNvSpPr/>
          <p:nvPr/>
        </p:nvSpPr>
        <p:spPr>
          <a:xfrm>
            <a:off x="707710" y="3251795"/>
            <a:ext cx="5140196" cy="909538"/>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Identificador de fuente</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Timestamp de creación/actualización</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Posición del chunk dentro del documento</a:t>
            </a:r>
            <a:endParaRPr lang="en-US" sz="1300" dirty="0"/>
          </a:p>
        </p:txBody>
      </p:sp>
      <p:sp>
        <p:nvSpPr>
          <p:cNvPr id="9" name="Text 7"/>
          <p:cNvSpPr/>
          <p:nvPr/>
        </p:nvSpPr>
        <p:spPr>
          <a:xfrm>
            <a:off x="707710" y="4310162"/>
            <a:ext cx="5749781" cy="264616"/>
          </a:xfrm>
          <a:prstGeom prst="rect">
            <a:avLst/>
          </a:prstGeom>
          <a:noFill/>
          <a:ln/>
        </p:spPr>
        <p:txBody>
          <a:bodyPr wrap="none" lIns="0" tIns="0" rIns="0" bIns="0" rtlCol="0" anchor="t"/>
          <a:lstStyle/>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Condicional:</a:t>
            </a:r>
            <a:endParaRPr lang="en-US" sz="1300" dirty="0"/>
          </a:p>
        </p:txBody>
      </p:sp>
      <p:sp>
        <p:nvSpPr>
          <p:cNvPr id="10" name="Text 8"/>
          <p:cNvSpPr/>
          <p:nvPr/>
        </p:nvSpPr>
        <p:spPr>
          <a:xfrm>
            <a:off x="707710" y="4723606"/>
            <a:ext cx="5140196" cy="909538"/>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Autor / departamento</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Tipo de documento y versión</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Jerarquía de sección, idioma, score de calidad</a:t>
            </a:r>
            <a:endParaRPr lang="en-US" sz="1300" dirty="0"/>
          </a:p>
        </p:txBody>
      </p:sp>
      <p:sp>
        <p:nvSpPr>
          <p:cNvPr id="11" name="Text 9"/>
          <p:cNvSpPr/>
          <p:nvPr/>
        </p:nvSpPr>
        <p:spPr>
          <a:xfrm>
            <a:off x="6303904" y="2414588"/>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Tamaño recomendado por tipo</a:t>
            </a:r>
            <a:endParaRPr lang="en-US" sz="1600" dirty="0"/>
          </a:p>
        </p:txBody>
      </p:sp>
      <p:sp>
        <p:nvSpPr>
          <p:cNvPr id="12" name="Shape 10"/>
          <p:cNvSpPr/>
          <p:nvPr/>
        </p:nvSpPr>
        <p:spPr>
          <a:xfrm>
            <a:off x="6303904" y="2859088"/>
            <a:ext cx="5232666" cy="2391470"/>
          </a:xfrm>
          <a:prstGeom prst="roundRect">
            <a:avLst>
              <a:gd name="adj" fmla="val 319"/>
            </a:avLst>
          </a:prstGeom>
          <a:noFill/>
          <a:ln w="6350">
            <a:solidFill>
              <a:srgbClr val="000000">
                <a:alpha val="8000"/>
              </a:srgbClr>
            </a:solidFill>
            <a:prstDash val="solid"/>
          </a:ln>
        </p:spPr>
      </p:sp>
      <p:sp>
        <p:nvSpPr>
          <p:cNvPr id="13" name="Shape 11"/>
          <p:cNvSpPr/>
          <p:nvPr/>
        </p:nvSpPr>
        <p:spPr>
          <a:xfrm>
            <a:off x="6310254" y="2865438"/>
            <a:ext cx="5219966" cy="475754"/>
          </a:xfrm>
          <a:prstGeom prst="rect">
            <a:avLst/>
          </a:prstGeom>
          <a:solidFill>
            <a:srgbClr val="FFFFFF">
              <a:alpha val="4000"/>
            </a:srgbClr>
          </a:solidFill>
          <a:ln/>
        </p:spPr>
      </p:sp>
      <p:sp>
        <p:nvSpPr>
          <p:cNvPr id="14" name="Text 12"/>
          <p:cNvSpPr/>
          <p:nvPr/>
        </p:nvSpPr>
        <p:spPr>
          <a:xfrm>
            <a:off x="6475647" y="2971006"/>
            <a:ext cx="2363728" cy="264616"/>
          </a:xfrm>
          <a:prstGeom prst="rect">
            <a:avLst/>
          </a:prstGeom>
          <a:noFill/>
          <a:ln/>
        </p:spPr>
        <p:txBody>
          <a:bodyPr wrap="none" lIns="0" tIns="0" rIns="0" bIns="0" rtlCol="0" anchor="t"/>
          <a:lstStyle/>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Tipo</a:t>
            </a:r>
            <a:endParaRPr lang="en-US" sz="1300" dirty="0"/>
          </a:p>
        </p:txBody>
      </p:sp>
      <p:sp>
        <p:nvSpPr>
          <p:cNvPr id="15" name="Text 13"/>
          <p:cNvSpPr/>
          <p:nvPr/>
        </p:nvSpPr>
        <p:spPr>
          <a:xfrm>
            <a:off x="8566729" y="2971006"/>
            <a:ext cx="2099615" cy="264616"/>
          </a:xfrm>
          <a:prstGeom prst="rect">
            <a:avLst/>
          </a:prstGeom>
          <a:noFill/>
          <a:ln/>
        </p:spPr>
        <p:txBody>
          <a:bodyPr wrap="none" lIns="0" tIns="0" rIns="0" bIns="0" rtlCol="0" anchor="t"/>
          <a:lstStyle/>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Estrategia</a:t>
            </a:r>
            <a:endParaRPr lang="en-US" sz="1300" dirty="0"/>
          </a:p>
        </p:txBody>
      </p:sp>
      <p:sp>
        <p:nvSpPr>
          <p:cNvPr id="16" name="Text 14"/>
          <p:cNvSpPr/>
          <p:nvPr/>
        </p:nvSpPr>
        <p:spPr>
          <a:xfrm>
            <a:off x="10393698" y="2971006"/>
            <a:ext cx="1580813" cy="264616"/>
          </a:xfrm>
          <a:prstGeom prst="rect">
            <a:avLst/>
          </a:prstGeom>
          <a:noFill/>
          <a:ln/>
        </p:spPr>
        <p:txBody>
          <a:bodyPr wrap="none" lIns="0" tIns="0" rIns="0" bIns="0" rtlCol="0" anchor="t"/>
          <a:lstStyle/>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Chars</a:t>
            </a:r>
            <a:endParaRPr lang="en-US" sz="1300" dirty="0"/>
          </a:p>
        </p:txBody>
      </p:sp>
      <p:sp>
        <p:nvSpPr>
          <p:cNvPr id="17" name="Shape 15"/>
          <p:cNvSpPr/>
          <p:nvPr/>
        </p:nvSpPr>
        <p:spPr>
          <a:xfrm>
            <a:off x="6310254" y="3341191"/>
            <a:ext cx="5219966" cy="475754"/>
          </a:xfrm>
          <a:prstGeom prst="rect">
            <a:avLst/>
          </a:prstGeom>
          <a:solidFill>
            <a:srgbClr val="000000">
              <a:alpha val="4000"/>
            </a:srgbClr>
          </a:solidFill>
          <a:ln/>
        </p:spPr>
      </p:sp>
      <p:sp>
        <p:nvSpPr>
          <p:cNvPr id="18" name="Text 16"/>
          <p:cNvSpPr/>
          <p:nvPr/>
        </p:nvSpPr>
        <p:spPr>
          <a:xfrm>
            <a:off x="6475647" y="3446760"/>
            <a:ext cx="2363728"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Blog posts</a:t>
            </a:r>
            <a:endParaRPr lang="en-US" sz="1300" dirty="0"/>
          </a:p>
        </p:txBody>
      </p:sp>
      <p:sp>
        <p:nvSpPr>
          <p:cNvPr id="19" name="Text 17"/>
          <p:cNvSpPr/>
          <p:nvPr/>
        </p:nvSpPr>
        <p:spPr>
          <a:xfrm>
            <a:off x="8566729" y="3446760"/>
            <a:ext cx="2099615"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Semántico</a:t>
            </a:r>
            <a:endParaRPr lang="en-US" sz="1300" dirty="0"/>
          </a:p>
        </p:txBody>
      </p:sp>
      <p:sp>
        <p:nvSpPr>
          <p:cNvPr id="20" name="Text 18"/>
          <p:cNvSpPr/>
          <p:nvPr/>
        </p:nvSpPr>
        <p:spPr>
          <a:xfrm>
            <a:off x="10393698" y="3446760"/>
            <a:ext cx="1580813"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800-1000</a:t>
            </a:r>
            <a:endParaRPr lang="en-US" sz="1300" dirty="0"/>
          </a:p>
        </p:txBody>
      </p:sp>
      <p:sp>
        <p:nvSpPr>
          <p:cNvPr id="21" name="Shape 19"/>
          <p:cNvSpPr/>
          <p:nvPr/>
        </p:nvSpPr>
        <p:spPr>
          <a:xfrm>
            <a:off x="6310254" y="3816945"/>
            <a:ext cx="5219966" cy="475754"/>
          </a:xfrm>
          <a:prstGeom prst="rect">
            <a:avLst/>
          </a:prstGeom>
          <a:solidFill>
            <a:srgbClr val="FFFFFF">
              <a:alpha val="4000"/>
            </a:srgbClr>
          </a:solidFill>
          <a:ln/>
        </p:spPr>
      </p:sp>
      <p:sp>
        <p:nvSpPr>
          <p:cNvPr id="22" name="Text 20"/>
          <p:cNvSpPr/>
          <p:nvPr/>
        </p:nvSpPr>
        <p:spPr>
          <a:xfrm>
            <a:off x="6475647" y="3922514"/>
            <a:ext cx="2363728"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Docs técnicos</a:t>
            </a:r>
            <a:endParaRPr lang="en-US" sz="1300" dirty="0"/>
          </a:p>
        </p:txBody>
      </p:sp>
      <p:sp>
        <p:nvSpPr>
          <p:cNvPr id="23" name="Text 21"/>
          <p:cNvSpPr/>
          <p:nvPr/>
        </p:nvSpPr>
        <p:spPr>
          <a:xfrm>
            <a:off x="8566729" y="3922514"/>
            <a:ext cx="2099615"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Estructura</a:t>
            </a:r>
            <a:endParaRPr lang="en-US" sz="1300" dirty="0"/>
          </a:p>
        </p:txBody>
      </p:sp>
      <p:sp>
        <p:nvSpPr>
          <p:cNvPr id="24" name="Text 22"/>
          <p:cNvSpPr/>
          <p:nvPr/>
        </p:nvSpPr>
        <p:spPr>
          <a:xfrm>
            <a:off x="10393698" y="3922514"/>
            <a:ext cx="1580813"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600-800</a:t>
            </a:r>
            <a:endParaRPr lang="en-US" sz="1300" dirty="0"/>
          </a:p>
        </p:txBody>
      </p:sp>
      <p:sp>
        <p:nvSpPr>
          <p:cNvPr id="25" name="Shape 23"/>
          <p:cNvSpPr/>
          <p:nvPr/>
        </p:nvSpPr>
        <p:spPr>
          <a:xfrm>
            <a:off x="6310254" y="4292699"/>
            <a:ext cx="5219966" cy="475754"/>
          </a:xfrm>
          <a:prstGeom prst="rect">
            <a:avLst/>
          </a:prstGeom>
          <a:solidFill>
            <a:srgbClr val="000000">
              <a:alpha val="4000"/>
            </a:srgbClr>
          </a:solidFill>
          <a:ln/>
        </p:spPr>
      </p:sp>
      <p:sp>
        <p:nvSpPr>
          <p:cNvPr id="26" name="Text 24"/>
          <p:cNvSpPr/>
          <p:nvPr/>
        </p:nvSpPr>
        <p:spPr>
          <a:xfrm>
            <a:off x="6475647" y="4398268"/>
            <a:ext cx="2363728"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Contratos</a:t>
            </a:r>
            <a:endParaRPr lang="en-US" sz="1300" dirty="0"/>
          </a:p>
        </p:txBody>
      </p:sp>
      <p:sp>
        <p:nvSpPr>
          <p:cNvPr id="27" name="Text 25"/>
          <p:cNvSpPr/>
          <p:nvPr/>
        </p:nvSpPr>
        <p:spPr>
          <a:xfrm>
            <a:off x="8566729" y="4398268"/>
            <a:ext cx="2099615"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Estructura</a:t>
            </a:r>
            <a:endParaRPr lang="en-US" sz="1300" dirty="0"/>
          </a:p>
        </p:txBody>
      </p:sp>
      <p:sp>
        <p:nvSpPr>
          <p:cNvPr id="28" name="Text 26"/>
          <p:cNvSpPr/>
          <p:nvPr/>
        </p:nvSpPr>
        <p:spPr>
          <a:xfrm>
            <a:off x="10393698" y="4398268"/>
            <a:ext cx="1580813"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1000-1500</a:t>
            </a:r>
            <a:endParaRPr lang="en-US" sz="1300" dirty="0"/>
          </a:p>
        </p:txBody>
      </p:sp>
      <p:sp>
        <p:nvSpPr>
          <p:cNvPr id="29" name="Shape 27"/>
          <p:cNvSpPr/>
          <p:nvPr/>
        </p:nvSpPr>
        <p:spPr>
          <a:xfrm>
            <a:off x="6310254" y="4768453"/>
            <a:ext cx="5219966" cy="475754"/>
          </a:xfrm>
          <a:prstGeom prst="rect">
            <a:avLst/>
          </a:prstGeom>
          <a:solidFill>
            <a:srgbClr val="FFFFFF">
              <a:alpha val="4000"/>
            </a:srgbClr>
          </a:solidFill>
          <a:ln/>
        </p:spPr>
      </p:sp>
      <p:sp>
        <p:nvSpPr>
          <p:cNvPr id="30" name="Text 28"/>
          <p:cNvSpPr/>
          <p:nvPr/>
        </p:nvSpPr>
        <p:spPr>
          <a:xfrm>
            <a:off x="6475647" y="4874022"/>
            <a:ext cx="2363728"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Papers</a:t>
            </a:r>
            <a:endParaRPr lang="en-US" sz="1300" dirty="0"/>
          </a:p>
        </p:txBody>
      </p:sp>
      <p:sp>
        <p:nvSpPr>
          <p:cNvPr id="31" name="Text 29"/>
          <p:cNvSpPr/>
          <p:nvPr/>
        </p:nvSpPr>
        <p:spPr>
          <a:xfrm>
            <a:off x="8566729" y="4874022"/>
            <a:ext cx="2099615"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Estructura</a:t>
            </a:r>
            <a:endParaRPr lang="en-US" sz="1300" dirty="0"/>
          </a:p>
        </p:txBody>
      </p:sp>
      <p:sp>
        <p:nvSpPr>
          <p:cNvPr id="32" name="Text 30"/>
          <p:cNvSpPr/>
          <p:nvPr/>
        </p:nvSpPr>
        <p:spPr>
          <a:xfrm>
            <a:off x="10393698" y="4874022"/>
            <a:ext cx="1580813"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1000-1200</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61475" y="628055"/>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oboto Mono Medium" pitchFamily="34" charset="0"/>
                <a:ea typeface="Roboto Mono Medium" pitchFamily="34" charset="-122"/>
                <a:cs typeface="Roboto Mono Medium" pitchFamily="34" charset="-120"/>
              </a:rPr>
              <a:t>Agenda</a:t>
            </a:r>
            <a:endParaRPr lang="en-US" sz="2400" dirty="0"/>
          </a:p>
        </p:txBody>
      </p:sp>
      <p:sp>
        <p:nvSpPr>
          <p:cNvPr id="3" name="Shape 1"/>
          <p:cNvSpPr/>
          <p:nvPr/>
        </p:nvSpPr>
        <p:spPr>
          <a:xfrm>
            <a:off x="800973" y="1201738"/>
            <a:ext cx="12700" cy="5028109"/>
          </a:xfrm>
          <a:prstGeom prst="roundRect">
            <a:avLst>
              <a:gd name="adj" fmla="val 49999"/>
            </a:avLst>
          </a:prstGeom>
          <a:solidFill>
            <a:srgbClr val="D8D4D4"/>
          </a:solidFill>
          <a:ln/>
        </p:spPr>
      </p:sp>
      <p:sp>
        <p:nvSpPr>
          <p:cNvPr id="4" name="Shape 2"/>
          <p:cNvSpPr/>
          <p:nvPr/>
        </p:nvSpPr>
        <p:spPr>
          <a:xfrm>
            <a:off x="927821" y="1334889"/>
            <a:ext cx="372061" cy="12700"/>
          </a:xfrm>
          <a:prstGeom prst="roundRect">
            <a:avLst>
              <a:gd name="adj" fmla="val 49999"/>
            </a:avLst>
          </a:prstGeom>
          <a:solidFill>
            <a:srgbClr val="D8D4D4"/>
          </a:solidFill>
          <a:ln/>
        </p:spPr>
      </p:sp>
      <p:sp>
        <p:nvSpPr>
          <p:cNvPr id="5" name="Shape 3"/>
          <p:cNvSpPr/>
          <p:nvPr/>
        </p:nvSpPr>
        <p:spPr>
          <a:xfrm>
            <a:off x="661425" y="1201738"/>
            <a:ext cx="279095" cy="279102"/>
          </a:xfrm>
          <a:prstGeom prst="roundRect">
            <a:avLst>
              <a:gd name="adj" fmla="val 2730"/>
            </a:avLst>
          </a:prstGeom>
          <a:solidFill>
            <a:srgbClr val="F2EEEE"/>
          </a:solidFill>
          <a:ln w="6350">
            <a:solidFill>
              <a:srgbClr val="D8D4D4"/>
            </a:solidFill>
            <a:prstDash val="solid"/>
          </a:ln>
        </p:spPr>
      </p:sp>
      <p:sp>
        <p:nvSpPr>
          <p:cNvPr id="6" name="Text 4"/>
          <p:cNvSpPr/>
          <p:nvPr/>
        </p:nvSpPr>
        <p:spPr>
          <a:xfrm>
            <a:off x="707908" y="122495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1</a:t>
            </a:r>
            <a:endParaRPr lang="en-US" sz="1450" dirty="0"/>
          </a:p>
        </p:txBody>
      </p:sp>
      <p:sp>
        <p:nvSpPr>
          <p:cNvPr id="7" name="Text 5"/>
          <p:cNvSpPr/>
          <p:nvPr/>
        </p:nvSpPr>
        <p:spPr>
          <a:xfrm>
            <a:off x="1421174" y="124430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Fundamentos ✓</a:t>
            </a:r>
            <a:endParaRPr lang="en-US" sz="1200" dirty="0"/>
          </a:p>
        </p:txBody>
      </p:sp>
      <p:sp>
        <p:nvSpPr>
          <p:cNvPr id="8" name="Text 6"/>
          <p:cNvSpPr/>
          <p:nvPr/>
        </p:nvSpPr>
        <p:spPr>
          <a:xfrm>
            <a:off x="1421174" y="1493838"/>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RAG, por qué lo necesitamos y arquitectura básica.</a:t>
            </a:r>
            <a:endParaRPr lang="en-US" sz="950" dirty="0"/>
          </a:p>
        </p:txBody>
      </p:sp>
      <p:sp>
        <p:nvSpPr>
          <p:cNvPr id="9" name="Shape 7"/>
          <p:cNvSpPr/>
          <p:nvPr/>
        </p:nvSpPr>
        <p:spPr>
          <a:xfrm>
            <a:off x="927821" y="1986657"/>
            <a:ext cx="372061" cy="12700"/>
          </a:xfrm>
          <a:prstGeom prst="roundRect">
            <a:avLst>
              <a:gd name="adj" fmla="val 49999"/>
            </a:avLst>
          </a:prstGeom>
          <a:solidFill>
            <a:srgbClr val="D8D4D4"/>
          </a:solidFill>
          <a:ln/>
        </p:spPr>
      </p:sp>
      <p:sp>
        <p:nvSpPr>
          <p:cNvPr id="10" name="Shape 8"/>
          <p:cNvSpPr/>
          <p:nvPr/>
        </p:nvSpPr>
        <p:spPr>
          <a:xfrm>
            <a:off x="661425" y="1853505"/>
            <a:ext cx="279095" cy="279102"/>
          </a:xfrm>
          <a:prstGeom prst="roundRect">
            <a:avLst>
              <a:gd name="adj" fmla="val 2730"/>
            </a:avLst>
          </a:prstGeom>
          <a:solidFill>
            <a:srgbClr val="F2EEEE"/>
          </a:solidFill>
          <a:ln w="6350">
            <a:solidFill>
              <a:srgbClr val="D8D4D4"/>
            </a:solidFill>
            <a:prstDash val="solid"/>
          </a:ln>
        </p:spPr>
      </p:sp>
      <p:sp>
        <p:nvSpPr>
          <p:cNvPr id="11" name="Text 9"/>
          <p:cNvSpPr/>
          <p:nvPr/>
        </p:nvSpPr>
        <p:spPr>
          <a:xfrm>
            <a:off x="707908" y="187672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2</a:t>
            </a:r>
            <a:endParaRPr lang="en-US" sz="1450" dirty="0"/>
          </a:p>
        </p:txBody>
      </p:sp>
      <p:sp>
        <p:nvSpPr>
          <p:cNvPr id="12" name="Text 10"/>
          <p:cNvSpPr/>
          <p:nvPr/>
        </p:nvSpPr>
        <p:spPr>
          <a:xfrm>
            <a:off x="1421174" y="189607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Búsqueda y Recuperación ✓</a:t>
            </a:r>
            <a:endParaRPr lang="en-US" sz="1200" dirty="0"/>
          </a:p>
        </p:txBody>
      </p:sp>
      <p:sp>
        <p:nvSpPr>
          <p:cNvPr id="13" name="Text 11"/>
          <p:cNvSpPr/>
          <p:nvPr/>
        </p:nvSpPr>
        <p:spPr>
          <a:xfrm>
            <a:off x="1421174" y="214560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Búsqueda vectorial, léxica, semántica e híbrida. Bases de datos y flujo completo.</a:t>
            </a:r>
            <a:endParaRPr lang="en-US" sz="950" dirty="0"/>
          </a:p>
        </p:txBody>
      </p:sp>
      <p:sp>
        <p:nvSpPr>
          <p:cNvPr id="14" name="Shape 12"/>
          <p:cNvSpPr/>
          <p:nvPr/>
        </p:nvSpPr>
        <p:spPr>
          <a:xfrm>
            <a:off x="927821" y="2638425"/>
            <a:ext cx="372061" cy="12700"/>
          </a:xfrm>
          <a:prstGeom prst="roundRect">
            <a:avLst>
              <a:gd name="adj" fmla="val 49999"/>
            </a:avLst>
          </a:prstGeom>
          <a:solidFill>
            <a:srgbClr val="D8D4D4"/>
          </a:solidFill>
          <a:ln/>
        </p:spPr>
      </p:sp>
      <p:sp>
        <p:nvSpPr>
          <p:cNvPr id="15" name="Shape 13"/>
          <p:cNvSpPr/>
          <p:nvPr/>
        </p:nvSpPr>
        <p:spPr>
          <a:xfrm>
            <a:off x="661425" y="2505273"/>
            <a:ext cx="279095" cy="279102"/>
          </a:xfrm>
          <a:prstGeom prst="roundRect">
            <a:avLst>
              <a:gd name="adj" fmla="val 2730"/>
            </a:avLst>
          </a:prstGeom>
          <a:solidFill>
            <a:srgbClr val="F2EEEE"/>
          </a:solidFill>
          <a:ln w="6350">
            <a:solidFill>
              <a:srgbClr val="D8D4D4"/>
            </a:solidFill>
            <a:prstDash val="solid"/>
          </a:ln>
        </p:spPr>
      </p:sp>
      <p:sp>
        <p:nvSpPr>
          <p:cNvPr id="16" name="Text 14"/>
          <p:cNvSpPr/>
          <p:nvPr/>
        </p:nvSpPr>
        <p:spPr>
          <a:xfrm>
            <a:off x="707908" y="2528491"/>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3</a:t>
            </a:r>
            <a:endParaRPr lang="en-US" sz="1450" dirty="0"/>
          </a:p>
        </p:txBody>
      </p:sp>
      <p:sp>
        <p:nvSpPr>
          <p:cNvPr id="17" name="Text 15"/>
          <p:cNvSpPr/>
          <p:nvPr/>
        </p:nvSpPr>
        <p:spPr>
          <a:xfrm>
            <a:off x="1421174" y="254783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Reranking y Precisión</a:t>
            </a:r>
            <a:endParaRPr lang="en-US" sz="1200" dirty="0"/>
          </a:p>
        </p:txBody>
      </p:sp>
      <p:sp>
        <p:nvSpPr>
          <p:cNvPr id="18" name="Text 16"/>
          <p:cNvSpPr/>
          <p:nvPr/>
        </p:nvSpPr>
        <p:spPr>
          <a:xfrm>
            <a:off x="1421174" y="279737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Recuperación en dos etapas, cross-encoders, Reciprocal Rank Fusion y optimización de precisión.</a:t>
            </a:r>
            <a:endParaRPr lang="en-US" sz="950" dirty="0"/>
          </a:p>
        </p:txBody>
      </p:sp>
      <p:sp>
        <p:nvSpPr>
          <p:cNvPr id="19" name="Shape 17"/>
          <p:cNvSpPr/>
          <p:nvPr/>
        </p:nvSpPr>
        <p:spPr>
          <a:xfrm>
            <a:off x="927821" y="3290193"/>
            <a:ext cx="372061" cy="12700"/>
          </a:xfrm>
          <a:prstGeom prst="roundRect">
            <a:avLst>
              <a:gd name="adj" fmla="val 49999"/>
            </a:avLst>
          </a:prstGeom>
          <a:solidFill>
            <a:srgbClr val="D8D4D4"/>
          </a:solidFill>
          <a:ln/>
        </p:spPr>
      </p:sp>
      <p:sp>
        <p:nvSpPr>
          <p:cNvPr id="20" name="Shape 18"/>
          <p:cNvSpPr/>
          <p:nvPr/>
        </p:nvSpPr>
        <p:spPr>
          <a:xfrm>
            <a:off x="661425" y="3157041"/>
            <a:ext cx="279095" cy="279102"/>
          </a:xfrm>
          <a:prstGeom prst="roundRect">
            <a:avLst>
              <a:gd name="adj" fmla="val 2730"/>
            </a:avLst>
          </a:prstGeom>
          <a:solidFill>
            <a:srgbClr val="F2EEEE"/>
          </a:solidFill>
          <a:ln w="6350">
            <a:solidFill>
              <a:srgbClr val="D8D4D4"/>
            </a:solidFill>
            <a:prstDash val="solid"/>
          </a:ln>
        </p:spPr>
      </p:sp>
      <p:sp>
        <p:nvSpPr>
          <p:cNvPr id="21" name="Text 19"/>
          <p:cNvSpPr/>
          <p:nvPr/>
        </p:nvSpPr>
        <p:spPr>
          <a:xfrm>
            <a:off x="707908" y="3180259"/>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4</a:t>
            </a:r>
            <a:endParaRPr lang="en-US" sz="1450" dirty="0"/>
          </a:p>
        </p:txBody>
      </p:sp>
      <p:sp>
        <p:nvSpPr>
          <p:cNvPr id="22" name="Text 20"/>
          <p:cNvSpPr/>
          <p:nvPr/>
        </p:nvSpPr>
        <p:spPr>
          <a:xfrm>
            <a:off x="1421174" y="3199606"/>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Chunking y Metadatos</a:t>
            </a:r>
            <a:endParaRPr lang="en-US" sz="1200" dirty="0"/>
          </a:p>
        </p:txBody>
      </p:sp>
      <p:sp>
        <p:nvSpPr>
          <p:cNvPr id="23" name="Text 21"/>
          <p:cNvSpPr/>
          <p:nvPr/>
        </p:nvSpPr>
        <p:spPr>
          <a:xfrm>
            <a:off x="1421174" y="3449141"/>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Fragmentación de documentos, estrategias de chunking y metadatos esenciales.</a:t>
            </a:r>
            <a:endParaRPr lang="en-US" sz="950" dirty="0"/>
          </a:p>
        </p:txBody>
      </p:sp>
      <p:sp>
        <p:nvSpPr>
          <p:cNvPr id="24" name="Shape 22"/>
          <p:cNvSpPr/>
          <p:nvPr/>
        </p:nvSpPr>
        <p:spPr>
          <a:xfrm>
            <a:off x="927821" y="3941961"/>
            <a:ext cx="372061" cy="12700"/>
          </a:xfrm>
          <a:prstGeom prst="roundRect">
            <a:avLst>
              <a:gd name="adj" fmla="val 49999"/>
            </a:avLst>
          </a:prstGeom>
          <a:solidFill>
            <a:srgbClr val="F33447"/>
          </a:solidFill>
          <a:ln/>
        </p:spPr>
      </p:sp>
      <p:sp>
        <p:nvSpPr>
          <p:cNvPr id="25" name="Shape 23"/>
          <p:cNvSpPr/>
          <p:nvPr/>
        </p:nvSpPr>
        <p:spPr>
          <a:xfrm>
            <a:off x="661425" y="3808809"/>
            <a:ext cx="279095" cy="279102"/>
          </a:xfrm>
          <a:prstGeom prst="roundRect">
            <a:avLst>
              <a:gd name="adj" fmla="val 2730"/>
            </a:avLst>
          </a:prstGeom>
          <a:solidFill>
            <a:srgbClr val="DA1B2E"/>
          </a:solidFill>
          <a:ln w="6350">
            <a:solidFill>
              <a:srgbClr val="F33447"/>
            </a:solidFill>
            <a:prstDash val="solid"/>
          </a:ln>
        </p:spPr>
      </p:sp>
      <p:sp>
        <p:nvSpPr>
          <p:cNvPr id="26" name="Text 24"/>
          <p:cNvSpPr/>
          <p:nvPr/>
        </p:nvSpPr>
        <p:spPr>
          <a:xfrm>
            <a:off x="707908" y="3832027"/>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Roboto Mono Medium" pitchFamily="34" charset="0"/>
                <a:ea typeface="Roboto Mono Medium" pitchFamily="34" charset="-122"/>
                <a:cs typeface="Roboto Mono Medium" pitchFamily="34" charset="-120"/>
              </a:rPr>
              <a:t>5</a:t>
            </a:r>
            <a:endParaRPr lang="en-US" sz="1450" dirty="0"/>
          </a:p>
        </p:txBody>
      </p:sp>
      <p:sp>
        <p:nvSpPr>
          <p:cNvPr id="27" name="Text 25"/>
          <p:cNvSpPr/>
          <p:nvPr/>
        </p:nvSpPr>
        <p:spPr>
          <a:xfrm>
            <a:off x="1421174" y="3851374"/>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Evaluación y Seguridad</a:t>
            </a:r>
            <a:endParaRPr lang="en-US" sz="1200" dirty="0"/>
          </a:p>
        </p:txBody>
      </p:sp>
      <p:sp>
        <p:nvSpPr>
          <p:cNvPr id="28" name="Text 26"/>
          <p:cNvSpPr/>
          <p:nvPr/>
        </p:nvSpPr>
        <p:spPr>
          <a:xfrm>
            <a:off x="1421174" y="4100909"/>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Riesgos y evaluacion</a:t>
            </a:r>
            <a:endParaRPr lang="en-US" sz="950" dirty="0"/>
          </a:p>
        </p:txBody>
      </p:sp>
      <p:sp>
        <p:nvSpPr>
          <p:cNvPr id="29" name="Shape 27"/>
          <p:cNvSpPr/>
          <p:nvPr/>
        </p:nvSpPr>
        <p:spPr>
          <a:xfrm>
            <a:off x="927821" y="4593729"/>
            <a:ext cx="372061" cy="12700"/>
          </a:xfrm>
          <a:prstGeom prst="roundRect">
            <a:avLst>
              <a:gd name="adj" fmla="val 49999"/>
            </a:avLst>
          </a:prstGeom>
          <a:solidFill>
            <a:srgbClr val="D8D4D4"/>
          </a:solidFill>
          <a:ln/>
        </p:spPr>
      </p:sp>
      <p:sp>
        <p:nvSpPr>
          <p:cNvPr id="30" name="Shape 28"/>
          <p:cNvSpPr/>
          <p:nvPr/>
        </p:nvSpPr>
        <p:spPr>
          <a:xfrm>
            <a:off x="661425" y="4460577"/>
            <a:ext cx="279095" cy="279102"/>
          </a:xfrm>
          <a:prstGeom prst="roundRect">
            <a:avLst>
              <a:gd name="adj" fmla="val 2730"/>
            </a:avLst>
          </a:prstGeom>
          <a:solidFill>
            <a:srgbClr val="F2EEEE"/>
          </a:solidFill>
          <a:ln w="6350">
            <a:solidFill>
              <a:srgbClr val="D8D4D4"/>
            </a:solidFill>
            <a:prstDash val="solid"/>
          </a:ln>
        </p:spPr>
      </p:sp>
      <p:sp>
        <p:nvSpPr>
          <p:cNvPr id="31" name="Text 29"/>
          <p:cNvSpPr/>
          <p:nvPr/>
        </p:nvSpPr>
        <p:spPr>
          <a:xfrm>
            <a:off x="707908" y="448379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6</a:t>
            </a:r>
            <a:endParaRPr lang="en-US" sz="1450" dirty="0"/>
          </a:p>
        </p:txBody>
      </p:sp>
      <p:sp>
        <p:nvSpPr>
          <p:cNvPr id="32" name="Text 30"/>
          <p:cNvSpPr/>
          <p:nvPr/>
        </p:nvSpPr>
        <p:spPr>
          <a:xfrm>
            <a:off x="1421174" y="450314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Fundamentos</a:t>
            </a:r>
            <a:endParaRPr lang="en-US" sz="1200" dirty="0"/>
          </a:p>
        </p:txBody>
      </p:sp>
      <p:sp>
        <p:nvSpPr>
          <p:cNvPr id="33" name="Text 31"/>
          <p:cNvSpPr/>
          <p:nvPr/>
        </p:nvSpPr>
        <p:spPr>
          <a:xfrm>
            <a:off x="1421174" y="4752677"/>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MCP, historia, protocolo JSON-RPC y comparativa con HTTP/GraphQL.</a:t>
            </a:r>
            <a:endParaRPr lang="en-US" sz="950" dirty="0"/>
          </a:p>
        </p:txBody>
      </p:sp>
      <p:sp>
        <p:nvSpPr>
          <p:cNvPr id="34" name="Shape 32"/>
          <p:cNvSpPr/>
          <p:nvPr/>
        </p:nvSpPr>
        <p:spPr>
          <a:xfrm>
            <a:off x="927821" y="5245497"/>
            <a:ext cx="372061" cy="12700"/>
          </a:xfrm>
          <a:prstGeom prst="roundRect">
            <a:avLst>
              <a:gd name="adj" fmla="val 49999"/>
            </a:avLst>
          </a:prstGeom>
          <a:solidFill>
            <a:srgbClr val="D8D4D4"/>
          </a:solidFill>
          <a:ln/>
        </p:spPr>
      </p:sp>
      <p:sp>
        <p:nvSpPr>
          <p:cNvPr id="35" name="Shape 33"/>
          <p:cNvSpPr/>
          <p:nvPr/>
        </p:nvSpPr>
        <p:spPr>
          <a:xfrm>
            <a:off x="661425" y="5112345"/>
            <a:ext cx="279095" cy="279102"/>
          </a:xfrm>
          <a:prstGeom prst="roundRect">
            <a:avLst>
              <a:gd name="adj" fmla="val 2730"/>
            </a:avLst>
          </a:prstGeom>
          <a:solidFill>
            <a:srgbClr val="F2EEEE"/>
          </a:solidFill>
          <a:ln w="6350">
            <a:solidFill>
              <a:srgbClr val="D8D4D4"/>
            </a:solidFill>
            <a:prstDash val="solid"/>
          </a:ln>
        </p:spPr>
      </p:sp>
      <p:sp>
        <p:nvSpPr>
          <p:cNvPr id="36" name="Text 34"/>
          <p:cNvSpPr/>
          <p:nvPr/>
        </p:nvSpPr>
        <p:spPr>
          <a:xfrm>
            <a:off x="707908" y="513556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7</a:t>
            </a:r>
            <a:endParaRPr lang="en-US" sz="1450" dirty="0"/>
          </a:p>
        </p:txBody>
      </p:sp>
      <p:sp>
        <p:nvSpPr>
          <p:cNvPr id="37" name="Text 35"/>
          <p:cNvSpPr/>
          <p:nvPr/>
        </p:nvSpPr>
        <p:spPr>
          <a:xfrm>
            <a:off x="1421174" y="515491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Arquitectura y Uso</a:t>
            </a:r>
            <a:endParaRPr lang="en-US" sz="1200" dirty="0"/>
          </a:p>
        </p:txBody>
      </p:sp>
      <p:sp>
        <p:nvSpPr>
          <p:cNvPr id="38" name="Text 36"/>
          <p:cNvSpPr/>
          <p:nvPr/>
        </p:nvSpPr>
        <p:spPr>
          <a:xfrm>
            <a:off x="1421174" y="540444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Ciclo de vida, multi-servidor, ecosistema, casos de uso con Claude y cómo conectar servidores.</a:t>
            </a:r>
            <a:endParaRPr lang="en-US" sz="950" dirty="0"/>
          </a:p>
        </p:txBody>
      </p:sp>
      <p:sp>
        <p:nvSpPr>
          <p:cNvPr id="39" name="Shape 37"/>
          <p:cNvSpPr/>
          <p:nvPr/>
        </p:nvSpPr>
        <p:spPr>
          <a:xfrm>
            <a:off x="927821" y="5897265"/>
            <a:ext cx="372061" cy="12700"/>
          </a:xfrm>
          <a:prstGeom prst="roundRect">
            <a:avLst>
              <a:gd name="adj" fmla="val 49999"/>
            </a:avLst>
          </a:prstGeom>
          <a:solidFill>
            <a:srgbClr val="D8D4D4"/>
          </a:solidFill>
          <a:ln/>
        </p:spPr>
      </p:sp>
      <p:sp>
        <p:nvSpPr>
          <p:cNvPr id="40" name="Shape 38"/>
          <p:cNvSpPr/>
          <p:nvPr/>
        </p:nvSpPr>
        <p:spPr>
          <a:xfrm>
            <a:off x="661425" y="5764113"/>
            <a:ext cx="279095" cy="279102"/>
          </a:xfrm>
          <a:prstGeom prst="roundRect">
            <a:avLst>
              <a:gd name="adj" fmla="val 2730"/>
            </a:avLst>
          </a:prstGeom>
          <a:solidFill>
            <a:srgbClr val="F2EEEE"/>
          </a:solidFill>
          <a:ln w="6350">
            <a:solidFill>
              <a:srgbClr val="D8D4D4"/>
            </a:solidFill>
            <a:prstDash val="solid"/>
          </a:ln>
        </p:spPr>
      </p:sp>
      <p:sp>
        <p:nvSpPr>
          <p:cNvPr id="41" name="Text 39"/>
          <p:cNvSpPr/>
          <p:nvPr/>
        </p:nvSpPr>
        <p:spPr>
          <a:xfrm>
            <a:off x="707908" y="5787330"/>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8</a:t>
            </a:r>
            <a:endParaRPr lang="en-US" sz="1450" dirty="0"/>
          </a:p>
        </p:txBody>
      </p:sp>
      <p:sp>
        <p:nvSpPr>
          <p:cNvPr id="42" name="Text 40"/>
          <p:cNvSpPr/>
          <p:nvPr/>
        </p:nvSpPr>
        <p:spPr>
          <a:xfrm>
            <a:off x="1421174" y="580667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Diseño de Herramientas</a:t>
            </a:r>
            <a:endParaRPr lang="en-US" sz="1200" dirty="0"/>
          </a:p>
        </p:txBody>
      </p:sp>
      <p:sp>
        <p:nvSpPr>
          <p:cNvPr id="43" name="Text 41"/>
          <p:cNvSpPr/>
          <p:nvPr/>
        </p:nvSpPr>
        <p:spPr>
          <a:xfrm>
            <a:off x="1421174" y="605621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Selección de herramientas, routing jerárquico, grupos por contexto, diferenciación y analytics en producción.</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661475" y="1650504"/>
            <a:ext cx="3663759" cy="251420"/>
          </a:xfrm>
          <a:prstGeom prst="roundRect">
            <a:avLst>
              <a:gd name="adj" fmla="val 3031"/>
            </a:avLst>
          </a:prstGeom>
          <a:solidFill>
            <a:srgbClr val="F9D2D6"/>
          </a:solidFill>
          <a:ln/>
        </p:spPr>
      </p:sp>
      <p:sp>
        <p:nvSpPr>
          <p:cNvPr id="3" name="Text 1"/>
          <p:cNvSpPr/>
          <p:nvPr/>
        </p:nvSpPr>
        <p:spPr>
          <a:xfrm>
            <a:off x="760691" y="1700113"/>
            <a:ext cx="4074911"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EVALUACIÓN, SEGURIDAD Y PATRONES AVANZADOS</a:t>
            </a:r>
            <a:endParaRPr lang="en-US" sz="1000" dirty="0"/>
          </a:p>
        </p:txBody>
      </p:sp>
      <p:sp>
        <p:nvSpPr>
          <p:cNvPr id="4" name="Text 2"/>
          <p:cNvSpPr/>
          <p:nvPr/>
        </p:nvSpPr>
        <p:spPr>
          <a:xfrm>
            <a:off x="661475" y="196800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Evaluación de RAG: Métricas clave</a:t>
            </a:r>
            <a:endParaRPr lang="en-US" sz="3250" dirty="0"/>
          </a:p>
        </p:txBody>
      </p:sp>
      <p:sp>
        <p:nvSpPr>
          <p:cNvPr id="5" name="Text 3"/>
          <p:cNvSpPr/>
          <p:nvPr/>
        </p:nvSpPr>
        <p:spPr>
          <a:xfrm>
            <a:off x="661475" y="2732782"/>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Evaluar retrieval y generación por separado es fundamental.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El 70% de los fallos de RAG provienen de la recuperación, no de la generación</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por lo que dedicar esfuerzo a medir el retrieval es prioritario.</a:t>
            </a:r>
            <a:endParaRPr lang="en-US" sz="1300" dirty="0"/>
          </a:p>
        </p:txBody>
      </p:sp>
      <p:sp>
        <p:nvSpPr>
          <p:cNvPr id="6" name="Shape 4"/>
          <p:cNvSpPr/>
          <p:nvPr/>
        </p:nvSpPr>
        <p:spPr>
          <a:xfrm>
            <a:off x="661475" y="3448050"/>
            <a:ext cx="3512653" cy="1759446"/>
          </a:xfrm>
          <a:prstGeom prst="roundRect">
            <a:avLst>
              <a:gd name="adj" fmla="val 433"/>
            </a:avLst>
          </a:prstGeom>
          <a:solidFill>
            <a:srgbClr val="F2EEEE"/>
          </a:solidFill>
          <a:ln w="6350">
            <a:solidFill>
              <a:srgbClr val="D8D4D4"/>
            </a:solidFill>
            <a:prstDash val="solid"/>
          </a:ln>
        </p:spPr>
      </p:sp>
      <p:sp>
        <p:nvSpPr>
          <p:cNvPr id="7" name="Text 5"/>
          <p:cNvSpPr/>
          <p:nvPr/>
        </p:nvSpPr>
        <p:spPr>
          <a:xfrm>
            <a:off x="833119" y="3619698"/>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Context Relevance</a:t>
            </a:r>
            <a:endParaRPr lang="en-US" sz="1600" dirty="0"/>
          </a:p>
        </p:txBody>
      </p:sp>
      <p:sp>
        <p:nvSpPr>
          <p:cNvPr id="8" name="Text 6"/>
          <p:cNvSpPr/>
          <p:nvPr/>
        </p:nvSpPr>
        <p:spPr>
          <a:xfrm>
            <a:off x="833119" y="3977382"/>
            <a:ext cx="3169364"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¿Se recuperaron los documentos correctos? Mide si el recuperador trae contexto verdaderamente útil para responder la consulta.</a:t>
            </a:r>
            <a:endParaRPr lang="en-US" sz="1300" dirty="0"/>
          </a:p>
        </p:txBody>
      </p:sp>
      <p:sp>
        <p:nvSpPr>
          <p:cNvPr id="9" name="Shape 7"/>
          <p:cNvSpPr/>
          <p:nvPr/>
        </p:nvSpPr>
        <p:spPr>
          <a:xfrm>
            <a:off x="4339422" y="3448050"/>
            <a:ext cx="3512752" cy="1759446"/>
          </a:xfrm>
          <a:prstGeom prst="roundRect">
            <a:avLst>
              <a:gd name="adj" fmla="val 433"/>
            </a:avLst>
          </a:prstGeom>
          <a:solidFill>
            <a:srgbClr val="F2EEEE"/>
          </a:solidFill>
          <a:ln w="6350">
            <a:solidFill>
              <a:srgbClr val="D8D4D4"/>
            </a:solidFill>
            <a:prstDash val="solid"/>
          </a:ln>
        </p:spPr>
      </p:sp>
      <p:sp>
        <p:nvSpPr>
          <p:cNvPr id="10" name="Text 8"/>
          <p:cNvSpPr/>
          <p:nvPr/>
        </p:nvSpPr>
        <p:spPr>
          <a:xfrm>
            <a:off x="4511066" y="3619698"/>
            <a:ext cx="31694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Answer Faithfulness</a:t>
            </a:r>
            <a:endParaRPr lang="en-US" sz="1600" dirty="0"/>
          </a:p>
        </p:txBody>
      </p:sp>
      <p:sp>
        <p:nvSpPr>
          <p:cNvPr id="11" name="Text 9"/>
          <p:cNvSpPr/>
          <p:nvPr/>
        </p:nvSpPr>
        <p:spPr>
          <a:xfrm>
            <a:off x="4511066" y="3977382"/>
            <a:ext cx="316946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respuesta está fundamentada en el contexto? Evalúa si el LLM se limita a lo que hay en los documentos recuperados.</a:t>
            </a:r>
            <a:endParaRPr lang="en-US" sz="1300" dirty="0"/>
          </a:p>
        </p:txBody>
      </p:sp>
      <p:sp>
        <p:nvSpPr>
          <p:cNvPr id="12" name="Shape 10"/>
          <p:cNvSpPr/>
          <p:nvPr/>
        </p:nvSpPr>
        <p:spPr>
          <a:xfrm>
            <a:off x="8017468" y="3448050"/>
            <a:ext cx="3512653" cy="1759446"/>
          </a:xfrm>
          <a:prstGeom prst="roundRect">
            <a:avLst>
              <a:gd name="adj" fmla="val 433"/>
            </a:avLst>
          </a:prstGeom>
          <a:solidFill>
            <a:srgbClr val="F2EEEE"/>
          </a:solidFill>
          <a:ln w="6350">
            <a:solidFill>
              <a:srgbClr val="D8D4D4"/>
            </a:solidFill>
            <a:prstDash val="solid"/>
          </a:ln>
        </p:spPr>
      </p:sp>
      <p:sp>
        <p:nvSpPr>
          <p:cNvPr id="13" name="Text 11"/>
          <p:cNvSpPr/>
          <p:nvPr/>
        </p:nvSpPr>
        <p:spPr>
          <a:xfrm>
            <a:off x="8189112" y="3619698"/>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Answer Relevance</a:t>
            </a:r>
            <a:endParaRPr lang="en-US" sz="1600" dirty="0"/>
          </a:p>
        </p:txBody>
      </p:sp>
      <p:sp>
        <p:nvSpPr>
          <p:cNvPr id="14" name="Text 12"/>
          <p:cNvSpPr/>
          <p:nvPr/>
        </p:nvSpPr>
        <p:spPr>
          <a:xfrm>
            <a:off x="8189112" y="3977382"/>
            <a:ext cx="316936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respuesta aborda la pregunta del usuario? Verifica que la respuesta generada sea pertinente y completa.</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661475" y="1863130"/>
            <a:ext cx="3663759" cy="251420"/>
          </a:xfrm>
          <a:prstGeom prst="roundRect">
            <a:avLst>
              <a:gd name="adj" fmla="val 3031"/>
            </a:avLst>
          </a:prstGeom>
          <a:solidFill>
            <a:srgbClr val="F9D2D6"/>
          </a:solidFill>
          <a:ln/>
        </p:spPr>
      </p:sp>
      <p:sp>
        <p:nvSpPr>
          <p:cNvPr id="3" name="Text 1"/>
          <p:cNvSpPr/>
          <p:nvPr/>
        </p:nvSpPr>
        <p:spPr>
          <a:xfrm>
            <a:off x="760691" y="1912739"/>
            <a:ext cx="4074911"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EVALUACIÓN, SEGURIDAD Y PATRONES AVANZADOS</a:t>
            </a:r>
            <a:endParaRPr lang="en-US" sz="1000" dirty="0"/>
          </a:p>
        </p:txBody>
      </p:sp>
      <p:sp>
        <p:nvSpPr>
          <p:cNvPr id="4" name="Text 2"/>
          <p:cNvSpPr/>
          <p:nvPr/>
        </p:nvSpPr>
        <p:spPr>
          <a:xfrm>
            <a:off x="661475" y="218063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Riesgos y desafíos de seguridad en RAG</a:t>
            </a:r>
            <a:endParaRPr lang="en-US"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945408"/>
            <a:ext cx="3512653" cy="2049463"/>
          </a:xfrm>
          <a:prstGeom prst="rect">
            <a:avLst/>
          </a:prstGeom>
        </p:spPr>
      </p:pic>
      <p:sp>
        <p:nvSpPr>
          <p:cNvPr id="6" name="Text 3"/>
          <p:cNvSpPr/>
          <p:nvPr/>
        </p:nvSpPr>
        <p:spPr>
          <a:xfrm>
            <a:off x="922017" y="3129756"/>
            <a:ext cx="3067767"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Acceso no autorizado</a:t>
            </a:r>
            <a:endParaRPr lang="en-US" sz="1600" dirty="0"/>
          </a:p>
        </p:txBody>
      </p:sp>
      <p:sp>
        <p:nvSpPr>
          <p:cNvPr id="7" name="Text 4"/>
          <p:cNvSpPr/>
          <p:nvPr/>
        </p:nvSpPr>
        <p:spPr>
          <a:xfrm>
            <a:off x="922017" y="3487440"/>
            <a:ext cx="3067767"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Riesgo de exponer información sensible si no se controla adecuadamente la recuperación de datos. En biomedicina, esto incluye historiales clínicos y datos genómicos.</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422" y="2945408"/>
            <a:ext cx="3512752" cy="2049463"/>
          </a:xfrm>
          <a:prstGeom prst="rect">
            <a:avLst/>
          </a:prstGeom>
        </p:spPr>
      </p:pic>
      <p:sp>
        <p:nvSpPr>
          <p:cNvPr id="9" name="Text 5"/>
          <p:cNvSpPr/>
          <p:nvPr/>
        </p:nvSpPr>
        <p:spPr>
          <a:xfrm>
            <a:off x="4599964" y="3129756"/>
            <a:ext cx="3067866"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Explotación de vulnerabilidades</a:t>
            </a:r>
            <a:endParaRPr lang="en-US" sz="1600" dirty="0"/>
          </a:p>
        </p:txBody>
      </p:sp>
      <p:sp>
        <p:nvSpPr>
          <p:cNvPr id="10" name="Text 6"/>
          <p:cNvSpPr/>
          <p:nvPr/>
        </p:nvSpPr>
        <p:spPr>
          <a:xfrm>
            <a:off x="4599964" y="3745905"/>
            <a:ext cx="3067866"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Actores maliciosos pueden manipular consultas mediante prompt injection para extraer datos privados o confidenciales del sistema.</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7468" y="2945408"/>
            <a:ext cx="3512653" cy="2049463"/>
          </a:xfrm>
          <a:prstGeom prst="rect">
            <a:avLst/>
          </a:prstGeom>
        </p:spPr>
      </p:pic>
      <p:sp>
        <p:nvSpPr>
          <p:cNvPr id="12" name="Text 7"/>
          <p:cNvSpPr/>
          <p:nvPr/>
        </p:nvSpPr>
        <p:spPr>
          <a:xfrm>
            <a:off x="8278010" y="3129756"/>
            <a:ext cx="3067767"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Necesidad de controles</a:t>
            </a:r>
            <a:endParaRPr lang="en-US" sz="1600" dirty="0"/>
          </a:p>
        </p:txBody>
      </p:sp>
      <p:sp>
        <p:nvSpPr>
          <p:cNvPr id="13" name="Text 8"/>
          <p:cNvSpPr/>
          <p:nvPr/>
        </p:nvSpPr>
        <p:spPr>
          <a:xfrm>
            <a:off x="8278010" y="3487440"/>
            <a:ext cx="3067767"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Políticas estrictas de acceso, auditoría continua y validación de entradas y salidas son fundamentales en cualquier despliegue productivo.</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661475" y="1607641"/>
            <a:ext cx="3663759" cy="251420"/>
          </a:xfrm>
          <a:prstGeom prst="roundRect">
            <a:avLst>
              <a:gd name="adj" fmla="val 3031"/>
            </a:avLst>
          </a:prstGeom>
          <a:solidFill>
            <a:srgbClr val="F9D2D6"/>
          </a:solidFill>
          <a:ln/>
        </p:spPr>
      </p:sp>
      <p:sp>
        <p:nvSpPr>
          <p:cNvPr id="3" name="Text 1"/>
          <p:cNvSpPr/>
          <p:nvPr/>
        </p:nvSpPr>
        <p:spPr>
          <a:xfrm>
            <a:off x="760691" y="1657251"/>
            <a:ext cx="4074911"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EVALUACIÓN, SEGURIDAD Y PATRONES AVANZADOS</a:t>
            </a:r>
            <a:endParaRPr lang="en-US" sz="1000" dirty="0"/>
          </a:p>
        </p:txBody>
      </p:sp>
      <p:sp>
        <p:nvSpPr>
          <p:cNvPr id="4" name="Text 2"/>
          <p:cNvSpPr/>
          <p:nvPr/>
        </p:nvSpPr>
        <p:spPr>
          <a:xfrm>
            <a:off x="661475" y="1925141"/>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Ejemplo real de riesgo</a:t>
            </a:r>
            <a:endParaRPr lang="en-US" sz="3250" dirty="0"/>
          </a:p>
        </p:txBody>
      </p:sp>
      <p:sp>
        <p:nvSpPr>
          <p:cNvPr id="5" name="Text 3"/>
          <p:cNvSpPr/>
          <p:nvPr/>
        </p:nvSpPr>
        <p:spPr>
          <a:xfrm>
            <a:off x="909516" y="2875955"/>
            <a:ext cx="1062070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"Un chatbot empresarial con RAG filtra accidentalmente datos financieros confidenciales al no validar correctamente los permisos de acceso del usuario."</a:t>
            </a:r>
            <a:endParaRPr lang="en-US" sz="1300" dirty="0"/>
          </a:p>
        </p:txBody>
      </p:sp>
      <p:sp>
        <p:nvSpPr>
          <p:cNvPr id="6" name="Shape 4"/>
          <p:cNvSpPr/>
          <p:nvPr/>
        </p:nvSpPr>
        <p:spPr>
          <a:xfrm>
            <a:off x="661475" y="2689920"/>
            <a:ext cx="19050" cy="901303"/>
          </a:xfrm>
          <a:prstGeom prst="roundRect">
            <a:avLst>
              <a:gd name="adj" fmla="val 49999"/>
            </a:avLst>
          </a:prstGeom>
          <a:solidFill>
            <a:srgbClr val="DA1B2E"/>
          </a:solidFill>
          <a:ln/>
        </p:spPr>
      </p:sp>
      <p:sp>
        <p:nvSpPr>
          <p:cNvPr id="7" name="Shape 5"/>
          <p:cNvSpPr/>
          <p:nvPr/>
        </p:nvSpPr>
        <p:spPr>
          <a:xfrm>
            <a:off x="661475" y="3777258"/>
            <a:ext cx="372061" cy="372070"/>
          </a:xfrm>
          <a:prstGeom prst="roundRect">
            <a:avLst>
              <a:gd name="adj" fmla="val 2048"/>
            </a:avLst>
          </a:prstGeom>
          <a:solidFill>
            <a:srgbClr val="F2EEEE"/>
          </a:solidFill>
          <a:ln w="6350">
            <a:solidFill>
              <a:srgbClr val="D8D4D4"/>
            </a:solidFill>
            <a:prstDash val="solid"/>
          </a:ln>
        </p:spPr>
      </p:sp>
      <p:sp>
        <p:nvSpPr>
          <p:cNvPr id="8" name="Text 6"/>
          <p:cNvSpPr/>
          <p:nvPr/>
        </p:nvSpPr>
        <p:spPr>
          <a:xfrm>
            <a:off x="723485" y="3808264"/>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3B3535"/>
                </a:solidFill>
                <a:latin typeface="Roboto Mono Medium" pitchFamily="34" charset="0"/>
                <a:ea typeface="Roboto Mono Medium" pitchFamily="34" charset="-122"/>
                <a:cs typeface="Roboto Mono Medium" pitchFamily="34" charset="-120"/>
              </a:rPr>
              <a:t>1</a:t>
            </a:r>
            <a:endParaRPr lang="en-US" sz="1950" dirty="0"/>
          </a:p>
        </p:txBody>
      </p:sp>
      <p:sp>
        <p:nvSpPr>
          <p:cNvPr id="9" name="Text 7"/>
          <p:cNvSpPr/>
          <p:nvPr/>
        </p:nvSpPr>
        <p:spPr>
          <a:xfrm>
            <a:off x="1198830" y="3834110"/>
            <a:ext cx="29477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El problema</a:t>
            </a:r>
            <a:endParaRPr lang="en-US" sz="1600" dirty="0"/>
          </a:p>
        </p:txBody>
      </p:sp>
      <p:sp>
        <p:nvSpPr>
          <p:cNvPr id="10" name="Text 8"/>
          <p:cNvSpPr/>
          <p:nvPr/>
        </p:nvSpPr>
        <p:spPr>
          <a:xfrm>
            <a:off x="1198830" y="4191794"/>
            <a:ext cx="29477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Sistema de permisos mal configurado permite el acceso a documentos marcados como restringidos durante la fase de recuperación.</a:t>
            </a:r>
            <a:endParaRPr lang="en-US" sz="1300" dirty="0"/>
          </a:p>
        </p:txBody>
      </p:sp>
      <p:sp>
        <p:nvSpPr>
          <p:cNvPr id="11" name="Shape 9"/>
          <p:cNvSpPr/>
          <p:nvPr/>
        </p:nvSpPr>
        <p:spPr>
          <a:xfrm>
            <a:off x="4353213" y="3777258"/>
            <a:ext cx="372061" cy="372070"/>
          </a:xfrm>
          <a:prstGeom prst="roundRect">
            <a:avLst>
              <a:gd name="adj" fmla="val 2048"/>
            </a:avLst>
          </a:prstGeom>
          <a:solidFill>
            <a:srgbClr val="F2EEEE"/>
          </a:solidFill>
          <a:ln w="6350">
            <a:solidFill>
              <a:srgbClr val="D8D4D4"/>
            </a:solidFill>
            <a:prstDash val="solid"/>
          </a:ln>
        </p:spPr>
      </p:sp>
      <p:sp>
        <p:nvSpPr>
          <p:cNvPr id="12" name="Text 10"/>
          <p:cNvSpPr/>
          <p:nvPr/>
        </p:nvSpPr>
        <p:spPr>
          <a:xfrm>
            <a:off x="4415223" y="3808264"/>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3B3535"/>
                </a:solidFill>
                <a:latin typeface="Roboto Mono Medium" pitchFamily="34" charset="0"/>
                <a:ea typeface="Roboto Mono Medium" pitchFamily="34" charset="-122"/>
                <a:cs typeface="Roboto Mono Medium" pitchFamily="34" charset="-120"/>
              </a:rPr>
              <a:t>2</a:t>
            </a:r>
            <a:endParaRPr lang="en-US" sz="1950" dirty="0"/>
          </a:p>
        </p:txBody>
      </p:sp>
      <p:sp>
        <p:nvSpPr>
          <p:cNvPr id="13" name="Text 11"/>
          <p:cNvSpPr/>
          <p:nvPr/>
        </p:nvSpPr>
        <p:spPr>
          <a:xfrm>
            <a:off x="4890568" y="3834110"/>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El impacto</a:t>
            </a:r>
            <a:endParaRPr lang="en-US" sz="1600" dirty="0"/>
          </a:p>
        </p:txBody>
      </p:sp>
      <p:sp>
        <p:nvSpPr>
          <p:cNvPr id="14" name="Text 12"/>
          <p:cNvSpPr/>
          <p:nvPr/>
        </p:nvSpPr>
        <p:spPr>
          <a:xfrm>
            <a:off x="4890568" y="4191794"/>
            <a:ext cx="29478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Información sensible queda expuesta a usuarios no autorizados, con potenciales implicaciones legales y regulatorias.</a:t>
            </a:r>
            <a:endParaRPr lang="en-US" sz="1300" dirty="0"/>
          </a:p>
        </p:txBody>
      </p:sp>
      <p:sp>
        <p:nvSpPr>
          <p:cNvPr id="15" name="Shape 13"/>
          <p:cNvSpPr/>
          <p:nvPr/>
        </p:nvSpPr>
        <p:spPr>
          <a:xfrm>
            <a:off x="8045050" y="3777258"/>
            <a:ext cx="372061" cy="372070"/>
          </a:xfrm>
          <a:prstGeom prst="roundRect">
            <a:avLst>
              <a:gd name="adj" fmla="val 2048"/>
            </a:avLst>
          </a:prstGeom>
          <a:solidFill>
            <a:srgbClr val="F2EEEE"/>
          </a:solidFill>
          <a:ln w="6350">
            <a:solidFill>
              <a:srgbClr val="D8D4D4"/>
            </a:solidFill>
            <a:prstDash val="solid"/>
          </a:ln>
        </p:spPr>
      </p:sp>
      <p:sp>
        <p:nvSpPr>
          <p:cNvPr id="16" name="Text 14"/>
          <p:cNvSpPr/>
          <p:nvPr/>
        </p:nvSpPr>
        <p:spPr>
          <a:xfrm>
            <a:off x="8107060" y="3808264"/>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3B3535"/>
                </a:solidFill>
                <a:latin typeface="Roboto Mono Medium" pitchFamily="34" charset="0"/>
                <a:ea typeface="Roboto Mono Medium" pitchFamily="34" charset="-122"/>
                <a:cs typeface="Roboto Mono Medium" pitchFamily="34" charset="-120"/>
              </a:rPr>
              <a:t>3</a:t>
            </a:r>
            <a:endParaRPr lang="en-US" sz="1950" dirty="0"/>
          </a:p>
        </p:txBody>
      </p:sp>
      <p:sp>
        <p:nvSpPr>
          <p:cNvPr id="17" name="Text 15"/>
          <p:cNvSpPr/>
          <p:nvPr/>
        </p:nvSpPr>
        <p:spPr>
          <a:xfrm>
            <a:off x="8582406" y="3834110"/>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La lección</a:t>
            </a:r>
            <a:endParaRPr lang="en-US" sz="1600" dirty="0"/>
          </a:p>
        </p:txBody>
      </p:sp>
      <p:sp>
        <p:nvSpPr>
          <p:cNvPr id="18" name="Text 16"/>
          <p:cNvSpPr/>
          <p:nvPr/>
        </p:nvSpPr>
        <p:spPr>
          <a:xfrm>
            <a:off x="8582406" y="4191794"/>
            <a:ext cx="29478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Validar y filtrar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siempre</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la información recuperada antes de incluirla en el contexto y antes de mostrar la respuesta final.</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661475" y="1053505"/>
            <a:ext cx="3663759" cy="251420"/>
          </a:xfrm>
          <a:prstGeom prst="roundRect">
            <a:avLst>
              <a:gd name="adj" fmla="val 3031"/>
            </a:avLst>
          </a:prstGeom>
          <a:solidFill>
            <a:srgbClr val="F9D2D6"/>
          </a:solidFill>
          <a:ln/>
        </p:spPr>
      </p:sp>
      <p:sp>
        <p:nvSpPr>
          <p:cNvPr id="3" name="Text 1"/>
          <p:cNvSpPr/>
          <p:nvPr/>
        </p:nvSpPr>
        <p:spPr>
          <a:xfrm>
            <a:off x="760691" y="1103114"/>
            <a:ext cx="4074911"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EVALUACIÓN, SEGURIDAD Y PATRONES AVANZADOS</a:t>
            </a:r>
            <a:endParaRPr lang="en-US" sz="1000" dirty="0"/>
          </a:p>
        </p:txBody>
      </p:sp>
      <p:sp>
        <p:nvSpPr>
          <p:cNvPr id="4" name="Text 2"/>
          <p:cNvSpPr/>
          <p:nvPr/>
        </p:nvSpPr>
        <p:spPr>
          <a:xfrm>
            <a:off x="661475" y="1371005"/>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Buenas prácticas para mitigar riesgos</a:t>
            </a:r>
            <a:endParaRPr lang="en-US"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135783"/>
            <a:ext cx="5351725" cy="1751707"/>
          </a:xfrm>
          <a:prstGeom prst="rect">
            <a:avLst/>
          </a:prstGeom>
        </p:spPr>
      </p:pic>
      <p:sp>
        <p:nvSpPr>
          <p:cNvPr id="6" name="Text 3"/>
          <p:cNvSpPr/>
          <p:nvPr/>
        </p:nvSpPr>
        <p:spPr>
          <a:xfrm>
            <a:off x="3213317" y="2244626"/>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3B3535"/>
                </a:solidFill>
                <a:latin typeface="Roboto Mono Medium" pitchFamily="34" charset="0"/>
                <a:ea typeface="Roboto Mono Medium" pitchFamily="34" charset="-122"/>
                <a:cs typeface="Roboto Mono Medium" pitchFamily="34" charset="-120"/>
              </a:rPr>
              <a:t>1</a:t>
            </a:r>
            <a:endParaRPr lang="en-US" sz="1950" dirty="0"/>
          </a:p>
        </p:txBody>
      </p:sp>
      <p:sp>
        <p:nvSpPr>
          <p:cNvPr id="7" name="Text 4"/>
          <p:cNvSpPr/>
          <p:nvPr/>
        </p:nvSpPr>
        <p:spPr>
          <a:xfrm>
            <a:off x="845819" y="2816225"/>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Control de acceso granular</a:t>
            </a:r>
            <a:endParaRPr lang="en-US" sz="1600" dirty="0"/>
          </a:p>
        </p:txBody>
      </p:sp>
      <p:sp>
        <p:nvSpPr>
          <p:cNvPr id="8" name="Text 5"/>
          <p:cNvSpPr/>
          <p:nvPr/>
        </p:nvSpPr>
        <p:spPr>
          <a:xfrm>
            <a:off x="845819" y="3173909"/>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Implementar permisos detallados a nivel de documento y usuario en todas las bases de datos del sistema RAG.</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8495" y="2135783"/>
            <a:ext cx="5351725" cy="1751707"/>
          </a:xfrm>
          <a:prstGeom prst="rect">
            <a:avLst/>
          </a:prstGeom>
        </p:spPr>
      </p:pic>
      <p:sp>
        <p:nvSpPr>
          <p:cNvPr id="10" name="Text 6"/>
          <p:cNvSpPr/>
          <p:nvPr/>
        </p:nvSpPr>
        <p:spPr>
          <a:xfrm>
            <a:off x="8730337" y="2244626"/>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3B3535"/>
                </a:solidFill>
                <a:latin typeface="Roboto Mono Medium" pitchFamily="34" charset="0"/>
                <a:ea typeface="Roboto Mono Medium" pitchFamily="34" charset="-122"/>
                <a:cs typeface="Roboto Mono Medium" pitchFamily="34" charset="-120"/>
              </a:rPr>
              <a:t>2</a:t>
            </a:r>
            <a:endParaRPr lang="en-US" sz="1950" dirty="0"/>
          </a:p>
        </p:txBody>
      </p:sp>
      <p:sp>
        <p:nvSpPr>
          <p:cNvPr id="11" name="Text 7"/>
          <p:cNvSpPr/>
          <p:nvPr/>
        </p:nvSpPr>
        <p:spPr>
          <a:xfrm>
            <a:off x="6362838" y="2816225"/>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Encriptación y anonimización</a:t>
            </a:r>
            <a:endParaRPr lang="en-US" sz="1600" dirty="0"/>
          </a:p>
        </p:txBody>
      </p:sp>
      <p:sp>
        <p:nvSpPr>
          <p:cNvPr id="12" name="Text 8"/>
          <p:cNvSpPr/>
          <p:nvPr/>
        </p:nvSpPr>
        <p:spPr>
          <a:xfrm>
            <a:off x="6362838" y="3173909"/>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Proteger datos sensibles mediante cifrado en reposo y en tránsito; anonimizar información personal identificable.</a:t>
            </a:r>
            <a:endParaRPr lang="en-US" sz="13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052788"/>
            <a:ext cx="5351725" cy="1751707"/>
          </a:xfrm>
          <a:prstGeom prst="rect">
            <a:avLst/>
          </a:prstGeom>
        </p:spPr>
      </p:pic>
      <p:sp>
        <p:nvSpPr>
          <p:cNvPr id="14" name="Text 9"/>
          <p:cNvSpPr/>
          <p:nvPr/>
        </p:nvSpPr>
        <p:spPr>
          <a:xfrm>
            <a:off x="3213317" y="4161631"/>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3B3535"/>
                </a:solidFill>
                <a:latin typeface="Roboto Mono Medium" pitchFamily="34" charset="0"/>
                <a:ea typeface="Roboto Mono Medium" pitchFamily="34" charset="-122"/>
                <a:cs typeface="Roboto Mono Medium" pitchFamily="34" charset="-120"/>
              </a:rPr>
              <a:t>3</a:t>
            </a:r>
            <a:endParaRPr lang="en-US" sz="1950" dirty="0"/>
          </a:p>
        </p:txBody>
      </p:sp>
      <p:sp>
        <p:nvSpPr>
          <p:cNvPr id="15" name="Text 10"/>
          <p:cNvSpPr/>
          <p:nvPr/>
        </p:nvSpPr>
        <p:spPr>
          <a:xfrm>
            <a:off x="845819" y="4733230"/>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Monitoreo continuo</a:t>
            </a:r>
            <a:endParaRPr lang="en-US" sz="1600" dirty="0"/>
          </a:p>
        </p:txBody>
      </p:sp>
      <p:sp>
        <p:nvSpPr>
          <p:cNvPr id="16" name="Text 11"/>
          <p:cNvSpPr/>
          <p:nvPr/>
        </p:nvSpPr>
        <p:spPr>
          <a:xfrm>
            <a:off x="845819" y="5090914"/>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Auditoría en tiempo real de consultas y accesos, complementada con pruebas de penetración periódicas.</a:t>
            </a:r>
            <a:endParaRPr lang="en-US" sz="130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8495" y="4052788"/>
            <a:ext cx="5351725" cy="1751707"/>
          </a:xfrm>
          <a:prstGeom prst="rect">
            <a:avLst/>
          </a:prstGeom>
        </p:spPr>
      </p:pic>
      <p:sp>
        <p:nvSpPr>
          <p:cNvPr id="18" name="Text 12"/>
          <p:cNvSpPr/>
          <p:nvPr/>
        </p:nvSpPr>
        <p:spPr>
          <a:xfrm>
            <a:off x="8730337" y="4161631"/>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3B3535"/>
                </a:solidFill>
                <a:latin typeface="Roboto Mono Medium" pitchFamily="34" charset="0"/>
                <a:ea typeface="Roboto Mono Medium" pitchFamily="34" charset="-122"/>
                <a:cs typeface="Roboto Mono Medium" pitchFamily="34" charset="-120"/>
              </a:rPr>
              <a:t>4</a:t>
            </a:r>
            <a:endParaRPr lang="en-US" sz="1950" dirty="0"/>
          </a:p>
        </p:txBody>
      </p:sp>
      <p:sp>
        <p:nvSpPr>
          <p:cNvPr id="19" name="Text 13"/>
          <p:cNvSpPr/>
          <p:nvPr/>
        </p:nvSpPr>
        <p:spPr>
          <a:xfrm>
            <a:off x="6362838" y="4733230"/>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Validación de salidas</a:t>
            </a:r>
            <a:endParaRPr lang="en-US" sz="1600" dirty="0"/>
          </a:p>
        </p:txBody>
      </p:sp>
      <p:sp>
        <p:nvSpPr>
          <p:cNvPr id="20" name="Text 14"/>
          <p:cNvSpPr/>
          <p:nvPr/>
        </p:nvSpPr>
        <p:spPr>
          <a:xfrm>
            <a:off x="6362838" y="5090914"/>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Filtrar y revisar respuestas generadas antes de entregarlas al usuario final, evitando fuga de información.</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661475" y="1439466"/>
            <a:ext cx="3663759" cy="251420"/>
          </a:xfrm>
          <a:prstGeom prst="roundRect">
            <a:avLst>
              <a:gd name="adj" fmla="val 3031"/>
            </a:avLst>
          </a:prstGeom>
          <a:solidFill>
            <a:srgbClr val="F9D2D6"/>
          </a:solidFill>
          <a:ln/>
        </p:spPr>
      </p:sp>
      <p:sp>
        <p:nvSpPr>
          <p:cNvPr id="3" name="Text 1"/>
          <p:cNvSpPr/>
          <p:nvPr/>
        </p:nvSpPr>
        <p:spPr>
          <a:xfrm>
            <a:off x="760691" y="1489075"/>
            <a:ext cx="4074911"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EVALUACIÓN, SEGURIDAD Y PATRONES AVANZADOS</a:t>
            </a:r>
            <a:endParaRPr lang="en-US" sz="1000" dirty="0"/>
          </a:p>
        </p:txBody>
      </p:sp>
      <p:sp>
        <p:nvSpPr>
          <p:cNvPr id="4" name="Text 2"/>
          <p:cNvSpPr/>
          <p:nvPr/>
        </p:nvSpPr>
        <p:spPr>
          <a:xfrm>
            <a:off x="661475" y="1756966"/>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Limitaciones actuales y retos futuros</a:t>
            </a:r>
            <a:endParaRPr lang="en-US"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521744"/>
            <a:ext cx="3512653" cy="1784846"/>
          </a:xfrm>
          <a:prstGeom prst="rect">
            <a:avLst/>
          </a:prstGeom>
        </p:spPr>
      </p:pic>
      <p:sp>
        <p:nvSpPr>
          <p:cNvPr id="6" name="Text 3"/>
          <p:cNvSpPr/>
          <p:nvPr/>
        </p:nvSpPr>
        <p:spPr>
          <a:xfrm>
            <a:off x="922017" y="2706092"/>
            <a:ext cx="3067767"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Escalabilidad</a:t>
            </a:r>
            <a:endParaRPr lang="en-US" sz="1600" dirty="0"/>
          </a:p>
        </p:txBody>
      </p:sp>
      <p:sp>
        <p:nvSpPr>
          <p:cNvPr id="7" name="Text 4"/>
          <p:cNvSpPr/>
          <p:nvPr/>
        </p:nvSpPr>
        <p:spPr>
          <a:xfrm>
            <a:off x="922017" y="3063776"/>
            <a:ext cx="3067767"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Manejar eficientemente grandes volúmenes de datos y consultas concurrentes sin degradar el rendimiento ni disparar los costes operativos.</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422" y="2521744"/>
            <a:ext cx="3512752" cy="1784846"/>
          </a:xfrm>
          <a:prstGeom prst="rect">
            <a:avLst/>
          </a:prstGeom>
        </p:spPr>
      </p:pic>
      <p:sp>
        <p:nvSpPr>
          <p:cNvPr id="9" name="Text 5"/>
          <p:cNvSpPr/>
          <p:nvPr/>
        </p:nvSpPr>
        <p:spPr>
          <a:xfrm>
            <a:off x="4599964" y="2706092"/>
            <a:ext cx="3067866"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Integración optimizada</a:t>
            </a:r>
            <a:endParaRPr lang="en-US" sz="1600" dirty="0"/>
          </a:p>
        </p:txBody>
      </p:sp>
      <p:sp>
        <p:nvSpPr>
          <p:cNvPr id="10" name="Text 6"/>
          <p:cNvSpPr/>
          <p:nvPr/>
        </p:nvSpPr>
        <p:spPr>
          <a:xfrm>
            <a:off x="4599964" y="3063776"/>
            <a:ext cx="3067866"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Mejorar la coordinación entre los módulos de recuperación y generación para producir resultados más coherentes y menos fragmentados.</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7468" y="2521744"/>
            <a:ext cx="3512653" cy="1784846"/>
          </a:xfrm>
          <a:prstGeom prst="rect">
            <a:avLst/>
          </a:prstGeom>
        </p:spPr>
      </p:pic>
      <p:sp>
        <p:nvSpPr>
          <p:cNvPr id="12" name="Text 7"/>
          <p:cNvSpPr/>
          <p:nvPr/>
        </p:nvSpPr>
        <p:spPr>
          <a:xfrm>
            <a:off x="8278010" y="2706092"/>
            <a:ext cx="3067767"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Sesgos y transparencia</a:t>
            </a:r>
            <a:endParaRPr lang="en-US" sz="1600" dirty="0"/>
          </a:p>
        </p:txBody>
      </p:sp>
      <p:sp>
        <p:nvSpPr>
          <p:cNvPr id="13" name="Text 8"/>
          <p:cNvSpPr/>
          <p:nvPr/>
        </p:nvSpPr>
        <p:spPr>
          <a:xfrm>
            <a:off x="8278010" y="3063776"/>
            <a:ext cx="3067767"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Evitar sesgos introducidos en la recuperación y generación, garantizando la explicabilidad de las respuestas para contextos regulados.</a:t>
            </a:r>
            <a:endParaRPr lang="en-US" sz="1300" dirty="0"/>
          </a:p>
        </p:txBody>
      </p:sp>
      <p:sp>
        <p:nvSpPr>
          <p:cNvPr id="14" name="Shape 9"/>
          <p:cNvSpPr/>
          <p:nvPr/>
        </p:nvSpPr>
        <p:spPr>
          <a:xfrm>
            <a:off x="661475" y="4492625"/>
            <a:ext cx="10868745" cy="925909"/>
          </a:xfrm>
          <a:prstGeom prst="roundRect">
            <a:avLst>
              <a:gd name="adj" fmla="val 823"/>
            </a:avLst>
          </a:prstGeom>
          <a:solidFill>
            <a:srgbClr val="F9D2D6"/>
          </a:solidFill>
          <a:ln/>
        </p:spPr>
      </p:sp>
      <p:pic>
        <p:nvPicPr>
          <p:cNvPr id="15" name="Image 3" descr="preencoded.png">    </p:cNvPr>
          <p:cNvPicPr>
            <a:picLocks noChangeAspect="1"/>
          </p:cNvPicPr>
          <p:nvPr/>
        </p:nvPicPr>
        <p:blipFill>
          <a:blip r:embed="rId7"/>
          <a:stretch>
            <a:fillRect/>
          </a:stretch>
        </p:blipFill>
        <p:spPr>
          <a:xfrm>
            <a:off x="826769" y="4732338"/>
            <a:ext cx="206667" cy="165298"/>
          </a:xfrm>
          <a:prstGeom prst="rect">
            <a:avLst/>
          </a:prstGeom>
        </p:spPr>
      </p:pic>
      <p:sp>
        <p:nvSpPr>
          <p:cNvPr id="16" name="Text 10"/>
          <p:cNvSpPr/>
          <p:nvPr/>
        </p:nvSpPr>
        <p:spPr>
          <a:xfrm>
            <a:off x="1198731" y="4699198"/>
            <a:ext cx="1016619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A medida que RAG evoluciona, la comunidad de investigación trabaja activamente en resolver estos desafíos para hacer la tecnología más robusta y confiable en entornos críticos.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661475" y="1018977"/>
            <a:ext cx="3663759" cy="251420"/>
          </a:xfrm>
          <a:prstGeom prst="roundRect">
            <a:avLst>
              <a:gd name="adj" fmla="val 3031"/>
            </a:avLst>
          </a:prstGeom>
          <a:solidFill>
            <a:srgbClr val="F9D2D6"/>
          </a:solidFill>
          <a:ln/>
        </p:spPr>
      </p:sp>
      <p:sp>
        <p:nvSpPr>
          <p:cNvPr id="3" name="Text 1"/>
          <p:cNvSpPr/>
          <p:nvPr/>
        </p:nvSpPr>
        <p:spPr>
          <a:xfrm>
            <a:off x="760691" y="1068586"/>
            <a:ext cx="4074911"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RAG: EVALUACIÓN, SEGURIDAD Y PATRONES AVANZADOS</a:t>
            </a:r>
            <a:endParaRPr lang="en-US" sz="1000" dirty="0"/>
          </a:p>
        </p:txBody>
      </p:sp>
      <p:sp>
        <p:nvSpPr>
          <p:cNvPr id="4" name="Text 2"/>
          <p:cNvSpPr/>
          <p:nvPr/>
        </p:nvSpPr>
        <p:spPr>
          <a:xfrm>
            <a:off x="661475" y="1336477"/>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Resumen y conclusiones de RAG</a:t>
            </a:r>
            <a:endParaRPr lang="en-US" sz="3250" dirty="0"/>
          </a:p>
        </p:txBody>
      </p:sp>
      <p:sp>
        <p:nvSpPr>
          <p:cNvPr id="5" name="Shape 3"/>
          <p:cNvSpPr/>
          <p:nvPr/>
        </p:nvSpPr>
        <p:spPr>
          <a:xfrm>
            <a:off x="661475" y="2101255"/>
            <a:ext cx="5351725" cy="1230213"/>
          </a:xfrm>
          <a:prstGeom prst="roundRect">
            <a:avLst>
              <a:gd name="adj" fmla="val 619"/>
            </a:avLst>
          </a:prstGeom>
          <a:solidFill>
            <a:srgbClr val="F2EEEE"/>
          </a:solidFill>
          <a:ln w="6350">
            <a:solidFill>
              <a:srgbClr val="D8D4D4"/>
            </a:solidFill>
            <a:prstDash val="solid"/>
          </a:ln>
        </p:spPr>
      </p:sp>
      <p:sp>
        <p:nvSpPr>
          <p:cNvPr id="6" name="Text 4"/>
          <p:cNvSpPr/>
          <p:nvPr/>
        </p:nvSpPr>
        <p:spPr>
          <a:xfrm>
            <a:off x="833119" y="2272903"/>
            <a:ext cx="5008437"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Superación de limitaciones</a:t>
            </a:r>
            <a:endParaRPr lang="en-US" sz="1600" dirty="0"/>
          </a:p>
        </p:txBody>
      </p:sp>
      <p:sp>
        <p:nvSpPr>
          <p:cNvPr id="7" name="Text 5"/>
          <p:cNvSpPr/>
          <p:nvPr/>
        </p:nvSpPr>
        <p:spPr>
          <a:xfrm>
            <a:off x="833119" y="2630587"/>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RAG es fundamental para superar las restricciones de los LLMs tradicionales en cuanto a conocimiento estático y alucinaciones.</a:t>
            </a:r>
            <a:endParaRPr lang="en-US" sz="1300" dirty="0"/>
          </a:p>
        </p:txBody>
      </p:sp>
      <p:sp>
        <p:nvSpPr>
          <p:cNvPr id="8" name="Shape 6"/>
          <p:cNvSpPr/>
          <p:nvPr/>
        </p:nvSpPr>
        <p:spPr>
          <a:xfrm>
            <a:off x="6178495" y="2101255"/>
            <a:ext cx="5351725" cy="1230213"/>
          </a:xfrm>
          <a:prstGeom prst="roundRect">
            <a:avLst>
              <a:gd name="adj" fmla="val 619"/>
            </a:avLst>
          </a:prstGeom>
          <a:solidFill>
            <a:srgbClr val="F2EEEE"/>
          </a:solidFill>
          <a:ln w="6350">
            <a:solidFill>
              <a:srgbClr val="D8D4D4"/>
            </a:solidFill>
            <a:prstDash val="solid"/>
          </a:ln>
        </p:spPr>
      </p:sp>
      <p:sp>
        <p:nvSpPr>
          <p:cNvPr id="9" name="Text 7"/>
          <p:cNvSpPr/>
          <p:nvPr/>
        </p:nvSpPr>
        <p:spPr>
          <a:xfrm>
            <a:off x="6350139" y="2272903"/>
            <a:ext cx="5008437"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Combinación poderosa</a:t>
            </a:r>
            <a:endParaRPr lang="en-US" sz="1600" dirty="0"/>
          </a:p>
        </p:txBody>
      </p:sp>
      <p:sp>
        <p:nvSpPr>
          <p:cNvPr id="10" name="Text 8"/>
          <p:cNvSpPr/>
          <p:nvPr/>
        </p:nvSpPr>
        <p:spPr>
          <a:xfrm>
            <a:off x="6350139" y="2630587"/>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Integra recuperación inteligente con generación precisa y contextualizada para respuestas verificables y citables.</a:t>
            </a:r>
            <a:endParaRPr lang="en-US" sz="1300" dirty="0"/>
          </a:p>
        </p:txBody>
      </p:sp>
      <p:sp>
        <p:nvSpPr>
          <p:cNvPr id="11" name="Shape 9"/>
          <p:cNvSpPr/>
          <p:nvPr/>
        </p:nvSpPr>
        <p:spPr>
          <a:xfrm>
            <a:off x="661475" y="3496766"/>
            <a:ext cx="5351725" cy="1230213"/>
          </a:xfrm>
          <a:prstGeom prst="roundRect">
            <a:avLst>
              <a:gd name="adj" fmla="val 619"/>
            </a:avLst>
          </a:prstGeom>
          <a:solidFill>
            <a:srgbClr val="F2EEEE"/>
          </a:solidFill>
          <a:ln w="6350">
            <a:solidFill>
              <a:srgbClr val="D8D4D4"/>
            </a:solidFill>
            <a:prstDash val="solid"/>
          </a:ln>
        </p:spPr>
      </p:sp>
      <p:sp>
        <p:nvSpPr>
          <p:cNvPr id="12" name="Text 10"/>
          <p:cNvSpPr/>
          <p:nvPr/>
        </p:nvSpPr>
        <p:spPr>
          <a:xfrm>
            <a:off x="833119" y="3668415"/>
            <a:ext cx="5008437"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Cuidado necesario</a:t>
            </a:r>
            <a:endParaRPr lang="en-US" sz="1600" dirty="0"/>
          </a:p>
        </p:txBody>
      </p:sp>
      <p:sp>
        <p:nvSpPr>
          <p:cNvPr id="13" name="Text 11"/>
          <p:cNvSpPr/>
          <p:nvPr/>
        </p:nvSpPr>
        <p:spPr>
          <a:xfrm>
            <a:off x="833119" y="4026098"/>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Requiere atención especial en el diseño del chunking, la evaluación continua y la seguridad de los datos.</a:t>
            </a:r>
            <a:endParaRPr lang="en-US" sz="1300" dirty="0"/>
          </a:p>
        </p:txBody>
      </p:sp>
      <p:sp>
        <p:nvSpPr>
          <p:cNvPr id="14" name="Shape 12"/>
          <p:cNvSpPr/>
          <p:nvPr/>
        </p:nvSpPr>
        <p:spPr>
          <a:xfrm>
            <a:off x="6178495" y="3496766"/>
            <a:ext cx="5351725" cy="1230213"/>
          </a:xfrm>
          <a:prstGeom prst="roundRect">
            <a:avLst>
              <a:gd name="adj" fmla="val 619"/>
            </a:avLst>
          </a:prstGeom>
          <a:solidFill>
            <a:srgbClr val="F2EEEE"/>
          </a:solidFill>
          <a:ln w="6350">
            <a:solidFill>
              <a:srgbClr val="D8D4D4"/>
            </a:solidFill>
            <a:prstDash val="solid"/>
          </a:ln>
        </p:spPr>
      </p:sp>
      <p:sp>
        <p:nvSpPr>
          <p:cNvPr id="15" name="Text 13"/>
          <p:cNvSpPr/>
          <p:nvPr/>
        </p:nvSpPr>
        <p:spPr>
          <a:xfrm>
            <a:off x="6350139" y="3668415"/>
            <a:ext cx="5008437"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Adopción creciente</a:t>
            </a:r>
            <a:endParaRPr lang="en-US" sz="1600" dirty="0"/>
          </a:p>
        </p:txBody>
      </p:sp>
      <p:sp>
        <p:nvSpPr>
          <p:cNvPr id="16" name="Text 14"/>
          <p:cNvSpPr/>
          <p:nvPr/>
        </p:nvSpPr>
        <p:spPr>
          <a:xfrm>
            <a:off x="6350139" y="4026098"/>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Su uso se expande en múltiples industrias: biomedicina, legal, finanzas, y cualquier dominio con información dinámica.</a:t>
            </a:r>
            <a:endParaRPr lang="en-US" sz="1300" dirty="0"/>
          </a:p>
        </p:txBody>
      </p:sp>
      <p:sp>
        <p:nvSpPr>
          <p:cNvPr id="17" name="Shape 15"/>
          <p:cNvSpPr/>
          <p:nvPr/>
        </p:nvSpPr>
        <p:spPr>
          <a:xfrm>
            <a:off x="661475" y="4913015"/>
            <a:ext cx="10868745" cy="925909"/>
          </a:xfrm>
          <a:prstGeom prst="roundRect">
            <a:avLst>
              <a:gd name="adj" fmla="val 823"/>
            </a:avLst>
          </a:prstGeom>
          <a:solidFill>
            <a:srgbClr val="F9D2D6"/>
          </a:solidFill>
          <a:ln/>
        </p:spPr>
      </p:sp>
      <p:pic>
        <p:nvPicPr>
          <p:cNvPr id="18" name="Image 0" descr="preencoded.png">    </p:cNvPr>
          <p:cNvPicPr>
            <a:picLocks noChangeAspect="1"/>
          </p:cNvPicPr>
          <p:nvPr/>
        </p:nvPicPr>
        <p:blipFill>
          <a:blip r:embed="rId1"/>
          <a:stretch>
            <a:fillRect/>
          </a:stretch>
        </p:blipFill>
        <p:spPr>
          <a:xfrm>
            <a:off x="826769" y="5152727"/>
            <a:ext cx="206667" cy="165298"/>
          </a:xfrm>
          <a:prstGeom prst="rect">
            <a:avLst/>
          </a:prstGeom>
        </p:spPr>
      </p:pic>
      <p:sp>
        <p:nvSpPr>
          <p:cNvPr id="19" name="Text 16"/>
          <p:cNvSpPr/>
          <p:nvPr/>
        </p:nvSpPr>
        <p:spPr>
          <a:xfrm>
            <a:off x="1198731" y="5119588"/>
            <a:ext cx="1016619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RAG representa un avance significativo en IA generativa. Dominar búsqueda híbrida, reranking y evaluación será clave para aplicaciones de próxima generación.</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61475" y="628055"/>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oboto Mono Medium" pitchFamily="34" charset="0"/>
                <a:ea typeface="Roboto Mono Medium" pitchFamily="34" charset="-122"/>
                <a:cs typeface="Roboto Mono Medium" pitchFamily="34" charset="-120"/>
              </a:rPr>
              <a:t>Agenda</a:t>
            </a:r>
            <a:endParaRPr lang="en-US" sz="2400" dirty="0"/>
          </a:p>
        </p:txBody>
      </p:sp>
      <p:sp>
        <p:nvSpPr>
          <p:cNvPr id="3" name="Shape 1"/>
          <p:cNvSpPr/>
          <p:nvPr/>
        </p:nvSpPr>
        <p:spPr>
          <a:xfrm>
            <a:off x="800973" y="1201738"/>
            <a:ext cx="12700" cy="5028109"/>
          </a:xfrm>
          <a:prstGeom prst="roundRect">
            <a:avLst>
              <a:gd name="adj" fmla="val 49999"/>
            </a:avLst>
          </a:prstGeom>
          <a:solidFill>
            <a:srgbClr val="D8D4D4"/>
          </a:solidFill>
          <a:ln/>
        </p:spPr>
      </p:sp>
      <p:sp>
        <p:nvSpPr>
          <p:cNvPr id="4" name="Shape 2"/>
          <p:cNvSpPr/>
          <p:nvPr/>
        </p:nvSpPr>
        <p:spPr>
          <a:xfrm>
            <a:off x="927821" y="1334889"/>
            <a:ext cx="372061" cy="12700"/>
          </a:xfrm>
          <a:prstGeom prst="roundRect">
            <a:avLst>
              <a:gd name="adj" fmla="val 49999"/>
            </a:avLst>
          </a:prstGeom>
          <a:solidFill>
            <a:srgbClr val="D8D4D4"/>
          </a:solidFill>
          <a:ln/>
        </p:spPr>
      </p:sp>
      <p:sp>
        <p:nvSpPr>
          <p:cNvPr id="5" name="Shape 3"/>
          <p:cNvSpPr/>
          <p:nvPr/>
        </p:nvSpPr>
        <p:spPr>
          <a:xfrm>
            <a:off x="661425" y="1201738"/>
            <a:ext cx="279095" cy="279102"/>
          </a:xfrm>
          <a:prstGeom prst="roundRect">
            <a:avLst>
              <a:gd name="adj" fmla="val 2730"/>
            </a:avLst>
          </a:prstGeom>
          <a:solidFill>
            <a:srgbClr val="F2EEEE"/>
          </a:solidFill>
          <a:ln w="6350">
            <a:solidFill>
              <a:srgbClr val="D8D4D4"/>
            </a:solidFill>
            <a:prstDash val="solid"/>
          </a:ln>
        </p:spPr>
      </p:sp>
      <p:sp>
        <p:nvSpPr>
          <p:cNvPr id="6" name="Text 4"/>
          <p:cNvSpPr/>
          <p:nvPr/>
        </p:nvSpPr>
        <p:spPr>
          <a:xfrm>
            <a:off x="707908" y="122495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1</a:t>
            </a:r>
            <a:endParaRPr lang="en-US" sz="1450" dirty="0"/>
          </a:p>
        </p:txBody>
      </p:sp>
      <p:sp>
        <p:nvSpPr>
          <p:cNvPr id="7" name="Text 5"/>
          <p:cNvSpPr/>
          <p:nvPr/>
        </p:nvSpPr>
        <p:spPr>
          <a:xfrm>
            <a:off x="1421174" y="124430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Fundamentos ✓</a:t>
            </a:r>
            <a:endParaRPr lang="en-US" sz="1200" dirty="0"/>
          </a:p>
        </p:txBody>
      </p:sp>
      <p:sp>
        <p:nvSpPr>
          <p:cNvPr id="8" name="Text 6"/>
          <p:cNvSpPr/>
          <p:nvPr/>
        </p:nvSpPr>
        <p:spPr>
          <a:xfrm>
            <a:off x="1421174" y="1493838"/>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RAG, por qué lo necesitamos y arquitectura básica.</a:t>
            </a:r>
            <a:endParaRPr lang="en-US" sz="950" dirty="0"/>
          </a:p>
        </p:txBody>
      </p:sp>
      <p:sp>
        <p:nvSpPr>
          <p:cNvPr id="9" name="Shape 7"/>
          <p:cNvSpPr/>
          <p:nvPr/>
        </p:nvSpPr>
        <p:spPr>
          <a:xfrm>
            <a:off x="927821" y="1986657"/>
            <a:ext cx="372061" cy="12700"/>
          </a:xfrm>
          <a:prstGeom prst="roundRect">
            <a:avLst>
              <a:gd name="adj" fmla="val 49999"/>
            </a:avLst>
          </a:prstGeom>
          <a:solidFill>
            <a:srgbClr val="D8D4D4"/>
          </a:solidFill>
          <a:ln/>
        </p:spPr>
      </p:sp>
      <p:sp>
        <p:nvSpPr>
          <p:cNvPr id="10" name="Shape 8"/>
          <p:cNvSpPr/>
          <p:nvPr/>
        </p:nvSpPr>
        <p:spPr>
          <a:xfrm>
            <a:off x="661425" y="1853505"/>
            <a:ext cx="279095" cy="279102"/>
          </a:xfrm>
          <a:prstGeom prst="roundRect">
            <a:avLst>
              <a:gd name="adj" fmla="val 2730"/>
            </a:avLst>
          </a:prstGeom>
          <a:solidFill>
            <a:srgbClr val="F2EEEE"/>
          </a:solidFill>
          <a:ln w="6350">
            <a:solidFill>
              <a:srgbClr val="D8D4D4"/>
            </a:solidFill>
            <a:prstDash val="solid"/>
          </a:ln>
        </p:spPr>
      </p:sp>
      <p:sp>
        <p:nvSpPr>
          <p:cNvPr id="11" name="Text 9"/>
          <p:cNvSpPr/>
          <p:nvPr/>
        </p:nvSpPr>
        <p:spPr>
          <a:xfrm>
            <a:off x="707908" y="187672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2</a:t>
            </a:r>
            <a:endParaRPr lang="en-US" sz="1450" dirty="0"/>
          </a:p>
        </p:txBody>
      </p:sp>
      <p:sp>
        <p:nvSpPr>
          <p:cNvPr id="12" name="Text 10"/>
          <p:cNvSpPr/>
          <p:nvPr/>
        </p:nvSpPr>
        <p:spPr>
          <a:xfrm>
            <a:off x="1421174" y="189607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Búsqueda y Recuperación ✓</a:t>
            </a:r>
            <a:endParaRPr lang="en-US" sz="1200" dirty="0"/>
          </a:p>
        </p:txBody>
      </p:sp>
      <p:sp>
        <p:nvSpPr>
          <p:cNvPr id="13" name="Text 11"/>
          <p:cNvSpPr/>
          <p:nvPr/>
        </p:nvSpPr>
        <p:spPr>
          <a:xfrm>
            <a:off x="1421174" y="214560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Búsqueda vectorial, léxica, semántica e híbrida. Bases de datos y flujo completo.</a:t>
            </a:r>
            <a:endParaRPr lang="en-US" sz="950" dirty="0"/>
          </a:p>
        </p:txBody>
      </p:sp>
      <p:sp>
        <p:nvSpPr>
          <p:cNvPr id="14" name="Shape 12"/>
          <p:cNvSpPr/>
          <p:nvPr/>
        </p:nvSpPr>
        <p:spPr>
          <a:xfrm>
            <a:off x="927821" y="2638425"/>
            <a:ext cx="372061" cy="12700"/>
          </a:xfrm>
          <a:prstGeom prst="roundRect">
            <a:avLst>
              <a:gd name="adj" fmla="val 49999"/>
            </a:avLst>
          </a:prstGeom>
          <a:solidFill>
            <a:srgbClr val="D8D4D4"/>
          </a:solidFill>
          <a:ln/>
        </p:spPr>
      </p:sp>
      <p:sp>
        <p:nvSpPr>
          <p:cNvPr id="15" name="Shape 13"/>
          <p:cNvSpPr/>
          <p:nvPr/>
        </p:nvSpPr>
        <p:spPr>
          <a:xfrm>
            <a:off x="661425" y="2505273"/>
            <a:ext cx="279095" cy="279102"/>
          </a:xfrm>
          <a:prstGeom prst="roundRect">
            <a:avLst>
              <a:gd name="adj" fmla="val 2730"/>
            </a:avLst>
          </a:prstGeom>
          <a:solidFill>
            <a:srgbClr val="F2EEEE"/>
          </a:solidFill>
          <a:ln w="6350">
            <a:solidFill>
              <a:srgbClr val="D8D4D4"/>
            </a:solidFill>
            <a:prstDash val="solid"/>
          </a:ln>
        </p:spPr>
      </p:sp>
      <p:sp>
        <p:nvSpPr>
          <p:cNvPr id="16" name="Text 14"/>
          <p:cNvSpPr/>
          <p:nvPr/>
        </p:nvSpPr>
        <p:spPr>
          <a:xfrm>
            <a:off x="707908" y="2528491"/>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3</a:t>
            </a:r>
            <a:endParaRPr lang="en-US" sz="1450" dirty="0"/>
          </a:p>
        </p:txBody>
      </p:sp>
      <p:sp>
        <p:nvSpPr>
          <p:cNvPr id="17" name="Text 15"/>
          <p:cNvSpPr/>
          <p:nvPr/>
        </p:nvSpPr>
        <p:spPr>
          <a:xfrm>
            <a:off x="1421174" y="254783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Reranking y Precisión</a:t>
            </a:r>
            <a:endParaRPr lang="en-US" sz="1200" dirty="0"/>
          </a:p>
        </p:txBody>
      </p:sp>
      <p:sp>
        <p:nvSpPr>
          <p:cNvPr id="18" name="Text 16"/>
          <p:cNvSpPr/>
          <p:nvPr/>
        </p:nvSpPr>
        <p:spPr>
          <a:xfrm>
            <a:off x="1421174" y="279737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Recuperación en dos etapas, cross-encoders, Reciprocal Rank Fusion y optimización de precisión.</a:t>
            </a:r>
            <a:endParaRPr lang="en-US" sz="950" dirty="0"/>
          </a:p>
        </p:txBody>
      </p:sp>
      <p:sp>
        <p:nvSpPr>
          <p:cNvPr id="19" name="Shape 17"/>
          <p:cNvSpPr/>
          <p:nvPr/>
        </p:nvSpPr>
        <p:spPr>
          <a:xfrm>
            <a:off x="927821" y="3290193"/>
            <a:ext cx="372061" cy="12700"/>
          </a:xfrm>
          <a:prstGeom prst="roundRect">
            <a:avLst>
              <a:gd name="adj" fmla="val 49999"/>
            </a:avLst>
          </a:prstGeom>
          <a:solidFill>
            <a:srgbClr val="D8D4D4"/>
          </a:solidFill>
          <a:ln/>
        </p:spPr>
      </p:sp>
      <p:sp>
        <p:nvSpPr>
          <p:cNvPr id="20" name="Shape 18"/>
          <p:cNvSpPr/>
          <p:nvPr/>
        </p:nvSpPr>
        <p:spPr>
          <a:xfrm>
            <a:off x="661425" y="3157041"/>
            <a:ext cx="279095" cy="279102"/>
          </a:xfrm>
          <a:prstGeom prst="roundRect">
            <a:avLst>
              <a:gd name="adj" fmla="val 2730"/>
            </a:avLst>
          </a:prstGeom>
          <a:solidFill>
            <a:srgbClr val="F2EEEE"/>
          </a:solidFill>
          <a:ln w="6350">
            <a:solidFill>
              <a:srgbClr val="D8D4D4"/>
            </a:solidFill>
            <a:prstDash val="solid"/>
          </a:ln>
        </p:spPr>
      </p:sp>
      <p:sp>
        <p:nvSpPr>
          <p:cNvPr id="21" name="Text 19"/>
          <p:cNvSpPr/>
          <p:nvPr/>
        </p:nvSpPr>
        <p:spPr>
          <a:xfrm>
            <a:off x="707908" y="3180259"/>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4</a:t>
            </a:r>
            <a:endParaRPr lang="en-US" sz="1450" dirty="0"/>
          </a:p>
        </p:txBody>
      </p:sp>
      <p:sp>
        <p:nvSpPr>
          <p:cNvPr id="22" name="Text 20"/>
          <p:cNvSpPr/>
          <p:nvPr/>
        </p:nvSpPr>
        <p:spPr>
          <a:xfrm>
            <a:off x="1421174" y="3199606"/>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Chunking y Metadatos</a:t>
            </a:r>
            <a:endParaRPr lang="en-US" sz="1200" dirty="0"/>
          </a:p>
        </p:txBody>
      </p:sp>
      <p:sp>
        <p:nvSpPr>
          <p:cNvPr id="23" name="Text 21"/>
          <p:cNvSpPr/>
          <p:nvPr/>
        </p:nvSpPr>
        <p:spPr>
          <a:xfrm>
            <a:off x="1421174" y="3449141"/>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Fragmentación de documentos, estrategias de chunking y metadatos esenciales.</a:t>
            </a:r>
            <a:endParaRPr lang="en-US" sz="950" dirty="0"/>
          </a:p>
        </p:txBody>
      </p:sp>
      <p:sp>
        <p:nvSpPr>
          <p:cNvPr id="24" name="Shape 22"/>
          <p:cNvSpPr/>
          <p:nvPr/>
        </p:nvSpPr>
        <p:spPr>
          <a:xfrm>
            <a:off x="927821" y="3941961"/>
            <a:ext cx="372061" cy="12700"/>
          </a:xfrm>
          <a:prstGeom prst="roundRect">
            <a:avLst>
              <a:gd name="adj" fmla="val 49999"/>
            </a:avLst>
          </a:prstGeom>
          <a:solidFill>
            <a:srgbClr val="D8D4D4"/>
          </a:solidFill>
          <a:ln/>
        </p:spPr>
      </p:sp>
      <p:sp>
        <p:nvSpPr>
          <p:cNvPr id="25" name="Shape 23"/>
          <p:cNvSpPr/>
          <p:nvPr/>
        </p:nvSpPr>
        <p:spPr>
          <a:xfrm>
            <a:off x="661425" y="3808809"/>
            <a:ext cx="279095" cy="279102"/>
          </a:xfrm>
          <a:prstGeom prst="roundRect">
            <a:avLst>
              <a:gd name="adj" fmla="val 2730"/>
            </a:avLst>
          </a:prstGeom>
          <a:solidFill>
            <a:srgbClr val="F2EEEE"/>
          </a:solidFill>
          <a:ln w="6350">
            <a:solidFill>
              <a:srgbClr val="D8D4D4"/>
            </a:solidFill>
            <a:prstDash val="solid"/>
          </a:ln>
        </p:spPr>
      </p:sp>
      <p:sp>
        <p:nvSpPr>
          <p:cNvPr id="26" name="Text 24"/>
          <p:cNvSpPr/>
          <p:nvPr/>
        </p:nvSpPr>
        <p:spPr>
          <a:xfrm>
            <a:off x="707908" y="3832027"/>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5</a:t>
            </a:r>
            <a:endParaRPr lang="en-US" sz="1450" dirty="0"/>
          </a:p>
        </p:txBody>
      </p:sp>
      <p:sp>
        <p:nvSpPr>
          <p:cNvPr id="27" name="Text 25"/>
          <p:cNvSpPr/>
          <p:nvPr/>
        </p:nvSpPr>
        <p:spPr>
          <a:xfrm>
            <a:off x="1421174" y="3851374"/>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Evaluación, Seguridad y Patrones Avanzados ✓</a:t>
            </a:r>
            <a:endParaRPr lang="en-US" sz="1200" dirty="0"/>
          </a:p>
        </p:txBody>
      </p:sp>
      <p:sp>
        <p:nvSpPr>
          <p:cNvPr id="28" name="Text 26"/>
          <p:cNvSpPr/>
          <p:nvPr/>
        </p:nvSpPr>
        <p:spPr>
          <a:xfrm>
            <a:off x="1421174" y="4100909"/>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Métricas clave, LLM-as-Judge, riesgos, GraphRAG, Agentic RAG y RAG Multimodal.</a:t>
            </a:r>
            <a:endParaRPr lang="en-US" sz="950" dirty="0"/>
          </a:p>
        </p:txBody>
      </p:sp>
      <p:sp>
        <p:nvSpPr>
          <p:cNvPr id="29" name="Shape 27"/>
          <p:cNvSpPr/>
          <p:nvPr/>
        </p:nvSpPr>
        <p:spPr>
          <a:xfrm>
            <a:off x="927821" y="4593729"/>
            <a:ext cx="372061" cy="12700"/>
          </a:xfrm>
          <a:prstGeom prst="roundRect">
            <a:avLst>
              <a:gd name="adj" fmla="val 49999"/>
            </a:avLst>
          </a:prstGeom>
          <a:solidFill>
            <a:srgbClr val="F33447"/>
          </a:solidFill>
          <a:ln/>
        </p:spPr>
      </p:sp>
      <p:sp>
        <p:nvSpPr>
          <p:cNvPr id="30" name="Shape 28"/>
          <p:cNvSpPr/>
          <p:nvPr/>
        </p:nvSpPr>
        <p:spPr>
          <a:xfrm>
            <a:off x="661425" y="4460577"/>
            <a:ext cx="279095" cy="279102"/>
          </a:xfrm>
          <a:prstGeom prst="roundRect">
            <a:avLst>
              <a:gd name="adj" fmla="val 2730"/>
            </a:avLst>
          </a:prstGeom>
          <a:solidFill>
            <a:srgbClr val="DA1B2E"/>
          </a:solidFill>
          <a:ln w="6350">
            <a:solidFill>
              <a:srgbClr val="F33447"/>
            </a:solidFill>
            <a:prstDash val="solid"/>
          </a:ln>
        </p:spPr>
      </p:sp>
      <p:sp>
        <p:nvSpPr>
          <p:cNvPr id="31" name="Text 29"/>
          <p:cNvSpPr/>
          <p:nvPr/>
        </p:nvSpPr>
        <p:spPr>
          <a:xfrm>
            <a:off x="707908" y="448379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Roboto Mono Medium" pitchFamily="34" charset="0"/>
                <a:ea typeface="Roboto Mono Medium" pitchFamily="34" charset="-122"/>
                <a:cs typeface="Roboto Mono Medium" pitchFamily="34" charset="-120"/>
              </a:rPr>
              <a:t>6</a:t>
            </a:r>
            <a:endParaRPr lang="en-US" sz="1450" dirty="0"/>
          </a:p>
        </p:txBody>
      </p:sp>
      <p:sp>
        <p:nvSpPr>
          <p:cNvPr id="32" name="Text 30"/>
          <p:cNvSpPr/>
          <p:nvPr/>
        </p:nvSpPr>
        <p:spPr>
          <a:xfrm>
            <a:off x="1421174" y="450314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Fundamentos</a:t>
            </a:r>
            <a:endParaRPr lang="en-US" sz="1200" dirty="0"/>
          </a:p>
        </p:txBody>
      </p:sp>
      <p:sp>
        <p:nvSpPr>
          <p:cNvPr id="33" name="Text 31"/>
          <p:cNvSpPr/>
          <p:nvPr/>
        </p:nvSpPr>
        <p:spPr>
          <a:xfrm>
            <a:off x="1421174" y="4752677"/>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MCP, historia, protocolo JSON-RPC y comparativa con HTTP/GraphQL.</a:t>
            </a:r>
            <a:endParaRPr lang="en-US" sz="950" dirty="0"/>
          </a:p>
        </p:txBody>
      </p:sp>
      <p:sp>
        <p:nvSpPr>
          <p:cNvPr id="34" name="Shape 32"/>
          <p:cNvSpPr/>
          <p:nvPr/>
        </p:nvSpPr>
        <p:spPr>
          <a:xfrm>
            <a:off x="927821" y="5245497"/>
            <a:ext cx="372061" cy="12700"/>
          </a:xfrm>
          <a:prstGeom prst="roundRect">
            <a:avLst>
              <a:gd name="adj" fmla="val 49999"/>
            </a:avLst>
          </a:prstGeom>
          <a:solidFill>
            <a:srgbClr val="D8D4D4"/>
          </a:solidFill>
          <a:ln/>
        </p:spPr>
      </p:sp>
      <p:sp>
        <p:nvSpPr>
          <p:cNvPr id="35" name="Shape 33"/>
          <p:cNvSpPr/>
          <p:nvPr/>
        </p:nvSpPr>
        <p:spPr>
          <a:xfrm>
            <a:off x="661425" y="5112345"/>
            <a:ext cx="279095" cy="279102"/>
          </a:xfrm>
          <a:prstGeom prst="roundRect">
            <a:avLst>
              <a:gd name="adj" fmla="val 2730"/>
            </a:avLst>
          </a:prstGeom>
          <a:solidFill>
            <a:srgbClr val="F2EEEE"/>
          </a:solidFill>
          <a:ln w="6350">
            <a:solidFill>
              <a:srgbClr val="D8D4D4"/>
            </a:solidFill>
            <a:prstDash val="solid"/>
          </a:ln>
        </p:spPr>
      </p:sp>
      <p:sp>
        <p:nvSpPr>
          <p:cNvPr id="36" name="Text 34"/>
          <p:cNvSpPr/>
          <p:nvPr/>
        </p:nvSpPr>
        <p:spPr>
          <a:xfrm>
            <a:off x="707908" y="513556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7</a:t>
            </a:r>
            <a:endParaRPr lang="en-US" sz="1450" dirty="0"/>
          </a:p>
        </p:txBody>
      </p:sp>
      <p:sp>
        <p:nvSpPr>
          <p:cNvPr id="37" name="Text 35"/>
          <p:cNvSpPr/>
          <p:nvPr/>
        </p:nvSpPr>
        <p:spPr>
          <a:xfrm>
            <a:off x="1421174" y="515491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Arquitectura y Uso</a:t>
            </a:r>
            <a:endParaRPr lang="en-US" sz="1200" dirty="0"/>
          </a:p>
        </p:txBody>
      </p:sp>
      <p:sp>
        <p:nvSpPr>
          <p:cNvPr id="38" name="Text 36"/>
          <p:cNvSpPr/>
          <p:nvPr/>
        </p:nvSpPr>
        <p:spPr>
          <a:xfrm>
            <a:off x="1421174" y="540444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Ciclo de vida, multi-servidor, ecosistema, casos de uso con Claude y cómo conectar servidores.</a:t>
            </a:r>
            <a:endParaRPr lang="en-US" sz="950" dirty="0"/>
          </a:p>
        </p:txBody>
      </p:sp>
      <p:sp>
        <p:nvSpPr>
          <p:cNvPr id="39" name="Shape 37"/>
          <p:cNvSpPr/>
          <p:nvPr/>
        </p:nvSpPr>
        <p:spPr>
          <a:xfrm>
            <a:off x="927821" y="5897265"/>
            <a:ext cx="372061" cy="12700"/>
          </a:xfrm>
          <a:prstGeom prst="roundRect">
            <a:avLst>
              <a:gd name="adj" fmla="val 49999"/>
            </a:avLst>
          </a:prstGeom>
          <a:solidFill>
            <a:srgbClr val="D8D4D4"/>
          </a:solidFill>
          <a:ln/>
        </p:spPr>
      </p:sp>
      <p:sp>
        <p:nvSpPr>
          <p:cNvPr id="40" name="Shape 38"/>
          <p:cNvSpPr/>
          <p:nvPr/>
        </p:nvSpPr>
        <p:spPr>
          <a:xfrm>
            <a:off x="661425" y="5764113"/>
            <a:ext cx="279095" cy="279102"/>
          </a:xfrm>
          <a:prstGeom prst="roundRect">
            <a:avLst>
              <a:gd name="adj" fmla="val 2730"/>
            </a:avLst>
          </a:prstGeom>
          <a:solidFill>
            <a:srgbClr val="F2EEEE"/>
          </a:solidFill>
          <a:ln w="6350">
            <a:solidFill>
              <a:srgbClr val="D8D4D4"/>
            </a:solidFill>
            <a:prstDash val="solid"/>
          </a:ln>
        </p:spPr>
      </p:sp>
      <p:sp>
        <p:nvSpPr>
          <p:cNvPr id="41" name="Text 39"/>
          <p:cNvSpPr/>
          <p:nvPr/>
        </p:nvSpPr>
        <p:spPr>
          <a:xfrm>
            <a:off x="707908" y="5787330"/>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8</a:t>
            </a:r>
            <a:endParaRPr lang="en-US" sz="1450" dirty="0"/>
          </a:p>
        </p:txBody>
      </p:sp>
      <p:sp>
        <p:nvSpPr>
          <p:cNvPr id="42" name="Text 40"/>
          <p:cNvSpPr/>
          <p:nvPr/>
        </p:nvSpPr>
        <p:spPr>
          <a:xfrm>
            <a:off x="1421174" y="580667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Diseño de Herramientas</a:t>
            </a:r>
            <a:endParaRPr lang="en-US" sz="1200" dirty="0"/>
          </a:p>
        </p:txBody>
      </p:sp>
      <p:sp>
        <p:nvSpPr>
          <p:cNvPr id="43" name="Text 41"/>
          <p:cNvSpPr/>
          <p:nvPr/>
        </p:nvSpPr>
        <p:spPr>
          <a:xfrm>
            <a:off x="1421174" y="605621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Selección de herramientas, routing jerárquico, grupos por contexto, diferenciación y analytics en producción.</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661475" y="2490887"/>
            <a:ext cx="1502928" cy="251420"/>
          </a:xfrm>
          <a:prstGeom prst="roundRect">
            <a:avLst>
              <a:gd name="adj" fmla="val 3031"/>
            </a:avLst>
          </a:prstGeom>
          <a:solidFill>
            <a:srgbClr val="F9D2D6"/>
          </a:solidFill>
          <a:ln/>
        </p:spPr>
      </p:sp>
      <p:sp>
        <p:nvSpPr>
          <p:cNvPr id="3" name="Text 1"/>
          <p:cNvSpPr/>
          <p:nvPr/>
        </p:nvSpPr>
        <p:spPr>
          <a:xfrm>
            <a:off x="760691" y="2540496"/>
            <a:ext cx="1914080"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FUNDAMENTOS</a:t>
            </a:r>
            <a:endParaRPr lang="en-US" sz="1000" dirty="0"/>
          </a:p>
        </p:txBody>
      </p:sp>
      <p:sp>
        <p:nvSpPr>
          <p:cNvPr id="4" name="Text 2"/>
          <p:cNvSpPr/>
          <p:nvPr/>
        </p:nvSpPr>
        <p:spPr>
          <a:xfrm>
            <a:off x="661475" y="2808387"/>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Model Context Protocol (MCP)</a:t>
            </a:r>
            <a:endParaRPr lang="en-US" sz="3250" dirty="0"/>
          </a:p>
        </p:txBody>
      </p:sp>
      <p:sp>
        <p:nvSpPr>
          <p:cNvPr id="5" name="Text 3"/>
          <p:cNvSpPr/>
          <p:nvPr/>
        </p:nvSpPr>
        <p:spPr>
          <a:xfrm>
            <a:off x="661475" y="3573165"/>
            <a:ext cx="1086874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Protocolo de Contexto del Modelo</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representa un avance fundamental en la integración de sistemas de IA con fuentes de datos y herramientas externas. Exploraremos los desafíos que motivaron su desarrollo, su arquitectura técnica y su impacto en el ecosistema de desarrollo de aplicaciones inteligentes.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661475" y="1611313"/>
            <a:ext cx="1502928" cy="251420"/>
          </a:xfrm>
          <a:prstGeom prst="roundRect">
            <a:avLst>
              <a:gd name="adj" fmla="val 3031"/>
            </a:avLst>
          </a:prstGeom>
          <a:solidFill>
            <a:srgbClr val="F9D2D6"/>
          </a:solidFill>
          <a:ln/>
        </p:spPr>
      </p:sp>
      <p:sp>
        <p:nvSpPr>
          <p:cNvPr id="3" name="Text 1"/>
          <p:cNvSpPr/>
          <p:nvPr/>
        </p:nvSpPr>
        <p:spPr>
          <a:xfrm>
            <a:off x="760691" y="1660922"/>
            <a:ext cx="1914080"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FUNDAMENTOS</a:t>
            </a:r>
            <a:endParaRPr lang="en-US" sz="1000" dirty="0"/>
          </a:p>
        </p:txBody>
      </p:sp>
      <p:sp>
        <p:nvSpPr>
          <p:cNvPr id="4" name="Text 2"/>
          <p:cNvSpPr/>
          <p:nvPr/>
        </p:nvSpPr>
        <p:spPr>
          <a:xfrm>
            <a:off x="661475" y="1928813"/>
            <a:ext cx="10868745" cy="1033463"/>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Necesidad: Integración de IA con sistemas externos</a:t>
            </a:r>
            <a:endParaRPr lang="en-US"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210322"/>
            <a:ext cx="413434" cy="413445"/>
          </a:xfrm>
          <a:prstGeom prst="rect">
            <a:avLst/>
          </a:prstGeom>
        </p:spPr>
      </p:pic>
      <p:sp>
        <p:nvSpPr>
          <p:cNvPr id="6" name="Text 3"/>
          <p:cNvSpPr/>
          <p:nvPr/>
        </p:nvSpPr>
        <p:spPr>
          <a:xfrm>
            <a:off x="661475" y="3830439"/>
            <a:ext cx="3485071"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Conocimiento estático</a:t>
            </a:r>
            <a:endParaRPr lang="en-US" sz="1600" dirty="0"/>
          </a:p>
        </p:txBody>
      </p:sp>
      <p:sp>
        <p:nvSpPr>
          <p:cNvPr id="7" name="Text 4"/>
          <p:cNvSpPr/>
          <p:nvPr/>
        </p:nvSpPr>
        <p:spPr>
          <a:xfrm>
            <a:off x="661475" y="4188123"/>
            <a:ext cx="3485071"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Los LLMs operan con conocimiento almacenado durante su entrenamiento, sin capacidad de acceder a información en tiempo real o sistemas de producción.</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3210322"/>
            <a:ext cx="413434" cy="413445"/>
          </a:xfrm>
          <a:prstGeom prst="rect">
            <a:avLst/>
          </a:prstGeom>
        </p:spPr>
      </p:pic>
      <p:sp>
        <p:nvSpPr>
          <p:cNvPr id="9" name="Text 5"/>
          <p:cNvSpPr/>
          <p:nvPr/>
        </p:nvSpPr>
        <p:spPr>
          <a:xfrm>
            <a:off x="4353213" y="3830439"/>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Conectores personalizados</a:t>
            </a:r>
            <a:endParaRPr lang="en-US" sz="1600" dirty="0"/>
          </a:p>
        </p:txBody>
      </p:sp>
      <p:sp>
        <p:nvSpPr>
          <p:cNvPr id="10" name="Text 6"/>
          <p:cNvSpPr/>
          <p:nvPr/>
        </p:nvSpPr>
        <p:spPr>
          <a:xfrm>
            <a:off x="4353213" y="4188123"/>
            <a:ext cx="348517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Cada integración requería el desarrollo de conectores únicos, generando costes elevados y un mantenimiento poco escalable para equipos de ingeniería.</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3210322"/>
            <a:ext cx="413434" cy="413445"/>
          </a:xfrm>
          <a:prstGeom prst="rect">
            <a:avLst/>
          </a:prstGeom>
        </p:spPr>
      </p:pic>
      <p:sp>
        <p:nvSpPr>
          <p:cNvPr id="12" name="Text 7"/>
          <p:cNvSpPr/>
          <p:nvPr/>
        </p:nvSpPr>
        <p:spPr>
          <a:xfrm>
            <a:off x="8045050" y="3830439"/>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Silos de información</a:t>
            </a:r>
            <a:endParaRPr lang="en-US" sz="1600" dirty="0"/>
          </a:p>
        </p:txBody>
      </p:sp>
      <p:sp>
        <p:nvSpPr>
          <p:cNvPr id="13" name="Text 8"/>
          <p:cNvSpPr/>
          <p:nvPr/>
        </p:nvSpPr>
        <p:spPr>
          <a:xfrm>
            <a:off x="8045050" y="4188123"/>
            <a:ext cx="348517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falta de estandarización creaba fragmentación de datos y duplicación masiva de esfuerzos de desarrollo en toda la industria.</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661475" y="1411684"/>
            <a:ext cx="1502928" cy="251420"/>
          </a:xfrm>
          <a:prstGeom prst="roundRect">
            <a:avLst>
              <a:gd name="adj" fmla="val 3031"/>
            </a:avLst>
          </a:prstGeom>
          <a:solidFill>
            <a:srgbClr val="F9D2D6"/>
          </a:solidFill>
          <a:ln/>
        </p:spPr>
      </p:sp>
      <p:sp>
        <p:nvSpPr>
          <p:cNvPr id="3" name="Text 1"/>
          <p:cNvSpPr/>
          <p:nvPr/>
        </p:nvSpPr>
        <p:spPr>
          <a:xfrm>
            <a:off x="760691" y="1461294"/>
            <a:ext cx="1914080"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FUNDAMENTOS</a:t>
            </a:r>
            <a:endParaRPr lang="en-US" sz="1000" dirty="0"/>
          </a:p>
        </p:txBody>
      </p:sp>
      <p:sp>
        <p:nvSpPr>
          <p:cNvPr id="4" name="Text 2"/>
          <p:cNvSpPr/>
          <p:nvPr/>
        </p:nvSpPr>
        <p:spPr>
          <a:xfrm>
            <a:off x="661475" y="172918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Historia y necesidad del MCP</a:t>
            </a:r>
            <a:endParaRPr lang="en-US" sz="3250" dirty="0"/>
          </a:p>
        </p:txBody>
      </p:sp>
      <p:sp>
        <p:nvSpPr>
          <p:cNvPr id="5" name="Text 3"/>
          <p:cNvSpPr/>
          <p:nvPr/>
        </p:nvSpPr>
        <p:spPr>
          <a:xfrm>
            <a:off x="909516" y="2742009"/>
            <a:ext cx="10620705"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1F1E1E"/>
                </a:solidFill>
                <a:latin typeface="Roboto Mono Bold" pitchFamily="34" charset="0"/>
                <a:ea typeface="Roboto Mono Bold" pitchFamily="34" charset="-122"/>
                <a:cs typeface="Roboto Mono Bold" pitchFamily="34" charset="-120"/>
              </a:rPr>
              <a:t>Noviembre 2024 — Anthropic lanza MCP como protocolo abierto para toda la comunidad de desarrollo de IA.</a:t>
            </a:r>
            <a:endParaRPr lang="en-US" sz="1600" dirty="0"/>
          </a:p>
        </p:txBody>
      </p:sp>
      <p:sp>
        <p:nvSpPr>
          <p:cNvPr id="6" name="Shape 4"/>
          <p:cNvSpPr/>
          <p:nvPr/>
        </p:nvSpPr>
        <p:spPr>
          <a:xfrm>
            <a:off x="661475" y="2493963"/>
            <a:ext cx="19050" cy="1013023"/>
          </a:xfrm>
          <a:prstGeom prst="roundRect">
            <a:avLst>
              <a:gd name="adj" fmla="val 49999"/>
            </a:avLst>
          </a:prstGeom>
          <a:solidFill>
            <a:srgbClr val="DA1B2E"/>
          </a:solidFill>
          <a:ln/>
        </p:spPr>
      </p:sp>
      <p:sp>
        <p:nvSpPr>
          <p:cNvPr id="7" name="Shape 5"/>
          <p:cNvSpPr/>
          <p:nvPr/>
        </p:nvSpPr>
        <p:spPr>
          <a:xfrm>
            <a:off x="661475" y="3693021"/>
            <a:ext cx="3512653" cy="1753295"/>
          </a:xfrm>
          <a:prstGeom prst="roundRect">
            <a:avLst>
              <a:gd name="adj" fmla="val 435"/>
            </a:avLst>
          </a:prstGeom>
          <a:solidFill>
            <a:srgbClr val="F2EEEE"/>
          </a:solidFill>
          <a:ln w="6350">
            <a:solidFill>
              <a:srgbClr val="D8D4D4"/>
            </a:solidFill>
            <a:prstDash val="solid"/>
          </a:ln>
        </p:spPr>
      </p:sp>
      <p:sp>
        <p:nvSpPr>
          <p:cNvPr id="8" name="Text 6"/>
          <p:cNvSpPr/>
          <p:nvPr/>
        </p:nvSpPr>
        <p:spPr>
          <a:xfrm>
            <a:off x="833119" y="3864670"/>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Visión «USB-C para IA»</a:t>
            </a:r>
            <a:endParaRPr lang="en-US" sz="1600" dirty="0"/>
          </a:p>
        </p:txBody>
      </p:sp>
      <p:sp>
        <p:nvSpPr>
          <p:cNvPr id="9" name="Text 7"/>
          <p:cNvSpPr/>
          <p:nvPr/>
        </p:nvSpPr>
        <p:spPr>
          <a:xfrm>
            <a:off x="833119" y="4222353"/>
            <a:ext cx="316936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Lenguaje común que conecta cualquier modelo con múltiples fuentes sin necesidad de conectores propietarios.</a:t>
            </a:r>
            <a:endParaRPr lang="en-US" sz="1300" dirty="0"/>
          </a:p>
        </p:txBody>
      </p:sp>
      <p:sp>
        <p:nvSpPr>
          <p:cNvPr id="10" name="Shape 8"/>
          <p:cNvSpPr/>
          <p:nvPr/>
        </p:nvSpPr>
        <p:spPr>
          <a:xfrm>
            <a:off x="4339422" y="3693021"/>
            <a:ext cx="3512752" cy="1753295"/>
          </a:xfrm>
          <a:prstGeom prst="roundRect">
            <a:avLst>
              <a:gd name="adj" fmla="val 435"/>
            </a:avLst>
          </a:prstGeom>
          <a:solidFill>
            <a:srgbClr val="F2EEEE"/>
          </a:solidFill>
          <a:ln w="6350">
            <a:solidFill>
              <a:srgbClr val="D8D4D4"/>
            </a:solidFill>
            <a:prstDash val="solid"/>
          </a:ln>
        </p:spPr>
      </p:sp>
      <p:sp>
        <p:nvSpPr>
          <p:cNvPr id="11" name="Text 9"/>
          <p:cNvSpPr/>
          <p:nvPr/>
        </p:nvSpPr>
        <p:spPr>
          <a:xfrm>
            <a:off x="4511066" y="3864670"/>
            <a:ext cx="31694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Reducción de complejidad</a:t>
            </a:r>
            <a:endParaRPr lang="en-US" sz="1600" dirty="0"/>
          </a:p>
        </p:txBody>
      </p:sp>
      <p:sp>
        <p:nvSpPr>
          <p:cNvPr id="12" name="Text 10"/>
          <p:cNvSpPr/>
          <p:nvPr/>
        </p:nvSpPr>
        <p:spPr>
          <a:xfrm>
            <a:off x="4511066" y="4222353"/>
            <a:ext cx="316946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De M×N integraciones (cada modelo con cada fuente) a M+N conexiones estandarizadas y reutilizables.</a:t>
            </a:r>
            <a:endParaRPr lang="en-US" sz="1300" dirty="0"/>
          </a:p>
        </p:txBody>
      </p:sp>
      <p:sp>
        <p:nvSpPr>
          <p:cNvPr id="13" name="Shape 11"/>
          <p:cNvSpPr/>
          <p:nvPr/>
        </p:nvSpPr>
        <p:spPr>
          <a:xfrm>
            <a:off x="8017468" y="3693021"/>
            <a:ext cx="3512653" cy="1753295"/>
          </a:xfrm>
          <a:prstGeom prst="roundRect">
            <a:avLst>
              <a:gd name="adj" fmla="val 435"/>
            </a:avLst>
          </a:prstGeom>
          <a:solidFill>
            <a:srgbClr val="F2EEEE"/>
          </a:solidFill>
          <a:ln w="6350">
            <a:solidFill>
              <a:srgbClr val="D8D4D4"/>
            </a:solidFill>
            <a:prstDash val="solid"/>
          </a:ln>
        </p:spPr>
      </p:sp>
      <p:sp>
        <p:nvSpPr>
          <p:cNvPr id="14" name="Text 12"/>
          <p:cNvSpPr/>
          <p:nvPr/>
        </p:nvSpPr>
        <p:spPr>
          <a:xfrm>
            <a:off x="8189112" y="3864670"/>
            <a:ext cx="3169364"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Aceleración del desarrollo</a:t>
            </a:r>
            <a:endParaRPr lang="en-US" sz="1600" dirty="0"/>
          </a:p>
        </p:txBody>
      </p:sp>
      <p:sp>
        <p:nvSpPr>
          <p:cNvPr id="15" name="Text 13"/>
          <p:cNvSpPr/>
          <p:nvPr/>
        </p:nvSpPr>
        <p:spPr>
          <a:xfrm>
            <a:off x="8189112" y="4480818"/>
            <a:ext cx="316936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Capa de abstracción universal que facilita la construcción rápida de aplicaciones inteligentes y componibles.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661475" y="1069876"/>
            <a:ext cx="1502928" cy="251420"/>
          </a:xfrm>
          <a:prstGeom prst="roundRect">
            <a:avLst>
              <a:gd name="adj" fmla="val 3031"/>
            </a:avLst>
          </a:prstGeom>
          <a:solidFill>
            <a:srgbClr val="F9D2D6"/>
          </a:solidFill>
          <a:ln/>
        </p:spPr>
      </p:sp>
      <p:sp>
        <p:nvSpPr>
          <p:cNvPr id="3" name="Text 1"/>
          <p:cNvSpPr/>
          <p:nvPr/>
        </p:nvSpPr>
        <p:spPr>
          <a:xfrm>
            <a:off x="760691" y="1119485"/>
            <a:ext cx="1914080"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FUNDAMENTOS</a:t>
            </a:r>
            <a:endParaRPr lang="en-US" sz="1000" dirty="0"/>
          </a:p>
        </p:txBody>
      </p:sp>
      <p:sp>
        <p:nvSpPr>
          <p:cNvPr id="4" name="Text 2"/>
          <p:cNvSpPr/>
          <p:nvPr/>
        </p:nvSpPr>
        <p:spPr>
          <a:xfrm>
            <a:off x="661475" y="1387376"/>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¿Por qué no usar solo HTTP o GraphQL?</a:t>
            </a:r>
            <a:endParaRPr lang="en-US" sz="3250" dirty="0"/>
          </a:p>
        </p:txBody>
      </p:sp>
      <p:sp>
        <p:nvSpPr>
          <p:cNvPr id="5" name="Shape 3"/>
          <p:cNvSpPr/>
          <p:nvPr/>
        </p:nvSpPr>
        <p:spPr>
          <a:xfrm>
            <a:off x="542415" y="2152154"/>
            <a:ext cx="5470785" cy="3635970"/>
          </a:xfrm>
          <a:prstGeom prst="roundRect">
            <a:avLst>
              <a:gd name="adj" fmla="val 682"/>
            </a:avLst>
          </a:prstGeom>
          <a:solidFill>
            <a:srgbClr val="F9D2D6">
              <a:alpha val="95000"/>
            </a:srgbClr>
          </a:solidFill>
          <a:ln/>
        </p:spPr>
      </p:sp>
      <p:sp>
        <p:nvSpPr>
          <p:cNvPr id="6" name="Text 4"/>
          <p:cNvSpPr/>
          <p:nvPr/>
        </p:nvSpPr>
        <p:spPr>
          <a:xfrm>
            <a:off x="707710" y="2317452"/>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HTTP: Generalidad sin especialización</a:t>
            </a:r>
            <a:endParaRPr lang="en-US" sz="1600" dirty="0"/>
          </a:p>
        </p:txBody>
      </p:sp>
      <p:sp>
        <p:nvSpPr>
          <p:cNvPr id="7" name="Text 5"/>
          <p:cNvSpPr/>
          <p:nvPr/>
        </p:nvSpPr>
        <p:spPr>
          <a:xfrm>
            <a:off x="707710" y="2741216"/>
            <a:ext cx="5140196" cy="1231999"/>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Heterogeneidad de interfaces entre servicios</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Sin negociación de capacidades entre cliente y servidor</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Sin gestión de sesiones persistentes</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Sin propagación de contexto semántico</a:t>
            </a:r>
            <a:endParaRPr lang="en-US" sz="1300" dirty="0"/>
          </a:p>
        </p:txBody>
      </p:sp>
      <p:sp>
        <p:nvSpPr>
          <p:cNvPr id="8" name="Text 6"/>
          <p:cNvSpPr/>
          <p:nvPr/>
        </p:nvSpPr>
        <p:spPr>
          <a:xfrm>
            <a:off x="707710" y="4138513"/>
            <a:ext cx="5140196"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GraphQL: Consultas potentes, orquestación limitada</a:t>
            </a:r>
            <a:endParaRPr lang="en-US" sz="1600" dirty="0"/>
          </a:p>
        </p:txBody>
      </p:sp>
      <p:sp>
        <p:nvSpPr>
          <p:cNvPr id="9" name="Text 7"/>
          <p:cNvSpPr/>
          <p:nvPr/>
        </p:nvSpPr>
        <p:spPr>
          <a:xfrm>
            <a:off x="707710" y="4820741"/>
            <a:ext cx="5140196" cy="909538"/>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Foco en fetch de datos, no en ejecución de acciones</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Sin orquestación dinámica de múltiples fuentes</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Sin estandarización de operaciones asíncronas</a:t>
            </a:r>
            <a:endParaRPr lang="en-US" sz="1300" dirty="0"/>
          </a:p>
        </p:txBody>
      </p:sp>
      <p:sp>
        <p:nvSpPr>
          <p:cNvPr id="10" name="Text 8"/>
          <p:cNvSpPr/>
          <p:nvPr/>
        </p:nvSpPr>
        <p:spPr>
          <a:xfrm>
            <a:off x="6303904" y="2317452"/>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MCP: El estándar universal para IA</a:t>
            </a:r>
            <a:endParaRPr lang="en-US" sz="1600" dirty="0"/>
          </a:p>
        </p:txBody>
      </p:sp>
      <p:sp>
        <p:nvSpPr>
          <p:cNvPr id="11" name="Text 9"/>
          <p:cNvSpPr/>
          <p:nvPr/>
        </p:nvSpPr>
        <p:spPr>
          <a:xfrm>
            <a:off x="6303904" y="2741216"/>
            <a:ext cx="5232666"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MCP es un protocolo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bidireccional y optimizado</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para la comunicación entre agentes de IA y sistemas externos. Resuelve exactamente las limitaciones de HTTP y GraphQL en contextos de IA:</a:t>
            </a:r>
            <a:endParaRPr lang="en-US" sz="1300" dirty="0"/>
          </a:p>
        </p:txBody>
      </p:sp>
      <p:sp>
        <p:nvSpPr>
          <p:cNvPr id="12" name="Text 10"/>
          <p:cNvSpPr/>
          <p:nvPr/>
        </p:nvSpPr>
        <p:spPr>
          <a:xfrm>
            <a:off x="6303904" y="3683893"/>
            <a:ext cx="5232666" cy="1231999"/>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Negociación de capacidades en tiempo de conexión</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Sesiones persistentes con estado compartido</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Propagación nativa de contexto semántico</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Orquestación dinámica de herramientas y fuentes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661475" y="628055"/>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oboto Mono Medium" pitchFamily="34" charset="0"/>
                <a:ea typeface="Roboto Mono Medium" pitchFamily="34" charset="-122"/>
                <a:cs typeface="Roboto Mono Medium" pitchFamily="34" charset="-120"/>
              </a:rPr>
              <a:t>Agenda</a:t>
            </a:r>
            <a:endParaRPr lang="en-US" sz="2400" dirty="0"/>
          </a:p>
        </p:txBody>
      </p:sp>
      <p:sp>
        <p:nvSpPr>
          <p:cNvPr id="3" name="Shape 1"/>
          <p:cNvSpPr/>
          <p:nvPr/>
        </p:nvSpPr>
        <p:spPr>
          <a:xfrm>
            <a:off x="800973" y="1201738"/>
            <a:ext cx="12700" cy="5028109"/>
          </a:xfrm>
          <a:prstGeom prst="roundRect">
            <a:avLst>
              <a:gd name="adj" fmla="val 49999"/>
            </a:avLst>
          </a:prstGeom>
          <a:solidFill>
            <a:srgbClr val="D8D4D4"/>
          </a:solidFill>
          <a:ln/>
        </p:spPr>
      </p:sp>
      <p:sp>
        <p:nvSpPr>
          <p:cNvPr id="4" name="Shape 2"/>
          <p:cNvSpPr/>
          <p:nvPr/>
        </p:nvSpPr>
        <p:spPr>
          <a:xfrm>
            <a:off x="927821" y="1334889"/>
            <a:ext cx="372061" cy="12700"/>
          </a:xfrm>
          <a:prstGeom prst="roundRect">
            <a:avLst>
              <a:gd name="adj" fmla="val 49999"/>
            </a:avLst>
          </a:prstGeom>
          <a:solidFill>
            <a:srgbClr val="D8D4D4"/>
          </a:solidFill>
          <a:ln/>
        </p:spPr>
      </p:sp>
      <p:sp>
        <p:nvSpPr>
          <p:cNvPr id="5" name="Shape 3"/>
          <p:cNvSpPr/>
          <p:nvPr/>
        </p:nvSpPr>
        <p:spPr>
          <a:xfrm>
            <a:off x="661425" y="1201738"/>
            <a:ext cx="279095" cy="279102"/>
          </a:xfrm>
          <a:prstGeom prst="roundRect">
            <a:avLst>
              <a:gd name="adj" fmla="val 2730"/>
            </a:avLst>
          </a:prstGeom>
          <a:solidFill>
            <a:srgbClr val="F2EEEE"/>
          </a:solidFill>
          <a:ln w="6350">
            <a:solidFill>
              <a:srgbClr val="D8D4D4"/>
            </a:solidFill>
            <a:prstDash val="solid"/>
          </a:ln>
        </p:spPr>
      </p:sp>
      <p:sp>
        <p:nvSpPr>
          <p:cNvPr id="6" name="Text 4"/>
          <p:cNvSpPr/>
          <p:nvPr/>
        </p:nvSpPr>
        <p:spPr>
          <a:xfrm>
            <a:off x="707908" y="122495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1</a:t>
            </a:r>
            <a:endParaRPr lang="en-US" sz="1450" dirty="0"/>
          </a:p>
        </p:txBody>
      </p:sp>
      <p:sp>
        <p:nvSpPr>
          <p:cNvPr id="7" name="Text 5"/>
          <p:cNvSpPr/>
          <p:nvPr/>
        </p:nvSpPr>
        <p:spPr>
          <a:xfrm>
            <a:off x="1421174" y="124430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Fundamentos ✓</a:t>
            </a:r>
            <a:endParaRPr lang="en-US" sz="1200" dirty="0"/>
          </a:p>
        </p:txBody>
      </p:sp>
      <p:sp>
        <p:nvSpPr>
          <p:cNvPr id="8" name="Text 6"/>
          <p:cNvSpPr/>
          <p:nvPr/>
        </p:nvSpPr>
        <p:spPr>
          <a:xfrm>
            <a:off x="1421174" y="1493838"/>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RAG, por qué lo necesitamos y arquitectura básica.</a:t>
            </a:r>
            <a:endParaRPr lang="en-US" sz="950" dirty="0"/>
          </a:p>
        </p:txBody>
      </p:sp>
      <p:sp>
        <p:nvSpPr>
          <p:cNvPr id="9" name="Shape 7"/>
          <p:cNvSpPr/>
          <p:nvPr/>
        </p:nvSpPr>
        <p:spPr>
          <a:xfrm>
            <a:off x="927821" y="1986657"/>
            <a:ext cx="372061" cy="12700"/>
          </a:xfrm>
          <a:prstGeom prst="roundRect">
            <a:avLst>
              <a:gd name="adj" fmla="val 49999"/>
            </a:avLst>
          </a:prstGeom>
          <a:solidFill>
            <a:srgbClr val="D8D4D4"/>
          </a:solidFill>
          <a:ln/>
        </p:spPr>
      </p:sp>
      <p:sp>
        <p:nvSpPr>
          <p:cNvPr id="10" name="Shape 8"/>
          <p:cNvSpPr/>
          <p:nvPr/>
        </p:nvSpPr>
        <p:spPr>
          <a:xfrm>
            <a:off x="661425" y="1853505"/>
            <a:ext cx="279095" cy="279102"/>
          </a:xfrm>
          <a:prstGeom prst="roundRect">
            <a:avLst>
              <a:gd name="adj" fmla="val 2730"/>
            </a:avLst>
          </a:prstGeom>
          <a:solidFill>
            <a:srgbClr val="F2EEEE"/>
          </a:solidFill>
          <a:ln w="6350">
            <a:solidFill>
              <a:srgbClr val="D8D4D4"/>
            </a:solidFill>
            <a:prstDash val="solid"/>
          </a:ln>
        </p:spPr>
      </p:sp>
      <p:sp>
        <p:nvSpPr>
          <p:cNvPr id="11" name="Text 9"/>
          <p:cNvSpPr/>
          <p:nvPr/>
        </p:nvSpPr>
        <p:spPr>
          <a:xfrm>
            <a:off x="707908" y="187672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2</a:t>
            </a:r>
            <a:endParaRPr lang="en-US" sz="1450" dirty="0"/>
          </a:p>
        </p:txBody>
      </p:sp>
      <p:sp>
        <p:nvSpPr>
          <p:cNvPr id="12" name="Text 10"/>
          <p:cNvSpPr/>
          <p:nvPr/>
        </p:nvSpPr>
        <p:spPr>
          <a:xfrm>
            <a:off x="1421174" y="189607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Búsqueda y Recuperación ✓</a:t>
            </a:r>
            <a:endParaRPr lang="en-US" sz="1200" dirty="0"/>
          </a:p>
        </p:txBody>
      </p:sp>
      <p:sp>
        <p:nvSpPr>
          <p:cNvPr id="13" name="Text 11"/>
          <p:cNvSpPr/>
          <p:nvPr/>
        </p:nvSpPr>
        <p:spPr>
          <a:xfrm>
            <a:off x="1421174" y="214560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Búsqueda vectorial, léxica, semántica e híbrida. Bases de datos y flujo completo.</a:t>
            </a:r>
            <a:endParaRPr lang="en-US" sz="950" dirty="0"/>
          </a:p>
        </p:txBody>
      </p:sp>
      <p:sp>
        <p:nvSpPr>
          <p:cNvPr id="14" name="Shape 12"/>
          <p:cNvSpPr/>
          <p:nvPr/>
        </p:nvSpPr>
        <p:spPr>
          <a:xfrm>
            <a:off x="927821" y="2638425"/>
            <a:ext cx="372061" cy="12700"/>
          </a:xfrm>
          <a:prstGeom prst="roundRect">
            <a:avLst>
              <a:gd name="adj" fmla="val 49999"/>
            </a:avLst>
          </a:prstGeom>
          <a:solidFill>
            <a:srgbClr val="D8D4D4"/>
          </a:solidFill>
          <a:ln/>
        </p:spPr>
      </p:sp>
      <p:sp>
        <p:nvSpPr>
          <p:cNvPr id="15" name="Shape 13"/>
          <p:cNvSpPr/>
          <p:nvPr/>
        </p:nvSpPr>
        <p:spPr>
          <a:xfrm>
            <a:off x="661425" y="2505273"/>
            <a:ext cx="279095" cy="279102"/>
          </a:xfrm>
          <a:prstGeom prst="roundRect">
            <a:avLst>
              <a:gd name="adj" fmla="val 2730"/>
            </a:avLst>
          </a:prstGeom>
          <a:solidFill>
            <a:srgbClr val="F2EEEE"/>
          </a:solidFill>
          <a:ln w="6350">
            <a:solidFill>
              <a:srgbClr val="D8D4D4"/>
            </a:solidFill>
            <a:prstDash val="solid"/>
          </a:ln>
        </p:spPr>
      </p:sp>
      <p:sp>
        <p:nvSpPr>
          <p:cNvPr id="16" name="Text 14"/>
          <p:cNvSpPr/>
          <p:nvPr/>
        </p:nvSpPr>
        <p:spPr>
          <a:xfrm>
            <a:off x="707908" y="2528491"/>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3</a:t>
            </a:r>
            <a:endParaRPr lang="en-US" sz="1450" dirty="0"/>
          </a:p>
        </p:txBody>
      </p:sp>
      <p:sp>
        <p:nvSpPr>
          <p:cNvPr id="17" name="Text 15"/>
          <p:cNvSpPr/>
          <p:nvPr/>
        </p:nvSpPr>
        <p:spPr>
          <a:xfrm>
            <a:off x="1421174" y="254783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Reranking y Precisión</a:t>
            </a:r>
            <a:endParaRPr lang="en-US" sz="1200" dirty="0"/>
          </a:p>
        </p:txBody>
      </p:sp>
      <p:sp>
        <p:nvSpPr>
          <p:cNvPr id="18" name="Text 16"/>
          <p:cNvSpPr/>
          <p:nvPr/>
        </p:nvSpPr>
        <p:spPr>
          <a:xfrm>
            <a:off x="1421174" y="279737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Recuperación en dos etapas, cross-encoders, Reciprocal Rank Fusion y optimización de precisión.</a:t>
            </a:r>
            <a:endParaRPr lang="en-US" sz="950" dirty="0"/>
          </a:p>
        </p:txBody>
      </p:sp>
      <p:sp>
        <p:nvSpPr>
          <p:cNvPr id="19" name="Shape 17"/>
          <p:cNvSpPr/>
          <p:nvPr/>
        </p:nvSpPr>
        <p:spPr>
          <a:xfrm>
            <a:off x="927821" y="3290193"/>
            <a:ext cx="372061" cy="12700"/>
          </a:xfrm>
          <a:prstGeom prst="roundRect">
            <a:avLst>
              <a:gd name="adj" fmla="val 49999"/>
            </a:avLst>
          </a:prstGeom>
          <a:solidFill>
            <a:srgbClr val="D8D4D4"/>
          </a:solidFill>
          <a:ln/>
        </p:spPr>
      </p:sp>
      <p:sp>
        <p:nvSpPr>
          <p:cNvPr id="20" name="Shape 18"/>
          <p:cNvSpPr/>
          <p:nvPr/>
        </p:nvSpPr>
        <p:spPr>
          <a:xfrm>
            <a:off x="661425" y="3157041"/>
            <a:ext cx="279095" cy="279102"/>
          </a:xfrm>
          <a:prstGeom prst="roundRect">
            <a:avLst>
              <a:gd name="adj" fmla="val 2730"/>
            </a:avLst>
          </a:prstGeom>
          <a:solidFill>
            <a:srgbClr val="F2EEEE"/>
          </a:solidFill>
          <a:ln w="6350">
            <a:solidFill>
              <a:srgbClr val="D8D4D4"/>
            </a:solidFill>
            <a:prstDash val="solid"/>
          </a:ln>
        </p:spPr>
      </p:sp>
      <p:sp>
        <p:nvSpPr>
          <p:cNvPr id="21" name="Text 19"/>
          <p:cNvSpPr/>
          <p:nvPr/>
        </p:nvSpPr>
        <p:spPr>
          <a:xfrm>
            <a:off x="707908" y="3180259"/>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4</a:t>
            </a:r>
            <a:endParaRPr lang="en-US" sz="1450" dirty="0"/>
          </a:p>
        </p:txBody>
      </p:sp>
      <p:sp>
        <p:nvSpPr>
          <p:cNvPr id="22" name="Text 20"/>
          <p:cNvSpPr/>
          <p:nvPr/>
        </p:nvSpPr>
        <p:spPr>
          <a:xfrm>
            <a:off x="1421174" y="3199606"/>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Chunking y Metadatos ✓</a:t>
            </a:r>
            <a:endParaRPr lang="en-US" sz="1200" dirty="0"/>
          </a:p>
        </p:txBody>
      </p:sp>
      <p:sp>
        <p:nvSpPr>
          <p:cNvPr id="23" name="Text 21"/>
          <p:cNvSpPr/>
          <p:nvPr/>
        </p:nvSpPr>
        <p:spPr>
          <a:xfrm>
            <a:off x="1421174" y="3449141"/>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Fragmentación de documentos, estrategias de chunking y metadatos esenciales.</a:t>
            </a:r>
            <a:endParaRPr lang="en-US" sz="950" dirty="0"/>
          </a:p>
        </p:txBody>
      </p:sp>
      <p:sp>
        <p:nvSpPr>
          <p:cNvPr id="24" name="Shape 22"/>
          <p:cNvSpPr/>
          <p:nvPr/>
        </p:nvSpPr>
        <p:spPr>
          <a:xfrm>
            <a:off x="927821" y="3941961"/>
            <a:ext cx="372061" cy="12700"/>
          </a:xfrm>
          <a:prstGeom prst="roundRect">
            <a:avLst>
              <a:gd name="adj" fmla="val 49999"/>
            </a:avLst>
          </a:prstGeom>
          <a:solidFill>
            <a:srgbClr val="D8D4D4"/>
          </a:solidFill>
          <a:ln/>
        </p:spPr>
      </p:sp>
      <p:sp>
        <p:nvSpPr>
          <p:cNvPr id="25" name="Shape 23"/>
          <p:cNvSpPr/>
          <p:nvPr/>
        </p:nvSpPr>
        <p:spPr>
          <a:xfrm>
            <a:off x="661425" y="3808809"/>
            <a:ext cx="279095" cy="279102"/>
          </a:xfrm>
          <a:prstGeom prst="roundRect">
            <a:avLst>
              <a:gd name="adj" fmla="val 2730"/>
            </a:avLst>
          </a:prstGeom>
          <a:solidFill>
            <a:srgbClr val="F2EEEE"/>
          </a:solidFill>
          <a:ln w="6350">
            <a:solidFill>
              <a:srgbClr val="D8D4D4"/>
            </a:solidFill>
            <a:prstDash val="solid"/>
          </a:ln>
        </p:spPr>
      </p:sp>
      <p:sp>
        <p:nvSpPr>
          <p:cNvPr id="26" name="Text 24"/>
          <p:cNvSpPr/>
          <p:nvPr/>
        </p:nvSpPr>
        <p:spPr>
          <a:xfrm>
            <a:off x="707908" y="3832027"/>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5</a:t>
            </a:r>
            <a:endParaRPr lang="en-US" sz="1450" dirty="0"/>
          </a:p>
        </p:txBody>
      </p:sp>
      <p:sp>
        <p:nvSpPr>
          <p:cNvPr id="27" name="Text 25"/>
          <p:cNvSpPr/>
          <p:nvPr/>
        </p:nvSpPr>
        <p:spPr>
          <a:xfrm>
            <a:off x="1421174" y="3851374"/>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Evaluación, Seguridad y Patrones Avanzados ✓</a:t>
            </a:r>
            <a:endParaRPr lang="en-US" sz="1200" dirty="0"/>
          </a:p>
        </p:txBody>
      </p:sp>
      <p:sp>
        <p:nvSpPr>
          <p:cNvPr id="28" name="Text 26"/>
          <p:cNvSpPr/>
          <p:nvPr/>
        </p:nvSpPr>
        <p:spPr>
          <a:xfrm>
            <a:off x="1421174" y="4100909"/>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Métricas clave, LLM-as-Judge, riesgos, GraphRAG, Agentic RAG y RAG Multimodal.</a:t>
            </a:r>
            <a:endParaRPr lang="en-US" sz="950" dirty="0"/>
          </a:p>
        </p:txBody>
      </p:sp>
      <p:sp>
        <p:nvSpPr>
          <p:cNvPr id="29" name="Shape 27"/>
          <p:cNvSpPr/>
          <p:nvPr/>
        </p:nvSpPr>
        <p:spPr>
          <a:xfrm>
            <a:off x="927821" y="4593729"/>
            <a:ext cx="372061" cy="12700"/>
          </a:xfrm>
          <a:prstGeom prst="roundRect">
            <a:avLst>
              <a:gd name="adj" fmla="val 49999"/>
            </a:avLst>
          </a:prstGeom>
          <a:solidFill>
            <a:srgbClr val="D8D4D4"/>
          </a:solidFill>
          <a:ln/>
        </p:spPr>
      </p:sp>
      <p:sp>
        <p:nvSpPr>
          <p:cNvPr id="30" name="Shape 28"/>
          <p:cNvSpPr/>
          <p:nvPr/>
        </p:nvSpPr>
        <p:spPr>
          <a:xfrm>
            <a:off x="661425" y="4460577"/>
            <a:ext cx="279095" cy="279102"/>
          </a:xfrm>
          <a:prstGeom prst="roundRect">
            <a:avLst>
              <a:gd name="adj" fmla="val 2730"/>
            </a:avLst>
          </a:prstGeom>
          <a:solidFill>
            <a:srgbClr val="F2EEEE"/>
          </a:solidFill>
          <a:ln w="6350">
            <a:solidFill>
              <a:srgbClr val="D8D4D4"/>
            </a:solidFill>
            <a:prstDash val="solid"/>
          </a:ln>
        </p:spPr>
      </p:sp>
      <p:sp>
        <p:nvSpPr>
          <p:cNvPr id="31" name="Text 29"/>
          <p:cNvSpPr/>
          <p:nvPr/>
        </p:nvSpPr>
        <p:spPr>
          <a:xfrm>
            <a:off x="707908" y="448379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6</a:t>
            </a:r>
            <a:endParaRPr lang="en-US" sz="1450" dirty="0"/>
          </a:p>
        </p:txBody>
      </p:sp>
      <p:sp>
        <p:nvSpPr>
          <p:cNvPr id="32" name="Text 30"/>
          <p:cNvSpPr/>
          <p:nvPr/>
        </p:nvSpPr>
        <p:spPr>
          <a:xfrm>
            <a:off x="1421174" y="450314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Fundamentos ✓</a:t>
            </a:r>
            <a:endParaRPr lang="en-US" sz="1200" dirty="0"/>
          </a:p>
        </p:txBody>
      </p:sp>
      <p:sp>
        <p:nvSpPr>
          <p:cNvPr id="33" name="Text 31"/>
          <p:cNvSpPr/>
          <p:nvPr/>
        </p:nvSpPr>
        <p:spPr>
          <a:xfrm>
            <a:off x="1421174" y="4752677"/>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MCP, historia, protocolo JSON-RPC y comparativa con HTTP/GraphQL.</a:t>
            </a:r>
            <a:endParaRPr lang="en-US" sz="950" dirty="0"/>
          </a:p>
        </p:txBody>
      </p:sp>
      <p:sp>
        <p:nvSpPr>
          <p:cNvPr id="34" name="Shape 32"/>
          <p:cNvSpPr/>
          <p:nvPr/>
        </p:nvSpPr>
        <p:spPr>
          <a:xfrm>
            <a:off x="927821" y="5245497"/>
            <a:ext cx="372061" cy="12700"/>
          </a:xfrm>
          <a:prstGeom prst="roundRect">
            <a:avLst>
              <a:gd name="adj" fmla="val 49999"/>
            </a:avLst>
          </a:prstGeom>
          <a:solidFill>
            <a:srgbClr val="F33447"/>
          </a:solidFill>
          <a:ln/>
        </p:spPr>
      </p:sp>
      <p:sp>
        <p:nvSpPr>
          <p:cNvPr id="35" name="Shape 33"/>
          <p:cNvSpPr/>
          <p:nvPr/>
        </p:nvSpPr>
        <p:spPr>
          <a:xfrm>
            <a:off x="661425" y="5112345"/>
            <a:ext cx="279095" cy="279102"/>
          </a:xfrm>
          <a:prstGeom prst="roundRect">
            <a:avLst>
              <a:gd name="adj" fmla="val 2730"/>
            </a:avLst>
          </a:prstGeom>
          <a:solidFill>
            <a:srgbClr val="DA1B2E"/>
          </a:solidFill>
          <a:ln w="6350">
            <a:solidFill>
              <a:srgbClr val="F33447"/>
            </a:solidFill>
            <a:prstDash val="solid"/>
          </a:ln>
        </p:spPr>
      </p:sp>
      <p:sp>
        <p:nvSpPr>
          <p:cNvPr id="36" name="Text 34"/>
          <p:cNvSpPr/>
          <p:nvPr/>
        </p:nvSpPr>
        <p:spPr>
          <a:xfrm>
            <a:off x="707908" y="513556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Roboto Mono Medium" pitchFamily="34" charset="0"/>
                <a:ea typeface="Roboto Mono Medium" pitchFamily="34" charset="-122"/>
                <a:cs typeface="Roboto Mono Medium" pitchFamily="34" charset="-120"/>
              </a:rPr>
              <a:t>7</a:t>
            </a:r>
            <a:endParaRPr lang="en-US" sz="1450" dirty="0"/>
          </a:p>
        </p:txBody>
      </p:sp>
      <p:sp>
        <p:nvSpPr>
          <p:cNvPr id="37" name="Text 35"/>
          <p:cNvSpPr/>
          <p:nvPr/>
        </p:nvSpPr>
        <p:spPr>
          <a:xfrm>
            <a:off x="1421174" y="515491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Arquitectura y Uso</a:t>
            </a:r>
            <a:endParaRPr lang="en-US" sz="1200" dirty="0"/>
          </a:p>
        </p:txBody>
      </p:sp>
      <p:sp>
        <p:nvSpPr>
          <p:cNvPr id="38" name="Text 36"/>
          <p:cNvSpPr/>
          <p:nvPr/>
        </p:nvSpPr>
        <p:spPr>
          <a:xfrm>
            <a:off x="1421174" y="540444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Ciclo de vida, multi-servidor, ecosistema, casos de uso con Claude y cómo conectar servidores.</a:t>
            </a:r>
            <a:endParaRPr lang="en-US" sz="950" dirty="0"/>
          </a:p>
        </p:txBody>
      </p:sp>
      <p:sp>
        <p:nvSpPr>
          <p:cNvPr id="39" name="Shape 37"/>
          <p:cNvSpPr/>
          <p:nvPr/>
        </p:nvSpPr>
        <p:spPr>
          <a:xfrm>
            <a:off x="927821" y="5897265"/>
            <a:ext cx="372061" cy="12700"/>
          </a:xfrm>
          <a:prstGeom prst="roundRect">
            <a:avLst>
              <a:gd name="adj" fmla="val 49999"/>
            </a:avLst>
          </a:prstGeom>
          <a:solidFill>
            <a:srgbClr val="D8D4D4"/>
          </a:solidFill>
          <a:ln/>
        </p:spPr>
      </p:sp>
      <p:sp>
        <p:nvSpPr>
          <p:cNvPr id="40" name="Shape 38"/>
          <p:cNvSpPr/>
          <p:nvPr/>
        </p:nvSpPr>
        <p:spPr>
          <a:xfrm>
            <a:off x="661425" y="5764113"/>
            <a:ext cx="279095" cy="279102"/>
          </a:xfrm>
          <a:prstGeom prst="roundRect">
            <a:avLst>
              <a:gd name="adj" fmla="val 2730"/>
            </a:avLst>
          </a:prstGeom>
          <a:solidFill>
            <a:srgbClr val="F2EEEE"/>
          </a:solidFill>
          <a:ln w="6350">
            <a:solidFill>
              <a:srgbClr val="D8D4D4"/>
            </a:solidFill>
            <a:prstDash val="solid"/>
          </a:ln>
        </p:spPr>
      </p:sp>
      <p:sp>
        <p:nvSpPr>
          <p:cNvPr id="41" name="Text 39"/>
          <p:cNvSpPr/>
          <p:nvPr/>
        </p:nvSpPr>
        <p:spPr>
          <a:xfrm>
            <a:off x="707908" y="5787330"/>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8</a:t>
            </a:r>
            <a:endParaRPr lang="en-US" sz="1450" dirty="0"/>
          </a:p>
        </p:txBody>
      </p:sp>
      <p:sp>
        <p:nvSpPr>
          <p:cNvPr id="42" name="Text 40"/>
          <p:cNvSpPr/>
          <p:nvPr/>
        </p:nvSpPr>
        <p:spPr>
          <a:xfrm>
            <a:off x="1421174" y="580667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Diseño de Herramientas</a:t>
            </a:r>
            <a:endParaRPr lang="en-US" sz="1200" dirty="0"/>
          </a:p>
        </p:txBody>
      </p:sp>
      <p:sp>
        <p:nvSpPr>
          <p:cNvPr id="43" name="Text 41"/>
          <p:cNvSpPr/>
          <p:nvPr/>
        </p:nvSpPr>
        <p:spPr>
          <a:xfrm>
            <a:off x="1421174" y="605621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Selección de herramientas, routing jerárquico, grupos por contexto, diferenciación y analytics en producción.</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661475" y="500856"/>
            <a:ext cx="1681517" cy="222647"/>
          </a:xfrm>
          <a:prstGeom prst="roundRect">
            <a:avLst>
              <a:gd name="adj" fmla="val 3422"/>
            </a:avLst>
          </a:prstGeom>
          <a:solidFill>
            <a:srgbClr val="F9D2D6"/>
          </a:solidFill>
          <a:ln/>
        </p:spPr>
      </p:sp>
      <p:sp>
        <p:nvSpPr>
          <p:cNvPr id="3" name="Text 1"/>
          <p:cNvSpPr/>
          <p:nvPr/>
        </p:nvSpPr>
        <p:spPr>
          <a:xfrm>
            <a:off x="749380" y="544810"/>
            <a:ext cx="2115291" cy="134739"/>
          </a:xfrm>
          <a:prstGeom prst="rect">
            <a:avLst/>
          </a:prstGeom>
          <a:noFill/>
          <a:ln/>
        </p:spPr>
        <p:txBody>
          <a:bodyPr wrap="none" lIns="0" tIns="0" rIns="0" bIns="0" rtlCol="0" anchor="t"/>
          <a:lstStyle/>
          <a:p>
            <a:pPr algn="l" indent="0" marL="0">
              <a:lnSpc>
                <a:spcPct val="96000"/>
              </a:lnSpc>
              <a:buNone/>
            </a:pPr>
            <a:r>
              <a:rPr lang="en-US" sz="900" dirty="0">
                <a:solidFill>
                  <a:srgbClr val="3B3535"/>
                </a:solidFill>
                <a:latin typeface="Roboto" pitchFamily="34" charset="0"/>
                <a:ea typeface="Roboto" pitchFamily="34" charset="-122"/>
                <a:cs typeface="Roboto" pitchFamily="34" charset="-120"/>
              </a:rPr>
              <a:t>MCP: ARQUITECTURA Y USO</a:t>
            </a:r>
            <a:endParaRPr lang="en-US" sz="900" dirty="0"/>
          </a:p>
        </p:txBody>
      </p:sp>
      <p:sp>
        <p:nvSpPr>
          <p:cNvPr id="4" name="Text 2"/>
          <p:cNvSpPr/>
          <p:nvPr/>
        </p:nvSpPr>
        <p:spPr>
          <a:xfrm>
            <a:off x="661475" y="775395"/>
            <a:ext cx="10868745" cy="457895"/>
          </a:xfrm>
          <a:prstGeom prst="rect">
            <a:avLst/>
          </a:prstGeom>
          <a:noFill/>
          <a:ln/>
        </p:spPr>
        <p:txBody>
          <a:bodyPr wrap="none" lIns="0" tIns="0" rIns="0" bIns="0" rtlCol="0" anchor="t"/>
          <a:lstStyle/>
          <a:p>
            <a:pPr algn="l" indent="0" marL="0">
              <a:lnSpc>
                <a:spcPct val="104000"/>
              </a:lnSpc>
              <a:buNone/>
            </a:pPr>
            <a:r>
              <a:rPr lang="en-US" sz="2850" dirty="0">
                <a:solidFill>
                  <a:srgbClr val="1F1E1E"/>
                </a:solidFill>
                <a:latin typeface="Roboto Mono Medium" pitchFamily="34" charset="0"/>
                <a:ea typeface="Roboto Mono Medium" pitchFamily="34" charset="-122"/>
                <a:cs typeface="Roboto Mono Medium" pitchFamily="34" charset="-120"/>
              </a:rPr>
              <a:t>Protocolo JSON-RPC: Comunicación MCP</a:t>
            </a:r>
            <a:endParaRPr lang="en-US" sz="2850" dirty="0"/>
          </a:p>
        </p:txBody>
      </p:sp>
      <p:sp>
        <p:nvSpPr>
          <p:cNvPr id="5" name="Shape 3"/>
          <p:cNvSpPr/>
          <p:nvPr/>
        </p:nvSpPr>
        <p:spPr>
          <a:xfrm>
            <a:off x="556008" y="1427956"/>
            <a:ext cx="5466618" cy="4929188"/>
          </a:xfrm>
          <a:prstGeom prst="roundRect">
            <a:avLst>
              <a:gd name="adj" fmla="val 446"/>
            </a:avLst>
          </a:prstGeom>
          <a:solidFill>
            <a:srgbClr val="F9D2D6">
              <a:alpha val="95000"/>
            </a:srgbClr>
          </a:solidFill>
          <a:ln/>
        </p:spPr>
      </p:sp>
      <p:sp>
        <p:nvSpPr>
          <p:cNvPr id="6" name="Text 4"/>
          <p:cNvSpPr/>
          <p:nvPr/>
        </p:nvSpPr>
        <p:spPr>
          <a:xfrm>
            <a:off x="702451" y="1557734"/>
            <a:ext cx="5173732" cy="228898"/>
          </a:xfrm>
          <a:prstGeom prst="rect">
            <a:avLst/>
          </a:prstGeom>
          <a:noFill/>
          <a:ln/>
        </p:spPr>
        <p:txBody>
          <a:bodyPr wrap="none" lIns="0" tIns="0" rIns="0" bIns="0" rtlCol="0" anchor="t"/>
          <a:lstStyle/>
          <a:p>
            <a:pPr algn="l" indent="0" marL="0">
              <a:lnSpc>
                <a:spcPct val="104000"/>
              </a:lnSpc>
              <a:buNone/>
            </a:pPr>
            <a:r>
              <a:rPr lang="en-US" sz="1400" dirty="0">
                <a:solidFill>
                  <a:srgbClr val="1F1E1E"/>
                </a:solidFill>
                <a:latin typeface="Roboto Mono Medium" pitchFamily="34" charset="0"/>
                <a:ea typeface="Roboto Mono Medium" pitchFamily="34" charset="-122"/>
                <a:cs typeface="Roboto Mono Medium" pitchFamily="34" charset="-120"/>
              </a:rPr>
              <a:t>Fundamentos de JSON-RPC 2.0</a:t>
            </a:r>
            <a:endParaRPr lang="en-US" sz="1400" dirty="0"/>
          </a:p>
        </p:txBody>
      </p:sp>
      <p:sp>
        <p:nvSpPr>
          <p:cNvPr id="7" name="Text 5"/>
          <p:cNvSpPr/>
          <p:nvPr/>
        </p:nvSpPr>
        <p:spPr>
          <a:xfrm>
            <a:off x="702451" y="1916410"/>
            <a:ext cx="5173732" cy="779959"/>
          </a:xfrm>
          <a:prstGeom prst="rect">
            <a:avLst/>
          </a:prstGeom>
          <a:noFill/>
          <a:ln/>
        </p:spPr>
        <p:txBody>
          <a:bodyPr wrap="square" lIns="0" tIns="0" rIns="0" bIns="0" rtlCol="0" anchor="t">
            <a:normAutofit/>
          </a:bodyPr>
          <a:lstStyle/>
          <a:p>
            <a:pPr algn="l" indent="0" marL="0">
              <a:lnSpc>
                <a:spcPct val="126000"/>
              </a:lnSpc>
              <a:spcAft>
                <a:spcPts val="900"/>
              </a:spcAft>
              <a:buNone/>
            </a:pPr>
            <a:r>
              <a:rPr lang="en-US" sz="1150" dirty="0">
                <a:solidFill>
                  <a:srgbClr val="3B3535"/>
                </a:solidFill>
                <a:latin typeface="Roboto" pitchFamily="34" charset="0"/>
                <a:ea typeface="Roboto" pitchFamily="34" charset="-122"/>
                <a:cs typeface="Roboto" pitchFamily="34" charset="-120"/>
              </a:rPr>
              <a:t>MCP utiliza </a:t>
            </a:r>
            <a:pPr algn="l" indent="0" marL="0">
              <a:lnSpc>
                <a:spcPct val="126000"/>
              </a:lnSpc>
              <a:spcAft>
                <a:spcPts val="900"/>
              </a:spcAft>
              <a:buNone/>
            </a:pPr>
            <a:r>
              <a:rPr lang="en-US" sz="1150" b="1" dirty="0">
                <a:solidFill>
                  <a:srgbClr val="3B3535"/>
                </a:solidFill>
                <a:latin typeface="Roboto Bold" pitchFamily="34" charset="0"/>
                <a:ea typeface="Roboto Bold" pitchFamily="34" charset="-122"/>
                <a:cs typeface="Roboto Bold" pitchFamily="34" charset="-120"/>
              </a:rPr>
              <a:t>JSON-RPC 2.0</a:t>
            </a:r>
            <a:pPr algn="l" indent="0" marL="0">
              <a:lnSpc>
                <a:spcPct val="126000"/>
              </a:lnSpc>
              <a:spcAft>
                <a:spcPts val="900"/>
              </a:spcAft>
              <a:buNone/>
            </a:pPr>
            <a:r>
              <a:rPr lang="en-US" sz="1150" dirty="0">
                <a:solidFill>
                  <a:srgbClr val="3B3535"/>
                </a:solidFill>
                <a:latin typeface="Roboto" pitchFamily="34" charset="0"/>
                <a:ea typeface="Roboto" pitchFamily="34" charset="-122"/>
                <a:cs typeface="Roboto" pitchFamily="34" charset="-120"/>
              </a:rPr>
              <a:t> como capa de transporte, permitiendo mensajes ligeros y estructurados entre cliente y servidor.</a:t>
            </a:r>
            <a:endParaRPr lang="en-US" sz="1150" dirty="0"/>
          </a:p>
          <a:p>
            <a:pPr algn="l" indent="0" marL="0">
              <a:lnSpc>
                <a:spcPct val="126000"/>
              </a:lnSpc>
              <a:buNone/>
            </a:pPr>
            <a:r>
              <a:rPr lang="en-US" sz="1150" b="1" dirty="0">
                <a:solidFill>
                  <a:srgbClr val="3B3535"/>
                </a:solidFill>
                <a:latin typeface="Roboto Bold" pitchFamily="34" charset="0"/>
                <a:ea typeface="Roboto Bold" pitchFamily="34" charset="-122"/>
                <a:cs typeface="Roboto Bold" pitchFamily="34" charset="-120"/>
              </a:rPr>
              <a:t>Flujo de comunicación:</a:t>
            </a:r>
            <a:endParaRPr lang="en-US" sz="1150" dirty="0"/>
          </a:p>
        </p:txBody>
      </p:sp>
      <p:sp>
        <p:nvSpPr>
          <p:cNvPr id="8" name="Text 6"/>
          <p:cNvSpPr/>
          <p:nvPr/>
        </p:nvSpPr>
        <p:spPr>
          <a:xfrm>
            <a:off x="702451" y="2813149"/>
            <a:ext cx="5173732" cy="753864"/>
          </a:xfrm>
          <a:prstGeom prst="rect">
            <a:avLst/>
          </a:prstGeom>
          <a:noFill/>
          <a:ln/>
        </p:spPr>
        <p:txBody>
          <a:bodyPr wrap="square" lIns="0" tIns="58610" rIns="0" bIns="0" rtlCol="0" anchor="t">
            <a:normAutofit/>
          </a:bodyPr>
          <a:lstStyle/>
          <a:p>
            <a:pPr algn="l" marL="233680" indent="-233680">
              <a:lnSpc>
                <a:spcPct val="126000"/>
              </a:lnSpc>
              <a:buSzPct val="100000"/>
              <a:buChar char="•"/>
            </a:pPr>
            <a:r>
              <a:rPr lang="en-US" sz="1150" dirty="0">
                <a:solidFill>
                  <a:srgbClr val="3B3535"/>
                </a:solidFill>
                <a:latin typeface="Roboto" pitchFamily="34" charset="0"/>
                <a:ea typeface="Roboto" pitchFamily="34" charset="-122"/>
                <a:cs typeface="Roboto" pitchFamily="34" charset="-120"/>
              </a:rPr>
              <a:t>Cliente envía solicitud JSON con método y parámetros</a:t>
            </a:r>
            <a:endParaRPr lang="en-US" sz="1150" dirty="0"/>
          </a:p>
          <a:p>
            <a:pPr algn="l" marL="233680" indent="-233680">
              <a:lnSpc>
                <a:spcPct val="126000"/>
              </a:lnSpc>
              <a:buSzPct val="100000"/>
              <a:buChar char="•"/>
            </a:pPr>
            <a:r>
              <a:rPr lang="en-US" sz="1150" dirty="0">
                <a:solidFill>
                  <a:srgbClr val="3B3535"/>
                </a:solidFill>
                <a:latin typeface="Roboto" pitchFamily="34" charset="0"/>
                <a:ea typeface="Roboto" pitchFamily="34" charset="-122"/>
                <a:cs typeface="Roboto" pitchFamily="34" charset="-120"/>
              </a:rPr>
              <a:t>Servidor procesa y responde con resultado o error estructurado</a:t>
            </a:r>
            <a:endParaRPr lang="en-US" sz="1150" dirty="0"/>
          </a:p>
          <a:p>
            <a:pPr algn="l" marL="233680" indent="-233680">
              <a:lnSpc>
                <a:spcPct val="126000"/>
              </a:lnSpc>
              <a:buSzPct val="100000"/>
              <a:buChar char="•"/>
            </a:pPr>
            <a:r>
              <a:rPr lang="en-US" sz="1150" dirty="0">
                <a:solidFill>
                  <a:srgbClr val="3B3535"/>
                </a:solidFill>
                <a:latin typeface="Roboto" pitchFamily="34" charset="0"/>
                <a:ea typeface="Roboto" pitchFamily="34" charset="-122"/>
                <a:cs typeface="Roboto" pitchFamily="34" charset="-120"/>
              </a:rPr>
              <a:t>Protocolo sin estado con soporte para batch requests</a:t>
            </a:r>
            <a:endParaRPr lang="en-US" sz="1150" dirty="0"/>
          </a:p>
        </p:txBody>
      </p:sp>
      <p:sp>
        <p:nvSpPr>
          <p:cNvPr id="9" name="Text 7"/>
          <p:cNvSpPr/>
          <p:nvPr/>
        </p:nvSpPr>
        <p:spPr>
          <a:xfrm>
            <a:off x="6280886" y="1557734"/>
            <a:ext cx="5255684" cy="228898"/>
          </a:xfrm>
          <a:prstGeom prst="rect">
            <a:avLst/>
          </a:prstGeom>
          <a:noFill/>
          <a:ln/>
        </p:spPr>
        <p:txBody>
          <a:bodyPr wrap="none" lIns="0" tIns="0" rIns="0" bIns="0" rtlCol="0" anchor="t"/>
          <a:lstStyle/>
          <a:p>
            <a:pPr algn="l" indent="0" marL="0">
              <a:lnSpc>
                <a:spcPct val="104000"/>
              </a:lnSpc>
              <a:buNone/>
            </a:pPr>
            <a:r>
              <a:rPr lang="en-US" sz="1400" dirty="0">
                <a:solidFill>
                  <a:srgbClr val="1F1E1E"/>
                </a:solidFill>
                <a:latin typeface="Roboto Mono Medium" pitchFamily="34" charset="0"/>
                <a:ea typeface="Roboto Mono Medium" pitchFamily="34" charset="-122"/>
                <a:cs typeface="Roboto Mono Medium" pitchFamily="34" charset="-120"/>
              </a:rPr>
              <a:t>Ejemplo HTTP POST</a:t>
            </a:r>
            <a:endParaRPr lang="en-US" sz="1400" dirty="0"/>
          </a:p>
        </p:txBody>
      </p:sp>
      <p:sp>
        <p:nvSpPr>
          <p:cNvPr id="10" name="Shape 8"/>
          <p:cNvSpPr/>
          <p:nvPr/>
        </p:nvSpPr>
        <p:spPr>
          <a:xfrm>
            <a:off x="6280886" y="1932583"/>
            <a:ext cx="5255684" cy="4278610"/>
          </a:xfrm>
          <a:prstGeom prst="roundRect">
            <a:avLst>
              <a:gd name="adj" fmla="val 178"/>
            </a:avLst>
          </a:prstGeom>
          <a:solidFill>
            <a:srgbClr val="F2F2F2"/>
          </a:solidFill>
          <a:ln/>
        </p:spPr>
      </p:sp>
      <p:sp>
        <p:nvSpPr>
          <p:cNvPr id="11" name="Text 9"/>
          <p:cNvSpPr/>
          <p:nvPr/>
        </p:nvSpPr>
        <p:spPr>
          <a:xfrm>
            <a:off x="6456697" y="2079030"/>
            <a:ext cx="4904062" cy="3985716"/>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"jsonrpc": "2.0",</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"method": "tools/call",</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"params": {</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"name": "get_weather",</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"arguments": {</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"location": "Madrid"</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"id": 1</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a:t>
            </a:r>
            <a:endParaRPr lang="en-US" sz="1150" dirty="0"/>
          </a:p>
          <a:p>
            <a:pPr algn="l" indent="0" marL="0">
              <a:lnSpc>
                <a:spcPct val="133000"/>
              </a:lnSpc>
              <a:buNone/>
            </a:pP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Response:</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"temperature": 22,</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 "condition": "soleado"</a:t>
            </a:r>
            <a:endParaRPr lang="en-US" sz="1150" dirty="0"/>
          </a:p>
          <a:p>
            <a:pPr algn="l" indent="0" marL="0">
              <a:lnSpc>
                <a:spcPct val="133000"/>
              </a:lnSpc>
              <a:buNone/>
            </a:pPr>
            <a:r>
              <a:rPr lang="en-US" sz="1150" dirty="0">
                <a:solidFill>
                  <a:srgbClr val="24292E"/>
                </a:solidFill>
                <a:latin typeface="Consolas" pitchFamily="34" charset="0"/>
                <a:ea typeface="Consolas" pitchFamily="34" charset="-122"/>
                <a:cs typeface="Consolas" pitchFamily="34" charset="-120"/>
              </a:rPr>
              <a:t>}</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661475" y="837307"/>
            <a:ext cx="1898007" cy="251420"/>
          </a:xfrm>
          <a:prstGeom prst="roundRect">
            <a:avLst>
              <a:gd name="adj" fmla="val 3031"/>
            </a:avLst>
          </a:prstGeom>
          <a:solidFill>
            <a:srgbClr val="F9D2D6"/>
          </a:solidFill>
          <a:ln/>
        </p:spPr>
      </p:sp>
      <p:sp>
        <p:nvSpPr>
          <p:cNvPr id="3" name="Text 1"/>
          <p:cNvSpPr/>
          <p:nvPr/>
        </p:nvSpPr>
        <p:spPr>
          <a:xfrm>
            <a:off x="760691" y="886916"/>
            <a:ext cx="2309159"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ARQUITECTURA Y USO</a:t>
            </a:r>
            <a:endParaRPr lang="en-US" sz="1000" dirty="0"/>
          </a:p>
        </p:txBody>
      </p:sp>
      <p:sp>
        <p:nvSpPr>
          <p:cNvPr id="4" name="Text 2"/>
          <p:cNvSpPr/>
          <p:nvPr/>
        </p:nvSpPr>
        <p:spPr>
          <a:xfrm>
            <a:off x="661475" y="1154807"/>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De herramientas hardcodeadas a MCP</a:t>
            </a:r>
            <a:endParaRPr lang="en-US" sz="3250" dirty="0"/>
          </a:p>
        </p:txBody>
      </p:sp>
      <p:sp>
        <p:nvSpPr>
          <p:cNvPr id="5" name="Shape 3"/>
          <p:cNvSpPr/>
          <p:nvPr/>
        </p:nvSpPr>
        <p:spPr>
          <a:xfrm>
            <a:off x="542415" y="1919585"/>
            <a:ext cx="5470785" cy="2989064"/>
          </a:xfrm>
          <a:prstGeom prst="roundRect">
            <a:avLst>
              <a:gd name="adj" fmla="val 830"/>
            </a:avLst>
          </a:prstGeom>
          <a:solidFill>
            <a:srgbClr val="F9D2D6">
              <a:alpha val="95000"/>
            </a:srgbClr>
          </a:solidFill>
          <a:ln/>
        </p:spPr>
      </p:sp>
      <p:sp>
        <p:nvSpPr>
          <p:cNvPr id="6" name="Text 4"/>
          <p:cNvSpPr/>
          <p:nvPr/>
        </p:nvSpPr>
        <p:spPr>
          <a:xfrm>
            <a:off x="707710" y="2084884"/>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Herramienta Hardcodeada</a:t>
            </a:r>
            <a:endParaRPr lang="en-US" sz="1600" dirty="0"/>
          </a:p>
        </p:txBody>
      </p:sp>
      <p:sp>
        <p:nvSpPr>
          <p:cNvPr id="7" name="Text 5"/>
          <p:cNvSpPr/>
          <p:nvPr/>
        </p:nvSpPr>
        <p:spPr>
          <a:xfrm>
            <a:off x="707710" y="2508647"/>
            <a:ext cx="5140196" cy="1554460"/>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La lógica de la herramienta reside en el código del agente.</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El agente conoce las herramientas en tiempo de compilación.</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Requiere copiar y pegar código para reutilizar la herramienta.</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Necesidad de redeploy del agente para cualquier actualización.</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Protocolo de comunicación específico del framework.</a:t>
            </a:r>
            <a:endParaRPr lang="en-US" sz="1300" dirty="0"/>
          </a:p>
        </p:txBody>
      </p:sp>
      <p:sp>
        <p:nvSpPr>
          <p:cNvPr id="8" name="Text 6"/>
          <p:cNvSpPr/>
          <p:nvPr/>
        </p:nvSpPr>
        <p:spPr>
          <a:xfrm>
            <a:off x="6303904" y="2084884"/>
            <a:ext cx="5232666"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1F1E1E"/>
                </a:solidFill>
                <a:latin typeface="Roboto Mono Medium" pitchFamily="34" charset="0"/>
                <a:ea typeface="Roboto Mono Medium" pitchFamily="34" charset="-122"/>
                <a:cs typeface="Roboto Mono Medium" pitchFamily="34" charset="-120"/>
              </a:rPr>
              <a:t>Servidor MCP (Protocolo de Contexto del Modelo)</a:t>
            </a:r>
            <a:endParaRPr lang="en-US" sz="1600" dirty="0"/>
          </a:p>
        </p:txBody>
      </p:sp>
      <p:sp>
        <p:nvSpPr>
          <p:cNvPr id="9" name="Text 7"/>
          <p:cNvSpPr/>
          <p:nvPr/>
        </p:nvSpPr>
        <p:spPr>
          <a:xfrm>
            <a:off x="6303904" y="2767112"/>
            <a:ext cx="5232666" cy="2083693"/>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La herramienta opera como un proceso separado en localhost.</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El agente consulta `tools/list` en tiempo de ejecución para descubrir herramientas.</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Cualquier cliente compatible con MCP puede conectarse y usarlo.</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Solo es necesario reiniciar el servidor MCP para aplicar actualizaciones.</a:t>
            </a:r>
            <a:endParaRPr lang="en-US" sz="1300" dirty="0"/>
          </a:p>
          <a:p>
            <a:pPr algn="l" marL="264160" indent="-264160">
              <a:lnSpc>
                <a:spcPct val="133000"/>
              </a:lnSpc>
              <a:buSzPct val="100000"/>
              <a:buChar char="•"/>
            </a:pPr>
            <a:r>
              <a:rPr lang="en-US" sz="1300" dirty="0">
                <a:solidFill>
                  <a:srgbClr val="3B3535"/>
                </a:solidFill>
                <a:latin typeface="Roboto" pitchFamily="34" charset="0"/>
                <a:ea typeface="Roboto" pitchFamily="34" charset="-122"/>
                <a:cs typeface="Roboto" pitchFamily="34" charset="-120"/>
              </a:rPr>
              <a:t>JSON-RPC estandarizado sobre HTTP para la comunicación.</a:t>
            </a:r>
            <a:endParaRPr lang="en-US" sz="1300" dirty="0"/>
          </a:p>
        </p:txBody>
      </p:sp>
      <p:sp>
        <p:nvSpPr>
          <p:cNvPr id="10" name="Shape 8"/>
          <p:cNvSpPr/>
          <p:nvPr/>
        </p:nvSpPr>
        <p:spPr>
          <a:xfrm>
            <a:off x="661475" y="5094684"/>
            <a:ext cx="10868745" cy="925909"/>
          </a:xfrm>
          <a:prstGeom prst="roundRect">
            <a:avLst>
              <a:gd name="adj" fmla="val 823"/>
            </a:avLst>
          </a:prstGeom>
          <a:solidFill>
            <a:srgbClr val="F9D2D6"/>
          </a:solidFill>
          <a:ln/>
        </p:spPr>
      </p:sp>
      <p:pic>
        <p:nvPicPr>
          <p:cNvPr id="11" name="Image 0" descr="preencoded.png">    </p:cNvPr>
          <p:cNvPicPr>
            <a:picLocks noChangeAspect="1"/>
          </p:cNvPicPr>
          <p:nvPr/>
        </p:nvPicPr>
        <p:blipFill>
          <a:blip r:embed="rId1"/>
          <a:stretch>
            <a:fillRect/>
          </a:stretch>
        </p:blipFill>
        <p:spPr>
          <a:xfrm>
            <a:off x="826769" y="5334397"/>
            <a:ext cx="206667" cy="165298"/>
          </a:xfrm>
          <a:prstGeom prst="rect">
            <a:avLst/>
          </a:prstGeom>
        </p:spPr>
      </p:pic>
      <p:sp>
        <p:nvSpPr>
          <p:cNvPr id="12" name="Text 9"/>
          <p:cNvSpPr/>
          <p:nvPr/>
        </p:nvSpPr>
        <p:spPr>
          <a:xfrm>
            <a:off x="1198731" y="5301258"/>
            <a:ext cx="1016619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MCP separa las herramientas de los agentes — un servidor MCP puede ser usado por cualquier cliente compatible: Claude, ChatGPT, Cursor o tu propio agente.</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661475" y="764381"/>
            <a:ext cx="1898007" cy="251420"/>
          </a:xfrm>
          <a:prstGeom prst="roundRect">
            <a:avLst>
              <a:gd name="adj" fmla="val 3031"/>
            </a:avLst>
          </a:prstGeom>
          <a:solidFill>
            <a:srgbClr val="F9D2D6"/>
          </a:solidFill>
          <a:ln/>
        </p:spPr>
      </p:sp>
      <p:sp>
        <p:nvSpPr>
          <p:cNvPr id="3" name="Text 1"/>
          <p:cNvSpPr/>
          <p:nvPr/>
        </p:nvSpPr>
        <p:spPr>
          <a:xfrm>
            <a:off x="760691" y="813991"/>
            <a:ext cx="2309159"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ARQUITECTURA Y USO</a:t>
            </a:r>
            <a:endParaRPr lang="en-US" sz="1000" dirty="0"/>
          </a:p>
        </p:txBody>
      </p:sp>
      <p:sp>
        <p:nvSpPr>
          <p:cNvPr id="4" name="Text 2"/>
          <p:cNvSpPr/>
          <p:nvPr/>
        </p:nvSpPr>
        <p:spPr>
          <a:xfrm>
            <a:off x="661475" y="1081881"/>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Ciclo de vida de una herramienta MCP</a:t>
            </a:r>
            <a:endParaRPr lang="en-US" sz="3250" dirty="0"/>
          </a:p>
        </p:txBody>
      </p:sp>
      <p:sp>
        <p:nvSpPr>
          <p:cNvPr id="5" name="Text 3"/>
          <p:cNvSpPr/>
          <p:nvPr/>
        </p:nvSpPr>
        <p:spPr>
          <a:xfrm>
            <a:off x="661475" y="1846659"/>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B3535"/>
                </a:solidFill>
                <a:latin typeface="Roboto Mono Light" pitchFamily="34" charset="0"/>
                <a:ea typeface="Roboto Mono Light" pitchFamily="34" charset="-122"/>
                <a:cs typeface="Roboto Mono Light" pitchFamily="34" charset="-120"/>
              </a:rPr>
              <a:t>01</a:t>
            </a:r>
            <a:endParaRPr lang="en-US" sz="1300" dirty="0"/>
          </a:p>
        </p:txBody>
      </p:sp>
      <p:sp>
        <p:nvSpPr>
          <p:cNvPr id="6" name="Shape 4"/>
          <p:cNvSpPr/>
          <p:nvPr/>
        </p:nvSpPr>
        <p:spPr>
          <a:xfrm>
            <a:off x="661475" y="2108597"/>
            <a:ext cx="5351725" cy="19050"/>
          </a:xfrm>
          <a:prstGeom prst="rect">
            <a:avLst/>
          </a:prstGeom>
          <a:solidFill>
            <a:srgbClr val="DA1B2E"/>
          </a:solidFill>
          <a:ln/>
        </p:spPr>
      </p:sp>
      <p:sp>
        <p:nvSpPr>
          <p:cNvPr id="7" name="Text 5"/>
          <p:cNvSpPr/>
          <p:nvPr/>
        </p:nvSpPr>
        <p:spPr>
          <a:xfrm>
            <a:off x="661475" y="2229346"/>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El servidor MCP arranca</a:t>
            </a:r>
            <a:endParaRPr lang="en-US" sz="1600" dirty="0"/>
          </a:p>
        </p:txBody>
      </p:sp>
      <p:sp>
        <p:nvSpPr>
          <p:cNvPr id="8" name="Text 6"/>
          <p:cNvSpPr/>
          <p:nvPr/>
        </p:nvSpPr>
        <p:spPr>
          <a:xfrm>
            <a:off x="661475" y="2587030"/>
            <a:ext cx="535172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Declara sus herramientas: nombre, descripción y esquema de parámetros.</a:t>
            </a:r>
            <a:endParaRPr lang="en-US" sz="1300" dirty="0"/>
          </a:p>
        </p:txBody>
      </p:sp>
      <p:sp>
        <p:nvSpPr>
          <p:cNvPr id="9" name="Text 7"/>
          <p:cNvSpPr/>
          <p:nvPr/>
        </p:nvSpPr>
        <p:spPr>
          <a:xfrm>
            <a:off x="6178495" y="1846659"/>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B3535"/>
                </a:solidFill>
                <a:latin typeface="Roboto Mono Light" pitchFamily="34" charset="0"/>
                <a:ea typeface="Roboto Mono Light" pitchFamily="34" charset="-122"/>
                <a:cs typeface="Roboto Mono Light" pitchFamily="34" charset="-120"/>
              </a:rPr>
              <a:t>02</a:t>
            </a:r>
            <a:endParaRPr lang="en-US" sz="1300" dirty="0"/>
          </a:p>
        </p:txBody>
      </p:sp>
      <p:sp>
        <p:nvSpPr>
          <p:cNvPr id="10" name="Shape 8"/>
          <p:cNvSpPr/>
          <p:nvPr/>
        </p:nvSpPr>
        <p:spPr>
          <a:xfrm>
            <a:off x="6178495" y="2108597"/>
            <a:ext cx="5351725" cy="19050"/>
          </a:xfrm>
          <a:prstGeom prst="rect">
            <a:avLst/>
          </a:prstGeom>
          <a:solidFill>
            <a:srgbClr val="DA1B2E"/>
          </a:solidFill>
          <a:ln/>
        </p:spPr>
      </p:sp>
      <p:sp>
        <p:nvSpPr>
          <p:cNvPr id="11" name="Text 9"/>
          <p:cNvSpPr/>
          <p:nvPr/>
        </p:nvSpPr>
        <p:spPr>
          <a:xfrm>
            <a:off x="6178495" y="2229346"/>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El agente se conecta</a:t>
            </a:r>
            <a:endParaRPr lang="en-US" sz="1600" dirty="0"/>
          </a:p>
        </p:txBody>
      </p:sp>
      <p:sp>
        <p:nvSpPr>
          <p:cNvPr id="12" name="Text 10"/>
          <p:cNvSpPr/>
          <p:nvPr/>
        </p:nvSpPr>
        <p:spPr>
          <a:xfrm>
            <a:off x="6178495" y="2587030"/>
            <a:ext cx="5351725"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Como cliente MCP, descubre las herramientas disponibles vía tools/list.</a:t>
            </a:r>
            <a:endParaRPr lang="en-US" sz="1300" dirty="0"/>
          </a:p>
        </p:txBody>
      </p:sp>
      <p:sp>
        <p:nvSpPr>
          <p:cNvPr id="13" name="Text 11"/>
          <p:cNvSpPr/>
          <p:nvPr/>
        </p:nvSpPr>
        <p:spPr>
          <a:xfrm>
            <a:off x="661475" y="3405584"/>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B3535"/>
                </a:solidFill>
                <a:latin typeface="Roboto Mono Light" pitchFamily="34" charset="0"/>
                <a:ea typeface="Roboto Mono Light" pitchFamily="34" charset="-122"/>
                <a:cs typeface="Roboto Mono Light" pitchFamily="34" charset="-120"/>
              </a:rPr>
              <a:t>03</a:t>
            </a:r>
            <a:endParaRPr lang="en-US" sz="1300" dirty="0"/>
          </a:p>
        </p:txBody>
      </p:sp>
      <p:sp>
        <p:nvSpPr>
          <p:cNvPr id="14" name="Shape 12"/>
          <p:cNvSpPr/>
          <p:nvPr/>
        </p:nvSpPr>
        <p:spPr>
          <a:xfrm>
            <a:off x="661475" y="3667522"/>
            <a:ext cx="5351725" cy="19050"/>
          </a:xfrm>
          <a:prstGeom prst="rect">
            <a:avLst/>
          </a:prstGeom>
          <a:solidFill>
            <a:srgbClr val="DA1B2E"/>
          </a:solidFill>
          <a:ln/>
        </p:spPr>
      </p:sp>
      <p:sp>
        <p:nvSpPr>
          <p:cNvPr id="15" name="Text 13"/>
          <p:cNvSpPr/>
          <p:nvPr/>
        </p:nvSpPr>
        <p:spPr>
          <a:xfrm>
            <a:off x="661475" y="3788271"/>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El usuario envía una consulta</a:t>
            </a:r>
            <a:endParaRPr lang="en-US" sz="1600" dirty="0"/>
          </a:p>
        </p:txBody>
      </p:sp>
      <p:sp>
        <p:nvSpPr>
          <p:cNvPr id="16" name="Text 14"/>
          <p:cNvSpPr/>
          <p:nvPr/>
        </p:nvSpPr>
        <p:spPr>
          <a:xfrm>
            <a:off x="661475" y="4145955"/>
            <a:ext cx="5351725"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LLM analiza las descripciones de herramientas y decide cuál invocar.</a:t>
            </a:r>
            <a:endParaRPr lang="en-US" sz="1300" dirty="0"/>
          </a:p>
        </p:txBody>
      </p:sp>
      <p:sp>
        <p:nvSpPr>
          <p:cNvPr id="17" name="Text 15"/>
          <p:cNvSpPr/>
          <p:nvPr/>
        </p:nvSpPr>
        <p:spPr>
          <a:xfrm>
            <a:off x="6178495" y="3405584"/>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B3535"/>
                </a:solidFill>
                <a:latin typeface="Roboto Mono Light" pitchFamily="34" charset="0"/>
                <a:ea typeface="Roboto Mono Light" pitchFamily="34" charset="-122"/>
                <a:cs typeface="Roboto Mono Light" pitchFamily="34" charset="-120"/>
              </a:rPr>
              <a:t>04</a:t>
            </a:r>
            <a:endParaRPr lang="en-US" sz="1300" dirty="0"/>
          </a:p>
        </p:txBody>
      </p:sp>
      <p:sp>
        <p:nvSpPr>
          <p:cNvPr id="18" name="Shape 16"/>
          <p:cNvSpPr/>
          <p:nvPr/>
        </p:nvSpPr>
        <p:spPr>
          <a:xfrm>
            <a:off x="6178495" y="3667522"/>
            <a:ext cx="5351725" cy="19050"/>
          </a:xfrm>
          <a:prstGeom prst="rect">
            <a:avLst/>
          </a:prstGeom>
          <a:solidFill>
            <a:srgbClr val="DA1B2E"/>
          </a:solidFill>
          <a:ln/>
        </p:spPr>
      </p:sp>
      <p:sp>
        <p:nvSpPr>
          <p:cNvPr id="19" name="Text 17"/>
          <p:cNvSpPr/>
          <p:nvPr/>
        </p:nvSpPr>
        <p:spPr>
          <a:xfrm>
            <a:off x="6178495" y="3788271"/>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El agente llama la herramienta</a:t>
            </a:r>
            <a:endParaRPr lang="en-US" sz="1600" dirty="0"/>
          </a:p>
        </p:txBody>
      </p:sp>
      <p:sp>
        <p:nvSpPr>
          <p:cNvPr id="20" name="Text 18"/>
          <p:cNvSpPr/>
          <p:nvPr/>
        </p:nvSpPr>
        <p:spPr>
          <a:xfrm>
            <a:off x="6178495" y="4145955"/>
            <a:ext cx="5351725"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 través del protocolo MCP con parámetros estructurados.</a:t>
            </a:r>
            <a:endParaRPr lang="en-US" sz="1300" dirty="0"/>
          </a:p>
        </p:txBody>
      </p:sp>
      <p:sp>
        <p:nvSpPr>
          <p:cNvPr id="21" name="Text 19"/>
          <p:cNvSpPr/>
          <p:nvPr/>
        </p:nvSpPr>
        <p:spPr>
          <a:xfrm>
            <a:off x="661475" y="4699893"/>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B3535"/>
                </a:solidFill>
                <a:latin typeface="Roboto Mono Light" pitchFamily="34" charset="0"/>
                <a:ea typeface="Roboto Mono Light" pitchFamily="34" charset="-122"/>
                <a:cs typeface="Roboto Mono Light" pitchFamily="34" charset="-120"/>
              </a:rPr>
              <a:t>05</a:t>
            </a:r>
            <a:endParaRPr lang="en-US" sz="1300" dirty="0"/>
          </a:p>
        </p:txBody>
      </p:sp>
      <p:sp>
        <p:nvSpPr>
          <p:cNvPr id="22" name="Shape 20"/>
          <p:cNvSpPr/>
          <p:nvPr/>
        </p:nvSpPr>
        <p:spPr>
          <a:xfrm>
            <a:off x="661475" y="4961830"/>
            <a:ext cx="5351725" cy="19050"/>
          </a:xfrm>
          <a:prstGeom prst="rect">
            <a:avLst/>
          </a:prstGeom>
          <a:solidFill>
            <a:srgbClr val="DA1B2E"/>
          </a:solidFill>
          <a:ln/>
        </p:spPr>
      </p:sp>
      <p:sp>
        <p:nvSpPr>
          <p:cNvPr id="23" name="Text 21"/>
          <p:cNvSpPr/>
          <p:nvPr/>
        </p:nvSpPr>
        <p:spPr>
          <a:xfrm>
            <a:off x="661475" y="5082580"/>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El servidor MCP ejecuta</a:t>
            </a:r>
            <a:endParaRPr lang="en-US" sz="1600" dirty="0"/>
          </a:p>
        </p:txBody>
      </p:sp>
      <p:sp>
        <p:nvSpPr>
          <p:cNvPr id="24" name="Text 22"/>
          <p:cNvSpPr/>
          <p:nvPr/>
        </p:nvSpPr>
        <p:spPr>
          <a:xfrm>
            <a:off x="661475" y="5440263"/>
            <a:ext cx="5351725"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Procesa la solicitud y devuelve un resultado estructurado.</a:t>
            </a:r>
            <a:endParaRPr lang="en-US" sz="1300" dirty="0"/>
          </a:p>
        </p:txBody>
      </p:sp>
      <p:sp>
        <p:nvSpPr>
          <p:cNvPr id="25" name="Text 23"/>
          <p:cNvSpPr/>
          <p:nvPr/>
        </p:nvSpPr>
        <p:spPr>
          <a:xfrm>
            <a:off x="6178495" y="4699893"/>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B3535"/>
                </a:solidFill>
                <a:latin typeface="Roboto Mono Light" pitchFamily="34" charset="0"/>
                <a:ea typeface="Roboto Mono Light" pitchFamily="34" charset="-122"/>
                <a:cs typeface="Roboto Mono Light" pitchFamily="34" charset="-120"/>
              </a:rPr>
              <a:t>06</a:t>
            </a:r>
            <a:endParaRPr lang="en-US" sz="1300" dirty="0"/>
          </a:p>
        </p:txBody>
      </p:sp>
      <p:sp>
        <p:nvSpPr>
          <p:cNvPr id="26" name="Shape 24"/>
          <p:cNvSpPr/>
          <p:nvPr/>
        </p:nvSpPr>
        <p:spPr>
          <a:xfrm>
            <a:off x="6178495" y="4961830"/>
            <a:ext cx="5351725" cy="19050"/>
          </a:xfrm>
          <a:prstGeom prst="rect">
            <a:avLst/>
          </a:prstGeom>
          <a:solidFill>
            <a:srgbClr val="DA1B2E"/>
          </a:solidFill>
          <a:ln/>
        </p:spPr>
      </p:sp>
      <p:sp>
        <p:nvSpPr>
          <p:cNvPr id="27" name="Text 25"/>
          <p:cNvSpPr/>
          <p:nvPr/>
        </p:nvSpPr>
        <p:spPr>
          <a:xfrm>
            <a:off x="6178495" y="5082580"/>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El LLM usa el resultado</a:t>
            </a:r>
            <a:endParaRPr lang="en-US" sz="1600" dirty="0"/>
          </a:p>
        </p:txBody>
      </p:sp>
      <p:sp>
        <p:nvSpPr>
          <p:cNvPr id="28" name="Text 26"/>
          <p:cNvSpPr/>
          <p:nvPr/>
        </p:nvSpPr>
        <p:spPr>
          <a:xfrm>
            <a:off x="6178495" y="5440263"/>
            <a:ext cx="535172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Continúa el razonamiento o responde al usuario con la información obtenida.</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661475" y="590054"/>
            <a:ext cx="1898007" cy="251420"/>
          </a:xfrm>
          <a:prstGeom prst="roundRect">
            <a:avLst>
              <a:gd name="adj" fmla="val 3031"/>
            </a:avLst>
          </a:prstGeom>
          <a:solidFill>
            <a:srgbClr val="F9D2D6"/>
          </a:solidFill>
          <a:ln/>
        </p:spPr>
      </p:sp>
      <p:sp>
        <p:nvSpPr>
          <p:cNvPr id="3" name="Text 1"/>
          <p:cNvSpPr/>
          <p:nvPr/>
        </p:nvSpPr>
        <p:spPr>
          <a:xfrm>
            <a:off x="760691" y="639663"/>
            <a:ext cx="2309159"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ARQUITECTURA Y USO</a:t>
            </a:r>
            <a:endParaRPr lang="en-US" sz="1000" dirty="0"/>
          </a:p>
        </p:txBody>
      </p:sp>
      <p:sp>
        <p:nvSpPr>
          <p:cNvPr id="4" name="Text 2"/>
          <p:cNvSpPr/>
          <p:nvPr/>
        </p:nvSpPr>
        <p:spPr>
          <a:xfrm>
            <a:off x="661475" y="90755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Principios de diseño de herramientas MCP</a:t>
            </a:r>
            <a:endParaRPr lang="en-US"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672332"/>
            <a:ext cx="413434" cy="413445"/>
          </a:xfrm>
          <a:prstGeom prst="rect">
            <a:avLst/>
          </a:prstGeom>
        </p:spPr>
      </p:pic>
      <p:sp>
        <p:nvSpPr>
          <p:cNvPr id="6" name="Text 3"/>
          <p:cNvSpPr/>
          <p:nvPr/>
        </p:nvSpPr>
        <p:spPr>
          <a:xfrm>
            <a:off x="661475" y="2292449"/>
            <a:ext cx="5330989"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Principio 1: Nombres claros y descriptivos</a:t>
            </a:r>
            <a:endParaRPr lang="en-US" sz="1600" dirty="0"/>
          </a:p>
        </p:txBody>
      </p:sp>
      <p:sp>
        <p:nvSpPr>
          <p:cNvPr id="7" name="Text 4"/>
          <p:cNvSpPr/>
          <p:nvPr/>
        </p:nvSpPr>
        <p:spPr>
          <a:xfrm>
            <a:off x="661475" y="2650133"/>
            <a:ext cx="5330989" cy="1256903"/>
          </a:xfrm>
          <a:prstGeom prst="rect">
            <a:avLst/>
          </a:prstGeom>
          <a:noFill/>
          <a:ln/>
        </p:spPr>
        <p:txBody>
          <a:bodyPr wrap="square" lIns="0" tIns="0" rIns="0" bIns="0" rtlCol="0" anchor="t"/>
          <a:lstStyle/>
          <a:p>
            <a:pPr algn="l" indent="0" marL="0">
              <a:lnSpc>
                <a:spcPct val="133000"/>
              </a:lnSpc>
              <a:spcAft>
                <a:spcPts val="750"/>
              </a:spcAft>
              <a:buNone/>
            </a:pPr>
            <a:r>
              <a:rPr lang="en-US" sz="1300" dirty="0">
                <a:solidFill>
                  <a:srgbClr val="3B3535"/>
                </a:solidFill>
                <a:latin typeface="Roboto" pitchFamily="34" charset="0"/>
                <a:ea typeface="Roboto" pitchFamily="34" charset="-122"/>
                <a:cs typeface="Roboto" pitchFamily="34" charset="-120"/>
              </a:rPr>
              <a:t>Convención: </a:t>
            </a:r>
            <a:pPr algn="l" indent="0" marL="0">
              <a:lnSpc>
                <a:spcPct val="133000"/>
              </a:lnSpc>
              <a:spcAft>
                <a:spcPts val="750"/>
              </a:spcAft>
              <a:buNone/>
            </a:pPr>
            <a:r>
              <a:rPr lang="en-US" sz="1300" b="1" dirty="0">
                <a:solidFill>
                  <a:srgbClr val="3B3535"/>
                </a:solidFill>
                <a:latin typeface="Roboto Bold" pitchFamily="34" charset="0"/>
                <a:ea typeface="Roboto Bold" pitchFamily="34" charset="-122"/>
                <a:cs typeface="Roboto Bold" pitchFamily="34" charset="-120"/>
              </a:rPr>
              <a:t>[verbo]_[sustantivo]_[contexto]</a:t>
            </a:r>
            <a:endParaRPr lang="en-US" sz="1300" dirty="0"/>
          </a:p>
          <a:p>
            <a:pPr algn="l" indent="0" marL="0">
              <a:lnSpc>
                <a:spcPct val="133000"/>
              </a:lnSpc>
              <a:spcAft>
                <a:spcPts val="750"/>
              </a:spcAft>
              <a:buNone/>
            </a:pPr>
            <a:r>
              <a:rPr lang="en-US" sz="1300" dirty="0">
                <a:solidFill>
                  <a:srgbClr val="3B3535"/>
                </a:solidFill>
                <a:latin typeface="Roboto" pitchFamily="34" charset="0"/>
                <a:ea typeface="Roboto" pitchFamily="34" charset="-122"/>
                <a:cs typeface="Roboto" pitchFamily="34" charset="-120"/>
              </a:rPr>
              <a:t>Ejemplos correctos: get_customer_by_email, search_products_by_category, calculate_shipping_cost_for_order</a:t>
            </a:r>
            <a:endParaRPr lang="en-US" sz="1300" dirty="0"/>
          </a:p>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Evitar: process, fetch, do_thing</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9132" y="1672332"/>
            <a:ext cx="413434" cy="413445"/>
          </a:xfrm>
          <a:prstGeom prst="rect">
            <a:avLst/>
          </a:prstGeom>
        </p:spPr>
      </p:pic>
      <p:sp>
        <p:nvSpPr>
          <p:cNvPr id="9" name="Text 5"/>
          <p:cNvSpPr/>
          <p:nvPr/>
        </p:nvSpPr>
        <p:spPr>
          <a:xfrm>
            <a:off x="6199132" y="2292449"/>
            <a:ext cx="5331089"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Principio 2: Descripciones exhaustivas</a:t>
            </a:r>
            <a:endParaRPr lang="en-US" sz="1600" dirty="0"/>
          </a:p>
        </p:txBody>
      </p:sp>
      <p:sp>
        <p:nvSpPr>
          <p:cNvPr id="10" name="Text 6"/>
          <p:cNvSpPr/>
          <p:nvPr/>
        </p:nvSpPr>
        <p:spPr>
          <a:xfrm>
            <a:off x="6199132" y="2650133"/>
            <a:ext cx="5331089"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descripción es lo más importante. Debe responder: ¿Qué hace? ¿Cuándo usarla? ¿Cuándo NO usarla? ¿Qué formato tienen entradas/salidas?</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237732"/>
            <a:ext cx="413434" cy="413445"/>
          </a:xfrm>
          <a:prstGeom prst="rect">
            <a:avLst/>
          </a:prstGeom>
        </p:spPr>
      </p:pic>
      <p:sp>
        <p:nvSpPr>
          <p:cNvPr id="12" name="Text 7"/>
          <p:cNvSpPr/>
          <p:nvPr/>
        </p:nvSpPr>
        <p:spPr>
          <a:xfrm>
            <a:off x="661475" y="4857849"/>
            <a:ext cx="5330989"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Principio 3: Esquemas de parámetros simples</a:t>
            </a:r>
            <a:endParaRPr lang="en-US" sz="1600" dirty="0"/>
          </a:p>
        </p:txBody>
      </p:sp>
      <p:sp>
        <p:nvSpPr>
          <p:cNvPr id="13" name="Text 8"/>
          <p:cNvSpPr/>
          <p:nvPr/>
        </p:nvSpPr>
        <p:spPr>
          <a:xfrm>
            <a:off x="661475" y="5473998"/>
            <a:ext cx="5330989"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Investigación muestra: 1-3 parámetros → 90%+ precisión | 4-6 parámetros → 75-85% | 7+ parámetros → 60-70%. Preferir múltiples herramientas simples sobre una herramienta compleja.</a:t>
            </a:r>
            <a:endParaRPr lang="en-US" sz="13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9132" y="4237732"/>
            <a:ext cx="413434" cy="413445"/>
          </a:xfrm>
          <a:prstGeom prst="rect">
            <a:avLst/>
          </a:prstGeom>
        </p:spPr>
      </p:pic>
      <p:sp>
        <p:nvSpPr>
          <p:cNvPr id="15" name="Text 9"/>
          <p:cNvSpPr/>
          <p:nvPr/>
        </p:nvSpPr>
        <p:spPr>
          <a:xfrm>
            <a:off x="6199132" y="4857849"/>
            <a:ext cx="5331089"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Principio 4: Formatos de respuesta consistentes</a:t>
            </a:r>
            <a:endParaRPr lang="en-US" sz="1600" dirty="0"/>
          </a:p>
        </p:txBody>
      </p:sp>
      <p:sp>
        <p:nvSpPr>
          <p:cNvPr id="16" name="Text 10"/>
          <p:cNvSpPr/>
          <p:nvPr/>
        </p:nvSpPr>
        <p:spPr>
          <a:xfrm>
            <a:off x="6199132" y="5473998"/>
            <a:ext cx="533108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Usar un envelope estándar: { success, data, error, message }. El agente sabe qué esperar, facilita el manejo de errores y el control de éxito/fallo.</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661475" y="627459"/>
            <a:ext cx="1328506" cy="176014"/>
          </a:xfrm>
          <a:prstGeom prst="roundRect">
            <a:avLst>
              <a:gd name="adj" fmla="val 4329"/>
            </a:avLst>
          </a:prstGeom>
          <a:solidFill>
            <a:srgbClr val="F9D2D6"/>
          </a:solidFill>
          <a:ln/>
        </p:spPr>
      </p:sp>
      <p:sp>
        <p:nvSpPr>
          <p:cNvPr id="3" name="Text 1"/>
          <p:cNvSpPr/>
          <p:nvPr/>
        </p:nvSpPr>
        <p:spPr>
          <a:xfrm>
            <a:off x="730926" y="662186"/>
            <a:ext cx="1799188" cy="106561"/>
          </a:xfrm>
          <a:prstGeom prst="rect">
            <a:avLst/>
          </a:prstGeom>
          <a:noFill/>
          <a:ln/>
        </p:spPr>
        <p:txBody>
          <a:bodyPr wrap="none" lIns="0" tIns="0" rIns="0" bIns="0" rtlCol="0" anchor="t"/>
          <a:lstStyle/>
          <a:p>
            <a:pPr algn="l" indent="0" marL="0">
              <a:lnSpc>
                <a:spcPct val="96000"/>
              </a:lnSpc>
              <a:buNone/>
            </a:pPr>
            <a:r>
              <a:rPr lang="en-US" sz="700" dirty="0">
                <a:solidFill>
                  <a:srgbClr val="3B3535"/>
                </a:solidFill>
                <a:latin typeface="Roboto" pitchFamily="34" charset="0"/>
                <a:ea typeface="Roboto" pitchFamily="34" charset="-122"/>
                <a:cs typeface="Roboto" pitchFamily="34" charset="-120"/>
              </a:rPr>
              <a:t>MCP: ARQUITECTURA Y USO</a:t>
            </a:r>
            <a:endParaRPr lang="en-US" sz="700" dirty="0"/>
          </a:p>
        </p:txBody>
      </p:sp>
      <p:sp>
        <p:nvSpPr>
          <p:cNvPr id="4" name="Text 2"/>
          <p:cNvSpPr/>
          <p:nvPr/>
        </p:nvSpPr>
        <p:spPr>
          <a:xfrm>
            <a:off x="661475" y="835819"/>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1F1E1E"/>
                </a:solidFill>
                <a:latin typeface="Roboto Mono Medium" pitchFamily="34" charset="0"/>
                <a:ea typeface="Roboto Mono Medium" pitchFamily="34" charset="-122"/>
                <a:cs typeface="Roboto Mono Medium" pitchFamily="34" charset="-120"/>
              </a:rPr>
              <a:t>Cómo conectar un servidor MCP a Claude Desktop</a:t>
            </a:r>
            <a:endParaRPr lang="en-US" sz="2250" dirty="0"/>
          </a:p>
        </p:txBody>
      </p:sp>
      <p:sp>
        <p:nvSpPr>
          <p:cNvPr id="5" name="Shape 3"/>
          <p:cNvSpPr/>
          <p:nvPr/>
        </p:nvSpPr>
        <p:spPr>
          <a:xfrm>
            <a:off x="578133" y="1319113"/>
            <a:ext cx="3564146" cy="4451251"/>
          </a:xfrm>
          <a:prstGeom prst="roundRect">
            <a:avLst>
              <a:gd name="adj" fmla="val 487"/>
            </a:avLst>
          </a:prstGeom>
          <a:solidFill>
            <a:srgbClr val="F9D2D6">
              <a:alpha val="95000"/>
            </a:srgbClr>
          </a:solidFill>
          <a:ln/>
        </p:spPr>
      </p:sp>
      <p:sp>
        <p:nvSpPr>
          <p:cNvPr id="6" name="Text 4"/>
          <p:cNvSpPr/>
          <p:nvPr/>
        </p:nvSpPr>
        <p:spPr>
          <a:xfrm>
            <a:off x="693819" y="1400076"/>
            <a:ext cx="3332774" cy="180876"/>
          </a:xfrm>
          <a:prstGeom prst="rect">
            <a:avLst/>
          </a:prstGeom>
          <a:noFill/>
          <a:ln/>
        </p:spPr>
        <p:txBody>
          <a:bodyPr wrap="none" lIns="0" tIns="0" rIns="0" bIns="0" rtlCol="0" anchor="t"/>
          <a:lstStyle/>
          <a:p>
            <a:pPr algn="l" indent="0" marL="0">
              <a:lnSpc>
                <a:spcPct val="104000"/>
              </a:lnSpc>
              <a:buNone/>
            </a:pPr>
            <a:r>
              <a:rPr lang="en-US" sz="1100" dirty="0">
                <a:solidFill>
                  <a:srgbClr val="1F1E1E"/>
                </a:solidFill>
                <a:latin typeface="Roboto Mono Medium" pitchFamily="34" charset="0"/>
                <a:ea typeface="Roboto Mono Medium" pitchFamily="34" charset="-122"/>
                <a:cs typeface="Roboto Mono Medium" pitchFamily="34" charset="-120"/>
              </a:rPr>
              <a:t>Método 1 — Desktop Extensions (5 min)</a:t>
            </a:r>
            <a:endParaRPr lang="en-US" sz="1100" dirty="0"/>
          </a:p>
        </p:txBody>
      </p:sp>
      <p:sp>
        <p:nvSpPr>
          <p:cNvPr id="7" name="Text 5"/>
          <p:cNvSpPr/>
          <p:nvPr/>
        </p:nvSpPr>
        <p:spPr>
          <a:xfrm>
            <a:off x="693819" y="1661914"/>
            <a:ext cx="3332774" cy="872133"/>
          </a:xfrm>
          <a:prstGeom prst="rect">
            <a:avLst/>
          </a:prstGeom>
          <a:noFill/>
          <a:ln/>
        </p:spPr>
        <p:txBody>
          <a:bodyPr wrap="square" lIns="0" tIns="0" rIns="0" bIns="0" rtlCol="0" anchor="t">
            <a:normAutofit/>
          </a:bodyPr>
          <a:lstStyle/>
          <a:p>
            <a:pPr algn="l" marL="182880" indent="-182880">
              <a:lnSpc>
                <a:spcPct val="113000"/>
              </a:lnSpc>
              <a:buSzPct val="100000"/>
              <a:buFont typeface="+mj-lt"/>
              <a:buAutoNum type="arabicPeriod" startAt="1"/>
            </a:pPr>
            <a:r>
              <a:rPr lang="en-US" sz="900" dirty="0">
                <a:solidFill>
                  <a:srgbClr val="3B3535"/>
                </a:solidFill>
                <a:latin typeface="Roboto" pitchFamily="34" charset="0"/>
                <a:ea typeface="Roboto" pitchFamily="34" charset="-122"/>
                <a:cs typeface="Roboto" pitchFamily="34" charset="-120"/>
              </a:rPr>
              <a:t>Abre Claude Desktop → Configuración (</a:t>
            </a:r>
            <a:pPr algn="l" marL="182880" indent="-182880">
              <a:lnSpc>
                <a:spcPct val="113000"/>
              </a:lnSpc>
              <a:buSzPct val="100000"/>
              <a:buFont typeface="+mj-lt"/>
              <a:buAutoNum type="arabicPeriod" startAt="1"/>
            </a:pPr>
            <a:r>
              <a:rPr lang="en-US" sz="900" dirty="0">
                <a:solidFill>
                  <a:srgbClr val="000000"/>
                </a:solidFill>
                <a:latin typeface="Roboto" pitchFamily="34" charset="0"/>
                <a:ea typeface="Roboto" pitchFamily="34" charset="-122"/>
                <a:cs typeface="Roboto" pitchFamily="34" charset="-120"/>
              </a:rPr>
              <a:t>⚙️</a:t>
            </a:r>
            <a:pPr algn="l" marL="182880" indent="-182880">
              <a:lnSpc>
                <a:spcPct val="113000"/>
              </a:lnSpc>
              <a:buSzPct val="100000"/>
              <a:buFont typeface="+mj-lt"/>
              <a:buAutoNum type="arabicPeriod" startAt="1"/>
            </a:pPr>
            <a:r>
              <a:rPr lang="en-US" sz="900" dirty="0">
                <a:solidFill>
                  <a:srgbClr val="3B3535"/>
                </a:solidFill>
                <a:latin typeface="Roboto" pitchFamily="34" charset="0"/>
                <a:ea typeface="Roboto" pitchFamily="34" charset="-122"/>
                <a:cs typeface="Roboto" pitchFamily="34" charset="-120"/>
              </a:rPr>
              <a:t>) → Extensions</a:t>
            </a:r>
            <a:endParaRPr lang="en-US" sz="900" dirty="0"/>
          </a:p>
          <a:p>
            <a:pPr algn="l" marL="182880" indent="-182880">
              <a:lnSpc>
                <a:spcPct val="113000"/>
              </a:lnSpc>
              <a:buSzPct val="100000"/>
              <a:buFont typeface="+mj-lt"/>
              <a:buAutoNum type="arabicPeriod" startAt="2"/>
            </a:pPr>
            <a:r>
              <a:rPr lang="en-US" sz="900" dirty="0">
                <a:solidFill>
                  <a:srgbClr val="3B3535"/>
                </a:solidFill>
                <a:latin typeface="Roboto" pitchFamily="34" charset="0"/>
                <a:ea typeface="Roboto" pitchFamily="34" charset="-122"/>
                <a:cs typeface="Roboto" pitchFamily="34" charset="-120"/>
              </a:rPr>
              <a:t>Busca el servidor deseado (ej. "Filesystem")</a:t>
            </a:r>
            <a:endParaRPr lang="en-US" sz="900" dirty="0"/>
          </a:p>
          <a:p>
            <a:pPr algn="l" marL="182880" indent="-182880">
              <a:lnSpc>
                <a:spcPct val="113000"/>
              </a:lnSpc>
              <a:buSzPct val="100000"/>
              <a:buFont typeface="+mj-lt"/>
              <a:buAutoNum type="arabicPeriod" startAt="3"/>
            </a:pPr>
            <a:r>
              <a:rPr lang="en-US" sz="900" dirty="0">
                <a:solidFill>
                  <a:srgbClr val="3B3535"/>
                </a:solidFill>
                <a:latin typeface="Roboto" pitchFamily="34" charset="0"/>
                <a:ea typeface="Roboto" pitchFamily="34" charset="-122"/>
                <a:cs typeface="Roboto" pitchFamily="34" charset="-120"/>
              </a:rPr>
              <a:t>Haz clic en Instalar → Concede permisos</a:t>
            </a:r>
            <a:endParaRPr lang="en-US" sz="900" dirty="0"/>
          </a:p>
          <a:p>
            <a:pPr algn="l" marL="182880" indent="-182880">
              <a:lnSpc>
                <a:spcPct val="113000"/>
              </a:lnSpc>
              <a:buSzPct val="100000"/>
              <a:buFont typeface="+mj-lt"/>
              <a:buAutoNum type="arabicPeriod" startAt="4"/>
            </a:pPr>
            <a:r>
              <a:rPr lang="en-US" sz="900" dirty="0">
                <a:solidFill>
                  <a:srgbClr val="3B3535"/>
                </a:solidFill>
                <a:latin typeface="Roboto" pitchFamily="34" charset="0"/>
                <a:ea typeface="Roboto" pitchFamily="34" charset="-122"/>
                <a:cs typeface="Roboto" pitchFamily="34" charset="-120"/>
              </a:rPr>
              <a:t>Inicia un nuevo chat y prueba: "Lista los archivos de mi carpeta Documentos"</a:t>
            </a:r>
            <a:endParaRPr lang="en-US" sz="900" dirty="0"/>
          </a:p>
        </p:txBody>
      </p:sp>
      <p:sp>
        <p:nvSpPr>
          <p:cNvPr id="8" name="Text 6"/>
          <p:cNvSpPr/>
          <p:nvPr/>
        </p:nvSpPr>
        <p:spPr>
          <a:xfrm>
            <a:off x="4347657" y="1400076"/>
            <a:ext cx="3397463" cy="180876"/>
          </a:xfrm>
          <a:prstGeom prst="rect">
            <a:avLst/>
          </a:prstGeom>
          <a:noFill/>
          <a:ln/>
        </p:spPr>
        <p:txBody>
          <a:bodyPr wrap="none" lIns="0" tIns="0" rIns="0" bIns="0" rtlCol="0" anchor="t"/>
          <a:lstStyle/>
          <a:p>
            <a:pPr algn="l" indent="0" marL="0">
              <a:lnSpc>
                <a:spcPct val="104000"/>
              </a:lnSpc>
              <a:buNone/>
            </a:pPr>
            <a:r>
              <a:rPr lang="en-US" sz="1100" dirty="0">
                <a:solidFill>
                  <a:srgbClr val="1F1E1E"/>
                </a:solidFill>
                <a:latin typeface="Roboto Mono Medium" pitchFamily="34" charset="0"/>
                <a:ea typeface="Roboto Mono Medium" pitchFamily="34" charset="-122"/>
                <a:cs typeface="Roboto Mono Medium" pitchFamily="34" charset="-120"/>
              </a:rPr>
              <a:t>Método 2 — Configuración manual (JSON)</a:t>
            </a:r>
            <a:endParaRPr lang="en-US" sz="1100" dirty="0"/>
          </a:p>
        </p:txBody>
      </p:sp>
      <p:sp>
        <p:nvSpPr>
          <p:cNvPr id="9" name="Text 7"/>
          <p:cNvSpPr/>
          <p:nvPr/>
        </p:nvSpPr>
        <p:spPr>
          <a:xfrm>
            <a:off x="4347657" y="1661914"/>
            <a:ext cx="4007047"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Edita el archivo de configuración en:</a:t>
            </a:r>
            <a:endParaRPr lang="en-US" sz="900" dirty="0"/>
          </a:p>
        </p:txBody>
      </p:sp>
      <p:sp>
        <p:nvSpPr>
          <p:cNvPr id="10" name="Text 8"/>
          <p:cNvSpPr/>
          <p:nvPr/>
        </p:nvSpPr>
        <p:spPr>
          <a:xfrm>
            <a:off x="4347657" y="1892300"/>
            <a:ext cx="3397463" cy="500658"/>
          </a:xfrm>
          <a:prstGeom prst="rect">
            <a:avLst/>
          </a:prstGeom>
          <a:noFill/>
          <a:ln/>
        </p:spPr>
        <p:txBody>
          <a:bodyPr wrap="square" lIns="0" tIns="46310" rIns="0" bIns="0" rtlCol="0" anchor="t">
            <a:normAutofit/>
          </a:bodyPr>
          <a:lstStyle/>
          <a:p>
            <a:pPr algn="l" marL="182880" indent="-182880">
              <a:lnSpc>
                <a:spcPct val="113000"/>
              </a:lnSpc>
              <a:buSzPct val="100000"/>
              <a:buChar char="•"/>
            </a:pPr>
            <a:r>
              <a:rPr lang="en-US" sz="900" dirty="0">
                <a:solidFill>
                  <a:srgbClr val="3B3535"/>
                </a:solidFill>
                <a:latin typeface="Roboto" pitchFamily="34" charset="0"/>
                <a:ea typeface="Roboto" pitchFamily="34" charset="-122"/>
                <a:cs typeface="Roboto" pitchFamily="34" charset="-120"/>
              </a:rPr>
              <a:t>macOS: ~/Library/Application Support/Claude/claude_desktop_config.json</a:t>
            </a:r>
            <a:endParaRPr lang="en-US" sz="900" dirty="0"/>
          </a:p>
          <a:p>
            <a:pPr algn="l" marL="182880" indent="-182880">
              <a:lnSpc>
                <a:spcPct val="113000"/>
              </a:lnSpc>
              <a:buSzPct val="100000"/>
              <a:buChar char="•"/>
            </a:pPr>
            <a:r>
              <a:rPr lang="en-US" sz="900" dirty="0">
                <a:solidFill>
                  <a:srgbClr val="3B3535"/>
                </a:solidFill>
                <a:latin typeface="Roboto" pitchFamily="34" charset="0"/>
                <a:ea typeface="Roboto" pitchFamily="34" charset="-122"/>
                <a:cs typeface="Roboto" pitchFamily="34" charset="-120"/>
              </a:rPr>
              <a:t>Windows: %APPDATA%\Claude\claude_desktop_config.json</a:t>
            </a:r>
            <a:endParaRPr lang="en-US" sz="900" dirty="0"/>
          </a:p>
        </p:txBody>
      </p:sp>
      <p:sp>
        <p:nvSpPr>
          <p:cNvPr id="11" name="Shape 9"/>
          <p:cNvSpPr/>
          <p:nvPr/>
        </p:nvSpPr>
        <p:spPr>
          <a:xfrm>
            <a:off x="4347657" y="2484041"/>
            <a:ext cx="3397463" cy="3195241"/>
          </a:xfrm>
          <a:prstGeom prst="roundRect">
            <a:avLst>
              <a:gd name="adj" fmla="val 238"/>
            </a:avLst>
          </a:prstGeom>
          <a:solidFill>
            <a:srgbClr val="F2F2F2"/>
          </a:solidFill>
          <a:ln/>
        </p:spPr>
      </p:sp>
      <p:sp>
        <p:nvSpPr>
          <p:cNvPr id="12" name="Text 10"/>
          <p:cNvSpPr/>
          <p:nvPr/>
        </p:nvSpPr>
        <p:spPr>
          <a:xfrm>
            <a:off x="4486560" y="2599730"/>
            <a:ext cx="3119657" cy="2963863"/>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"mcpServers":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"filesystem":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"command": "npx",</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"args": ["-y", "@modelcontextprotocol/server-filesystem", "/ruta/a/tu/proyecto"]</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"github":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"command": "npx",</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"args": ["-y", "@modelcontextprotocol/server-github"],</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"env":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"GITHUB_PERSONAL_ACCESS_TOKEN": "tu_token"</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a:t>
            </a:r>
            <a:endParaRPr lang="en-US" sz="900" dirty="0"/>
          </a:p>
        </p:txBody>
      </p:sp>
      <p:sp>
        <p:nvSpPr>
          <p:cNvPr id="13" name="Shape 11"/>
          <p:cNvSpPr/>
          <p:nvPr/>
        </p:nvSpPr>
        <p:spPr>
          <a:xfrm>
            <a:off x="7950497" y="1319113"/>
            <a:ext cx="3675665" cy="4451251"/>
          </a:xfrm>
          <a:prstGeom prst="roundRect">
            <a:avLst>
              <a:gd name="adj" fmla="val 472"/>
            </a:avLst>
          </a:prstGeom>
          <a:solidFill>
            <a:srgbClr val="F0F4F8">
              <a:alpha val="95000"/>
            </a:srgbClr>
          </a:solidFill>
          <a:ln/>
        </p:spPr>
      </p:sp>
      <p:sp>
        <p:nvSpPr>
          <p:cNvPr id="14" name="Text 12"/>
          <p:cNvSpPr/>
          <p:nvPr/>
        </p:nvSpPr>
        <p:spPr>
          <a:xfrm>
            <a:off x="8066183" y="1400076"/>
            <a:ext cx="3444293" cy="361752"/>
          </a:xfrm>
          <a:prstGeom prst="rect">
            <a:avLst/>
          </a:prstGeom>
          <a:noFill/>
          <a:ln/>
        </p:spPr>
        <p:txBody>
          <a:bodyPr wrap="square" lIns="0" tIns="0" rIns="0" bIns="0" rtlCol="0" anchor="t">
            <a:normAutofit/>
          </a:bodyPr>
          <a:lstStyle/>
          <a:p>
            <a:pPr algn="l" indent="0" marL="0">
              <a:lnSpc>
                <a:spcPct val="104000"/>
              </a:lnSpc>
              <a:buNone/>
            </a:pPr>
            <a:r>
              <a:rPr lang="en-US" sz="1100" dirty="0">
                <a:solidFill>
                  <a:srgbClr val="1F1E1E"/>
                </a:solidFill>
                <a:latin typeface="Roboto Mono Medium" pitchFamily="34" charset="0"/>
                <a:ea typeface="Roboto Mono Medium" pitchFamily="34" charset="-122"/>
                <a:cs typeface="Roboto Mono Medium" pitchFamily="34" charset="-120"/>
              </a:rPr>
              <a:t>Método 3 — Servidor MCP local (HTTP/SSE)</a:t>
            </a:r>
            <a:endParaRPr lang="en-US" sz="1100" dirty="0"/>
          </a:p>
        </p:txBody>
      </p:sp>
      <p:sp>
        <p:nvSpPr>
          <p:cNvPr id="15" name="Text 13"/>
          <p:cNvSpPr/>
          <p:nvPr/>
        </p:nvSpPr>
        <p:spPr>
          <a:xfrm>
            <a:off x="8066183" y="1842790"/>
            <a:ext cx="3444293" cy="843855"/>
          </a:xfrm>
          <a:prstGeom prst="rect">
            <a:avLst/>
          </a:prstGeom>
          <a:noFill/>
          <a:ln/>
        </p:spPr>
        <p:txBody>
          <a:bodyPr wrap="square" lIns="0" tIns="0" rIns="0" bIns="0" rtlCol="0" anchor="t">
            <a:normAutofit/>
          </a:bodyPr>
          <a:lstStyle/>
          <a:p>
            <a:pPr algn="l" marL="182880" indent="-182880">
              <a:lnSpc>
                <a:spcPct val="113000"/>
              </a:lnSpc>
              <a:buSzPct val="100000"/>
              <a:buFont typeface="+mj-lt"/>
              <a:buAutoNum type="arabicPeriod" startAt="1"/>
            </a:pPr>
            <a:r>
              <a:rPr lang="en-US" sz="900" dirty="0">
                <a:solidFill>
                  <a:srgbClr val="3B3535"/>
                </a:solidFill>
                <a:latin typeface="Roboto" pitchFamily="34" charset="0"/>
                <a:ea typeface="Roboto" pitchFamily="34" charset="-122"/>
                <a:cs typeface="Roboto" pitchFamily="34" charset="-120"/>
              </a:rPr>
              <a:t>Asegurate de que el servidor esté corriendo en http://localhost:8002/mcp</a:t>
            </a:r>
            <a:endParaRPr lang="en-US" sz="900" dirty="0"/>
          </a:p>
          <a:p>
            <a:pPr algn="l" marL="182880" indent="-182880">
              <a:lnSpc>
                <a:spcPct val="113000"/>
              </a:lnSpc>
              <a:buSzPct val="100000"/>
              <a:buFont typeface="+mj-lt"/>
              <a:buAutoNum type="arabicPeriod" startAt="2"/>
            </a:pPr>
            <a:r>
              <a:rPr lang="en-US" sz="900" dirty="0">
                <a:solidFill>
                  <a:srgbClr val="3B3535"/>
                </a:solidFill>
                <a:latin typeface="Roboto" pitchFamily="34" charset="0"/>
                <a:ea typeface="Roboto" pitchFamily="34" charset="-122"/>
                <a:cs typeface="Roboto" pitchFamily="34" charset="-120"/>
              </a:rPr>
              <a:t>Edita el archivo claude_desktop_config.json (mismas rutas que Método 2)</a:t>
            </a:r>
            <a:endParaRPr lang="en-US" sz="900" dirty="0"/>
          </a:p>
          <a:p>
            <a:pPr algn="l" marL="182880" indent="-182880">
              <a:lnSpc>
                <a:spcPct val="113000"/>
              </a:lnSpc>
              <a:buSzPct val="100000"/>
              <a:buFont typeface="+mj-lt"/>
              <a:buAutoNum type="arabicPeriod" startAt="3"/>
            </a:pPr>
            <a:r>
              <a:rPr lang="en-US" sz="900" dirty="0">
                <a:solidFill>
                  <a:srgbClr val="3B3535"/>
                </a:solidFill>
                <a:latin typeface="Roboto" pitchFamily="34" charset="0"/>
                <a:ea typeface="Roboto" pitchFamily="34" charset="-122"/>
                <a:cs typeface="Roboto" pitchFamily="34" charset="-120"/>
              </a:rPr>
              <a:t>Agrega la entrada con transport "http":</a:t>
            </a:r>
            <a:endParaRPr lang="en-US" sz="900" dirty="0"/>
          </a:p>
        </p:txBody>
      </p:sp>
      <p:sp>
        <p:nvSpPr>
          <p:cNvPr id="16" name="Shape 14"/>
          <p:cNvSpPr/>
          <p:nvPr/>
        </p:nvSpPr>
        <p:spPr>
          <a:xfrm>
            <a:off x="8066183" y="2777728"/>
            <a:ext cx="3444293" cy="1713309"/>
          </a:xfrm>
          <a:prstGeom prst="roundRect">
            <a:avLst>
              <a:gd name="adj" fmla="val 445"/>
            </a:avLst>
          </a:prstGeom>
          <a:solidFill>
            <a:srgbClr val="E3E7EB"/>
          </a:solidFill>
          <a:ln/>
        </p:spPr>
      </p:sp>
      <p:sp>
        <p:nvSpPr>
          <p:cNvPr id="17" name="Text 15"/>
          <p:cNvSpPr/>
          <p:nvPr/>
        </p:nvSpPr>
        <p:spPr>
          <a:xfrm>
            <a:off x="8205086" y="2893417"/>
            <a:ext cx="3166487" cy="1481931"/>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"mcpServers":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"mi-servidor-local":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"type": "http",</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"url": "http://localhost:8002/mcp"</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  }</a:t>
            </a:r>
            <a:endParaRPr lang="en-US" sz="900" dirty="0"/>
          </a:p>
          <a:p>
            <a:pPr algn="l" indent="0" marL="0">
              <a:lnSpc>
                <a:spcPct val="133000"/>
              </a:lnSpc>
              <a:buNone/>
            </a:pPr>
            <a:r>
              <a:rPr lang="en-US" sz="900" dirty="0">
                <a:solidFill>
                  <a:srgbClr val="24292E"/>
                </a:solidFill>
                <a:latin typeface="Consolas" pitchFamily="34" charset="0"/>
                <a:ea typeface="Consolas" pitchFamily="34" charset="-122"/>
                <a:cs typeface="Consolas" pitchFamily="34" charset="-120"/>
              </a:rPr>
              <a:t>}</a:t>
            </a:r>
            <a:endParaRPr lang="en-US" sz="900" dirty="0"/>
          </a:p>
        </p:txBody>
      </p:sp>
      <p:sp>
        <p:nvSpPr>
          <p:cNvPr id="18" name="Text 16"/>
          <p:cNvSpPr/>
          <p:nvPr/>
        </p:nvSpPr>
        <p:spPr>
          <a:xfrm>
            <a:off x="8066183" y="4582120"/>
            <a:ext cx="3444293" cy="702766"/>
          </a:xfrm>
          <a:prstGeom prst="rect">
            <a:avLst/>
          </a:prstGeom>
          <a:noFill/>
          <a:ln/>
        </p:spPr>
        <p:txBody>
          <a:bodyPr wrap="square" lIns="0" tIns="0" rIns="0" bIns="0" rtlCol="0" anchor="t">
            <a:normAutofit/>
          </a:bodyPr>
          <a:lstStyle/>
          <a:p>
            <a:pPr algn="l" indent="0" marL="0">
              <a:lnSpc>
                <a:spcPct val="113000"/>
              </a:lnSpc>
              <a:spcAft>
                <a:spcPts val="550"/>
              </a:spcAft>
              <a:buNone/>
            </a:pPr>
            <a:r>
              <a:rPr lang="en-US" sz="900" dirty="0">
                <a:solidFill>
                  <a:srgbClr val="3B3535"/>
                </a:solidFill>
                <a:latin typeface="Roboto" pitchFamily="34" charset="0"/>
                <a:ea typeface="Roboto" pitchFamily="34" charset="-122"/>
                <a:cs typeface="Roboto" pitchFamily="34" charset="-120"/>
              </a:rPr>
              <a:t>Útil para servidores propios en desarrollo o herramientas internas de la organización.</a:t>
            </a:r>
            <a:endParaRPr lang="en-US" sz="900" dirty="0"/>
          </a:p>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4. Reinicia Claude Desktop y verificá que aparezca el ícono </a:t>
            </a:r>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 en el chat.</a:t>
            </a:r>
            <a:endParaRPr lang="en-US" sz="900" dirty="0"/>
          </a:p>
        </p:txBody>
      </p:sp>
      <p:sp>
        <p:nvSpPr>
          <p:cNvPr id="19" name="Shape 17"/>
          <p:cNvSpPr/>
          <p:nvPr/>
        </p:nvSpPr>
        <p:spPr>
          <a:xfrm>
            <a:off x="661475" y="5861447"/>
            <a:ext cx="10868745" cy="369094"/>
          </a:xfrm>
          <a:prstGeom prst="roundRect">
            <a:avLst>
              <a:gd name="adj" fmla="val 2064"/>
            </a:avLst>
          </a:prstGeom>
          <a:solidFill>
            <a:srgbClr val="F9D2D6"/>
          </a:solidFill>
          <a:ln/>
        </p:spPr>
      </p:sp>
      <p:pic>
        <p:nvPicPr>
          <p:cNvPr id="20" name="Image 0" descr="preencoded.png">    </p:cNvPr>
          <p:cNvPicPr>
            <a:picLocks noChangeAspect="1"/>
          </p:cNvPicPr>
          <p:nvPr/>
        </p:nvPicPr>
        <p:blipFill>
          <a:blip r:embed="rId1"/>
          <a:stretch>
            <a:fillRect/>
          </a:stretch>
        </p:blipFill>
        <p:spPr>
          <a:xfrm>
            <a:off x="777161" y="5977930"/>
            <a:ext cx="144657" cy="115689"/>
          </a:xfrm>
          <a:prstGeom prst="rect">
            <a:avLst/>
          </a:prstGeom>
        </p:spPr>
      </p:pic>
      <p:sp>
        <p:nvSpPr>
          <p:cNvPr id="21" name="Text 18"/>
          <p:cNvSpPr/>
          <p:nvPr/>
        </p:nvSpPr>
        <p:spPr>
          <a:xfrm>
            <a:off x="1037505" y="5971282"/>
            <a:ext cx="1098661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a:t>
            </a:r>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 </a:t>
            </a:r>
            <a:pPr algn="l" indent="0" marL="0">
              <a:lnSpc>
                <a:spcPct val="113000"/>
              </a:lnSpc>
              <a:buNone/>
            </a:pPr>
            <a:r>
              <a:rPr lang="en-US" sz="900" b="1" dirty="0">
                <a:solidFill>
                  <a:srgbClr val="000000"/>
                </a:solidFill>
                <a:latin typeface="Roboto Bold" pitchFamily="34" charset="0"/>
                <a:ea typeface="Roboto Bold" pitchFamily="34" charset="-122"/>
                <a:cs typeface="Roboto Bold" pitchFamily="34" charset="-120"/>
              </a:rPr>
              <a:t>Seguridad:</a:t>
            </a:r>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 Usa servidores MCP de fuentes confiables. Los servidores que acceden a contenido externo pueden exponer a ataques de prompt injection. Verifica siempre el origen antes de instalar.</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661475" y="2209800"/>
            <a:ext cx="1898007" cy="251420"/>
          </a:xfrm>
          <a:prstGeom prst="roundRect">
            <a:avLst>
              <a:gd name="adj" fmla="val 3031"/>
            </a:avLst>
          </a:prstGeom>
          <a:solidFill>
            <a:srgbClr val="F9D2D6"/>
          </a:solidFill>
          <a:ln/>
        </p:spPr>
      </p:sp>
      <p:sp>
        <p:nvSpPr>
          <p:cNvPr id="3" name="Text 1"/>
          <p:cNvSpPr/>
          <p:nvPr/>
        </p:nvSpPr>
        <p:spPr>
          <a:xfrm>
            <a:off x="760691" y="2259409"/>
            <a:ext cx="2309159"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ARQUITECTURA Y USO</a:t>
            </a:r>
            <a:endParaRPr lang="en-US" sz="1000" dirty="0"/>
          </a:p>
        </p:txBody>
      </p:sp>
      <p:sp>
        <p:nvSpPr>
          <p:cNvPr id="4" name="Text 2"/>
          <p:cNvSpPr/>
          <p:nvPr/>
        </p:nvSpPr>
        <p:spPr>
          <a:xfrm>
            <a:off x="661475" y="252730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Ejemplo MCP Server</a:t>
            </a:r>
            <a:endParaRPr lang="en-US" sz="3250" dirty="0"/>
          </a:p>
        </p:txBody>
      </p:sp>
      <p:sp>
        <p:nvSpPr>
          <p:cNvPr id="5" name="Text 3"/>
          <p:cNvSpPr/>
          <p:nvPr/>
        </p:nvSpPr>
        <p:spPr>
          <a:xfrm>
            <a:off x="661475" y="3292078"/>
            <a:ext cx="10868745" cy="715268"/>
          </a:xfrm>
          <a:prstGeom prst="rect">
            <a:avLst/>
          </a:prstGeom>
          <a:noFill/>
          <a:ln/>
        </p:spPr>
        <p:txBody>
          <a:bodyPr wrap="square" lIns="0" tIns="0" rIns="0" bIns="0" rtlCol="0" anchor="t"/>
          <a:lstStyle/>
          <a:p>
            <a:pPr algn="l" indent="0" marL="0">
              <a:lnSpc>
                <a:spcPct val="133000"/>
              </a:lnSpc>
              <a:spcAft>
                <a:spcPts val="1450"/>
              </a:spcAft>
              <a:buNone/>
            </a:pPr>
            <a:endParaRPr lang="en-US" sz="1300" dirty="0"/>
          </a:p>
        </p:txBody>
      </p:sp>
      <p:pic>
        <p:nvPicPr>
          <p:cNvPr id="6" name="Image 0" descr="preencoded.png">
            <a:hlinkClick r:id="rId2" tooltip=""/>
          </p:cNvPr>
          <p:cNvPicPr>
            <a:picLocks noChangeAspect="1"/>
          </p:cNvPicPr>
          <p:nvPr/>
        </p:nvPicPr>
        <p:blipFill>
          <a:blip r:embed="rId1"/>
          <a:stretch>
            <a:fillRect/>
          </a:stretch>
        </p:blipFill>
        <p:spPr>
          <a:xfrm>
            <a:off x="661475" y="4193381"/>
            <a:ext cx="1279096" cy="45481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661475" y="598487"/>
            <a:ext cx="1328506" cy="176014"/>
          </a:xfrm>
          <a:prstGeom prst="roundRect">
            <a:avLst>
              <a:gd name="adj" fmla="val 4329"/>
            </a:avLst>
          </a:prstGeom>
          <a:solidFill>
            <a:srgbClr val="F9D2D6"/>
          </a:solidFill>
          <a:ln/>
        </p:spPr>
      </p:sp>
      <p:sp>
        <p:nvSpPr>
          <p:cNvPr id="3" name="Text 1"/>
          <p:cNvSpPr/>
          <p:nvPr/>
        </p:nvSpPr>
        <p:spPr>
          <a:xfrm>
            <a:off x="730926" y="633214"/>
            <a:ext cx="1799188" cy="106561"/>
          </a:xfrm>
          <a:prstGeom prst="rect">
            <a:avLst/>
          </a:prstGeom>
          <a:noFill/>
          <a:ln/>
        </p:spPr>
        <p:txBody>
          <a:bodyPr wrap="none" lIns="0" tIns="0" rIns="0" bIns="0" rtlCol="0" anchor="t"/>
          <a:lstStyle/>
          <a:p>
            <a:pPr algn="l" indent="0" marL="0">
              <a:lnSpc>
                <a:spcPct val="96000"/>
              </a:lnSpc>
              <a:buNone/>
            </a:pPr>
            <a:r>
              <a:rPr lang="en-US" sz="700" dirty="0">
                <a:solidFill>
                  <a:srgbClr val="3B3535"/>
                </a:solidFill>
                <a:latin typeface="Roboto" pitchFamily="34" charset="0"/>
                <a:ea typeface="Roboto" pitchFamily="34" charset="-122"/>
                <a:cs typeface="Roboto" pitchFamily="34" charset="-120"/>
              </a:rPr>
              <a:t>MCP: ARQUITECTURA Y USO</a:t>
            </a:r>
            <a:endParaRPr lang="en-US" sz="700" dirty="0"/>
          </a:p>
        </p:txBody>
      </p:sp>
      <p:sp>
        <p:nvSpPr>
          <p:cNvPr id="4" name="Text 2"/>
          <p:cNvSpPr/>
          <p:nvPr/>
        </p:nvSpPr>
        <p:spPr>
          <a:xfrm>
            <a:off x="661475" y="806847"/>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1F1E1E"/>
                </a:solidFill>
                <a:latin typeface="Roboto Mono Medium" pitchFamily="34" charset="0"/>
                <a:ea typeface="Roboto Mono Medium" pitchFamily="34" charset="-122"/>
                <a:cs typeface="Roboto Mono Medium" pitchFamily="34" charset="-120"/>
              </a:rPr>
              <a:t>Precisión del agente según complejidad de parámetros</a:t>
            </a:r>
            <a:endParaRPr lang="en-US" sz="2250" dirty="0"/>
          </a:p>
        </p:txBody>
      </p:sp>
      <p:pic>
        <p:nvPicPr>
          <p:cNvPr id="5" name="Image 0" descr="preencoded.png">    </p:cNvPr>
          <p:cNvPicPr>
            <a:picLocks noChangeAspect="1"/>
          </p:cNvPicPr>
          <p:nvPr/>
        </p:nvPicPr>
        <p:blipFill>
          <a:blip r:embed="rId1"/>
          <a:stretch>
            <a:fillRect/>
          </a:stretch>
        </p:blipFill>
        <p:spPr>
          <a:xfrm>
            <a:off x="661475" y="1290141"/>
            <a:ext cx="7608102" cy="4260552"/>
          </a:xfrm>
          <a:prstGeom prst="rect">
            <a:avLst/>
          </a:prstGeom>
        </p:spPr>
      </p:pic>
      <p:sp>
        <p:nvSpPr>
          <p:cNvPr id="6" name="Shape 3"/>
          <p:cNvSpPr/>
          <p:nvPr/>
        </p:nvSpPr>
        <p:spPr>
          <a:xfrm>
            <a:off x="661475" y="5641777"/>
            <a:ext cx="10868745" cy="369094"/>
          </a:xfrm>
          <a:prstGeom prst="roundRect">
            <a:avLst>
              <a:gd name="adj" fmla="val 2064"/>
            </a:avLst>
          </a:prstGeom>
          <a:solidFill>
            <a:srgbClr val="F9D2D6"/>
          </a:solidFill>
          <a:ln/>
        </p:spPr>
      </p:sp>
      <p:pic>
        <p:nvPicPr>
          <p:cNvPr id="7" name="Image 1" descr="preencoded.png">    </p:cNvPr>
          <p:cNvPicPr>
            <a:picLocks noChangeAspect="1"/>
          </p:cNvPicPr>
          <p:nvPr/>
        </p:nvPicPr>
        <p:blipFill>
          <a:blip r:embed="rId2"/>
          <a:stretch>
            <a:fillRect/>
          </a:stretch>
        </p:blipFill>
        <p:spPr>
          <a:xfrm>
            <a:off x="777161" y="5758259"/>
            <a:ext cx="144657" cy="115689"/>
          </a:xfrm>
          <a:prstGeom prst="rect">
            <a:avLst/>
          </a:prstGeom>
        </p:spPr>
      </p:pic>
      <p:sp>
        <p:nvSpPr>
          <p:cNvPr id="8" name="Text 4"/>
          <p:cNvSpPr/>
          <p:nvPr/>
        </p:nvSpPr>
        <p:spPr>
          <a:xfrm>
            <a:off x="1037505" y="5751612"/>
            <a:ext cx="1098661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Más parámetros = mayor carga cognitiva = más confusión. Diseña múltiples herramientas simples en lugar de una herramienta compleja.</a:t>
            </a:r>
            <a:endParaRPr lang="en-US" sz="900" dirty="0"/>
          </a:p>
        </p:txBody>
      </p:sp>
      <p:sp>
        <p:nvSpPr>
          <p:cNvPr id="9" name="Text 5"/>
          <p:cNvSpPr/>
          <p:nvPr/>
        </p:nvSpPr>
        <p:spPr>
          <a:xfrm>
            <a:off x="661475" y="6101953"/>
            <a:ext cx="11478330" cy="157460"/>
          </a:xfrm>
          <a:prstGeom prst="rect">
            <a:avLst/>
          </a:prstGeom>
          <a:noFill/>
          <a:ln/>
        </p:spPr>
        <p:txBody>
          <a:bodyPr wrap="none" lIns="0" tIns="0" rIns="0" bIns="0" rtlCol="0" anchor="t"/>
          <a:lstStyle/>
          <a:p>
            <a:pPr algn="l" indent="0" marL="0">
              <a:lnSpc>
                <a:spcPct val="113000"/>
              </a:lnSpc>
              <a:buNone/>
            </a:pPr>
            <a:r>
              <a:rPr lang="en-US" sz="900" dirty="0">
                <a:solidFill>
                  <a:srgbClr val="3B3535"/>
                </a:solidFill>
                <a:latin typeface="Roboto" pitchFamily="34" charset="0"/>
                <a:ea typeface="Roboto" pitchFamily="34" charset="-122"/>
                <a:cs typeface="Roboto" pitchFamily="34" charset="-120"/>
              </a:rPr>
              <a:t>Fuente: "Tool Space Interference in the MCP Era" — Microsoft Research</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661475" y="2364879"/>
            <a:ext cx="1898007" cy="251420"/>
          </a:xfrm>
          <a:prstGeom prst="roundRect">
            <a:avLst>
              <a:gd name="adj" fmla="val 3031"/>
            </a:avLst>
          </a:prstGeom>
          <a:solidFill>
            <a:srgbClr val="F9D2D6"/>
          </a:solidFill>
          <a:ln/>
        </p:spPr>
      </p:sp>
      <p:sp>
        <p:nvSpPr>
          <p:cNvPr id="3" name="Text 1"/>
          <p:cNvSpPr/>
          <p:nvPr/>
        </p:nvSpPr>
        <p:spPr>
          <a:xfrm>
            <a:off x="760691" y="2414488"/>
            <a:ext cx="2309159"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ARQUITECTURA Y USO</a:t>
            </a:r>
            <a:endParaRPr lang="en-US" sz="1000" dirty="0"/>
          </a:p>
        </p:txBody>
      </p:sp>
      <p:sp>
        <p:nvSpPr>
          <p:cNvPr id="4" name="Text 2"/>
          <p:cNvSpPr/>
          <p:nvPr/>
        </p:nvSpPr>
        <p:spPr>
          <a:xfrm>
            <a:off x="661475" y="2682379"/>
            <a:ext cx="10868745" cy="1033463"/>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Arquitectura multi-servidor: Agente de soporte al cliente</a:t>
            </a:r>
            <a:endParaRPr lang="en-US" sz="3250" dirty="0"/>
          </a:p>
        </p:txBody>
      </p:sp>
      <p:sp>
        <p:nvSpPr>
          <p:cNvPr id="5" name="Text 3"/>
          <p:cNvSpPr/>
          <p:nvPr/>
        </p:nvSpPr>
        <p:spPr>
          <a:xfrm>
            <a:off x="661475" y="3963888"/>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Cada servidor corre de forma independiente, gestiona su propio dominio y puede desplegarse o escalarse por separado. El agente no sabe ni le importa dónde viven las herramientas — las descubre todas vía tools/list.</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661475" y="786408"/>
            <a:ext cx="1802660" cy="238820"/>
          </a:xfrm>
          <a:prstGeom prst="roundRect">
            <a:avLst>
              <a:gd name="adj" fmla="val 3191"/>
            </a:avLst>
          </a:prstGeom>
          <a:solidFill>
            <a:srgbClr val="F9D2D6"/>
          </a:solidFill>
          <a:ln/>
        </p:spPr>
      </p:sp>
      <p:sp>
        <p:nvSpPr>
          <p:cNvPr id="3" name="Text 1"/>
          <p:cNvSpPr/>
          <p:nvPr/>
        </p:nvSpPr>
        <p:spPr>
          <a:xfrm>
            <a:off x="755730" y="833537"/>
            <a:ext cx="2223734" cy="144562"/>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MCP: ARQUITECTURA Y USO</a:t>
            </a:r>
            <a:endParaRPr lang="en-US" sz="950" dirty="0"/>
          </a:p>
        </p:txBody>
      </p:sp>
      <p:sp>
        <p:nvSpPr>
          <p:cNvPr id="4" name="Text 2"/>
          <p:cNvSpPr/>
          <p:nvPr/>
        </p:nvSpPr>
        <p:spPr>
          <a:xfrm>
            <a:off x="661475" y="1084858"/>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1F1E1E"/>
                </a:solidFill>
                <a:latin typeface="Roboto Mono Medium" pitchFamily="34" charset="0"/>
                <a:ea typeface="Roboto Mono Medium" pitchFamily="34" charset="-122"/>
                <a:cs typeface="Roboto Mono Medium" pitchFamily="34" charset="-120"/>
              </a:rPr>
              <a:t>MCP con Claude: Casos de uso prácticos</a:t>
            </a:r>
            <a:endParaRPr lang="en-US" sz="3050" dirty="0"/>
          </a:p>
        </p:txBody>
      </p:sp>
      <p:sp>
        <p:nvSpPr>
          <p:cNvPr id="5" name="Text 3"/>
          <p:cNvSpPr/>
          <p:nvPr/>
        </p:nvSpPr>
        <p:spPr>
          <a:xfrm>
            <a:off x="661475" y="1799630"/>
            <a:ext cx="10868745"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Con servidores MCP conectados, Claude deja de ser un chatbot y se convierte en un hub de trabajo que accede directamente a tus archivos, APIs, bases de datos y herramientas.</a:t>
            </a:r>
            <a:endParaRPr lang="en-US" sz="1200" dirty="0"/>
          </a:p>
        </p:txBody>
      </p:sp>
      <p:sp>
        <p:nvSpPr>
          <p:cNvPr id="6" name="Shape 4"/>
          <p:cNvSpPr/>
          <p:nvPr/>
        </p:nvSpPr>
        <p:spPr>
          <a:xfrm>
            <a:off x="661475" y="2457847"/>
            <a:ext cx="3523368" cy="1732459"/>
          </a:xfrm>
          <a:prstGeom prst="roundRect">
            <a:avLst>
              <a:gd name="adj" fmla="val 440"/>
            </a:avLst>
          </a:prstGeom>
          <a:solidFill>
            <a:srgbClr val="F2EEEE"/>
          </a:solidFill>
          <a:ln w="6350">
            <a:solidFill>
              <a:srgbClr val="D8D4D4"/>
            </a:solidFill>
            <a:prstDash val="solid"/>
          </a:ln>
        </p:spPr>
      </p:sp>
      <p:sp>
        <p:nvSpPr>
          <p:cNvPr id="7" name="Text 5"/>
          <p:cNvSpPr/>
          <p:nvPr/>
        </p:nvSpPr>
        <p:spPr>
          <a:xfrm>
            <a:off x="824884" y="2621260"/>
            <a:ext cx="3196550"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Gestión de código y GitHub</a:t>
            </a:r>
            <a:endParaRPr lang="en-US" sz="1500" dirty="0"/>
          </a:p>
        </p:txBody>
      </p:sp>
      <p:sp>
        <p:nvSpPr>
          <p:cNvPr id="8" name="Text 6"/>
          <p:cNvSpPr/>
          <p:nvPr/>
        </p:nvSpPr>
        <p:spPr>
          <a:xfrm>
            <a:off x="824884" y="2956322"/>
            <a:ext cx="3196550" cy="825004"/>
          </a:xfrm>
          <a:prstGeom prst="rect">
            <a:avLst/>
          </a:prstGeom>
          <a:noFill/>
          <a:ln/>
        </p:spPr>
        <p:txBody>
          <a:bodyPr wrap="square" lIns="0" tIns="0" rIns="0" bIns="0" rtlCol="0" anchor="t">
            <a:normAutofit/>
          </a:bodyPr>
          <a:lstStyle/>
          <a:p>
            <a:pPr algn="l" indent="0" marL="0">
              <a:lnSpc>
                <a:spcPct val="130000"/>
              </a:lnSpc>
              <a:spcAft>
                <a:spcPts val="700"/>
              </a:spcAft>
              <a:buNone/>
            </a:pPr>
            <a:r>
              <a:rPr lang="en-US" sz="1200" dirty="0">
                <a:solidFill>
                  <a:srgbClr val="3B3535"/>
                </a:solidFill>
                <a:latin typeface="Roboto" pitchFamily="34" charset="0"/>
                <a:ea typeface="Roboto" pitchFamily="34" charset="-122"/>
                <a:cs typeface="Roboto" pitchFamily="34" charset="-120"/>
              </a:rPr>
              <a:t>Implementa la funcionalidad descrita en el issue JIRA ENG-4521 y crea un PR en GitHub.</a:t>
            </a:r>
            <a:endParaRPr lang="en-US" sz="1200" dirty="0"/>
          </a:p>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Herramientas: GitHub MCP, Filesystem MCP</a:t>
            </a:r>
            <a:endParaRPr lang="en-US" sz="1200" dirty="0"/>
          </a:p>
        </p:txBody>
      </p:sp>
      <p:sp>
        <p:nvSpPr>
          <p:cNvPr id="9" name="Shape 7"/>
          <p:cNvSpPr/>
          <p:nvPr/>
        </p:nvSpPr>
        <p:spPr>
          <a:xfrm>
            <a:off x="4334064" y="2457847"/>
            <a:ext cx="3523467" cy="1732459"/>
          </a:xfrm>
          <a:prstGeom prst="roundRect">
            <a:avLst>
              <a:gd name="adj" fmla="val 440"/>
            </a:avLst>
          </a:prstGeom>
          <a:solidFill>
            <a:srgbClr val="F2EEEE"/>
          </a:solidFill>
          <a:ln w="6350">
            <a:solidFill>
              <a:srgbClr val="D8D4D4"/>
            </a:solidFill>
            <a:prstDash val="solid"/>
          </a:ln>
        </p:spPr>
      </p:sp>
      <p:sp>
        <p:nvSpPr>
          <p:cNvPr id="10" name="Text 8"/>
          <p:cNvSpPr/>
          <p:nvPr/>
        </p:nvSpPr>
        <p:spPr>
          <a:xfrm>
            <a:off x="4497473" y="2621260"/>
            <a:ext cx="3196649" cy="491133"/>
          </a:xfrm>
          <a:prstGeom prst="rect">
            <a:avLst/>
          </a:prstGeom>
          <a:noFill/>
          <a:ln/>
        </p:spPr>
        <p:txBody>
          <a:bodyPr wrap="square" lIns="0" tIns="0" rIns="0" bIns="0" rtlCol="0" anchor="t">
            <a:normAutofit/>
          </a:bodyPr>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Análisis de datos y monitoreo</a:t>
            </a:r>
            <a:endParaRPr lang="en-US" sz="1500" dirty="0"/>
          </a:p>
        </p:txBody>
      </p:sp>
      <p:sp>
        <p:nvSpPr>
          <p:cNvPr id="11" name="Text 9"/>
          <p:cNvSpPr/>
          <p:nvPr/>
        </p:nvSpPr>
        <p:spPr>
          <a:xfrm>
            <a:off x="4497473" y="3201888"/>
            <a:ext cx="3196649" cy="825004"/>
          </a:xfrm>
          <a:prstGeom prst="rect">
            <a:avLst/>
          </a:prstGeom>
          <a:noFill/>
          <a:ln/>
        </p:spPr>
        <p:txBody>
          <a:bodyPr wrap="square" lIns="0" tIns="0" rIns="0" bIns="0" rtlCol="0" anchor="t">
            <a:normAutofit/>
          </a:bodyPr>
          <a:lstStyle/>
          <a:p>
            <a:pPr algn="l" indent="0" marL="0">
              <a:lnSpc>
                <a:spcPct val="130000"/>
              </a:lnSpc>
              <a:spcAft>
                <a:spcPts val="700"/>
              </a:spcAft>
              <a:buNone/>
            </a:pPr>
            <a:r>
              <a:rPr lang="en-US" sz="1200" dirty="0">
                <a:solidFill>
                  <a:srgbClr val="3B3535"/>
                </a:solidFill>
                <a:latin typeface="Roboto" pitchFamily="34" charset="0"/>
                <a:ea typeface="Roboto" pitchFamily="34" charset="-122"/>
                <a:cs typeface="Roboto" pitchFamily="34" charset="-120"/>
              </a:rPr>
              <a:t>Revisa Sentry y Statsig para analizar el uso de la feature ENG-4521 y detectar errores.</a:t>
            </a:r>
            <a:endParaRPr lang="en-US" sz="1200" dirty="0"/>
          </a:p>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Herramientas: Sentry MCP, Statsig MCP</a:t>
            </a:r>
            <a:endParaRPr lang="en-US" sz="1200" dirty="0"/>
          </a:p>
        </p:txBody>
      </p:sp>
      <p:sp>
        <p:nvSpPr>
          <p:cNvPr id="12" name="Shape 10"/>
          <p:cNvSpPr/>
          <p:nvPr/>
        </p:nvSpPr>
        <p:spPr>
          <a:xfrm>
            <a:off x="8006753" y="2457847"/>
            <a:ext cx="3523368" cy="1732459"/>
          </a:xfrm>
          <a:prstGeom prst="roundRect">
            <a:avLst>
              <a:gd name="adj" fmla="val 440"/>
            </a:avLst>
          </a:prstGeom>
          <a:solidFill>
            <a:srgbClr val="F2EEEE"/>
          </a:solidFill>
          <a:ln w="6350">
            <a:solidFill>
              <a:srgbClr val="D8D4D4"/>
            </a:solidFill>
            <a:prstDash val="solid"/>
          </a:ln>
        </p:spPr>
      </p:sp>
      <p:sp>
        <p:nvSpPr>
          <p:cNvPr id="13" name="Text 11"/>
          <p:cNvSpPr/>
          <p:nvPr/>
        </p:nvSpPr>
        <p:spPr>
          <a:xfrm>
            <a:off x="8170162" y="2621260"/>
            <a:ext cx="3196550"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Consultas a bases de datos</a:t>
            </a:r>
            <a:endParaRPr lang="en-US" sz="1500" dirty="0"/>
          </a:p>
        </p:txBody>
      </p:sp>
      <p:sp>
        <p:nvSpPr>
          <p:cNvPr id="14" name="Text 12"/>
          <p:cNvSpPr/>
          <p:nvPr/>
        </p:nvSpPr>
        <p:spPr>
          <a:xfrm>
            <a:off x="8170162" y="2956322"/>
            <a:ext cx="3196550" cy="1070173"/>
          </a:xfrm>
          <a:prstGeom prst="rect">
            <a:avLst/>
          </a:prstGeom>
          <a:noFill/>
          <a:ln/>
        </p:spPr>
        <p:txBody>
          <a:bodyPr wrap="square" lIns="0" tIns="0" rIns="0" bIns="0" rtlCol="0" anchor="t">
            <a:normAutofit/>
          </a:bodyPr>
          <a:lstStyle/>
          <a:p>
            <a:pPr algn="l" indent="0" marL="0">
              <a:lnSpc>
                <a:spcPct val="130000"/>
              </a:lnSpc>
              <a:spcAft>
                <a:spcPts val="700"/>
              </a:spcAft>
              <a:buNone/>
            </a:pPr>
            <a:r>
              <a:rPr lang="en-US" sz="1200" dirty="0">
                <a:solidFill>
                  <a:srgbClr val="3B3535"/>
                </a:solidFill>
                <a:latin typeface="Roboto" pitchFamily="34" charset="0"/>
                <a:ea typeface="Roboto" pitchFamily="34" charset="-122"/>
                <a:cs typeface="Roboto" pitchFamily="34" charset="-120"/>
              </a:rPr>
              <a:t>Encuentra los emails de 10 usuarios aleatorios que usaron la feature ENG-4521 en nuestra base PostgreSQL.</a:t>
            </a:r>
            <a:endParaRPr lang="en-US" sz="1200" dirty="0"/>
          </a:p>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Herramientas: PostgreSQL MCP</a:t>
            </a:r>
            <a:endParaRPr lang="en-US" sz="1200" dirty="0"/>
          </a:p>
        </p:txBody>
      </p:sp>
      <p:sp>
        <p:nvSpPr>
          <p:cNvPr id="15" name="Shape 13"/>
          <p:cNvSpPr/>
          <p:nvPr/>
        </p:nvSpPr>
        <p:spPr>
          <a:xfrm>
            <a:off x="661475" y="4339530"/>
            <a:ext cx="3523368" cy="1732062"/>
          </a:xfrm>
          <a:prstGeom prst="roundRect">
            <a:avLst>
              <a:gd name="adj" fmla="val 440"/>
            </a:avLst>
          </a:prstGeom>
          <a:solidFill>
            <a:srgbClr val="F2EEEE"/>
          </a:solidFill>
          <a:ln w="6350">
            <a:solidFill>
              <a:srgbClr val="D8D4D4"/>
            </a:solidFill>
            <a:prstDash val="solid"/>
          </a:ln>
        </p:spPr>
      </p:sp>
      <p:sp>
        <p:nvSpPr>
          <p:cNvPr id="16" name="Text 14"/>
          <p:cNvSpPr/>
          <p:nvPr/>
        </p:nvSpPr>
        <p:spPr>
          <a:xfrm>
            <a:off x="824884" y="4502944"/>
            <a:ext cx="3196550"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Integración de diseño</a:t>
            </a:r>
            <a:endParaRPr lang="en-US" sz="1500" dirty="0"/>
          </a:p>
        </p:txBody>
      </p:sp>
      <p:sp>
        <p:nvSpPr>
          <p:cNvPr id="17" name="Text 15"/>
          <p:cNvSpPr/>
          <p:nvPr/>
        </p:nvSpPr>
        <p:spPr>
          <a:xfrm>
            <a:off x="824884" y="4838005"/>
            <a:ext cx="3196550" cy="1070173"/>
          </a:xfrm>
          <a:prstGeom prst="rect">
            <a:avLst/>
          </a:prstGeom>
          <a:noFill/>
          <a:ln/>
        </p:spPr>
        <p:txBody>
          <a:bodyPr wrap="square" lIns="0" tIns="0" rIns="0" bIns="0" rtlCol="0" anchor="t">
            <a:normAutofit/>
          </a:bodyPr>
          <a:lstStyle/>
          <a:p>
            <a:pPr algn="l" indent="0" marL="0">
              <a:lnSpc>
                <a:spcPct val="130000"/>
              </a:lnSpc>
              <a:spcAft>
                <a:spcPts val="700"/>
              </a:spcAft>
              <a:buNone/>
            </a:pPr>
            <a:r>
              <a:rPr lang="en-US" sz="1200" dirty="0">
                <a:solidFill>
                  <a:srgbClr val="3B3535"/>
                </a:solidFill>
                <a:latin typeface="Roboto" pitchFamily="34" charset="0"/>
                <a:ea typeface="Roboto" pitchFamily="34" charset="-122"/>
                <a:cs typeface="Roboto" pitchFamily="34" charset="-120"/>
              </a:rPr>
              <a:t>Actualiza nuestra plantilla de email estándar con los nuevos diseños de Figma publicados en Slack.</a:t>
            </a:r>
            <a:endParaRPr lang="en-US" sz="1200" dirty="0"/>
          </a:p>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Herramientas: Figma MCP, Slack MCP</a:t>
            </a:r>
            <a:endParaRPr lang="en-US" sz="1200" dirty="0"/>
          </a:p>
        </p:txBody>
      </p:sp>
      <p:sp>
        <p:nvSpPr>
          <p:cNvPr id="18" name="Shape 16"/>
          <p:cNvSpPr/>
          <p:nvPr/>
        </p:nvSpPr>
        <p:spPr>
          <a:xfrm>
            <a:off x="4334064" y="4339530"/>
            <a:ext cx="3523467" cy="1732062"/>
          </a:xfrm>
          <a:prstGeom prst="roundRect">
            <a:avLst>
              <a:gd name="adj" fmla="val 440"/>
            </a:avLst>
          </a:prstGeom>
          <a:solidFill>
            <a:srgbClr val="F2EEEE"/>
          </a:solidFill>
          <a:ln w="6350">
            <a:solidFill>
              <a:srgbClr val="D8D4D4"/>
            </a:solidFill>
            <a:prstDash val="solid"/>
          </a:ln>
        </p:spPr>
      </p:sp>
      <p:sp>
        <p:nvSpPr>
          <p:cNvPr id="19" name="Text 17"/>
          <p:cNvSpPr/>
          <p:nvPr/>
        </p:nvSpPr>
        <p:spPr>
          <a:xfrm>
            <a:off x="4497473" y="4502944"/>
            <a:ext cx="3196649"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Automatización de flujos</a:t>
            </a:r>
            <a:endParaRPr lang="en-US" sz="1500" dirty="0"/>
          </a:p>
        </p:txBody>
      </p:sp>
      <p:sp>
        <p:nvSpPr>
          <p:cNvPr id="20" name="Text 18"/>
          <p:cNvSpPr/>
          <p:nvPr/>
        </p:nvSpPr>
        <p:spPr>
          <a:xfrm>
            <a:off x="4497473" y="4838005"/>
            <a:ext cx="3196649" cy="1070173"/>
          </a:xfrm>
          <a:prstGeom prst="rect">
            <a:avLst/>
          </a:prstGeom>
          <a:noFill/>
          <a:ln/>
        </p:spPr>
        <p:txBody>
          <a:bodyPr wrap="square" lIns="0" tIns="0" rIns="0" bIns="0" rtlCol="0" anchor="t">
            <a:normAutofit/>
          </a:bodyPr>
          <a:lstStyle/>
          <a:p>
            <a:pPr algn="l" indent="0" marL="0">
              <a:lnSpc>
                <a:spcPct val="130000"/>
              </a:lnSpc>
              <a:spcAft>
                <a:spcPts val="700"/>
              </a:spcAft>
              <a:buNone/>
            </a:pPr>
            <a:r>
              <a:rPr lang="en-US" sz="1200" dirty="0">
                <a:solidFill>
                  <a:srgbClr val="3B3535"/>
                </a:solidFill>
                <a:latin typeface="Roboto" pitchFamily="34" charset="0"/>
                <a:ea typeface="Roboto" pitchFamily="34" charset="-122"/>
                <a:cs typeface="Roboto" pitchFamily="34" charset="-120"/>
              </a:rPr>
              <a:t>Crea borradores en Gmail invitando a esos 10 usuarios a una sesión de feedback sobre la nueva feature.</a:t>
            </a:r>
            <a:endParaRPr lang="en-US" sz="1200" dirty="0"/>
          </a:p>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Herramientas: Gmail MCP</a:t>
            </a:r>
            <a:endParaRPr lang="en-US" sz="1200" dirty="0"/>
          </a:p>
        </p:txBody>
      </p:sp>
      <p:sp>
        <p:nvSpPr>
          <p:cNvPr id="21" name="Shape 19"/>
          <p:cNvSpPr/>
          <p:nvPr/>
        </p:nvSpPr>
        <p:spPr>
          <a:xfrm>
            <a:off x="8006753" y="4339530"/>
            <a:ext cx="3523368" cy="1732062"/>
          </a:xfrm>
          <a:prstGeom prst="roundRect">
            <a:avLst>
              <a:gd name="adj" fmla="val 440"/>
            </a:avLst>
          </a:prstGeom>
          <a:solidFill>
            <a:srgbClr val="F2EEEE"/>
          </a:solidFill>
          <a:ln w="6350">
            <a:solidFill>
              <a:srgbClr val="D8D4D4"/>
            </a:solidFill>
            <a:prstDash val="solid"/>
          </a:ln>
        </p:spPr>
      </p:sp>
      <p:sp>
        <p:nvSpPr>
          <p:cNvPr id="22" name="Text 20"/>
          <p:cNvSpPr/>
          <p:nvPr/>
        </p:nvSpPr>
        <p:spPr>
          <a:xfrm>
            <a:off x="8170162" y="4502944"/>
            <a:ext cx="3196550"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Reacción a eventos externos</a:t>
            </a:r>
            <a:endParaRPr lang="en-US" sz="1500" dirty="0"/>
          </a:p>
        </p:txBody>
      </p:sp>
      <p:sp>
        <p:nvSpPr>
          <p:cNvPr id="23" name="Text 21"/>
          <p:cNvSpPr/>
          <p:nvPr/>
        </p:nvSpPr>
        <p:spPr>
          <a:xfrm>
            <a:off x="8170162" y="4838005"/>
            <a:ext cx="3196550" cy="1070173"/>
          </a:xfrm>
          <a:prstGeom prst="rect">
            <a:avLst/>
          </a:prstGeom>
          <a:noFill/>
          <a:ln/>
        </p:spPr>
        <p:txBody>
          <a:bodyPr wrap="square" lIns="0" tIns="0" rIns="0" bIns="0" rtlCol="0" anchor="t">
            <a:normAutofit/>
          </a:bodyPr>
          <a:lstStyle/>
          <a:p>
            <a:pPr algn="l" indent="0" marL="0">
              <a:lnSpc>
                <a:spcPct val="130000"/>
              </a:lnSpc>
              <a:spcAft>
                <a:spcPts val="700"/>
              </a:spcAft>
              <a:buNone/>
            </a:pPr>
            <a:r>
              <a:rPr lang="en-US" sz="1200" dirty="0">
                <a:solidFill>
                  <a:srgbClr val="3B3535"/>
                </a:solidFill>
                <a:latin typeface="Roboto" pitchFamily="34" charset="0"/>
                <a:ea typeface="Roboto" pitchFamily="34" charset="-122"/>
                <a:cs typeface="Roboto" pitchFamily="34" charset="-120"/>
              </a:rPr>
              <a:t>Claude puede reaccionar a mensajes de Telegram, Discord o eventos webhook en tiempo real mientras trabajas.</a:t>
            </a:r>
            <a:endParaRPr lang="en-US" sz="1200" dirty="0"/>
          </a:p>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Herramientas: Telegram MCP, Discord MCP</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661475" y="543917"/>
            <a:ext cx="1517910" cy="201116"/>
          </a:xfrm>
          <a:prstGeom prst="roundRect">
            <a:avLst>
              <a:gd name="adj" fmla="val 3789"/>
            </a:avLst>
          </a:prstGeom>
          <a:solidFill>
            <a:srgbClr val="F9D2D6"/>
          </a:solidFill>
          <a:ln/>
        </p:spPr>
      </p:sp>
      <p:sp>
        <p:nvSpPr>
          <p:cNvPr id="3" name="Text 1"/>
          <p:cNvSpPr/>
          <p:nvPr/>
        </p:nvSpPr>
        <p:spPr>
          <a:xfrm>
            <a:off x="740848" y="583605"/>
            <a:ext cx="1968748" cy="121741"/>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Roboto" pitchFamily="34" charset="0"/>
                <a:ea typeface="Roboto" pitchFamily="34" charset="-122"/>
                <a:cs typeface="Roboto" pitchFamily="34" charset="-120"/>
              </a:rPr>
              <a:t>MCP: ARQUITECTURA Y USO</a:t>
            </a:r>
            <a:endParaRPr lang="en-US" sz="800" dirty="0"/>
          </a:p>
        </p:txBody>
      </p:sp>
      <p:sp>
        <p:nvSpPr>
          <p:cNvPr id="4" name="Text 2"/>
          <p:cNvSpPr/>
          <p:nvPr/>
        </p:nvSpPr>
        <p:spPr>
          <a:xfrm>
            <a:off x="661475" y="787301"/>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1F1E1E"/>
                </a:solidFill>
                <a:latin typeface="Roboto Mono Medium" pitchFamily="34" charset="0"/>
                <a:ea typeface="Roboto Mono Medium" pitchFamily="34" charset="-122"/>
                <a:cs typeface="Roboto Mono Medium" pitchFamily="34" charset="-120"/>
              </a:rPr>
              <a:t>Servidores MCP populares: El ecosistema</a:t>
            </a:r>
            <a:endParaRPr lang="en-US" sz="2600" dirty="0"/>
          </a:p>
        </p:txBody>
      </p:sp>
      <p:sp>
        <p:nvSpPr>
          <p:cNvPr id="5" name="Text 3"/>
          <p:cNvSpPr/>
          <p:nvPr/>
        </p:nvSpPr>
        <p:spPr>
          <a:xfrm>
            <a:off x="661475" y="1359495"/>
            <a:ext cx="114783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Más de 890 servidores MCP disponibles. Aquí los más utilizados por categoría.</a:t>
            </a:r>
            <a:endParaRPr lang="en-US" sz="1000" dirty="0"/>
          </a:p>
        </p:txBody>
      </p:sp>
      <p:sp>
        <p:nvSpPr>
          <p:cNvPr id="6" name="Shape 4"/>
          <p:cNvSpPr/>
          <p:nvPr/>
        </p:nvSpPr>
        <p:spPr>
          <a:xfrm>
            <a:off x="661475" y="1669058"/>
            <a:ext cx="3552339" cy="1431032"/>
          </a:xfrm>
          <a:prstGeom prst="roundRect">
            <a:avLst>
              <a:gd name="adj" fmla="val 532"/>
            </a:avLst>
          </a:prstGeom>
          <a:solidFill>
            <a:srgbClr val="F2EEEE"/>
          </a:solidFill>
          <a:ln w="6350">
            <a:solidFill>
              <a:srgbClr val="D8D4D4"/>
            </a:solidFill>
            <a:prstDash val="solid"/>
          </a:ln>
        </p:spPr>
      </p:sp>
      <p:sp>
        <p:nvSpPr>
          <p:cNvPr id="7" name="Shape 5"/>
          <p:cNvSpPr/>
          <p:nvPr/>
        </p:nvSpPr>
        <p:spPr>
          <a:xfrm>
            <a:off x="800080" y="1807666"/>
            <a:ext cx="396865" cy="396875"/>
          </a:xfrm>
          <a:prstGeom prst="ellipse">
            <a:avLst/>
          </a:prstGeom>
          <a:solidFill>
            <a:srgbClr val="DA1B2E"/>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09218" y="1916807"/>
            <a:ext cx="178589" cy="178594"/>
          </a:xfrm>
          <a:prstGeom prst="rect">
            <a:avLst/>
          </a:prstGeom>
        </p:spPr>
      </p:pic>
      <p:sp>
        <p:nvSpPr>
          <p:cNvPr id="9" name="Text 6"/>
          <p:cNvSpPr/>
          <p:nvPr/>
        </p:nvSpPr>
        <p:spPr>
          <a:xfrm>
            <a:off x="800080" y="2310309"/>
            <a:ext cx="3275129"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Archivos y código</a:t>
            </a:r>
            <a:endParaRPr lang="en-US" sz="1300" dirty="0"/>
          </a:p>
        </p:txBody>
      </p:sp>
      <p:sp>
        <p:nvSpPr>
          <p:cNvPr id="10" name="Text 7"/>
          <p:cNvSpPr/>
          <p:nvPr/>
        </p:nvSpPr>
        <p:spPr>
          <a:xfrm>
            <a:off x="800080" y="2580481"/>
            <a:ext cx="3275129"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Filesystem: lectura/escritura de archivos locales. Git: gestión de repositorios. GitHub: PRs, issues, CI/CD.</a:t>
            </a:r>
            <a:endParaRPr lang="en-US" sz="1000" dirty="0"/>
          </a:p>
        </p:txBody>
      </p:sp>
      <p:sp>
        <p:nvSpPr>
          <p:cNvPr id="11" name="Shape 8"/>
          <p:cNvSpPr/>
          <p:nvPr/>
        </p:nvSpPr>
        <p:spPr>
          <a:xfrm>
            <a:off x="4319579" y="1669058"/>
            <a:ext cx="3552438" cy="1431032"/>
          </a:xfrm>
          <a:prstGeom prst="roundRect">
            <a:avLst>
              <a:gd name="adj" fmla="val 532"/>
            </a:avLst>
          </a:prstGeom>
          <a:solidFill>
            <a:srgbClr val="F2EEEE"/>
          </a:solidFill>
          <a:ln w="6350">
            <a:solidFill>
              <a:srgbClr val="D8D4D4"/>
            </a:solidFill>
            <a:prstDash val="solid"/>
          </a:ln>
        </p:spPr>
      </p:sp>
      <p:sp>
        <p:nvSpPr>
          <p:cNvPr id="12" name="Shape 9"/>
          <p:cNvSpPr/>
          <p:nvPr/>
        </p:nvSpPr>
        <p:spPr>
          <a:xfrm>
            <a:off x="4458184" y="1807666"/>
            <a:ext cx="396865" cy="396875"/>
          </a:xfrm>
          <a:prstGeom prst="ellipse">
            <a:avLst/>
          </a:prstGeom>
          <a:solidFill>
            <a:srgbClr val="DA1B2E"/>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67322" y="1916807"/>
            <a:ext cx="178589" cy="178594"/>
          </a:xfrm>
          <a:prstGeom prst="rect">
            <a:avLst/>
          </a:prstGeom>
        </p:spPr>
      </p:pic>
      <p:sp>
        <p:nvSpPr>
          <p:cNvPr id="14" name="Text 10"/>
          <p:cNvSpPr/>
          <p:nvPr/>
        </p:nvSpPr>
        <p:spPr>
          <a:xfrm>
            <a:off x="4458184" y="2310309"/>
            <a:ext cx="3275228"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Bases de datos</a:t>
            </a:r>
            <a:endParaRPr lang="en-US" sz="1300" dirty="0"/>
          </a:p>
        </p:txBody>
      </p:sp>
      <p:sp>
        <p:nvSpPr>
          <p:cNvPr id="15" name="Text 11"/>
          <p:cNvSpPr/>
          <p:nvPr/>
        </p:nvSpPr>
        <p:spPr>
          <a:xfrm>
            <a:off x="4458184" y="2580481"/>
            <a:ext cx="3275228"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PostgreSQL: consultas SQL. SQLite: bases de datos locales. Memory: grafo de conocimiento persistente.</a:t>
            </a:r>
            <a:endParaRPr lang="en-US" sz="1000" dirty="0"/>
          </a:p>
        </p:txBody>
      </p:sp>
      <p:sp>
        <p:nvSpPr>
          <p:cNvPr id="16" name="Shape 12"/>
          <p:cNvSpPr/>
          <p:nvPr/>
        </p:nvSpPr>
        <p:spPr>
          <a:xfrm>
            <a:off x="7977782" y="1669058"/>
            <a:ext cx="3552438" cy="1431032"/>
          </a:xfrm>
          <a:prstGeom prst="roundRect">
            <a:avLst>
              <a:gd name="adj" fmla="val 532"/>
            </a:avLst>
          </a:prstGeom>
          <a:solidFill>
            <a:srgbClr val="F2EEEE"/>
          </a:solidFill>
          <a:ln w="6350">
            <a:solidFill>
              <a:srgbClr val="D8D4D4"/>
            </a:solidFill>
            <a:prstDash val="solid"/>
          </a:ln>
        </p:spPr>
      </p:sp>
      <p:sp>
        <p:nvSpPr>
          <p:cNvPr id="17" name="Shape 13"/>
          <p:cNvSpPr/>
          <p:nvPr/>
        </p:nvSpPr>
        <p:spPr>
          <a:xfrm>
            <a:off x="8116387" y="1807666"/>
            <a:ext cx="396865" cy="396875"/>
          </a:xfrm>
          <a:prstGeom prst="ellipse">
            <a:avLst/>
          </a:prstGeom>
          <a:solidFill>
            <a:srgbClr val="DA1B2E"/>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5525" y="1916807"/>
            <a:ext cx="178589" cy="178594"/>
          </a:xfrm>
          <a:prstGeom prst="rect">
            <a:avLst/>
          </a:prstGeom>
        </p:spPr>
      </p:pic>
      <p:sp>
        <p:nvSpPr>
          <p:cNvPr id="19" name="Text 14"/>
          <p:cNvSpPr/>
          <p:nvPr/>
        </p:nvSpPr>
        <p:spPr>
          <a:xfrm>
            <a:off x="8116387" y="2310309"/>
            <a:ext cx="3275228"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Productividad y comunicación</a:t>
            </a:r>
            <a:endParaRPr lang="en-US" sz="1300" dirty="0"/>
          </a:p>
        </p:txBody>
      </p:sp>
      <p:sp>
        <p:nvSpPr>
          <p:cNvPr id="20" name="Text 15"/>
          <p:cNvSpPr/>
          <p:nvPr/>
        </p:nvSpPr>
        <p:spPr>
          <a:xfrm>
            <a:off x="8116387" y="2580481"/>
            <a:ext cx="3275228"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Slack: mensajes y canales. Gmail: borradores y envíos. Google Drive: acceso a documentos.</a:t>
            </a:r>
            <a:endParaRPr lang="en-US" sz="1000" dirty="0"/>
          </a:p>
        </p:txBody>
      </p:sp>
      <p:sp>
        <p:nvSpPr>
          <p:cNvPr id="21" name="Shape 16"/>
          <p:cNvSpPr/>
          <p:nvPr/>
        </p:nvSpPr>
        <p:spPr>
          <a:xfrm>
            <a:off x="661475" y="3205857"/>
            <a:ext cx="3552339" cy="1621532"/>
          </a:xfrm>
          <a:prstGeom prst="roundRect">
            <a:avLst>
              <a:gd name="adj" fmla="val 470"/>
            </a:avLst>
          </a:prstGeom>
          <a:solidFill>
            <a:srgbClr val="F2EEEE"/>
          </a:solidFill>
          <a:ln w="6350">
            <a:solidFill>
              <a:srgbClr val="D8D4D4"/>
            </a:solidFill>
            <a:prstDash val="solid"/>
          </a:ln>
        </p:spPr>
      </p:sp>
      <p:sp>
        <p:nvSpPr>
          <p:cNvPr id="22" name="Shape 17"/>
          <p:cNvSpPr/>
          <p:nvPr/>
        </p:nvSpPr>
        <p:spPr>
          <a:xfrm>
            <a:off x="800080" y="3344466"/>
            <a:ext cx="396865" cy="396875"/>
          </a:xfrm>
          <a:prstGeom prst="ellipse">
            <a:avLst/>
          </a:prstGeom>
          <a:solidFill>
            <a:srgbClr val="DA1B2E"/>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9218" y="3453606"/>
            <a:ext cx="178589" cy="178594"/>
          </a:xfrm>
          <a:prstGeom prst="rect">
            <a:avLst/>
          </a:prstGeom>
        </p:spPr>
      </p:pic>
      <p:sp>
        <p:nvSpPr>
          <p:cNvPr id="24" name="Text 18"/>
          <p:cNvSpPr/>
          <p:nvPr/>
        </p:nvSpPr>
        <p:spPr>
          <a:xfrm>
            <a:off x="800080" y="3847108"/>
            <a:ext cx="3275129"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Web y búsqueda</a:t>
            </a:r>
            <a:endParaRPr lang="en-US" sz="1300" dirty="0"/>
          </a:p>
        </p:txBody>
      </p:sp>
      <p:sp>
        <p:nvSpPr>
          <p:cNvPr id="25" name="Text 19"/>
          <p:cNvSpPr/>
          <p:nvPr/>
        </p:nvSpPr>
        <p:spPr>
          <a:xfrm>
            <a:off x="800080" y="4117280"/>
            <a:ext cx="3275129"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Brave Search: búsqueda web. Fetch: extracción de contenido web. Playwright/Puppeteer: automatización de navegador.</a:t>
            </a:r>
            <a:endParaRPr lang="en-US" sz="1000" dirty="0"/>
          </a:p>
        </p:txBody>
      </p:sp>
      <p:sp>
        <p:nvSpPr>
          <p:cNvPr id="26" name="Shape 20"/>
          <p:cNvSpPr/>
          <p:nvPr/>
        </p:nvSpPr>
        <p:spPr>
          <a:xfrm>
            <a:off x="4319579" y="3205857"/>
            <a:ext cx="3552438" cy="1621532"/>
          </a:xfrm>
          <a:prstGeom prst="roundRect">
            <a:avLst>
              <a:gd name="adj" fmla="val 470"/>
            </a:avLst>
          </a:prstGeom>
          <a:solidFill>
            <a:srgbClr val="F2EEEE"/>
          </a:solidFill>
          <a:ln w="6350">
            <a:solidFill>
              <a:srgbClr val="D8D4D4"/>
            </a:solidFill>
            <a:prstDash val="solid"/>
          </a:ln>
        </p:spPr>
      </p:sp>
      <p:sp>
        <p:nvSpPr>
          <p:cNvPr id="27" name="Shape 21"/>
          <p:cNvSpPr/>
          <p:nvPr/>
        </p:nvSpPr>
        <p:spPr>
          <a:xfrm>
            <a:off x="4458184" y="3344466"/>
            <a:ext cx="396865" cy="396875"/>
          </a:xfrm>
          <a:prstGeom prst="ellipse">
            <a:avLst/>
          </a:prstGeom>
          <a:solidFill>
            <a:srgbClr val="DA1B2E"/>
          </a:solidFill>
          <a:ln/>
        </p:spPr>
      </p:sp>
      <p:pic>
        <p:nvPicPr>
          <p:cNvPr id="2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67322" y="3453606"/>
            <a:ext cx="178589" cy="178594"/>
          </a:xfrm>
          <a:prstGeom prst="rect">
            <a:avLst/>
          </a:prstGeom>
        </p:spPr>
      </p:pic>
      <p:sp>
        <p:nvSpPr>
          <p:cNvPr id="29" name="Text 22"/>
          <p:cNvSpPr/>
          <p:nvPr/>
        </p:nvSpPr>
        <p:spPr>
          <a:xfrm>
            <a:off x="4458184" y="3847108"/>
            <a:ext cx="3275228"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Diseño y APIs</a:t>
            </a:r>
            <a:endParaRPr lang="en-US" sz="1300" dirty="0"/>
          </a:p>
        </p:txBody>
      </p:sp>
      <p:sp>
        <p:nvSpPr>
          <p:cNvPr id="30" name="Text 23"/>
          <p:cNvSpPr/>
          <p:nvPr/>
        </p:nvSpPr>
        <p:spPr>
          <a:xfrm>
            <a:off x="4458184" y="4117280"/>
            <a:ext cx="3275228"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Figma: diseños e interfaces. OpenAPI: conecta cualquier API con spec Swagger. Google Maps: servicios de localización.</a:t>
            </a:r>
            <a:endParaRPr lang="en-US" sz="1000" dirty="0"/>
          </a:p>
        </p:txBody>
      </p:sp>
      <p:sp>
        <p:nvSpPr>
          <p:cNvPr id="31" name="Shape 24"/>
          <p:cNvSpPr/>
          <p:nvPr/>
        </p:nvSpPr>
        <p:spPr>
          <a:xfrm>
            <a:off x="7977782" y="3205857"/>
            <a:ext cx="3552438" cy="1621532"/>
          </a:xfrm>
          <a:prstGeom prst="roundRect">
            <a:avLst>
              <a:gd name="adj" fmla="val 470"/>
            </a:avLst>
          </a:prstGeom>
          <a:solidFill>
            <a:srgbClr val="F2EEEE"/>
          </a:solidFill>
          <a:ln w="6350">
            <a:solidFill>
              <a:srgbClr val="D8D4D4"/>
            </a:solidFill>
            <a:prstDash val="solid"/>
          </a:ln>
        </p:spPr>
      </p:sp>
      <p:sp>
        <p:nvSpPr>
          <p:cNvPr id="32" name="Shape 25"/>
          <p:cNvSpPr/>
          <p:nvPr/>
        </p:nvSpPr>
        <p:spPr>
          <a:xfrm>
            <a:off x="8116387" y="3344466"/>
            <a:ext cx="396865" cy="396875"/>
          </a:xfrm>
          <a:prstGeom prst="ellipse">
            <a:avLst/>
          </a:prstGeom>
          <a:solidFill>
            <a:srgbClr val="DA1B2E"/>
          </a:solidFill>
          <a:ln/>
        </p:spPr>
      </p:sp>
      <p:pic>
        <p:nvPicPr>
          <p:cNvPr id="3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25525" y="3453606"/>
            <a:ext cx="178589" cy="178594"/>
          </a:xfrm>
          <a:prstGeom prst="rect">
            <a:avLst/>
          </a:prstGeom>
        </p:spPr>
      </p:pic>
      <p:sp>
        <p:nvSpPr>
          <p:cNvPr id="34" name="Text 26"/>
          <p:cNvSpPr/>
          <p:nvPr/>
        </p:nvSpPr>
        <p:spPr>
          <a:xfrm>
            <a:off x="8116387" y="3847108"/>
            <a:ext cx="3275228"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Razonamiento avanzado</a:t>
            </a:r>
            <a:endParaRPr lang="en-US" sz="1300" dirty="0"/>
          </a:p>
        </p:txBody>
      </p:sp>
      <p:sp>
        <p:nvSpPr>
          <p:cNvPr id="35" name="Text 27"/>
          <p:cNvSpPr/>
          <p:nvPr/>
        </p:nvSpPr>
        <p:spPr>
          <a:xfrm>
            <a:off x="8116387" y="4117280"/>
            <a:ext cx="3275228"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Sequential Thinking: descomposición de tareas complejas. Context7: documentación actualizada de librerías.</a:t>
            </a:r>
            <a:endParaRPr lang="en-US" sz="1000" dirty="0"/>
          </a:p>
        </p:txBody>
      </p:sp>
      <p:sp>
        <p:nvSpPr>
          <p:cNvPr id="36" name="Shape 28"/>
          <p:cNvSpPr/>
          <p:nvPr/>
        </p:nvSpPr>
        <p:spPr>
          <a:xfrm>
            <a:off x="661475" y="4946452"/>
            <a:ext cx="10868745" cy="1367631"/>
          </a:xfrm>
          <a:prstGeom prst="roundRect">
            <a:avLst>
              <a:gd name="adj" fmla="val 557"/>
            </a:avLst>
          </a:prstGeom>
          <a:solidFill>
            <a:srgbClr val="F9D2D6"/>
          </a:solidFill>
          <a:ln/>
        </p:spPr>
      </p:sp>
      <p:pic>
        <p:nvPicPr>
          <p:cNvPr id="37" name="Image 6" descr="preencoded.png">    </p:cNvPr>
          <p:cNvPicPr>
            <a:picLocks noChangeAspect="1"/>
          </p:cNvPicPr>
          <p:nvPr/>
        </p:nvPicPr>
        <p:blipFill>
          <a:blip r:embed="rId13"/>
          <a:stretch>
            <a:fillRect/>
          </a:stretch>
        </p:blipFill>
        <p:spPr>
          <a:xfrm>
            <a:off x="793730" y="5102820"/>
            <a:ext cx="165294" cy="132259"/>
          </a:xfrm>
          <a:prstGeom prst="rect">
            <a:avLst/>
          </a:prstGeom>
        </p:spPr>
      </p:pic>
      <p:sp>
        <p:nvSpPr>
          <p:cNvPr id="38" name="Text 29"/>
          <p:cNvSpPr/>
          <p:nvPr/>
        </p:nvSpPr>
        <p:spPr>
          <a:xfrm>
            <a:off x="1091280" y="5085259"/>
            <a:ext cx="10916270" cy="190500"/>
          </a:xfrm>
          <a:prstGeom prst="rect">
            <a:avLst/>
          </a:prstGeom>
          <a:noFill/>
          <a:ln/>
        </p:spPr>
        <p:txBody>
          <a:bodyPr wrap="none" lIns="0" tIns="0" rIns="0" bIns="0" rtlCol="0" anchor="t"/>
          <a:lstStyle/>
          <a:p>
            <a:pPr algn="l" indent="0" marL="0">
              <a:lnSpc>
                <a:spcPct val="120000"/>
              </a:lnSpc>
              <a:buNone/>
            </a:pPr>
            <a:r>
              <a:rPr lang="en-US" sz="1000" b="1" dirty="0">
                <a:solidFill>
                  <a:srgbClr val="000000"/>
                </a:solidFill>
                <a:latin typeface="Roboto Bold" pitchFamily="34" charset="0"/>
                <a:ea typeface="Roboto Bold" pitchFamily="34" charset="-122"/>
                <a:cs typeface="Roboto Bold" pitchFamily="34" charset="-120"/>
              </a:rPr>
              <a:t>Dónde encontrar servidores MCP:</a:t>
            </a:r>
            <a:endParaRPr lang="en-US" sz="1000" dirty="0"/>
          </a:p>
        </p:txBody>
      </p:sp>
      <p:sp>
        <p:nvSpPr>
          <p:cNvPr id="39" name="Text 30"/>
          <p:cNvSpPr/>
          <p:nvPr/>
        </p:nvSpPr>
        <p:spPr>
          <a:xfrm>
            <a:off x="1091280" y="5371009"/>
            <a:ext cx="10306685" cy="873026"/>
          </a:xfrm>
          <a:prstGeom prst="rect">
            <a:avLst/>
          </a:prstGeom>
          <a:noFill/>
          <a:ln/>
        </p:spPr>
        <p:txBody>
          <a:bodyPr wrap="square" lIns="0" tIns="52925" rIns="0" bIns="0" rtlCol="0" anchor="t">
            <a:normAutofit/>
          </a:bodyPr>
          <a:lstStyle/>
          <a:p>
            <a:pPr algn="l" marL="203200" indent="-203200">
              <a:lnSpc>
                <a:spcPct val="120000"/>
              </a:lnSpc>
              <a:buSzPct val="100000"/>
              <a:buChar char="•"/>
            </a:pPr>
            <a:r>
              <a:rPr lang="en-US" sz="1000" dirty="0">
                <a:solidFill>
                  <a:srgbClr val="000000"/>
                </a:solidFill>
                <a:latin typeface="Roboto" pitchFamily="34" charset="0"/>
                <a:ea typeface="Roboto" pitchFamily="34" charset="-122"/>
                <a:cs typeface="Roboto" pitchFamily="34" charset="-120"/>
              </a:rPr>
              <a:t>Directorio oficial: </a:t>
            </a:r>
            <a:pPr algn="l" marL="203200" indent="-203200">
              <a:lnSpc>
                <a:spcPct val="120000"/>
              </a:lnSpc>
              <a:buSzPct val="100000"/>
              <a:buChar char="•"/>
            </a:pPr>
            <a:r>
              <a:rPr lang="en-US" sz="1000" b="1" u="sng" dirty="0">
                <a:solidFill>
                  <a:srgbClr val="DA1B2E"/>
                </a:solidFill>
                <a:latin typeface="Roboto Bold" pitchFamily="34" charset="0"/>
                <a:ea typeface="Roboto Bold" pitchFamily="34" charset="-122"/>
                <a:cs typeface="Roboto Bold" pitchFamily="34" charset="-120"/>
                <a:hlinkClick r:id="rId14" invalidUrl="" action="" tgtFrame="" tooltip="" history="1" highlightClick="0" endSnd="0">
                  <a:extLst>
                    <a:ext uri="{A12FA001-AC4F-418D-AE19-62706E023703}">
                      <ahyp:hlinkClr xmlns:ahyp="http://schemas.microsoft.com/office/drawing/2018/hyperlinkcolor" val="tx"/>
                    </a:ext>
                  </a:extLst>
                </a:hlinkClick>
              </a:rPr>
              <a:t>github.com/modelcontextprotocol/servers</a:t>
            </a:r>
            <a:endParaRPr lang="en-US" sz="1000" dirty="0"/>
          </a:p>
          <a:p>
            <a:pPr algn="l" marL="203200" indent="-203200">
              <a:lnSpc>
                <a:spcPct val="120000"/>
              </a:lnSpc>
              <a:buSzPct val="100000"/>
              <a:buChar char="•"/>
            </a:pPr>
            <a:r>
              <a:rPr lang="en-US" sz="1000" dirty="0">
                <a:solidFill>
                  <a:srgbClr val="000000"/>
                </a:solidFill>
                <a:latin typeface="Roboto" pitchFamily="34" charset="0"/>
                <a:ea typeface="Roboto" pitchFamily="34" charset="-122"/>
                <a:cs typeface="Roboto" pitchFamily="34" charset="-120"/>
              </a:rPr>
              <a:t>Directorio comunidad: </a:t>
            </a:r>
            <a:pPr algn="l" marL="203200" indent="-203200">
              <a:lnSpc>
                <a:spcPct val="120000"/>
              </a:lnSpc>
              <a:buSzPct val="100000"/>
              <a:buChar char="•"/>
            </a:pPr>
            <a:r>
              <a:rPr lang="en-US" sz="1000" b="1" u="sng" dirty="0">
                <a:solidFill>
                  <a:srgbClr val="DA1B2E"/>
                </a:solidFill>
                <a:latin typeface="Roboto Bold" pitchFamily="34" charset="0"/>
                <a:ea typeface="Roboto Bold" pitchFamily="34" charset="-122"/>
                <a:cs typeface="Roboto Bold" pitchFamily="34" charset="-120"/>
                <a:hlinkClick r:id="rId15" invalidUrl="" action="" tgtFrame="" tooltip="" history="1" highlightClick="0" endSnd="0">
                  <a:extLst>
                    <a:ext uri="{A12FA001-AC4F-418D-AE19-62706E023703}">
                      <ahyp:hlinkClr xmlns:ahyp="http://schemas.microsoft.com/office/drawing/2018/hyperlinkcolor" val="tx"/>
                    </a:ext>
                  </a:extLst>
                </a:hlinkClick>
              </a:rPr>
              <a:t>claudemcp.org</a:t>
            </a:r>
            <a:pPr algn="l" marL="203200" indent="-203200">
              <a:lnSpc>
                <a:spcPct val="120000"/>
              </a:lnSpc>
              <a:buSzPct val="100000"/>
              <a:buChar char="•"/>
            </a:pPr>
            <a:r>
              <a:rPr lang="en-US" sz="1000" dirty="0">
                <a:solidFill>
                  <a:srgbClr val="000000"/>
                </a:solidFill>
                <a:latin typeface="Roboto" pitchFamily="34" charset="0"/>
                <a:ea typeface="Roboto" pitchFamily="34" charset="-122"/>
                <a:cs typeface="Roboto" pitchFamily="34" charset="-120"/>
              </a:rPr>
              <a:t> (25+ servidores populares)</a:t>
            </a:r>
            <a:endParaRPr lang="en-US" sz="1000" dirty="0"/>
          </a:p>
          <a:p>
            <a:pPr algn="l" marL="203200" indent="-203200">
              <a:lnSpc>
                <a:spcPct val="120000"/>
              </a:lnSpc>
              <a:buSzPct val="100000"/>
              <a:buChar char="•"/>
            </a:pPr>
            <a:r>
              <a:rPr lang="en-US" sz="1000" dirty="0">
                <a:solidFill>
                  <a:srgbClr val="000000"/>
                </a:solidFill>
                <a:latin typeface="Roboto" pitchFamily="34" charset="0"/>
                <a:ea typeface="Roboto" pitchFamily="34" charset="-122"/>
                <a:cs typeface="Roboto" pitchFamily="34" charset="-120"/>
              </a:rPr>
              <a:t>Directorio completo: </a:t>
            </a:r>
            <a:pPr algn="l" marL="203200" indent="-203200">
              <a:lnSpc>
                <a:spcPct val="120000"/>
              </a:lnSpc>
              <a:buSzPct val="100000"/>
              <a:buChar char="•"/>
            </a:pPr>
            <a:r>
              <a:rPr lang="en-US" sz="1000" b="1" u="sng" dirty="0">
                <a:solidFill>
                  <a:srgbClr val="DA1B2E"/>
                </a:solidFill>
                <a:latin typeface="Roboto Bold" pitchFamily="34" charset="0"/>
                <a:ea typeface="Roboto Bold" pitchFamily="34" charset="-122"/>
                <a:cs typeface="Roboto Bold" pitchFamily="34" charset="-120"/>
                <a:hlinkClick r:id="rId16" invalidUrl="" action="" tgtFrame="" tooltip="" history="1" highlightClick="0" endSnd="0">
                  <a:extLst>
                    <a:ext uri="{A12FA001-AC4F-418D-AE19-62706E023703}">
                      <ahyp:hlinkClr xmlns:ahyp="http://schemas.microsoft.com/office/drawing/2018/hyperlinkcolor" val="tx"/>
                    </a:ext>
                  </a:extLst>
                </a:hlinkClick>
              </a:rPr>
              <a:t>skillsplayground.com/guides/mcp-servers</a:t>
            </a:r>
            <a:pPr algn="l" marL="203200" indent="-203200">
              <a:lnSpc>
                <a:spcPct val="120000"/>
              </a:lnSpc>
              <a:buSzPct val="100000"/>
              <a:buChar char="•"/>
            </a:pPr>
            <a:r>
              <a:rPr lang="en-US" sz="1000" dirty="0">
                <a:solidFill>
                  <a:srgbClr val="000000"/>
                </a:solidFill>
                <a:latin typeface="Roboto" pitchFamily="34" charset="0"/>
                <a:ea typeface="Roboto" pitchFamily="34" charset="-122"/>
                <a:cs typeface="Roboto" pitchFamily="34" charset="-120"/>
              </a:rPr>
              <a:t> (890+ servidores)</a:t>
            </a:r>
            <a:endParaRPr lang="en-US" sz="1000" dirty="0"/>
          </a:p>
          <a:p>
            <a:pPr algn="l" marL="203200" indent="-203200">
              <a:lnSpc>
                <a:spcPct val="120000"/>
              </a:lnSpc>
              <a:buSzPct val="100000"/>
              <a:buChar char="•"/>
            </a:pPr>
            <a:r>
              <a:rPr lang="en-US" sz="1000" dirty="0">
                <a:solidFill>
                  <a:srgbClr val="000000"/>
                </a:solidFill>
                <a:latin typeface="Roboto" pitchFamily="34" charset="0"/>
                <a:ea typeface="Roboto" pitchFamily="34" charset="-122"/>
                <a:cs typeface="Roboto" pitchFamily="34" charset="-120"/>
              </a:rPr>
              <a:t>Registro oficial MCP: </a:t>
            </a:r>
            <a:pPr algn="l" marL="203200" indent="-203200">
              <a:lnSpc>
                <a:spcPct val="120000"/>
              </a:lnSpc>
              <a:buSzPct val="100000"/>
              <a:buChar char="•"/>
            </a:pPr>
            <a:r>
              <a:rPr lang="en-US" sz="1000" b="1" u="sng" dirty="0">
                <a:solidFill>
                  <a:srgbClr val="DA1B2E"/>
                </a:solidFill>
                <a:latin typeface="Roboto Bold" pitchFamily="34" charset="0"/>
                <a:ea typeface="Roboto Bold" pitchFamily="34" charset="-122"/>
                <a:cs typeface="Roboto Bold" pitchFamily="34" charset="-120"/>
                <a:hlinkClick r:id="rId17" invalidUrl="" action="" tgtFrame="" tooltip="" history="1" highlightClick="0" endSnd="0">
                  <a:extLst>
                    <a:ext uri="{A12FA001-AC4F-418D-AE19-62706E023703}">
                      <ahyp:hlinkClr xmlns:ahyp="http://schemas.microsoft.com/office/drawing/2018/hyperlinkcolor" val="tx"/>
                    </a:ext>
                  </a:extLst>
                </a:hlinkClick>
              </a:rPr>
              <a:t>mcp.so</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661475" y="628055"/>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oboto Mono Medium" pitchFamily="34" charset="0"/>
                <a:ea typeface="Roboto Mono Medium" pitchFamily="34" charset="-122"/>
                <a:cs typeface="Roboto Mono Medium" pitchFamily="34" charset="-120"/>
              </a:rPr>
              <a:t>Agenda</a:t>
            </a:r>
            <a:endParaRPr lang="en-US" sz="2400" dirty="0"/>
          </a:p>
        </p:txBody>
      </p:sp>
      <p:sp>
        <p:nvSpPr>
          <p:cNvPr id="3" name="Shape 1"/>
          <p:cNvSpPr/>
          <p:nvPr/>
        </p:nvSpPr>
        <p:spPr>
          <a:xfrm>
            <a:off x="800973" y="1201738"/>
            <a:ext cx="12700" cy="5028109"/>
          </a:xfrm>
          <a:prstGeom prst="roundRect">
            <a:avLst>
              <a:gd name="adj" fmla="val 49999"/>
            </a:avLst>
          </a:prstGeom>
          <a:solidFill>
            <a:srgbClr val="D8D4D4"/>
          </a:solidFill>
          <a:ln/>
        </p:spPr>
      </p:sp>
      <p:sp>
        <p:nvSpPr>
          <p:cNvPr id="4" name="Shape 2"/>
          <p:cNvSpPr/>
          <p:nvPr/>
        </p:nvSpPr>
        <p:spPr>
          <a:xfrm>
            <a:off x="927821" y="1334889"/>
            <a:ext cx="372061" cy="12700"/>
          </a:xfrm>
          <a:prstGeom prst="roundRect">
            <a:avLst>
              <a:gd name="adj" fmla="val 49999"/>
            </a:avLst>
          </a:prstGeom>
          <a:solidFill>
            <a:srgbClr val="D8D4D4"/>
          </a:solidFill>
          <a:ln/>
        </p:spPr>
      </p:sp>
      <p:sp>
        <p:nvSpPr>
          <p:cNvPr id="5" name="Shape 3"/>
          <p:cNvSpPr/>
          <p:nvPr/>
        </p:nvSpPr>
        <p:spPr>
          <a:xfrm>
            <a:off x="661425" y="1201738"/>
            <a:ext cx="279095" cy="279102"/>
          </a:xfrm>
          <a:prstGeom prst="roundRect">
            <a:avLst>
              <a:gd name="adj" fmla="val 2730"/>
            </a:avLst>
          </a:prstGeom>
          <a:solidFill>
            <a:srgbClr val="F2EEEE"/>
          </a:solidFill>
          <a:ln w="6350">
            <a:solidFill>
              <a:srgbClr val="D8D4D4"/>
            </a:solidFill>
            <a:prstDash val="solid"/>
          </a:ln>
        </p:spPr>
      </p:sp>
      <p:sp>
        <p:nvSpPr>
          <p:cNvPr id="6" name="Text 4"/>
          <p:cNvSpPr/>
          <p:nvPr/>
        </p:nvSpPr>
        <p:spPr>
          <a:xfrm>
            <a:off x="707908" y="122495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1</a:t>
            </a:r>
            <a:endParaRPr lang="en-US" sz="1450" dirty="0"/>
          </a:p>
        </p:txBody>
      </p:sp>
      <p:sp>
        <p:nvSpPr>
          <p:cNvPr id="7" name="Text 5"/>
          <p:cNvSpPr/>
          <p:nvPr/>
        </p:nvSpPr>
        <p:spPr>
          <a:xfrm>
            <a:off x="1421174" y="124430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Fundamentos ✓</a:t>
            </a:r>
            <a:endParaRPr lang="en-US" sz="1200" dirty="0"/>
          </a:p>
        </p:txBody>
      </p:sp>
      <p:sp>
        <p:nvSpPr>
          <p:cNvPr id="8" name="Text 6"/>
          <p:cNvSpPr/>
          <p:nvPr/>
        </p:nvSpPr>
        <p:spPr>
          <a:xfrm>
            <a:off x="1421174" y="1493838"/>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RAG, por qué lo necesitamos y arquitectura básica.</a:t>
            </a:r>
            <a:endParaRPr lang="en-US" sz="950" dirty="0"/>
          </a:p>
        </p:txBody>
      </p:sp>
      <p:sp>
        <p:nvSpPr>
          <p:cNvPr id="9" name="Shape 7"/>
          <p:cNvSpPr/>
          <p:nvPr/>
        </p:nvSpPr>
        <p:spPr>
          <a:xfrm>
            <a:off x="927821" y="1986657"/>
            <a:ext cx="372061" cy="12700"/>
          </a:xfrm>
          <a:prstGeom prst="roundRect">
            <a:avLst>
              <a:gd name="adj" fmla="val 49999"/>
            </a:avLst>
          </a:prstGeom>
          <a:solidFill>
            <a:srgbClr val="D8D4D4"/>
          </a:solidFill>
          <a:ln/>
        </p:spPr>
      </p:sp>
      <p:sp>
        <p:nvSpPr>
          <p:cNvPr id="10" name="Shape 8"/>
          <p:cNvSpPr/>
          <p:nvPr/>
        </p:nvSpPr>
        <p:spPr>
          <a:xfrm>
            <a:off x="661425" y="1853505"/>
            <a:ext cx="279095" cy="279102"/>
          </a:xfrm>
          <a:prstGeom prst="roundRect">
            <a:avLst>
              <a:gd name="adj" fmla="val 2730"/>
            </a:avLst>
          </a:prstGeom>
          <a:solidFill>
            <a:srgbClr val="F2EEEE"/>
          </a:solidFill>
          <a:ln w="6350">
            <a:solidFill>
              <a:srgbClr val="D8D4D4"/>
            </a:solidFill>
            <a:prstDash val="solid"/>
          </a:ln>
        </p:spPr>
      </p:sp>
      <p:sp>
        <p:nvSpPr>
          <p:cNvPr id="11" name="Text 9"/>
          <p:cNvSpPr/>
          <p:nvPr/>
        </p:nvSpPr>
        <p:spPr>
          <a:xfrm>
            <a:off x="707908" y="187672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2</a:t>
            </a:r>
            <a:endParaRPr lang="en-US" sz="1450" dirty="0"/>
          </a:p>
        </p:txBody>
      </p:sp>
      <p:sp>
        <p:nvSpPr>
          <p:cNvPr id="12" name="Text 10"/>
          <p:cNvSpPr/>
          <p:nvPr/>
        </p:nvSpPr>
        <p:spPr>
          <a:xfrm>
            <a:off x="1421174" y="189607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Búsqueda y Recuperación ✓</a:t>
            </a:r>
            <a:endParaRPr lang="en-US" sz="1200" dirty="0"/>
          </a:p>
        </p:txBody>
      </p:sp>
      <p:sp>
        <p:nvSpPr>
          <p:cNvPr id="13" name="Text 11"/>
          <p:cNvSpPr/>
          <p:nvPr/>
        </p:nvSpPr>
        <p:spPr>
          <a:xfrm>
            <a:off x="1421174" y="214560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Búsqueda vectorial, léxica, semántica e híbrida. Bases de datos y flujo completo.</a:t>
            </a:r>
            <a:endParaRPr lang="en-US" sz="950" dirty="0"/>
          </a:p>
        </p:txBody>
      </p:sp>
      <p:sp>
        <p:nvSpPr>
          <p:cNvPr id="14" name="Shape 12"/>
          <p:cNvSpPr/>
          <p:nvPr/>
        </p:nvSpPr>
        <p:spPr>
          <a:xfrm>
            <a:off x="927821" y="2638425"/>
            <a:ext cx="372061" cy="12700"/>
          </a:xfrm>
          <a:prstGeom prst="roundRect">
            <a:avLst>
              <a:gd name="adj" fmla="val 49999"/>
            </a:avLst>
          </a:prstGeom>
          <a:solidFill>
            <a:srgbClr val="D8D4D4"/>
          </a:solidFill>
          <a:ln/>
        </p:spPr>
      </p:sp>
      <p:sp>
        <p:nvSpPr>
          <p:cNvPr id="15" name="Shape 13"/>
          <p:cNvSpPr/>
          <p:nvPr/>
        </p:nvSpPr>
        <p:spPr>
          <a:xfrm>
            <a:off x="661425" y="2505273"/>
            <a:ext cx="279095" cy="279102"/>
          </a:xfrm>
          <a:prstGeom prst="roundRect">
            <a:avLst>
              <a:gd name="adj" fmla="val 2730"/>
            </a:avLst>
          </a:prstGeom>
          <a:solidFill>
            <a:srgbClr val="F2EEEE"/>
          </a:solidFill>
          <a:ln w="6350">
            <a:solidFill>
              <a:srgbClr val="D8D4D4"/>
            </a:solidFill>
            <a:prstDash val="solid"/>
          </a:ln>
        </p:spPr>
      </p:sp>
      <p:sp>
        <p:nvSpPr>
          <p:cNvPr id="16" name="Text 14"/>
          <p:cNvSpPr/>
          <p:nvPr/>
        </p:nvSpPr>
        <p:spPr>
          <a:xfrm>
            <a:off x="707908" y="2528491"/>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3</a:t>
            </a:r>
            <a:endParaRPr lang="en-US" sz="1450" dirty="0"/>
          </a:p>
        </p:txBody>
      </p:sp>
      <p:sp>
        <p:nvSpPr>
          <p:cNvPr id="17" name="Text 15"/>
          <p:cNvSpPr/>
          <p:nvPr/>
        </p:nvSpPr>
        <p:spPr>
          <a:xfrm>
            <a:off x="1421174" y="254783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Reranking y Precisión</a:t>
            </a:r>
            <a:endParaRPr lang="en-US" sz="1200" dirty="0"/>
          </a:p>
        </p:txBody>
      </p:sp>
      <p:sp>
        <p:nvSpPr>
          <p:cNvPr id="18" name="Text 16"/>
          <p:cNvSpPr/>
          <p:nvPr/>
        </p:nvSpPr>
        <p:spPr>
          <a:xfrm>
            <a:off x="1421174" y="279737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Recuperación en dos etapas, cross-encoders, Reciprocal Rank Fusion y optimización de precisión.</a:t>
            </a:r>
            <a:endParaRPr lang="en-US" sz="950" dirty="0"/>
          </a:p>
        </p:txBody>
      </p:sp>
      <p:sp>
        <p:nvSpPr>
          <p:cNvPr id="19" name="Shape 17"/>
          <p:cNvSpPr/>
          <p:nvPr/>
        </p:nvSpPr>
        <p:spPr>
          <a:xfrm>
            <a:off x="927821" y="3290193"/>
            <a:ext cx="372061" cy="12700"/>
          </a:xfrm>
          <a:prstGeom prst="roundRect">
            <a:avLst>
              <a:gd name="adj" fmla="val 49999"/>
            </a:avLst>
          </a:prstGeom>
          <a:solidFill>
            <a:srgbClr val="D8D4D4"/>
          </a:solidFill>
          <a:ln/>
        </p:spPr>
      </p:sp>
      <p:sp>
        <p:nvSpPr>
          <p:cNvPr id="20" name="Shape 18"/>
          <p:cNvSpPr/>
          <p:nvPr/>
        </p:nvSpPr>
        <p:spPr>
          <a:xfrm>
            <a:off x="661425" y="3157041"/>
            <a:ext cx="279095" cy="279102"/>
          </a:xfrm>
          <a:prstGeom prst="roundRect">
            <a:avLst>
              <a:gd name="adj" fmla="val 2730"/>
            </a:avLst>
          </a:prstGeom>
          <a:solidFill>
            <a:srgbClr val="F2EEEE"/>
          </a:solidFill>
          <a:ln w="6350">
            <a:solidFill>
              <a:srgbClr val="D8D4D4"/>
            </a:solidFill>
            <a:prstDash val="solid"/>
          </a:ln>
        </p:spPr>
      </p:sp>
      <p:sp>
        <p:nvSpPr>
          <p:cNvPr id="21" name="Text 19"/>
          <p:cNvSpPr/>
          <p:nvPr/>
        </p:nvSpPr>
        <p:spPr>
          <a:xfrm>
            <a:off x="707908" y="3180259"/>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4</a:t>
            </a:r>
            <a:endParaRPr lang="en-US" sz="1450" dirty="0"/>
          </a:p>
        </p:txBody>
      </p:sp>
      <p:sp>
        <p:nvSpPr>
          <p:cNvPr id="22" name="Text 20"/>
          <p:cNvSpPr/>
          <p:nvPr/>
        </p:nvSpPr>
        <p:spPr>
          <a:xfrm>
            <a:off x="1421174" y="3199606"/>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Chunking, Metadatos y Reranking ✓</a:t>
            </a:r>
            <a:endParaRPr lang="en-US" sz="1200" dirty="0"/>
          </a:p>
        </p:txBody>
      </p:sp>
      <p:sp>
        <p:nvSpPr>
          <p:cNvPr id="23" name="Text 21"/>
          <p:cNvSpPr/>
          <p:nvPr/>
        </p:nvSpPr>
        <p:spPr>
          <a:xfrm>
            <a:off x="1421174" y="3449141"/>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Fragmentación de documentos, metadatos esenciales y recuperación en dos etapas.</a:t>
            </a:r>
            <a:endParaRPr lang="en-US" sz="950" dirty="0"/>
          </a:p>
        </p:txBody>
      </p:sp>
      <p:sp>
        <p:nvSpPr>
          <p:cNvPr id="24" name="Shape 22"/>
          <p:cNvSpPr/>
          <p:nvPr/>
        </p:nvSpPr>
        <p:spPr>
          <a:xfrm>
            <a:off x="927821" y="3941961"/>
            <a:ext cx="372061" cy="12700"/>
          </a:xfrm>
          <a:prstGeom prst="roundRect">
            <a:avLst>
              <a:gd name="adj" fmla="val 49999"/>
            </a:avLst>
          </a:prstGeom>
          <a:solidFill>
            <a:srgbClr val="D8D4D4"/>
          </a:solidFill>
          <a:ln/>
        </p:spPr>
      </p:sp>
      <p:sp>
        <p:nvSpPr>
          <p:cNvPr id="25" name="Shape 23"/>
          <p:cNvSpPr/>
          <p:nvPr/>
        </p:nvSpPr>
        <p:spPr>
          <a:xfrm>
            <a:off x="661425" y="3808809"/>
            <a:ext cx="279095" cy="279102"/>
          </a:xfrm>
          <a:prstGeom prst="roundRect">
            <a:avLst>
              <a:gd name="adj" fmla="val 2730"/>
            </a:avLst>
          </a:prstGeom>
          <a:solidFill>
            <a:srgbClr val="F2EEEE"/>
          </a:solidFill>
          <a:ln w="6350">
            <a:solidFill>
              <a:srgbClr val="D8D4D4"/>
            </a:solidFill>
            <a:prstDash val="solid"/>
          </a:ln>
        </p:spPr>
      </p:sp>
      <p:sp>
        <p:nvSpPr>
          <p:cNvPr id="26" name="Text 24"/>
          <p:cNvSpPr/>
          <p:nvPr/>
        </p:nvSpPr>
        <p:spPr>
          <a:xfrm>
            <a:off x="707908" y="3832027"/>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5</a:t>
            </a:r>
            <a:endParaRPr lang="en-US" sz="1450" dirty="0"/>
          </a:p>
        </p:txBody>
      </p:sp>
      <p:sp>
        <p:nvSpPr>
          <p:cNvPr id="27" name="Text 25"/>
          <p:cNvSpPr/>
          <p:nvPr/>
        </p:nvSpPr>
        <p:spPr>
          <a:xfrm>
            <a:off x="1421174" y="3851374"/>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RAG: Evaluación, Seguridad y Patrones Avanzados ✓</a:t>
            </a:r>
            <a:endParaRPr lang="en-US" sz="1200" dirty="0"/>
          </a:p>
        </p:txBody>
      </p:sp>
      <p:sp>
        <p:nvSpPr>
          <p:cNvPr id="28" name="Text 26"/>
          <p:cNvSpPr/>
          <p:nvPr/>
        </p:nvSpPr>
        <p:spPr>
          <a:xfrm>
            <a:off x="1421174" y="4100909"/>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Métricas clave, LLM-as-Judge, riesgos, GraphRAG, Agentic RAG y RAG Multimodal.</a:t>
            </a:r>
            <a:endParaRPr lang="en-US" sz="950" dirty="0"/>
          </a:p>
        </p:txBody>
      </p:sp>
      <p:sp>
        <p:nvSpPr>
          <p:cNvPr id="29" name="Shape 27"/>
          <p:cNvSpPr/>
          <p:nvPr/>
        </p:nvSpPr>
        <p:spPr>
          <a:xfrm>
            <a:off x="927821" y="4593729"/>
            <a:ext cx="372061" cy="12700"/>
          </a:xfrm>
          <a:prstGeom prst="roundRect">
            <a:avLst>
              <a:gd name="adj" fmla="val 49999"/>
            </a:avLst>
          </a:prstGeom>
          <a:solidFill>
            <a:srgbClr val="D8D4D4"/>
          </a:solidFill>
          <a:ln/>
        </p:spPr>
      </p:sp>
      <p:sp>
        <p:nvSpPr>
          <p:cNvPr id="30" name="Shape 28"/>
          <p:cNvSpPr/>
          <p:nvPr/>
        </p:nvSpPr>
        <p:spPr>
          <a:xfrm>
            <a:off x="661425" y="4460577"/>
            <a:ext cx="279095" cy="279102"/>
          </a:xfrm>
          <a:prstGeom prst="roundRect">
            <a:avLst>
              <a:gd name="adj" fmla="val 2730"/>
            </a:avLst>
          </a:prstGeom>
          <a:solidFill>
            <a:srgbClr val="F2EEEE"/>
          </a:solidFill>
          <a:ln w="6350">
            <a:solidFill>
              <a:srgbClr val="D8D4D4"/>
            </a:solidFill>
            <a:prstDash val="solid"/>
          </a:ln>
        </p:spPr>
      </p:sp>
      <p:sp>
        <p:nvSpPr>
          <p:cNvPr id="31" name="Text 29"/>
          <p:cNvSpPr/>
          <p:nvPr/>
        </p:nvSpPr>
        <p:spPr>
          <a:xfrm>
            <a:off x="707908" y="4483795"/>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6</a:t>
            </a:r>
            <a:endParaRPr lang="en-US" sz="1450" dirty="0"/>
          </a:p>
        </p:txBody>
      </p:sp>
      <p:sp>
        <p:nvSpPr>
          <p:cNvPr id="32" name="Text 30"/>
          <p:cNvSpPr/>
          <p:nvPr/>
        </p:nvSpPr>
        <p:spPr>
          <a:xfrm>
            <a:off x="1421174" y="4503142"/>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Fundamentos ✓</a:t>
            </a:r>
            <a:endParaRPr lang="en-US" sz="1200" dirty="0"/>
          </a:p>
        </p:txBody>
      </p:sp>
      <p:sp>
        <p:nvSpPr>
          <p:cNvPr id="33" name="Text 31"/>
          <p:cNvSpPr/>
          <p:nvPr/>
        </p:nvSpPr>
        <p:spPr>
          <a:xfrm>
            <a:off x="1421174" y="4752677"/>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Qué es MCP, historia, protocolo JSON-RPC y comparativa con HTTP/GraphQL.</a:t>
            </a:r>
            <a:endParaRPr lang="en-US" sz="950" dirty="0"/>
          </a:p>
        </p:txBody>
      </p:sp>
      <p:sp>
        <p:nvSpPr>
          <p:cNvPr id="34" name="Shape 32"/>
          <p:cNvSpPr/>
          <p:nvPr/>
        </p:nvSpPr>
        <p:spPr>
          <a:xfrm>
            <a:off x="927821" y="5245497"/>
            <a:ext cx="372061" cy="12700"/>
          </a:xfrm>
          <a:prstGeom prst="roundRect">
            <a:avLst>
              <a:gd name="adj" fmla="val 49999"/>
            </a:avLst>
          </a:prstGeom>
          <a:solidFill>
            <a:srgbClr val="D8D4D4"/>
          </a:solidFill>
          <a:ln/>
        </p:spPr>
      </p:sp>
      <p:sp>
        <p:nvSpPr>
          <p:cNvPr id="35" name="Shape 33"/>
          <p:cNvSpPr/>
          <p:nvPr/>
        </p:nvSpPr>
        <p:spPr>
          <a:xfrm>
            <a:off x="661425" y="5112345"/>
            <a:ext cx="279095" cy="279102"/>
          </a:xfrm>
          <a:prstGeom prst="roundRect">
            <a:avLst>
              <a:gd name="adj" fmla="val 2730"/>
            </a:avLst>
          </a:prstGeom>
          <a:solidFill>
            <a:srgbClr val="F2EEEE"/>
          </a:solidFill>
          <a:ln w="6350">
            <a:solidFill>
              <a:srgbClr val="D8D4D4"/>
            </a:solidFill>
            <a:prstDash val="solid"/>
          </a:ln>
        </p:spPr>
      </p:sp>
      <p:sp>
        <p:nvSpPr>
          <p:cNvPr id="36" name="Text 34"/>
          <p:cNvSpPr/>
          <p:nvPr/>
        </p:nvSpPr>
        <p:spPr>
          <a:xfrm>
            <a:off x="707908" y="5135563"/>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3B3535"/>
                </a:solidFill>
                <a:latin typeface="Roboto Mono Medium" pitchFamily="34" charset="0"/>
                <a:ea typeface="Roboto Mono Medium" pitchFamily="34" charset="-122"/>
                <a:cs typeface="Roboto Mono Medium" pitchFamily="34" charset="-120"/>
              </a:rPr>
              <a:t>7</a:t>
            </a:r>
            <a:endParaRPr lang="en-US" sz="1450" dirty="0"/>
          </a:p>
        </p:txBody>
      </p:sp>
      <p:sp>
        <p:nvSpPr>
          <p:cNvPr id="37" name="Text 35"/>
          <p:cNvSpPr/>
          <p:nvPr/>
        </p:nvSpPr>
        <p:spPr>
          <a:xfrm>
            <a:off x="1421174" y="5154910"/>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Arquitectura y Uso ✓</a:t>
            </a:r>
            <a:endParaRPr lang="en-US" sz="1200" dirty="0"/>
          </a:p>
        </p:txBody>
      </p:sp>
      <p:sp>
        <p:nvSpPr>
          <p:cNvPr id="38" name="Text 36"/>
          <p:cNvSpPr/>
          <p:nvPr/>
        </p:nvSpPr>
        <p:spPr>
          <a:xfrm>
            <a:off x="1421174" y="5404445"/>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Ciclo de vida, multi-servidor, ecosistema, casos de uso con Claude y cómo conectar servidores.</a:t>
            </a:r>
            <a:endParaRPr lang="en-US" sz="950" dirty="0"/>
          </a:p>
        </p:txBody>
      </p:sp>
      <p:sp>
        <p:nvSpPr>
          <p:cNvPr id="39" name="Shape 37"/>
          <p:cNvSpPr/>
          <p:nvPr/>
        </p:nvSpPr>
        <p:spPr>
          <a:xfrm>
            <a:off x="927821" y="5897265"/>
            <a:ext cx="372061" cy="12700"/>
          </a:xfrm>
          <a:prstGeom prst="roundRect">
            <a:avLst>
              <a:gd name="adj" fmla="val 49999"/>
            </a:avLst>
          </a:prstGeom>
          <a:solidFill>
            <a:srgbClr val="F33447"/>
          </a:solidFill>
          <a:ln/>
        </p:spPr>
      </p:sp>
      <p:sp>
        <p:nvSpPr>
          <p:cNvPr id="40" name="Shape 38"/>
          <p:cNvSpPr/>
          <p:nvPr/>
        </p:nvSpPr>
        <p:spPr>
          <a:xfrm>
            <a:off x="661425" y="5764113"/>
            <a:ext cx="279095" cy="279102"/>
          </a:xfrm>
          <a:prstGeom prst="roundRect">
            <a:avLst>
              <a:gd name="adj" fmla="val 2730"/>
            </a:avLst>
          </a:prstGeom>
          <a:solidFill>
            <a:srgbClr val="DA1B2E"/>
          </a:solidFill>
          <a:ln w="6350">
            <a:solidFill>
              <a:srgbClr val="F33447"/>
            </a:solidFill>
            <a:prstDash val="solid"/>
          </a:ln>
        </p:spPr>
      </p:sp>
      <p:sp>
        <p:nvSpPr>
          <p:cNvPr id="41" name="Text 39"/>
          <p:cNvSpPr/>
          <p:nvPr/>
        </p:nvSpPr>
        <p:spPr>
          <a:xfrm>
            <a:off x="707908" y="5787330"/>
            <a:ext cx="186031" cy="232569"/>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Roboto Mono Medium" pitchFamily="34" charset="0"/>
                <a:ea typeface="Roboto Mono Medium" pitchFamily="34" charset="-122"/>
                <a:cs typeface="Roboto Mono Medium" pitchFamily="34" charset="-120"/>
              </a:rPr>
              <a:t>8</a:t>
            </a:r>
            <a:endParaRPr lang="en-US" sz="1450" dirty="0"/>
          </a:p>
        </p:txBody>
      </p:sp>
      <p:sp>
        <p:nvSpPr>
          <p:cNvPr id="42" name="Text 40"/>
          <p:cNvSpPr/>
          <p:nvPr/>
        </p:nvSpPr>
        <p:spPr>
          <a:xfrm>
            <a:off x="1421174" y="5806678"/>
            <a:ext cx="10109046" cy="193774"/>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Roboto Mono Medium" pitchFamily="34" charset="0"/>
                <a:ea typeface="Roboto Mono Medium" pitchFamily="34" charset="-122"/>
                <a:cs typeface="Roboto Mono Medium" pitchFamily="34" charset="-120"/>
              </a:rPr>
              <a:t>MCP: Diseño de Herramientas</a:t>
            </a:r>
            <a:endParaRPr lang="en-US" sz="1200" dirty="0"/>
          </a:p>
        </p:txBody>
      </p:sp>
      <p:sp>
        <p:nvSpPr>
          <p:cNvPr id="43" name="Text 41"/>
          <p:cNvSpPr/>
          <p:nvPr/>
        </p:nvSpPr>
        <p:spPr>
          <a:xfrm>
            <a:off x="1421174" y="6056213"/>
            <a:ext cx="10109046" cy="173633"/>
          </a:xfrm>
          <a:prstGeom prst="rect">
            <a:avLst/>
          </a:prstGeom>
          <a:noFill/>
          <a:ln/>
        </p:spPr>
        <p:txBody>
          <a:bodyPr wrap="none" lIns="0" tIns="0" rIns="0" bIns="0" rtlCol="0" anchor="t"/>
          <a:lstStyle/>
          <a:p>
            <a:pPr algn="l" indent="0" marL="0">
              <a:lnSpc>
                <a:spcPct val="117000"/>
              </a:lnSpc>
              <a:buNone/>
            </a:pPr>
            <a:r>
              <a:rPr lang="en-US" sz="950" dirty="0">
                <a:solidFill>
                  <a:srgbClr val="3B3535"/>
                </a:solidFill>
                <a:latin typeface="Roboto" pitchFamily="34" charset="0"/>
                <a:ea typeface="Roboto" pitchFamily="34" charset="-122"/>
                <a:cs typeface="Roboto" pitchFamily="34" charset="-120"/>
              </a:rPr>
              <a:t>Selección de herramientas, routing jerárquico, grupos por contexto, diferenciación y analytics en producción.</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661475" y="710307"/>
            <a:ext cx="1438537" cy="163413"/>
          </a:xfrm>
          <a:prstGeom prst="roundRect">
            <a:avLst>
              <a:gd name="adj" fmla="val 4663"/>
            </a:avLst>
          </a:prstGeom>
          <a:solidFill>
            <a:srgbClr val="F9D2D6"/>
          </a:solidFill>
          <a:ln/>
        </p:spPr>
      </p:sp>
      <p:sp>
        <p:nvSpPr>
          <p:cNvPr id="3" name="Text 1"/>
          <p:cNvSpPr/>
          <p:nvPr/>
        </p:nvSpPr>
        <p:spPr>
          <a:xfrm>
            <a:off x="725965" y="742553"/>
            <a:ext cx="1919140" cy="98921"/>
          </a:xfrm>
          <a:prstGeom prst="rect">
            <a:avLst/>
          </a:prstGeom>
          <a:noFill/>
          <a:ln/>
        </p:spPr>
        <p:txBody>
          <a:bodyPr wrap="none" lIns="0" tIns="0" rIns="0" bIns="0" rtlCol="0" anchor="t"/>
          <a:lstStyle/>
          <a:p>
            <a:pPr algn="l" indent="0" marL="0">
              <a:lnSpc>
                <a:spcPct val="96000"/>
              </a:lnSpc>
              <a:buNone/>
            </a:pPr>
            <a:r>
              <a:rPr lang="en-US" sz="650" dirty="0">
                <a:solidFill>
                  <a:srgbClr val="3B3535"/>
                </a:solidFill>
                <a:latin typeface="Roboto" pitchFamily="34" charset="0"/>
                <a:ea typeface="Roboto" pitchFamily="34" charset="-122"/>
                <a:cs typeface="Roboto" pitchFamily="34" charset="-120"/>
              </a:rPr>
              <a:t>MCP: DISEÑO DE HERRAMIENTAS</a:t>
            </a:r>
            <a:endParaRPr lang="en-US" sz="650" dirty="0"/>
          </a:p>
        </p:txBody>
      </p:sp>
      <p:sp>
        <p:nvSpPr>
          <p:cNvPr id="4" name="Text 2"/>
          <p:cNvSpPr/>
          <p:nvPr/>
        </p:nvSpPr>
        <p:spPr>
          <a:xfrm>
            <a:off x="661475" y="901601"/>
            <a:ext cx="10868745" cy="335955"/>
          </a:xfrm>
          <a:prstGeom prst="rect">
            <a:avLst/>
          </a:prstGeom>
          <a:noFill/>
          <a:ln/>
        </p:spPr>
        <p:txBody>
          <a:bodyPr wrap="none" lIns="0" tIns="0" rIns="0" bIns="0" rtlCol="0" anchor="t"/>
          <a:lstStyle/>
          <a:p>
            <a:pPr algn="l" indent="0" marL="0">
              <a:lnSpc>
                <a:spcPct val="104000"/>
              </a:lnSpc>
              <a:buNone/>
            </a:pPr>
            <a:r>
              <a:rPr lang="en-US" sz="2100" dirty="0">
                <a:solidFill>
                  <a:srgbClr val="1F1E1E"/>
                </a:solidFill>
                <a:latin typeface="Roboto Mono Medium" pitchFamily="34" charset="0"/>
                <a:ea typeface="Roboto Mono Medium" pitchFamily="34" charset="-122"/>
                <a:cs typeface="Roboto Mono Medium" pitchFamily="34" charset="-120"/>
              </a:rPr>
              <a:t>El problema de selección de herramientas</a:t>
            </a:r>
            <a:endParaRPr lang="en-US" sz="2100" dirty="0"/>
          </a:p>
        </p:txBody>
      </p:sp>
      <p:sp>
        <p:nvSpPr>
          <p:cNvPr id="5" name="Text 3"/>
          <p:cNvSpPr/>
          <p:nvPr/>
        </p:nvSpPr>
        <p:spPr>
          <a:xfrm>
            <a:off x="661475" y="1342330"/>
            <a:ext cx="11478330"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La precisión del agente cae drásticamente a medida que aumenta el número de herramientas disponibles. Los LLMs hacen pattern-matching sobre descripciones — los espacios de opciones grandes los abruman.</a:t>
            </a:r>
            <a:endParaRPr lang="en-US" sz="800" dirty="0"/>
          </a:p>
        </p:txBody>
      </p:sp>
      <p:pic>
        <p:nvPicPr>
          <p:cNvPr id="6" name="Image 0" descr="preencoded.png">    </p:cNvPr>
          <p:cNvPicPr>
            <a:picLocks noChangeAspect="1"/>
          </p:cNvPicPr>
          <p:nvPr/>
        </p:nvPicPr>
        <p:blipFill>
          <a:blip r:embed="rId1"/>
          <a:stretch>
            <a:fillRect/>
          </a:stretch>
        </p:blipFill>
        <p:spPr>
          <a:xfrm>
            <a:off x="661475" y="1562795"/>
            <a:ext cx="7064595" cy="3957737"/>
          </a:xfrm>
          <a:prstGeom prst="rect">
            <a:avLst/>
          </a:prstGeom>
        </p:spPr>
      </p:pic>
      <p:sp>
        <p:nvSpPr>
          <p:cNvPr id="7" name="Shape 4"/>
          <p:cNvSpPr/>
          <p:nvPr/>
        </p:nvSpPr>
        <p:spPr>
          <a:xfrm>
            <a:off x="661475" y="5599113"/>
            <a:ext cx="10868745" cy="328116"/>
          </a:xfrm>
          <a:prstGeom prst="roundRect">
            <a:avLst>
              <a:gd name="adj" fmla="val 2322"/>
            </a:avLst>
          </a:prstGeom>
          <a:solidFill>
            <a:srgbClr val="F9D2D6"/>
          </a:solidFill>
          <a:ln/>
        </p:spPr>
      </p:sp>
      <p:pic>
        <p:nvPicPr>
          <p:cNvPr id="8" name="Image 1" descr="preencoded.png">    </p:cNvPr>
          <p:cNvPicPr>
            <a:picLocks noChangeAspect="1"/>
          </p:cNvPicPr>
          <p:nvPr/>
        </p:nvPicPr>
        <p:blipFill>
          <a:blip r:embed="rId2"/>
          <a:stretch>
            <a:fillRect/>
          </a:stretch>
        </p:blipFill>
        <p:spPr>
          <a:xfrm>
            <a:off x="768926" y="5703292"/>
            <a:ext cx="134339" cy="107454"/>
          </a:xfrm>
          <a:prstGeom prst="rect">
            <a:avLst/>
          </a:prstGeom>
        </p:spPr>
      </p:pic>
      <p:sp>
        <p:nvSpPr>
          <p:cNvPr id="9" name="Text 5"/>
          <p:cNvSpPr/>
          <p:nvPr/>
        </p:nvSpPr>
        <p:spPr>
          <a:xfrm>
            <a:off x="1010716" y="5695752"/>
            <a:ext cx="11021638" cy="141883"/>
          </a:xfrm>
          <a:prstGeom prst="rect">
            <a:avLst/>
          </a:prstGeom>
          <a:noFill/>
          <a:ln/>
        </p:spPr>
        <p:txBody>
          <a:bodyPr wrap="none" lIns="0" tIns="0" rIns="0" bIns="0" rtlCol="0" anchor="t"/>
          <a:lstStyle/>
          <a:p>
            <a:pPr algn="l" indent="0" marL="0">
              <a:lnSpc>
                <a:spcPct val="110000"/>
              </a:lnSpc>
              <a:buNone/>
            </a:pPr>
            <a:r>
              <a:rPr lang="en-US" sz="800" dirty="0">
                <a:solidFill>
                  <a:srgbClr val="000000"/>
                </a:solidFill>
                <a:latin typeface="Roboto" pitchFamily="34" charset="0"/>
                <a:ea typeface="Roboto" pitchFamily="34" charset="-122"/>
                <a:cs typeface="Roboto" pitchFamily="34" charset="-120"/>
              </a:rPr>
              <a:t>Con 20+ herramientas en lista plana, el agente selecciona la herramienta incorrecta el 42% de las veces. El diseño de herramientas es tan importante como su implementación.</a:t>
            </a:r>
            <a:endParaRPr lang="en-US" sz="800" dirty="0"/>
          </a:p>
        </p:txBody>
      </p:sp>
      <p:sp>
        <p:nvSpPr>
          <p:cNvPr id="10" name="Text 6"/>
          <p:cNvSpPr/>
          <p:nvPr/>
        </p:nvSpPr>
        <p:spPr>
          <a:xfrm>
            <a:off x="661475" y="6005810"/>
            <a:ext cx="11478330" cy="141883"/>
          </a:xfrm>
          <a:prstGeom prst="rect">
            <a:avLst/>
          </a:prstGeom>
          <a:noFill/>
          <a:ln/>
        </p:spPr>
        <p:txBody>
          <a:bodyPr wrap="none" lIns="0" tIns="0" rIns="0" bIns="0" rtlCol="0" anchor="t"/>
          <a:lstStyle/>
          <a:p>
            <a:pPr algn="l" indent="0" marL="0">
              <a:lnSpc>
                <a:spcPct val="110000"/>
              </a:lnSpc>
              <a:buNone/>
            </a:pPr>
            <a:r>
              <a:rPr lang="en-US" sz="800" dirty="0">
                <a:solidFill>
                  <a:srgbClr val="3B3535"/>
                </a:solidFill>
                <a:latin typeface="Roboto" pitchFamily="34" charset="0"/>
                <a:ea typeface="Roboto" pitchFamily="34" charset="-122"/>
                <a:cs typeface="Roboto" pitchFamily="34" charset="-120"/>
              </a:rPr>
              <a:t>Source: </a:t>
            </a:r>
            <a:pPr algn="l" indent="0" marL="0">
              <a:lnSpc>
                <a:spcPct val="110000"/>
              </a:lnSpc>
              <a:buNone/>
            </a:pPr>
            <a:r>
              <a:rPr lang="en-US" sz="800" b="1" u="sng" dirty="0">
                <a:solidFill>
                  <a:srgbClr val="DA1B2E"/>
                </a:solidFill>
                <a:latin typeface="Roboto Bold" pitchFamily="34" charset="0"/>
                <a:ea typeface="Roboto Bold" pitchFamily="34" charset="-122"/>
                <a:cs typeface="Roboto Bold" pitchFamily="34" charset="-120"/>
                <a:hlinkClick r:id="rId3" invalidUrl="" action="" tgtFrame="" tooltip="" history="1" highlightClick="0" endSnd="0">
                  <a:extLst>
                    <a:ext uri="{A12FA001-AC4F-418D-AE19-62706E023703}">
                      <ahyp:hlinkClr xmlns:ahyp="http://schemas.microsoft.com/office/drawing/2018/hyperlinkcolor" val="tx"/>
                    </a:ext>
                  </a:extLst>
                </a:hlinkClick>
              </a:rPr>
              <a:t>aitutorial.dev/agents/tool-selection-and-optimization</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661475" y="591741"/>
            <a:ext cx="1822206" cy="206772"/>
          </a:xfrm>
          <a:prstGeom prst="roundRect">
            <a:avLst>
              <a:gd name="adj" fmla="val 3685"/>
            </a:avLst>
          </a:prstGeom>
          <a:solidFill>
            <a:srgbClr val="F9D2D6"/>
          </a:solidFill>
          <a:ln/>
        </p:spPr>
      </p:sp>
      <p:sp>
        <p:nvSpPr>
          <p:cNvPr id="3" name="Text 1"/>
          <p:cNvSpPr/>
          <p:nvPr/>
        </p:nvSpPr>
        <p:spPr>
          <a:xfrm>
            <a:off x="743130" y="632520"/>
            <a:ext cx="2268481" cy="125214"/>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MCP: DISEÑO DE HERRAMIENTAS</a:t>
            </a:r>
            <a:endParaRPr lang="en-US" sz="850" dirty="0"/>
          </a:p>
        </p:txBody>
      </p:sp>
      <p:sp>
        <p:nvSpPr>
          <p:cNvPr id="4" name="Text 2"/>
          <p:cNvSpPr/>
          <p:nvPr/>
        </p:nvSpPr>
        <p:spPr>
          <a:xfrm>
            <a:off x="661475" y="843359"/>
            <a:ext cx="10868745" cy="425648"/>
          </a:xfrm>
          <a:prstGeom prst="rect">
            <a:avLst/>
          </a:prstGeom>
          <a:noFill/>
          <a:ln/>
        </p:spPr>
        <p:txBody>
          <a:bodyPr wrap="none" lIns="0" tIns="0" rIns="0" bIns="0" rtlCol="0" anchor="t"/>
          <a:lstStyle/>
          <a:p>
            <a:pPr algn="l" indent="0" marL="0">
              <a:lnSpc>
                <a:spcPct val="104000"/>
              </a:lnSpc>
              <a:buNone/>
            </a:pPr>
            <a:r>
              <a:rPr lang="en-US" sz="2650" dirty="0">
                <a:solidFill>
                  <a:srgbClr val="1F1E1E"/>
                </a:solidFill>
                <a:latin typeface="Roboto Mono Medium" pitchFamily="34" charset="0"/>
                <a:ea typeface="Roboto Mono Medium" pitchFamily="34" charset="-122"/>
                <a:cs typeface="Roboto Mono Medium" pitchFamily="34" charset="-120"/>
              </a:rPr>
              <a:t>Solución 1: Routing jerárquico</a:t>
            </a:r>
            <a:endParaRPr lang="en-US" sz="2650" dirty="0"/>
          </a:p>
        </p:txBody>
      </p:sp>
      <p:sp>
        <p:nvSpPr>
          <p:cNvPr id="5" name="Shape 3"/>
          <p:cNvSpPr/>
          <p:nvPr/>
        </p:nvSpPr>
        <p:spPr>
          <a:xfrm>
            <a:off x="563449" y="1437184"/>
            <a:ext cx="5464336" cy="4223246"/>
          </a:xfrm>
          <a:prstGeom prst="roundRect">
            <a:avLst>
              <a:gd name="adj" fmla="val 484"/>
            </a:avLst>
          </a:prstGeom>
          <a:solidFill>
            <a:srgbClr val="F9D2D6">
              <a:alpha val="95000"/>
            </a:srgbClr>
          </a:solidFill>
          <a:ln/>
        </p:spPr>
      </p:sp>
      <p:sp>
        <p:nvSpPr>
          <p:cNvPr id="6" name="Text 4"/>
          <p:cNvSpPr/>
          <p:nvPr/>
        </p:nvSpPr>
        <p:spPr>
          <a:xfrm>
            <a:off x="699574" y="1549301"/>
            <a:ext cx="5192087" cy="225524"/>
          </a:xfrm>
          <a:prstGeom prst="rect">
            <a:avLst/>
          </a:prstGeom>
          <a:noFill/>
          <a:ln/>
        </p:spPr>
        <p:txBody>
          <a:bodyPr wrap="none" lIns="0" tIns="0" rIns="0" bIns="0" rtlCol="0" anchor="t"/>
          <a:lstStyle/>
          <a:p>
            <a:pPr algn="l" indent="0" marL="0">
              <a:lnSpc>
                <a:spcPct val="104000"/>
              </a:lnSpc>
              <a:buNone/>
            </a:pPr>
            <a:r>
              <a:rPr lang="en-US" sz="13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 Anti-patrón: Lista plana (20 herramientas)</a:t>
            </a:r>
            <a:endParaRPr lang="en-US" sz="1300" dirty="0"/>
          </a:p>
        </p:txBody>
      </p:sp>
      <p:sp>
        <p:nvSpPr>
          <p:cNvPr id="7" name="Text 5"/>
          <p:cNvSpPr/>
          <p:nvPr/>
        </p:nvSpPr>
        <p:spPr>
          <a:xfrm>
            <a:off x="699574" y="1886942"/>
            <a:ext cx="5801671" cy="198636"/>
          </a:xfrm>
          <a:prstGeom prst="rect">
            <a:avLst/>
          </a:prstGeom>
          <a:noFill/>
          <a:ln/>
        </p:spPr>
        <p:txBody>
          <a:bodyPr wrap="none" lIns="0" tIns="0" rIns="0" bIns="0" rtlCol="0" anchor="t"/>
          <a:lstStyle/>
          <a:p>
            <a:pPr algn="l" indent="0" marL="0">
              <a:lnSpc>
                <a:spcPct val="122000"/>
              </a:lnSpc>
              <a:buNone/>
            </a:pPr>
            <a:r>
              <a:rPr lang="en-US" sz="1050" dirty="0">
                <a:solidFill>
                  <a:srgbClr val="3B3535"/>
                </a:solidFill>
                <a:latin typeface="Roboto" pitchFamily="34" charset="0"/>
                <a:ea typeface="Roboto" pitchFamily="34" charset="-122"/>
                <a:cs typeface="Roboto" pitchFamily="34" charset="-120"/>
              </a:rPr>
              <a:t>The agent sees all 20 tools at once → 58% accuracy.</a:t>
            </a:r>
            <a:endParaRPr lang="en-US" sz="1050" dirty="0"/>
          </a:p>
        </p:txBody>
      </p:sp>
      <p:sp>
        <p:nvSpPr>
          <p:cNvPr id="8" name="Shape 6"/>
          <p:cNvSpPr/>
          <p:nvPr/>
        </p:nvSpPr>
        <p:spPr>
          <a:xfrm>
            <a:off x="699574" y="2211685"/>
            <a:ext cx="5192087" cy="2233216"/>
          </a:xfrm>
          <a:prstGeom prst="roundRect">
            <a:avLst>
              <a:gd name="adj" fmla="val 341"/>
            </a:avLst>
          </a:prstGeom>
          <a:solidFill>
            <a:srgbClr val="ECC5C9"/>
          </a:solidFill>
          <a:ln/>
        </p:spPr>
      </p:sp>
      <p:sp>
        <p:nvSpPr>
          <p:cNvPr id="9" name="Text 7"/>
          <p:cNvSpPr/>
          <p:nvPr/>
        </p:nvSpPr>
        <p:spPr>
          <a:xfrm>
            <a:off x="862983" y="2347813"/>
            <a:ext cx="4865268" cy="196095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const tools = [</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searchCustomers, searchProducts,</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searchOrders, searchTickets,</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getCustomer, getProduct,</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updateCustomer, updateProduct,</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createOrder, createTicket,</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 ... 10 más</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a:t>
            </a:r>
            <a:endParaRPr lang="en-US" sz="1050" dirty="0"/>
          </a:p>
          <a:p>
            <a:pPr algn="l" indent="0" marL="0">
              <a:lnSpc>
                <a:spcPct val="133000"/>
              </a:lnSpc>
              <a:buNone/>
            </a:pPr>
            <a:r>
              <a:rPr lang="en-US" sz="1050" dirty="0">
                <a:solidFill>
                  <a:srgbClr val="D73A49"/>
                </a:solidFill>
                <a:latin typeface="Consolas" pitchFamily="34" charset="0"/>
                <a:ea typeface="Consolas" pitchFamily="34" charset="-122"/>
                <a:cs typeface="Consolas" pitchFamily="34" charset="-120"/>
              </a:rPr>
              <a:t>// El agente ve 20 herramientas → 58% precisión</a:t>
            </a:r>
            <a:endParaRPr lang="en-US" sz="1050" dirty="0"/>
          </a:p>
        </p:txBody>
      </p:sp>
      <p:sp>
        <p:nvSpPr>
          <p:cNvPr id="10" name="Text 8"/>
          <p:cNvSpPr/>
          <p:nvPr/>
        </p:nvSpPr>
        <p:spPr>
          <a:xfrm>
            <a:off x="6268285" y="1549301"/>
            <a:ext cx="5268285" cy="225524"/>
          </a:xfrm>
          <a:prstGeom prst="rect">
            <a:avLst/>
          </a:prstGeom>
          <a:noFill/>
          <a:ln/>
        </p:spPr>
        <p:txBody>
          <a:bodyPr wrap="none" lIns="0" tIns="0" rIns="0" bIns="0" rtlCol="0" anchor="t"/>
          <a:lstStyle/>
          <a:p>
            <a:pPr algn="l" indent="0" marL="0">
              <a:lnSpc>
                <a:spcPct val="104000"/>
              </a:lnSpc>
              <a:buNone/>
            </a:pPr>
            <a:r>
              <a:rPr lang="en-US" sz="13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 Solución: Herramienta de routing (1 herramienta)</a:t>
            </a:r>
            <a:endParaRPr lang="en-US" sz="1300" dirty="0"/>
          </a:p>
        </p:txBody>
      </p:sp>
      <p:sp>
        <p:nvSpPr>
          <p:cNvPr id="11" name="Text 9"/>
          <p:cNvSpPr/>
          <p:nvPr/>
        </p:nvSpPr>
        <p:spPr>
          <a:xfrm>
            <a:off x="6268285" y="1886942"/>
            <a:ext cx="5877869" cy="198636"/>
          </a:xfrm>
          <a:prstGeom prst="rect">
            <a:avLst/>
          </a:prstGeom>
          <a:noFill/>
          <a:ln/>
        </p:spPr>
        <p:txBody>
          <a:bodyPr wrap="none" lIns="0" tIns="0" rIns="0" bIns="0" rtlCol="0" anchor="t"/>
          <a:lstStyle/>
          <a:p>
            <a:pPr algn="l" indent="0" marL="0">
              <a:lnSpc>
                <a:spcPct val="122000"/>
              </a:lnSpc>
              <a:buNone/>
            </a:pPr>
            <a:r>
              <a:rPr lang="en-US" sz="1050" dirty="0">
                <a:solidFill>
                  <a:srgbClr val="3B3535"/>
                </a:solidFill>
                <a:latin typeface="Roboto" pitchFamily="34" charset="0"/>
                <a:ea typeface="Roboto" pitchFamily="34" charset="-122"/>
                <a:cs typeface="Roboto" pitchFamily="34" charset="-120"/>
              </a:rPr>
              <a:t>The agent sees 1 routing tool → 90%+ accuracy.</a:t>
            </a:r>
            <a:endParaRPr lang="en-US" sz="1050" dirty="0"/>
          </a:p>
        </p:txBody>
      </p:sp>
      <p:sp>
        <p:nvSpPr>
          <p:cNvPr id="12" name="Shape 10"/>
          <p:cNvSpPr/>
          <p:nvPr/>
        </p:nvSpPr>
        <p:spPr>
          <a:xfrm>
            <a:off x="6268285" y="2211685"/>
            <a:ext cx="5268285" cy="3322638"/>
          </a:xfrm>
          <a:prstGeom prst="roundRect">
            <a:avLst>
              <a:gd name="adj" fmla="val 229"/>
            </a:avLst>
          </a:prstGeom>
          <a:solidFill>
            <a:srgbClr val="F2F2F2"/>
          </a:solidFill>
          <a:ln/>
        </p:spPr>
      </p:sp>
      <p:sp>
        <p:nvSpPr>
          <p:cNvPr id="13" name="Text 11"/>
          <p:cNvSpPr/>
          <p:nvPr/>
        </p:nvSpPr>
        <p:spPr>
          <a:xfrm>
            <a:off x="6431695" y="2347813"/>
            <a:ext cx="4941466" cy="3050381"/>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mcp.registerTool("route_to_domain", {</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description: "Enruta al dominio y acción correctos",</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inputSchema: {</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domain: z.enum([</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"customers","products",</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"orders","tickets"</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action: z.enum([</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"search","get","update",</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"create","delete"</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a:t>
            </a:r>
            <a:endParaRPr lang="en-US" sz="1050" dirty="0"/>
          </a:p>
          <a:p>
            <a:pPr algn="l" indent="0" marL="0">
              <a:lnSpc>
                <a:spcPct val="133000"/>
              </a:lnSpc>
              <a:buNone/>
            </a:pPr>
            <a:r>
              <a:rPr lang="en-US" sz="1050" dirty="0">
                <a:solidFill>
                  <a:srgbClr val="22863A"/>
                </a:solidFill>
                <a:latin typeface="Consolas" pitchFamily="34" charset="0"/>
                <a:ea typeface="Consolas" pitchFamily="34" charset="-122"/>
                <a:cs typeface="Consolas" pitchFamily="34" charset="-120"/>
              </a:rPr>
              <a:t>// El agente ve 1 herramienta → 90%+ precisión</a:t>
            </a:r>
            <a:endParaRPr lang="en-US" sz="1050" dirty="0"/>
          </a:p>
        </p:txBody>
      </p:sp>
      <p:sp>
        <p:nvSpPr>
          <p:cNvPr id="14" name="Shape 12"/>
          <p:cNvSpPr/>
          <p:nvPr/>
        </p:nvSpPr>
        <p:spPr>
          <a:xfrm>
            <a:off x="661475" y="5786537"/>
            <a:ext cx="10868745" cy="479723"/>
          </a:xfrm>
          <a:prstGeom prst="roundRect">
            <a:avLst>
              <a:gd name="adj" fmla="val 1588"/>
            </a:avLst>
          </a:prstGeom>
          <a:solidFill>
            <a:srgbClr val="F9D2D6"/>
          </a:solidFill>
          <a:ln/>
        </p:spPr>
      </p:sp>
      <p:pic>
        <p:nvPicPr>
          <p:cNvPr id="15" name="Image 0" descr="preencoded.png">    </p:cNvPr>
          <p:cNvPicPr>
            <a:picLocks noChangeAspect="1"/>
          </p:cNvPicPr>
          <p:nvPr/>
        </p:nvPicPr>
        <p:blipFill>
          <a:blip r:embed="rId1"/>
          <a:stretch>
            <a:fillRect/>
          </a:stretch>
        </p:blipFill>
        <p:spPr>
          <a:xfrm>
            <a:off x="797600" y="5946874"/>
            <a:ext cx="170156" cy="136128"/>
          </a:xfrm>
          <a:prstGeom prst="rect">
            <a:avLst/>
          </a:prstGeom>
        </p:spPr>
      </p:pic>
      <p:sp>
        <p:nvSpPr>
          <p:cNvPr id="16" name="Text 13"/>
          <p:cNvSpPr/>
          <p:nvPr/>
        </p:nvSpPr>
        <p:spPr>
          <a:xfrm>
            <a:off x="1103880" y="5932686"/>
            <a:ext cx="10899800" cy="198636"/>
          </a:xfrm>
          <a:prstGeom prst="rect">
            <a:avLst/>
          </a:prstGeom>
          <a:noFill/>
          <a:ln/>
        </p:spPr>
        <p:txBody>
          <a:bodyPr wrap="none" lIns="0" tIns="0" rIns="0" bIns="0" rtlCol="0" anchor="t"/>
          <a:lstStyle/>
          <a:p>
            <a:pPr algn="l" indent="0" marL="0">
              <a:lnSpc>
                <a:spcPct val="122000"/>
              </a:lnSpc>
              <a:buNone/>
            </a:pPr>
            <a:r>
              <a:rPr lang="en-US" sz="1050" dirty="0">
                <a:solidFill>
                  <a:srgbClr val="000000"/>
                </a:solidFill>
                <a:latin typeface="Roboto" pitchFamily="34" charset="0"/>
                <a:ea typeface="Roboto" pitchFamily="34" charset="-122"/>
                <a:cs typeface="Roboto" pitchFamily="34" charset="-120"/>
              </a:rPr>
              <a:t>En lugar de 20 herramientas planas, el agente recibe 1 herramienta de routing. Elige dominio + acción, y en un segundo paso se invoca la herramienta específica.</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661475" y="625177"/>
            <a:ext cx="1993156" cy="226219"/>
          </a:xfrm>
          <a:prstGeom prst="roundRect">
            <a:avLst>
              <a:gd name="adj" fmla="val 3368"/>
            </a:avLst>
          </a:prstGeom>
          <a:solidFill>
            <a:srgbClr val="F9D2D6"/>
          </a:solidFill>
          <a:ln/>
        </p:spPr>
      </p:sp>
      <p:sp>
        <p:nvSpPr>
          <p:cNvPr id="3" name="Text 1"/>
          <p:cNvSpPr/>
          <p:nvPr/>
        </p:nvSpPr>
        <p:spPr>
          <a:xfrm>
            <a:off x="750769" y="669826"/>
            <a:ext cx="2424151" cy="136922"/>
          </a:xfrm>
          <a:prstGeom prst="rect">
            <a:avLst/>
          </a:prstGeom>
          <a:noFill/>
          <a:ln/>
        </p:spPr>
        <p:txBody>
          <a:bodyPr wrap="none" lIns="0" tIns="0" rIns="0" bIns="0" rtlCol="0" anchor="t"/>
          <a:lstStyle/>
          <a:p>
            <a:pPr algn="l" indent="0" marL="0">
              <a:lnSpc>
                <a:spcPct val="96000"/>
              </a:lnSpc>
              <a:buNone/>
            </a:pPr>
            <a:r>
              <a:rPr lang="en-US" sz="900" dirty="0">
                <a:solidFill>
                  <a:srgbClr val="3B3535"/>
                </a:solidFill>
                <a:latin typeface="Roboto" pitchFamily="34" charset="0"/>
                <a:ea typeface="Roboto" pitchFamily="34" charset="-122"/>
                <a:cs typeface="Roboto" pitchFamily="34" charset="-120"/>
              </a:rPr>
              <a:t>MCP: DISEÑO DE HERRAMIENTAS</a:t>
            </a:r>
            <a:endParaRPr lang="en-US" sz="900" dirty="0"/>
          </a:p>
        </p:txBody>
      </p:sp>
      <p:sp>
        <p:nvSpPr>
          <p:cNvPr id="4" name="Text 2"/>
          <p:cNvSpPr/>
          <p:nvPr/>
        </p:nvSpPr>
        <p:spPr>
          <a:xfrm>
            <a:off x="661475" y="904974"/>
            <a:ext cx="10868745" cy="930275"/>
          </a:xfrm>
          <a:prstGeom prst="rect">
            <a:avLst/>
          </a:prstGeom>
          <a:noFill/>
          <a:ln/>
        </p:spPr>
        <p:txBody>
          <a:bodyPr wrap="square" lIns="0" tIns="0" rIns="0" bIns="0" rtlCol="0" anchor="t">
            <a:normAutofit/>
          </a:bodyPr>
          <a:lstStyle/>
          <a:p>
            <a:pPr algn="l" indent="0" marL="0">
              <a:lnSpc>
                <a:spcPct val="104000"/>
              </a:lnSpc>
              <a:buNone/>
            </a:pPr>
            <a:r>
              <a:rPr lang="en-US" sz="2900" dirty="0">
                <a:solidFill>
                  <a:srgbClr val="1F1E1E"/>
                </a:solidFill>
                <a:latin typeface="Roboto Mono Medium" pitchFamily="34" charset="0"/>
                <a:ea typeface="Roboto Mono Medium" pitchFamily="34" charset="-122"/>
                <a:cs typeface="Roboto Mono Medium" pitchFamily="34" charset="-120"/>
              </a:rPr>
              <a:t>Solución 2: Grupos de herramientas por contexto (fase)</a:t>
            </a:r>
            <a:endParaRPr lang="en-US" sz="2900" dirty="0"/>
          </a:p>
        </p:txBody>
      </p:sp>
      <p:sp>
        <p:nvSpPr>
          <p:cNvPr id="5" name="Text 3"/>
          <p:cNvSpPr/>
          <p:nvPr/>
        </p:nvSpPr>
        <p:spPr>
          <a:xfrm>
            <a:off x="661475" y="2036167"/>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Una conversación de soporte tiene fases distintas. Mostrar solo las herramientas relevantes a la fase actual — el agente ve 2-4 en lugar de 20.</a:t>
            </a:r>
            <a:endParaRPr lang="en-US" sz="1150" dirty="0"/>
          </a:p>
        </p:txBody>
      </p:sp>
      <p:sp>
        <p:nvSpPr>
          <p:cNvPr id="6" name="Text 4"/>
          <p:cNvSpPr/>
          <p:nvPr/>
        </p:nvSpPr>
        <p:spPr>
          <a:xfrm>
            <a:off x="661475" y="2413099"/>
            <a:ext cx="297649" cy="186035"/>
          </a:xfrm>
          <a:prstGeom prst="rect">
            <a:avLst/>
          </a:prstGeom>
          <a:noFill/>
          <a:ln/>
        </p:spPr>
        <p:txBody>
          <a:bodyPr wrap="none" lIns="0" tIns="0" rIns="0" bIns="0" rtlCol="0" anchor="ctr"/>
          <a:lstStyle/>
          <a:p>
            <a:pPr algn="l" indent="0" marL="0">
              <a:lnSpc>
                <a:spcPct val="100000"/>
              </a:lnSpc>
              <a:buNone/>
            </a:pPr>
            <a:r>
              <a:rPr lang="en-US" sz="1150" dirty="0">
                <a:solidFill>
                  <a:srgbClr val="3B3535"/>
                </a:solidFill>
                <a:latin typeface="Roboto Mono Light" pitchFamily="34" charset="0"/>
                <a:ea typeface="Roboto Mono Light" pitchFamily="34" charset="-122"/>
                <a:cs typeface="Roboto Mono Light" pitchFamily="34" charset="-120"/>
              </a:rPr>
              <a:t>01</a:t>
            </a:r>
            <a:endParaRPr lang="en-US" sz="1150" dirty="0"/>
          </a:p>
        </p:txBody>
      </p:sp>
      <p:sp>
        <p:nvSpPr>
          <p:cNvPr id="7" name="Shape 5"/>
          <p:cNvSpPr/>
          <p:nvPr/>
        </p:nvSpPr>
        <p:spPr>
          <a:xfrm>
            <a:off x="661475" y="2647057"/>
            <a:ext cx="3533587" cy="19050"/>
          </a:xfrm>
          <a:prstGeom prst="rect">
            <a:avLst/>
          </a:prstGeom>
          <a:solidFill>
            <a:srgbClr val="DA1B2E"/>
          </a:solidFill>
          <a:ln/>
        </p:spPr>
      </p:sp>
      <p:sp>
        <p:nvSpPr>
          <p:cNvPr id="8" name="Text 6"/>
          <p:cNvSpPr/>
          <p:nvPr/>
        </p:nvSpPr>
        <p:spPr>
          <a:xfrm>
            <a:off x="661475" y="2759571"/>
            <a:ext cx="3533587" cy="23247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Fase: Saludo / Autenticación</a:t>
            </a:r>
            <a:endParaRPr lang="en-US" sz="1450" dirty="0"/>
          </a:p>
        </p:txBody>
      </p:sp>
      <p:sp>
        <p:nvSpPr>
          <p:cNvPr id="9" name="Text 7"/>
          <p:cNvSpPr/>
          <p:nvPr/>
        </p:nvSpPr>
        <p:spPr>
          <a:xfrm>
            <a:off x="661475" y="3072408"/>
            <a:ext cx="3533587" cy="226219"/>
          </a:xfrm>
          <a:prstGeom prst="rect">
            <a:avLst/>
          </a:prstGeom>
          <a:noFill/>
          <a:ln/>
        </p:spPr>
        <p:txBody>
          <a:bodyPr wrap="none" lIns="0" tIns="0" rIns="0" bIns="0" rtlCol="0" anchor="t"/>
          <a:lstStyle/>
          <a:p>
            <a:pPr algn="l" indent="0" marL="0">
              <a:lnSpc>
                <a:spcPct val="127000"/>
              </a:lnSpc>
              <a:buNone/>
            </a:pPr>
            <a:r>
              <a:rPr lang="en-US" sz="1150" b="1" dirty="0">
                <a:solidFill>
                  <a:srgbClr val="3B3535"/>
                </a:solidFill>
                <a:latin typeface="Roboto Bold" pitchFamily="34" charset="0"/>
                <a:ea typeface="Roboto Bold" pitchFamily="34" charset="-122"/>
                <a:cs typeface="Roboto Bold" pitchFamily="34" charset="-120"/>
              </a:rPr>
              <a:t>Herramientas activas (1):</a:t>
            </a:r>
            <a:endParaRPr lang="en-US" sz="1150" dirty="0"/>
          </a:p>
        </p:txBody>
      </p:sp>
      <p:sp>
        <p:nvSpPr>
          <p:cNvPr id="10" name="Text 8"/>
          <p:cNvSpPr/>
          <p:nvPr/>
        </p:nvSpPr>
        <p:spPr>
          <a:xfrm>
            <a:off x="661475" y="3378994"/>
            <a:ext cx="3533587" cy="226219"/>
          </a:xfrm>
          <a:prstGeom prst="rect">
            <a:avLst/>
          </a:prstGeom>
          <a:noFill/>
          <a:ln/>
        </p:spPr>
        <p:txBody>
          <a:bodyPr wrap="none" lIns="0" tIns="59541" rIns="0" bIns="0" rtlCol="0" anchor="t"/>
          <a:lstStyle/>
          <a:p>
            <a:pPr algn="l" marL="233680" indent="-233680">
              <a:lnSpc>
                <a:spcPct val="127000"/>
              </a:lnSpc>
              <a:buSzPct val="100000"/>
              <a:buChar char="•"/>
            </a:pPr>
            <a:r>
              <a:rPr lang="en-US" sz="1150" dirty="0">
                <a:solidFill>
                  <a:srgbClr val="3B3535"/>
                </a:solidFill>
                <a:latin typeface="Roboto" pitchFamily="34" charset="0"/>
                <a:ea typeface="Roboto" pitchFamily="34" charset="-122"/>
                <a:cs typeface="Roboto" pitchFamily="34" charset="-120"/>
              </a:rPr>
              <a:t>authenticateCustomer</a:t>
            </a:r>
            <a:endParaRPr lang="en-US" sz="1150" dirty="0"/>
          </a:p>
        </p:txBody>
      </p:sp>
      <p:sp>
        <p:nvSpPr>
          <p:cNvPr id="11" name="Text 9"/>
          <p:cNvSpPr/>
          <p:nvPr/>
        </p:nvSpPr>
        <p:spPr>
          <a:xfrm>
            <a:off x="661475" y="3685580"/>
            <a:ext cx="3533587"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El agente no necesita ver herramientas de búsqueda ni de tickets todavía.</a:t>
            </a:r>
            <a:endParaRPr lang="en-US" sz="1150" dirty="0"/>
          </a:p>
        </p:txBody>
      </p:sp>
      <p:sp>
        <p:nvSpPr>
          <p:cNvPr id="12" name="Text 10"/>
          <p:cNvSpPr/>
          <p:nvPr/>
        </p:nvSpPr>
        <p:spPr>
          <a:xfrm>
            <a:off x="4329004" y="2413099"/>
            <a:ext cx="297649" cy="186035"/>
          </a:xfrm>
          <a:prstGeom prst="rect">
            <a:avLst/>
          </a:prstGeom>
          <a:noFill/>
          <a:ln/>
        </p:spPr>
        <p:txBody>
          <a:bodyPr wrap="none" lIns="0" tIns="0" rIns="0" bIns="0" rtlCol="0" anchor="ctr"/>
          <a:lstStyle/>
          <a:p>
            <a:pPr algn="l" indent="0" marL="0">
              <a:lnSpc>
                <a:spcPct val="100000"/>
              </a:lnSpc>
              <a:buNone/>
            </a:pPr>
            <a:r>
              <a:rPr lang="en-US" sz="1150" dirty="0">
                <a:solidFill>
                  <a:srgbClr val="3B3535"/>
                </a:solidFill>
                <a:latin typeface="Roboto Mono Light" pitchFamily="34" charset="0"/>
                <a:ea typeface="Roboto Mono Light" pitchFamily="34" charset="-122"/>
                <a:cs typeface="Roboto Mono Light" pitchFamily="34" charset="-120"/>
              </a:rPr>
              <a:t>02</a:t>
            </a:r>
            <a:endParaRPr lang="en-US" sz="1150" dirty="0"/>
          </a:p>
        </p:txBody>
      </p:sp>
      <p:sp>
        <p:nvSpPr>
          <p:cNvPr id="13" name="Shape 11"/>
          <p:cNvSpPr/>
          <p:nvPr/>
        </p:nvSpPr>
        <p:spPr>
          <a:xfrm>
            <a:off x="4329004" y="2647057"/>
            <a:ext cx="3533587" cy="19050"/>
          </a:xfrm>
          <a:prstGeom prst="rect">
            <a:avLst/>
          </a:prstGeom>
          <a:solidFill>
            <a:srgbClr val="DA1B2E"/>
          </a:solidFill>
          <a:ln/>
        </p:spPr>
      </p:sp>
      <p:sp>
        <p:nvSpPr>
          <p:cNvPr id="14" name="Text 12"/>
          <p:cNvSpPr/>
          <p:nvPr/>
        </p:nvSpPr>
        <p:spPr>
          <a:xfrm>
            <a:off x="4329004" y="2759571"/>
            <a:ext cx="3533587" cy="23247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Fase: Diagnóstico</a:t>
            </a:r>
            <a:endParaRPr lang="en-US" sz="1450" dirty="0"/>
          </a:p>
        </p:txBody>
      </p:sp>
      <p:sp>
        <p:nvSpPr>
          <p:cNvPr id="15" name="Text 13"/>
          <p:cNvSpPr/>
          <p:nvPr/>
        </p:nvSpPr>
        <p:spPr>
          <a:xfrm>
            <a:off x="4329004" y="3072408"/>
            <a:ext cx="3533587" cy="226219"/>
          </a:xfrm>
          <a:prstGeom prst="rect">
            <a:avLst/>
          </a:prstGeom>
          <a:noFill/>
          <a:ln/>
        </p:spPr>
        <p:txBody>
          <a:bodyPr wrap="none" lIns="0" tIns="0" rIns="0" bIns="0" rtlCol="0" anchor="t"/>
          <a:lstStyle/>
          <a:p>
            <a:pPr algn="l" indent="0" marL="0">
              <a:lnSpc>
                <a:spcPct val="127000"/>
              </a:lnSpc>
              <a:buNone/>
            </a:pPr>
            <a:r>
              <a:rPr lang="en-US" sz="1150" b="1" dirty="0">
                <a:solidFill>
                  <a:srgbClr val="3B3535"/>
                </a:solidFill>
                <a:latin typeface="Roboto Bold" pitchFamily="34" charset="0"/>
                <a:ea typeface="Roboto Bold" pitchFamily="34" charset="-122"/>
                <a:cs typeface="Roboto Bold" pitchFamily="34" charset="-120"/>
              </a:rPr>
              <a:t>Herramientas activas (2):</a:t>
            </a:r>
            <a:endParaRPr lang="en-US" sz="1150" dirty="0"/>
          </a:p>
        </p:txBody>
      </p:sp>
      <p:sp>
        <p:nvSpPr>
          <p:cNvPr id="16" name="Text 14"/>
          <p:cNvSpPr/>
          <p:nvPr/>
        </p:nvSpPr>
        <p:spPr>
          <a:xfrm>
            <a:off x="4329004" y="3378994"/>
            <a:ext cx="3533587" cy="499269"/>
          </a:xfrm>
          <a:prstGeom prst="rect">
            <a:avLst/>
          </a:prstGeom>
          <a:noFill/>
          <a:ln/>
        </p:spPr>
        <p:txBody>
          <a:bodyPr wrap="square" lIns="0" tIns="59541" rIns="0" bIns="0" rtlCol="0" anchor="t">
            <a:normAutofit/>
          </a:bodyPr>
          <a:lstStyle/>
          <a:p>
            <a:pPr algn="l" marL="233680" indent="-233680">
              <a:lnSpc>
                <a:spcPct val="127000"/>
              </a:lnSpc>
              <a:buSzPct val="100000"/>
              <a:buChar char="•"/>
            </a:pPr>
            <a:r>
              <a:rPr lang="en-US" sz="1150" dirty="0">
                <a:solidFill>
                  <a:srgbClr val="3B3535"/>
                </a:solidFill>
                <a:latin typeface="Roboto" pitchFamily="34" charset="0"/>
                <a:ea typeface="Roboto" pitchFamily="34" charset="-122"/>
                <a:cs typeface="Roboto" pitchFamily="34" charset="-120"/>
              </a:rPr>
              <a:t>searchKnowledgeBase</a:t>
            </a:r>
            <a:endParaRPr lang="en-US" sz="1150" dirty="0"/>
          </a:p>
          <a:p>
            <a:pPr algn="l" marL="233680" indent="-233680">
              <a:lnSpc>
                <a:spcPct val="127000"/>
              </a:lnSpc>
              <a:buSzPct val="100000"/>
              <a:buChar char="•"/>
            </a:pPr>
            <a:r>
              <a:rPr lang="en-US" sz="1150" dirty="0">
                <a:solidFill>
                  <a:srgbClr val="3B3535"/>
                </a:solidFill>
                <a:latin typeface="Roboto" pitchFamily="34" charset="0"/>
                <a:ea typeface="Roboto" pitchFamily="34" charset="-122"/>
                <a:cs typeface="Roboto" pitchFamily="34" charset="-120"/>
              </a:rPr>
              <a:t>checkSystemStatus</a:t>
            </a:r>
            <a:endParaRPr lang="en-US" sz="1150" dirty="0"/>
          </a:p>
        </p:txBody>
      </p:sp>
      <p:sp>
        <p:nvSpPr>
          <p:cNvPr id="17" name="Text 15"/>
          <p:cNvSpPr/>
          <p:nvPr/>
        </p:nvSpPr>
        <p:spPr>
          <a:xfrm>
            <a:off x="4329004" y="3958630"/>
            <a:ext cx="3533587"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El agente se enfoca en encontrar la causa del problema.</a:t>
            </a:r>
            <a:endParaRPr lang="en-US" sz="1150" dirty="0"/>
          </a:p>
        </p:txBody>
      </p:sp>
      <p:sp>
        <p:nvSpPr>
          <p:cNvPr id="18" name="Text 16"/>
          <p:cNvSpPr/>
          <p:nvPr/>
        </p:nvSpPr>
        <p:spPr>
          <a:xfrm>
            <a:off x="7996534" y="2413099"/>
            <a:ext cx="297649" cy="186035"/>
          </a:xfrm>
          <a:prstGeom prst="rect">
            <a:avLst/>
          </a:prstGeom>
          <a:noFill/>
          <a:ln/>
        </p:spPr>
        <p:txBody>
          <a:bodyPr wrap="none" lIns="0" tIns="0" rIns="0" bIns="0" rtlCol="0" anchor="ctr"/>
          <a:lstStyle/>
          <a:p>
            <a:pPr algn="l" indent="0" marL="0">
              <a:lnSpc>
                <a:spcPct val="100000"/>
              </a:lnSpc>
              <a:buNone/>
            </a:pPr>
            <a:r>
              <a:rPr lang="en-US" sz="1150" dirty="0">
                <a:solidFill>
                  <a:srgbClr val="3B3535"/>
                </a:solidFill>
                <a:latin typeface="Roboto Mono Light" pitchFamily="34" charset="0"/>
                <a:ea typeface="Roboto Mono Light" pitchFamily="34" charset="-122"/>
                <a:cs typeface="Roboto Mono Light" pitchFamily="34" charset="-120"/>
              </a:rPr>
              <a:t>03</a:t>
            </a:r>
            <a:endParaRPr lang="en-US" sz="1150" dirty="0"/>
          </a:p>
        </p:txBody>
      </p:sp>
      <p:sp>
        <p:nvSpPr>
          <p:cNvPr id="19" name="Shape 17"/>
          <p:cNvSpPr/>
          <p:nvPr/>
        </p:nvSpPr>
        <p:spPr>
          <a:xfrm>
            <a:off x="7996534" y="2647057"/>
            <a:ext cx="3533587" cy="19050"/>
          </a:xfrm>
          <a:prstGeom prst="rect">
            <a:avLst/>
          </a:prstGeom>
          <a:solidFill>
            <a:srgbClr val="DA1B2E"/>
          </a:solidFill>
          <a:ln/>
        </p:spPr>
      </p:sp>
      <p:sp>
        <p:nvSpPr>
          <p:cNvPr id="20" name="Text 18"/>
          <p:cNvSpPr/>
          <p:nvPr/>
        </p:nvSpPr>
        <p:spPr>
          <a:xfrm>
            <a:off x="7996534" y="2759571"/>
            <a:ext cx="3533587" cy="23247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Fase: Resolución</a:t>
            </a:r>
            <a:endParaRPr lang="en-US" sz="1450" dirty="0"/>
          </a:p>
        </p:txBody>
      </p:sp>
      <p:sp>
        <p:nvSpPr>
          <p:cNvPr id="21" name="Text 19"/>
          <p:cNvSpPr/>
          <p:nvPr/>
        </p:nvSpPr>
        <p:spPr>
          <a:xfrm>
            <a:off x="7996534" y="3072408"/>
            <a:ext cx="3533587" cy="226219"/>
          </a:xfrm>
          <a:prstGeom prst="rect">
            <a:avLst/>
          </a:prstGeom>
          <a:noFill/>
          <a:ln/>
        </p:spPr>
        <p:txBody>
          <a:bodyPr wrap="none" lIns="0" tIns="0" rIns="0" bIns="0" rtlCol="0" anchor="t"/>
          <a:lstStyle/>
          <a:p>
            <a:pPr algn="l" indent="0" marL="0">
              <a:lnSpc>
                <a:spcPct val="127000"/>
              </a:lnSpc>
              <a:buNone/>
            </a:pPr>
            <a:r>
              <a:rPr lang="en-US" sz="1150" b="1" dirty="0">
                <a:solidFill>
                  <a:srgbClr val="3B3535"/>
                </a:solidFill>
                <a:latin typeface="Roboto Bold" pitchFamily="34" charset="0"/>
                <a:ea typeface="Roboto Bold" pitchFamily="34" charset="-122"/>
                <a:cs typeface="Roboto Bold" pitchFamily="34" charset="-120"/>
              </a:rPr>
              <a:t>Herramientas activas (2):</a:t>
            </a:r>
            <a:endParaRPr lang="en-US" sz="1150" dirty="0"/>
          </a:p>
        </p:txBody>
      </p:sp>
      <p:sp>
        <p:nvSpPr>
          <p:cNvPr id="22" name="Text 20"/>
          <p:cNvSpPr/>
          <p:nvPr/>
        </p:nvSpPr>
        <p:spPr>
          <a:xfrm>
            <a:off x="7996534" y="3378994"/>
            <a:ext cx="3533587" cy="499269"/>
          </a:xfrm>
          <a:prstGeom prst="rect">
            <a:avLst/>
          </a:prstGeom>
          <a:noFill/>
          <a:ln/>
        </p:spPr>
        <p:txBody>
          <a:bodyPr wrap="square" lIns="0" tIns="59541" rIns="0" bIns="0" rtlCol="0" anchor="t">
            <a:normAutofit/>
          </a:bodyPr>
          <a:lstStyle/>
          <a:p>
            <a:pPr algn="l" marL="233680" indent="-233680">
              <a:lnSpc>
                <a:spcPct val="127000"/>
              </a:lnSpc>
              <a:buSzPct val="100000"/>
              <a:buChar char="•"/>
            </a:pPr>
            <a:r>
              <a:rPr lang="en-US" sz="1150" dirty="0">
                <a:solidFill>
                  <a:srgbClr val="3B3535"/>
                </a:solidFill>
                <a:latin typeface="Roboto" pitchFamily="34" charset="0"/>
                <a:ea typeface="Roboto" pitchFamily="34" charset="-122"/>
                <a:cs typeface="Roboto" pitchFamily="34" charset="-120"/>
              </a:rPr>
              <a:t>createTicket</a:t>
            </a:r>
            <a:endParaRPr lang="en-US" sz="1150" dirty="0"/>
          </a:p>
          <a:p>
            <a:pPr algn="l" marL="233680" indent="-233680">
              <a:lnSpc>
                <a:spcPct val="127000"/>
              </a:lnSpc>
              <a:buSzPct val="100000"/>
              <a:buChar char="•"/>
            </a:pPr>
            <a:r>
              <a:rPr lang="en-US" sz="1150" dirty="0">
                <a:solidFill>
                  <a:srgbClr val="3B3535"/>
                </a:solidFill>
                <a:latin typeface="Roboto" pitchFamily="34" charset="0"/>
                <a:ea typeface="Roboto" pitchFamily="34" charset="-122"/>
                <a:cs typeface="Roboto" pitchFamily="34" charset="-120"/>
              </a:rPr>
              <a:t>scheduleCallback</a:t>
            </a:r>
            <a:endParaRPr lang="en-US" sz="1150" dirty="0"/>
          </a:p>
        </p:txBody>
      </p:sp>
      <p:sp>
        <p:nvSpPr>
          <p:cNvPr id="23" name="Text 21"/>
          <p:cNvSpPr/>
          <p:nvPr/>
        </p:nvSpPr>
        <p:spPr>
          <a:xfrm>
            <a:off x="7996534" y="3958630"/>
            <a:ext cx="3533587"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El agente no necesita herramientas de búsqueda en esta fase.</a:t>
            </a:r>
            <a:endParaRPr lang="en-US" sz="1150" dirty="0"/>
          </a:p>
        </p:txBody>
      </p:sp>
      <p:sp>
        <p:nvSpPr>
          <p:cNvPr id="24" name="Shape 22"/>
          <p:cNvSpPr/>
          <p:nvPr/>
        </p:nvSpPr>
        <p:spPr>
          <a:xfrm>
            <a:off x="554321" y="4673402"/>
            <a:ext cx="5467114" cy="853480"/>
          </a:xfrm>
          <a:prstGeom prst="roundRect">
            <a:avLst>
              <a:gd name="adj" fmla="val 2616"/>
            </a:avLst>
          </a:prstGeom>
          <a:solidFill>
            <a:srgbClr val="F9D2D6">
              <a:alpha val="95000"/>
            </a:srgbClr>
          </a:solidFill>
          <a:ln/>
        </p:spPr>
      </p:sp>
      <p:sp>
        <p:nvSpPr>
          <p:cNvPr id="25" name="Text 23"/>
          <p:cNvSpPr/>
          <p:nvPr/>
        </p:nvSpPr>
        <p:spPr>
          <a:xfrm>
            <a:off x="703146" y="4807347"/>
            <a:ext cx="5169465" cy="238820"/>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50" dirty="0">
                <a:solidFill>
                  <a:srgbClr val="1F1E1E"/>
                </a:solidFill>
                <a:latin typeface="Roboto Mono Medium" pitchFamily="34" charset="0"/>
                <a:ea typeface="Roboto Mono Medium" pitchFamily="34" charset="-122"/>
                <a:cs typeface="Roboto Mono Medium" pitchFamily="34" charset="-120"/>
              </a:rPr>
              <a:t> Sin grupos de contexto</a:t>
            </a:r>
            <a:endParaRPr lang="en-US" sz="1450" dirty="0"/>
          </a:p>
        </p:txBody>
      </p:sp>
      <p:sp>
        <p:nvSpPr>
          <p:cNvPr id="26" name="Text 24"/>
          <p:cNvSpPr/>
          <p:nvPr/>
        </p:nvSpPr>
        <p:spPr>
          <a:xfrm>
            <a:off x="703146" y="5180112"/>
            <a:ext cx="5779050" cy="226219"/>
          </a:xfrm>
          <a:prstGeom prst="rect">
            <a:avLst/>
          </a:prstGeom>
          <a:noFill/>
          <a:ln/>
        </p:spPr>
        <p:txBody>
          <a:bodyPr wrap="none" lIns="0" tIns="0" rIns="0" bIns="0" rtlCol="0" anchor="t"/>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20 herramientas visibles → 58% precisión</a:t>
            </a:r>
            <a:endParaRPr lang="en-US" sz="1150" dirty="0"/>
          </a:p>
        </p:txBody>
      </p:sp>
      <p:sp>
        <p:nvSpPr>
          <p:cNvPr id="27" name="Text 25"/>
          <p:cNvSpPr/>
          <p:nvPr/>
        </p:nvSpPr>
        <p:spPr>
          <a:xfrm>
            <a:off x="6283763" y="4807347"/>
            <a:ext cx="5252807" cy="238820"/>
          </a:xfrm>
          <a:prstGeom prst="rect">
            <a:avLst/>
          </a:prstGeom>
          <a:noFill/>
          <a:ln/>
        </p:spPr>
        <p:txBody>
          <a:bodyPr wrap="none" lIns="0" tIns="0" rIns="0" bIns="0" rtlCol="0" anchor="t"/>
          <a:lstStyle/>
          <a:p>
            <a:pPr algn="l" indent="0" marL="0">
              <a:lnSpc>
                <a:spcPct val="104000"/>
              </a:lnSpc>
              <a:buNone/>
            </a:pPr>
            <a:r>
              <a:rPr lang="en-US" sz="14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450" dirty="0">
                <a:solidFill>
                  <a:srgbClr val="1F1E1E"/>
                </a:solidFill>
                <a:latin typeface="Roboto Mono Medium" pitchFamily="34" charset="0"/>
                <a:ea typeface="Roboto Mono Medium" pitchFamily="34" charset="-122"/>
                <a:cs typeface="Roboto Mono Medium" pitchFamily="34" charset="-120"/>
              </a:rPr>
              <a:t> Con grupos de contexto</a:t>
            </a:r>
            <a:endParaRPr lang="en-US" sz="1450" dirty="0"/>
          </a:p>
        </p:txBody>
      </p:sp>
      <p:sp>
        <p:nvSpPr>
          <p:cNvPr id="28" name="Text 26"/>
          <p:cNvSpPr/>
          <p:nvPr/>
        </p:nvSpPr>
        <p:spPr>
          <a:xfrm>
            <a:off x="6283763" y="5180112"/>
            <a:ext cx="5862392" cy="226219"/>
          </a:xfrm>
          <a:prstGeom prst="rect">
            <a:avLst/>
          </a:prstGeom>
          <a:noFill/>
          <a:ln/>
        </p:spPr>
        <p:txBody>
          <a:bodyPr wrap="none" lIns="0" tIns="0" rIns="0" bIns="0" rtlCol="0" anchor="t"/>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2-3 herramientas por fase → 90%+ precisión</a:t>
            </a:r>
            <a:endParaRPr lang="en-US" sz="1150" dirty="0"/>
          </a:p>
        </p:txBody>
      </p:sp>
      <p:sp>
        <p:nvSpPr>
          <p:cNvPr id="29" name="Shape 27"/>
          <p:cNvSpPr/>
          <p:nvPr/>
        </p:nvSpPr>
        <p:spPr>
          <a:xfrm>
            <a:off x="661475" y="5677595"/>
            <a:ext cx="10868745" cy="555129"/>
          </a:xfrm>
          <a:prstGeom prst="roundRect">
            <a:avLst>
              <a:gd name="adj" fmla="val 1373"/>
            </a:avLst>
          </a:prstGeom>
          <a:solidFill>
            <a:srgbClr val="F9D2D6"/>
          </a:solidFill>
          <a:ln/>
        </p:spPr>
      </p:sp>
      <p:pic>
        <p:nvPicPr>
          <p:cNvPr id="30" name="Image 0" descr="preencoded.png">    </p:cNvPr>
          <p:cNvPicPr>
            <a:picLocks noChangeAspect="1"/>
          </p:cNvPicPr>
          <p:nvPr/>
        </p:nvPicPr>
        <p:blipFill>
          <a:blip r:embed="rId1"/>
          <a:stretch>
            <a:fillRect/>
          </a:stretch>
        </p:blipFill>
        <p:spPr>
          <a:xfrm>
            <a:off x="810299" y="5870873"/>
            <a:ext cx="186031" cy="148828"/>
          </a:xfrm>
          <a:prstGeom prst="rect">
            <a:avLst/>
          </a:prstGeom>
        </p:spPr>
      </p:pic>
      <p:sp>
        <p:nvSpPr>
          <p:cNvPr id="31" name="Text 28"/>
          <p:cNvSpPr/>
          <p:nvPr/>
        </p:nvSpPr>
        <p:spPr>
          <a:xfrm>
            <a:off x="1145154" y="5848747"/>
            <a:ext cx="10845826" cy="226219"/>
          </a:xfrm>
          <a:prstGeom prst="rect">
            <a:avLst/>
          </a:prstGeom>
          <a:noFill/>
          <a:ln/>
        </p:spPr>
        <p:txBody>
          <a:bodyPr wrap="none" lIns="0" tIns="0" rIns="0" bIns="0" rtlCol="0" anchor="t"/>
          <a:lstStyle/>
          <a:p>
            <a:pPr algn="l" indent="0" marL="0">
              <a:lnSpc>
                <a:spcPct val="127000"/>
              </a:lnSpc>
              <a:buNone/>
            </a:pPr>
            <a:r>
              <a:rPr lang="en-US" sz="1150" dirty="0">
                <a:solidFill>
                  <a:srgbClr val="000000"/>
                </a:solidFill>
                <a:latin typeface="Roboto" pitchFamily="34" charset="0"/>
                <a:ea typeface="Roboto" pitchFamily="34" charset="-122"/>
                <a:cs typeface="Roboto" pitchFamily="34" charset="-120"/>
              </a:rPr>
              <a:t>El principio: el agente no necesita ver todas las herramientas todo el tiempo. Filtra por fase o contexto para maximizar la precisión de selección.</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661475" y="544909"/>
            <a:ext cx="1993156" cy="226219"/>
          </a:xfrm>
          <a:prstGeom prst="roundRect">
            <a:avLst>
              <a:gd name="adj" fmla="val 3368"/>
            </a:avLst>
          </a:prstGeom>
          <a:solidFill>
            <a:srgbClr val="F9D2D6"/>
          </a:solidFill>
          <a:ln/>
        </p:spPr>
      </p:sp>
      <p:sp>
        <p:nvSpPr>
          <p:cNvPr id="3" name="Text 1"/>
          <p:cNvSpPr/>
          <p:nvPr/>
        </p:nvSpPr>
        <p:spPr>
          <a:xfrm>
            <a:off x="750769" y="589558"/>
            <a:ext cx="2424151" cy="136922"/>
          </a:xfrm>
          <a:prstGeom prst="rect">
            <a:avLst/>
          </a:prstGeom>
          <a:noFill/>
          <a:ln/>
        </p:spPr>
        <p:txBody>
          <a:bodyPr wrap="none" lIns="0" tIns="0" rIns="0" bIns="0" rtlCol="0" anchor="t"/>
          <a:lstStyle/>
          <a:p>
            <a:pPr algn="l" indent="0" marL="0">
              <a:lnSpc>
                <a:spcPct val="96000"/>
              </a:lnSpc>
              <a:buNone/>
            </a:pPr>
            <a:r>
              <a:rPr lang="en-US" sz="900" dirty="0">
                <a:solidFill>
                  <a:srgbClr val="3B3535"/>
                </a:solidFill>
                <a:latin typeface="Roboto" pitchFamily="34" charset="0"/>
                <a:ea typeface="Roboto" pitchFamily="34" charset="-122"/>
                <a:cs typeface="Roboto" pitchFamily="34" charset="-120"/>
              </a:rPr>
              <a:t>MCP: DISEÑO DE HERRAMIENTAS</a:t>
            </a:r>
            <a:endParaRPr lang="en-US" sz="900" dirty="0"/>
          </a:p>
        </p:txBody>
      </p:sp>
      <p:sp>
        <p:nvSpPr>
          <p:cNvPr id="4" name="Text 2"/>
          <p:cNvSpPr/>
          <p:nvPr/>
        </p:nvSpPr>
        <p:spPr>
          <a:xfrm>
            <a:off x="661475" y="824706"/>
            <a:ext cx="10868745" cy="930275"/>
          </a:xfrm>
          <a:prstGeom prst="rect">
            <a:avLst/>
          </a:prstGeom>
          <a:noFill/>
          <a:ln/>
        </p:spPr>
        <p:txBody>
          <a:bodyPr wrap="square" lIns="0" tIns="0" rIns="0" bIns="0" rtlCol="0" anchor="t">
            <a:normAutofit/>
          </a:bodyPr>
          <a:lstStyle/>
          <a:p>
            <a:pPr algn="l" indent="0" marL="0">
              <a:lnSpc>
                <a:spcPct val="104000"/>
              </a:lnSpc>
              <a:buNone/>
            </a:pPr>
            <a:r>
              <a:rPr lang="en-US" sz="2900" dirty="0">
                <a:solidFill>
                  <a:srgbClr val="1F1E1E"/>
                </a:solidFill>
                <a:latin typeface="Roboto Mono Medium" pitchFamily="34" charset="0"/>
                <a:ea typeface="Roboto Mono Medium" pitchFamily="34" charset="-122"/>
                <a:cs typeface="Roboto Mono Medium" pitchFamily="34" charset="-120"/>
              </a:rPr>
              <a:t>Solución 3: Diferenciación clara entre herramientas similares</a:t>
            </a:r>
            <a:endParaRPr lang="en-US" sz="2900" dirty="0"/>
          </a:p>
        </p:txBody>
      </p:sp>
      <p:sp>
        <p:nvSpPr>
          <p:cNvPr id="5" name="Text 3"/>
          <p:cNvSpPr/>
          <p:nvPr/>
        </p:nvSpPr>
        <p:spPr>
          <a:xfrm>
            <a:off x="661475" y="1955899"/>
            <a:ext cx="10868745"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Cuando dos herramientas suenan igual, el LLM las elige al azar o llama a ambas. La solución: cada herramienta necesita un propósito distinto con guía explícita de "Usar cuando" / "NO usar cuando".</a:t>
            </a:r>
            <a:endParaRPr lang="en-US" sz="1150" dirty="0"/>
          </a:p>
        </p:txBody>
      </p:sp>
      <p:sp>
        <p:nvSpPr>
          <p:cNvPr id="6" name="Shape 4"/>
          <p:cNvSpPr/>
          <p:nvPr/>
        </p:nvSpPr>
        <p:spPr>
          <a:xfrm>
            <a:off x="661475" y="2559050"/>
            <a:ext cx="3533587" cy="2454077"/>
          </a:xfrm>
          <a:prstGeom prst="roundRect">
            <a:avLst>
              <a:gd name="adj" fmla="val 310"/>
            </a:avLst>
          </a:prstGeom>
          <a:solidFill>
            <a:srgbClr val="F2EEEE"/>
          </a:solidFill>
          <a:ln w="6350">
            <a:solidFill>
              <a:srgbClr val="D8D4D4"/>
            </a:solidFill>
            <a:prstDash val="solid"/>
          </a:ln>
        </p:spPr>
      </p:sp>
      <p:sp>
        <p:nvSpPr>
          <p:cNvPr id="7" name="Text 5"/>
          <p:cNvSpPr/>
          <p:nvPr/>
        </p:nvSpPr>
        <p:spPr>
          <a:xfrm>
            <a:off x="816649" y="2714228"/>
            <a:ext cx="3223239" cy="23247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search_products_by_text</a:t>
            </a:r>
            <a:endParaRPr lang="en-US" sz="1450" dirty="0"/>
          </a:p>
        </p:txBody>
      </p:sp>
      <p:sp>
        <p:nvSpPr>
          <p:cNvPr id="8" name="Text 6"/>
          <p:cNvSpPr/>
          <p:nvPr/>
        </p:nvSpPr>
        <p:spPr>
          <a:xfrm>
            <a:off x="816649" y="3027065"/>
            <a:ext cx="3223239" cy="1372195"/>
          </a:xfrm>
          <a:prstGeom prst="rect">
            <a:avLst/>
          </a:prstGeom>
          <a:noFill/>
          <a:ln/>
        </p:spPr>
        <p:txBody>
          <a:bodyPr wrap="square" lIns="0" tIns="0" rIns="0" bIns="0" rtlCol="0" anchor="t"/>
          <a:lstStyle/>
          <a:p>
            <a:pPr algn="l" indent="0" marL="0">
              <a:lnSpc>
                <a:spcPct val="127000"/>
              </a:lnSpc>
              <a:spcAft>
                <a:spcPts val="600"/>
              </a:spcAft>
              <a:buNone/>
            </a:pPr>
            <a:r>
              <a:rPr lang="en-US" sz="1150" dirty="0">
                <a:solidFill>
                  <a:srgbClr val="3B3535"/>
                </a:solidFill>
                <a:latin typeface="Roboto" pitchFamily="34" charset="0"/>
                <a:ea typeface="Roboto" pitchFamily="34" charset="-122"/>
                <a:cs typeface="Roboto" pitchFamily="34" charset="-120"/>
              </a:rPr>
              <a:t>Descripción: Búsqueda de texto completo.</a:t>
            </a:r>
            <a:endParaRPr lang="en-US" sz="1150" dirty="0"/>
          </a:p>
          <a:p>
            <a:pPr algn="l" indent="0" marL="0">
              <a:lnSpc>
                <a:spcPct val="127000"/>
              </a:lnSpc>
              <a:spcAft>
                <a:spcPts val="600"/>
              </a:spcAft>
              <a:buNone/>
            </a:pPr>
            <a:r>
              <a:rPr lang="en-US" sz="1150" dirty="0">
                <a:solidFill>
                  <a:srgbClr val="000000"/>
                </a:solidFill>
                <a:latin typeface="Roboto" pitchFamily="34" charset="0"/>
                <a:ea typeface="Roboto" pitchFamily="34" charset="-122"/>
                <a:cs typeface="Roboto" pitchFamily="34" charset="-120"/>
              </a:rPr>
              <a:t>✅</a:t>
            </a:r>
            <a:pPr algn="l" indent="0" marL="0">
              <a:lnSpc>
                <a:spcPct val="127000"/>
              </a:lnSpc>
              <a:spcAft>
                <a:spcPts val="600"/>
              </a:spcAft>
              <a:buNone/>
            </a:pPr>
            <a:r>
              <a:rPr lang="en-US" sz="1150" dirty="0">
                <a:solidFill>
                  <a:srgbClr val="3B3535"/>
                </a:solidFill>
                <a:latin typeface="Roboto" pitchFamily="34" charset="0"/>
                <a:ea typeface="Roboto" pitchFamily="34" charset="-122"/>
                <a:cs typeface="Roboto" pitchFamily="34" charset="-120"/>
              </a:rPr>
              <a:t> Usar cuando: el cliente describe el producto con palabras ("ratón inalámbrico").</a:t>
            </a:r>
            <a:endParaRPr lang="en-US" sz="1150" dirty="0"/>
          </a:p>
          <a:p>
            <a:pPr algn="l" indent="0" marL="0">
              <a:lnSpc>
                <a:spcPct val="127000"/>
              </a:lnSpc>
              <a:spcAft>
                <a:spcPts val="600"/>
              </a:spcAft>
              <a:buNone/>
            </a:pPr>
            <a:r>
              <a:rPr lang="en-US" sz="1150" dirty="0">
                <a:solidFill>
                  <a:srgbClr val="000000"/>
                </a:solidFill>
                <a:latin typeface="Roboto" pitchFamily="34" charset="0"/>
                <a:ea typeface="Roboto" pitchFamily="34" charset="-122"/>
                <a:cs typeface="Roboto" pitchFamily="34" charset="-120"/>
              </a:rPr>
              <a:t>❌</a:t>
            </a:r>
            <a:pPr algn="l" indent="0" marL="0">
              <a:lnSpc>
                <a:spcPct val="127000"/>
              </a:lnSpc>
              <a:spcAft>
                <a:spcPts val="600"/>
              </a:spcAft>
              <a:buNone/>
            </a:pPr>
            <a:r>
              <a:rPr lang="en-US" sz="1150" dirty="0">
                <a:solidFill>
                  <a:srgbClr val="3B3535"/>
                </a:solidFill>
                <a:latin typeface="Roboto" pitchFamily="34" charset="0"/>
                <a:ea typeface="Roboto" pitchFamily="34" charset="-122"/>
                <a:cs typeface="Roboto" pitchFamily="34" charset="-120"/>
              </a:rPr>
              <a:t> NO usar cuando: tienes el SKU exacto.</a:t>
            </a:r>
            <a:endParaRPr lang="en-US" sz="1150" dirty="0"/>
          </a:p>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Parámetro: query: string</a:t>
            </a:r>
            <a:endParaRPr lang="en-US" sz="1150" dirty="0"/>
          </a:p>
        </p:txBody>
      </p:sp>
      <p:sp>
        <p:nvSpPr>
          <p:cNvPr id="9" name="Shape 7"/>
          <p:cNvSpPr/>
          <p:nvPr/>
        </p:nvSpPr>
        <p:spPr>
          <a:xfrm>
            <a:off x="4329004" y="2559050"/>
            <a:ext cx="3533587" cy="2454077"/>
          </a:xfrm>
          <a:prstGeom prst="roundRect">
            <a:avLst>
              <a:gd name="adj" fmla="val 310"/>
            </a:avLst>
          </a:prstGeom>
          <a:solidFill>
            <a:srgbClr val="F2EEEE"/>
          </a:solidFill>
          <a:ln w="6350">
            <a:solidFill>
              <a:srgbClr val="D8D4D4"/>
            </a:solidFill>
            <a:prstDash val="solid"/>
          </a:ln>
        </p:spPr>
      </p:sp>
      <p:sp>
        <p:nvSpPr>
          <p:cNvPr id="10" name="Text 8"/>
          <p:cNvSpPr/>
          <p:nvPr/>
        </p:nvSpPr>
        <p:spPr>
          <a:xfrm>
            <a:off x="4484178" y="2714228"/>
            <a:ext cx="3223239" cy="23247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get_product_by_sku</a:t>
            </a:r>
            <a:endParaRPr lang="en-US" sz="1450" dirty="0"/>
          </a:p>
        </p:txBody>
      </p:sp>
      <p:sp>
        <p:nvSpPr>
          <p:cNvPr id="11" name="Text 9"/>
          <p:cNvSpPr/>
          <p:nvPr/>
        </p:nvSpPr>
        <p:spPr>
          <a:xfrm>
            <a:off x="4484178" y="3027065"/>
            <a:ext cx="3223239" cy="1372195"/>
          </a:xfrm>
          <a:prstGeom prst="rect">
            <a:avLst/>
          </a:prstGeom>
          <a:noFill/>
          <a:ln/>
        </p:spPr>
        <p:txBody>
          <a:bodyPr wrap="square" lIns="0" tIns="0" rIns="0" bIns="0" rtlCol="0" anchor="t"/>
          <a:lstStyle/>
          <a:p>
            <a:pPr algn="l" indent="0" marL="0">
              <a:lnSpc>
                <a:spcPct val="127000"/>
              </a:lnSpc>
              <a:spcAft>
                <a:spcPts val="600"/>
              </a:spcAft>
              <a:buNone/>
            </a:pPr>
            <a:r>
              <a:rPr lang="en-US" sz="1150" dirty="0">
                <a:solidFill>
                  <a:srgbClr val="3B3535"/>
                </a:solidFill>
                <a:latin typeface="Roboto" pitchFamily="34" charset="0"/>
                <a:ea typeface="Roboto" pitchFamily="34" charset="-122"/>
                <a:cs typeface="Roboto" pitchFamily="34" charset="-120"/>
              </a:rPr>
              <a:t>Descripción: Búsqueda exacta por SKU.</a:t>
            </a:r>
            <a:endParaRPr lang="en-US" sz="1150" dirty="0"/>
          </a:p>
          <a:p>
            <a:pPr algn="l" indent="0" marL="0">
              <a:lnSpc>
                <a:spcPct val="127000"/>
              </a:lnSpc>
              <a:spcAft>
                <a:spcPts val="600"/>
              </a:spcAft>
              <a:buNone/>
            </a:pPr>
            <a:r>
              <a:rPr lang="en-US" sz="1150" dirty="0">
                <a:solidFill>
                  <a:srgbClr val="000000"/>
                </a:solidFill>
                <a:latin typeface="Roboto" pitchFamily="34" charset="0"/>
                <a:ea typeface="Roboto" pitchFamily="34" charset="-122"/>
                <a:cs typeface="Roboto" pitchFamily="34" charset="-120"/>
              </a:rPr>
              <a:t>✅</a:t>
            </a:r>
            <a:pPr algn="l" indent="0" marL="0">
              <a:lnSpc>
                <a:spcPct val="127000"/>
              </a:lnSpc>
              <a:spcAft>
                <a:spcPts val="600"/>
              </a:spcAft>
              <a:buNone/>
            </a:pPr>
            <a:r>
              <a:rPr lang="en-US" sz="1150" dirty="0">
                <a:solidFill>
                  <a:srgbClr val="3B3535"/>
                </a:solidFill>
                <a:latin typeface="Roboto" pitchFamily="34" charset="0"/>
                <a:ea typeface="Roboto" pitchFamily="34" charset="-122"/>
                <a:cs typeface="Roboto" pitchFamily="34" charset="-120"/>
              </a:rPr>
              <a:t> Usar cuando: el cliente proporciona un SKU ("PROD-001").</a:t>
            </a:r>
            <a:endParaRPr lang="en-US" sz="1150" dirty="0"/>
          </a:p>
          <a:p>
            <a:pPr algn="l" indent="0" marL="0">
              <a:lnSpc>
                <a:spcPct val="127000"/>
              </a:lnSpc>
              <a:spcAft>
                <a:spcPts val="600"/>
              </a:spcAft>
              <a:buNone/>
            </a:pPr>
            <a:r>
              <a:rPr lang="en-US" sz="1150" dirty="0">
                <a:solidFill>
                  <a:srgbClr val="000000"/>
                </a:solidFill>
                <a:latin typeface="Roboto" pitchFamily="34" charset="0"/>
                <a:ea typeface="Roboto" pitchFamily="34" charset="-122"/>
                <a:cs typeface="Roboto" pitchFamily="34" charset="-120"/>
              </a:rPr>
              <a:t>❌</a:t>
            </a:r>
            <a:pPr algn="l" indent="0" marL="0">
              <a:lnSpc>
                <a:spcPct val="127000"/>
              </a:lnSpc>
              <a:spcAft>
                <a:spcPts val="600"/>
              </a:spcAft>
              <a:buNone/>
            </a:pPr>
            <a:r>
              <a:rPr lang="en-US" sz="1150" dirty="0">
                <a:solidFill>
                  <a:srgbClr val="3B3535"/>
                </a:solidFill>
                <a:latin typeface="Roboto" pitchFamily="34" charset="0"/>
                <a:ea typeface="Roboto" pitchFamily="34" charset="-122"/>
                <a:cs typeface="Roboto" pitchFamily="34" charset="-120"/>
              </a:rPr>
              <a:t> NO usar para búsquedas de texto libre.</a:t>
            </a:r>
            <a:endParaRPr lang="en-US" sz="1150" dirty="0"/>
          </a:p>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Parámetro: sku: string</a:t>
            </a:r>
            <a:endParaRPr lang="en-US" sz="1150" dirty="0"/>
          </a:p>
        </p:txBody>
      </p:sp>
      <p:sp>
        <p:nvSpPr>
          <p:cNvPr id="12" name="Shape 10"/>
          <p:cNvSpPr/>
          <p:nvPr/>
        </p:nvSpPr>
        <p:spPr>
          <a:xfrm>
            <a:off x="7996534" y="2559050"/>
            <a:ext cx="3533587" cy="2454077"/>
          </a:xfrm>
          <a:prstGeom prst="roundRect">
            <a:avLst>
              <a:gd name="adj" fmla="val 310"/>
            </a:avLst>
          </a:prstGeom>
          <a:solidFill>
            <a:srgbClr val="F2EEEE"/>
          </a:solidFill>
          <a:ln w="6350">
            <a:solidFill>
              <a:srgbClr val="D8D4D4"/>
            </a:solidFill>
            <a:prstDash val="solid"/>
          </a:ln>
        </p:spPr>
      </p:sp>
      <p:sp>
        <p:nvSpPr>
          <p:cNvPr id="13" name="Text 11"/>
          <p:cNvSpPr/>
          <p:nvPr/>
        </p:nvSpPr>
        <p:spPr>
          <a:xfrm>
            <a:off x="8151708" y="2714228"/>
            <a:ext cx="3223239" cy="464939"/>
          </a:xfrm>
          <a:prstGeom prst="rect">
            <a:avLst/>
          </a:prstGeom>
          <a:noFill/>
          <a:ln/>
        </p:spPr>
        <p:txBody>
          <a:bodyPr wrap="square" lIns="0" tIns="0" rIns="0" bIns="0" rtlCol="0" anchor="t">
            <a:normAutofit/>
          </a:bodyPr>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filter_products_by_attributes</a:t>
            </a:r>
            <a:endParaRPr lang="en-US" sz="1450" dirty="0"/>
          </a:p>
        </p:txBody>
      </p:sp>
      <p:sp>
        <p:nvSpPr>
          <p:cNvPr id="14" name="Text 12"/>
          <p:cNvSpPr/>
          <p:nvPr/>
        </p:nvSpPr>
        <p:spPr>
          <a:xfrm>
            <a:off x="8151708" y="3259534"/>
            <a:ext cx="3223239" cy="1598414"/>
          </a:xfrm>
          <a:prstGeom prst="rect">
            <a:avLst/>
          </a:prstGeom>
          <a:noFill/>
          <a:ln/>
        </p:spPr>
        <p:txBody>
          <a:bodyPr wrap="square" lIns="0" tIns="0" rIns="0" bIns="0" rtlCol="0" anchor="t"/>
          <a:lstStyle/>
          <a:p>
            <a:pPr algn="l" indent="0" marL="0">
              <a:lnSpc>
                <a:spcPct val="127000"/>
              </a:lnSpc>
              <a:spcAft>
                <a:spcPts val="600"/>
              </a:spcAft>
              <a:buNone/>
            </a:pPr>
            <a:r>
              <a:rPr lang="en-US" sz="1150" dirty="0">
                <a:solidFill>
                  <a:srgbClr val="3B3535"/>
                </a:solidFill>
                <a:latin typeface="Roboto" pitchFamily="34" charset="0"/>
                <a:ea typeface="Roboto" pitchFamily="34" charset="-122"/>
                <a:cs typeface="Roboto" pitchFamily="34" charset="-120"/>
              </a:rPr>
              <a:t>Descripción: Filtro estructurado por atributos.</a:t>
            </a:r>
            <a:endParaRPr lang="en-US" sz="1150" dirty="0"/>
          </a:p>
          <a:p>
            <a:pPr algn="l" indent="0" marL="0">
              <a:lnSpc>
                <a:spcPct val="127000"/>
              </a:lnSpc>
              <a:spcAft>
                <a:spcPts val="600"/>
              </a:spcAft>
              <a:buNone/>
            </a:pPr>
            <a:r>
              <a:rPr lang="en-US" sz="1150" dirty="0">
                <a:solidFill>
                  <a:srgbClr val="000000"/>
                </a:solidFill>
                <a:latin typeface="Roboto" pitchFamily="34" charset="0"/>
                <a:ea typeface="Roboto" pitchFamily="34" charset="-122"/>
                <a:cs typeface="Roboto" pitchFamily="34" charset="-120"/>
              </a:rPr>
              <a:t>✅</a:t>
            </a:r>
            <a:pPr algn="l" indent="0" marL="0">
              <a:lnSpc>
                <a:spcPct val="127000"/>
              </a:lnSpc>
              <a:spcAft>
                <a:spcPts val="600"/>
              </a:spcAft>
              <a:buNone/>
            </a:pPr>
            <a:r>
              <a:rPr lang="en-US" sz="1150" dirty="0">
                <a:solidFill>
                  <a:srgbClr val="3B3535"/>
                </a:solidFill>
                <a:latin typeface="Roboto" pitchFamily="34" charset="0"/>
                <a:ea typeface="Roboto" pitchFamily="34" charset="-122"/>
                <a:cs typeface="Roboto" pitchFamily="34" charset="-120"/>
              </a:rPr>
              <a:t> Usar cuando: el cliente especifica categoría, precio o marca.</a:t>
            </a:r>
            <a:endParaRPr lang="en-US" sz="1150" dirty="0"/>
          </a:p>
          <a:p>
            <a:pPr algn="l" indent="0" marL="0">
              <a:lnSpc>
                <a:spcPct val="127000"/>
              </a:lnSpc>
              <a:spcAft>
                <a:spcPts val="600"/>
              </a:spcAft>
              <a:buNone/>
            </a:pPr>
            <a:r>
              <a:rPr lang="en-US" sz="1150" dirty="0">
                <a:solidFill>
                  <a:srgbClr val="000000"/>
                </a:solidFill>
                <a:latin typeface="Roboto" pitchFamily="34" charset="0"/>
                <a:ea typeface="Roboto" pitchFamily="34" charset="-122"/>
                <a:cs typeface="Roboto" pitchFamily="34" charset="-120"/>
              </a:rPr>
              <a:t>❌</a:t>
            </a:r>
            <a:pPr algn="l" indent="0" marL="0">
              <a:lnSpc>
                <a:spcPct val="127000"/>
              </a:lnSpc>
              <a:spcAft>
                <a:spcPts val="600"/>
              </a:spcAft>
              <a:buNone/>
            </a:pPr>
            <a:r>
              <a:rPr lang="en-US" sz="1150" dirty="0">
                <a:solidFill>
                  <a:srgbClr val="3B3535"/>
                </a:solidFill>
                <a:latin typeface="Roboto" pitchFamily="34" charset="0"/>
                <a:ea typeface="Roboto" pitchFamily="34" charset="-122"/>
                <a:cs typeface="Roboto" pitchFamily="34" charset="-120"/>
              </a:rPr>
              <a:t> NO usar para búsqueda de texto.</a:t>
            </a:r>
            <a:endParaRPr lang="en-US" sz="1150" dirty="0"/>
          </a:p>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Parámetros: category?: string, priceMax?: number</a:t>
            </a:r>
            <a:endParaRPr lang="en-US" sz="1150" dirty="0"/>
          </a:p>
        </p:txBody>
      </p:sp>
      <p:sp>
        <p:nvSpPr>
          <p:cNvPr id="15" name="Text 13"/>
          <p:cNvSpPr/>
          <p:nvPr/>
        </p:nvSpPr>
        <p:spPr>
          <a:xfrm>
            <a:off x="661475" y="5163840"/>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El agente ahora elige correctamente:</a:t>
            </a:r>
            <a:endParaRPr lang="en-US" sz="1150" dirty="0"/>
          </a:p>
        </p:txBody>
      </p:sp>
      <p:sp>
        <p:nvSpPr>
          <p:cNvPr id="16" name="Text 14"/>
          <p:cNvSpPr/>
          <p:nvPr/>
        </p:nvSpPr>
        <p:spPr>
          <a:xfrm>
            <a:off x="661475" y="5540772"/>
            <a:ext cx="10868745" cy="772319"/>
          </a:xfrm>
          <a:prstGeom prst="rect">
            <a:avLst/>
          </a:prstGeom>
          <a:noFill/>
          <a:ln/>
        </p:spPr>
        <p:txBody>
          <a:bodyPr wrap="square" lIns="0" tIns="59541" rIns="0" bIns="0" rtlCol="0" anchor="t">
            <a:normAutofit/>
          </a:bodyPr>
          <a:lstStyle/>
          <a:p>
            <a:pPr algn="l" marL="233680" indent="-233680">
              <a:lnSpc>
                <a:spcPct val="127000"/>
              </a:lnSpc>
              <a:buSzPct val="100000"/>
              <a:buChar char="•"/>
            </a:pPr>
            <a:r>
              <a:rPr lang="en-US" sz="1150" dirty="0">
                <a:solidFill>
                  <a:srgbClr val="3B3535"/>
                </a:solidFill>
                <a:latin typeface="Roboto" pitchFamily="34" charset="0"/>
                <a:ea typeface="Roboto" pitchFamily="34" charset="-122"/>
                <a:cs typeface="Roboto" pitchFamily="34" charset="-120"/>
              </a:rPr>
              <a:t>"ratón inalámbrico" → search_products_by_text ✓</a:t>
            </a:r>
            <a:endParaRPr lang="en-US" sz="1150" dirty="0"/>
          </a:p>
          <a:p>
            <a:pPr algn="l" marL="233680" indent="-233680">
              <a:lnSpc>
                <a:spcPct val="127000"/>
              </a:lnSpc>
              <a:buSzPct val="100000"/>
              <a:buChar char="•"/>
            </a:pPr>
            <a:r>
              <a:rPr lang="en-US" sz="1150" dirty="0">
                <a:solidFill>
                  <a:srgbClr val="3B3535"/>
                </a:solidFill>
                <a:latin typeface="Roboto" pitchFamily="34" charset="0"/>
                <a:ea typeface="Roboto" pitchFamily="34" charset="-122"/>
                <a:cs typeface="Roboto" pitchFamily="34" charset="-120"/>
              </a:rPr>
              <a:t>"PROD-001" → get_product_by_sku ✓</a:t>
            </a:r>
            <a:endParaRPr lang="en-US" sz="1150" dirty="0"/>
          </a:p>
          <a:p>
            <a:pPr algn="l" marL="233680" indent="-233680">
              <a:lnSpc>
                <a:spcPct val="127000"/>
              </a:lnSpc>
              <a:buSzPct val="100000"/>
              <a:buChar char="•"/>
            </a:pPr>
            <a:r>
              <a:rPr lang="en-US" sz="1150" dirty="0">
                <a:solidFill>
                  <a:srgbClr val="3B3535"/>
                </a:solidFill>
                <a:latin typeface="Roboto" pitchFamily="34" charset="0"/>
                <a:ea typeface="Roboto" pitchFamily="34" charset="-122"/>
                <a:cs typeface="Roboto" pitchFamily="34" charset="-120"/>
              </a:rPr>
              <a:t>"ratones por menos de $20" → filter_products_by_attributes ✓</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661475" y="696416"/>
            <a:ext cx="1770713" cy="201116"/>
          </a:xfrm>
          <a:prstGeom prst="roundRect">
            <a:avLst>
              <a:gd name="adj" fmla="val 3789"/>
            </a:avLst>
          </a:prstGeom>
          <a:solidFill>
            <a:srgbClr val="F9D2D6"/>
          </a:solidFill>
          <a:ln/>
        </p:spPr>
      </p:sp>
      <p:sp>
        <p:nvSpPr>
          <p:cNvPr id="3" name="Text 1"/>
          <p:cNvSpPr/>
          <p:nvPr/>
        </p:nvSpPr>
        <p:spPr>
          <a:xfrm>
            <a:off x="740848" y="736104"/>
            <a:ext cx="2221551" cy="121741"/>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Roboto" pitchFamily="34" charset="0"/>
                <a:ea typeface="Roboto" pitchFamily="34" charset="-122"/>
                <a:cs typeface="Roboto" pitchFamily="34" charset="-120"/>
              </a:rPr>
              <a:t>MCP: DISEÑO DE HERRAMIENTAS</a:t>
            </a:r>
            <a:endParaRPr lang="en-US" sz="800" dirty="0"/>
          </a:p>
        </p:txBody>
      </p:sp>
      <p:sp>
        <p:nvSpPr>
          <p:cNvPr id="4" name="Text 2"/>
          <p:cNvSpPr/>
          <p:nvPr/>
        </p:nvSpPr>
        <p:spPr>
          <a:xfrm>
            <a:off x="661475" y="939800"/>
            <a:ext cx="10868745" cy="826889"/>
          </a:xfrm>
          <a:prstGeom prst="rect">
            <a:avLst/>
          </a:prstGeom>
          <a:noFill/>
          <a:ln/>
        </p:spPr>
        <p:txBody>
          <a:bodyPr wrap="square" lIns="0" tIns="0" rIns="0" bIns="0" rtlCol="0" anchor="t">
            <a:normAutofit/>
          </a:bodyPr>
          <a:lstStyle/>
          <a:p>
            <a:pPr algn="l" indent="0" marL="0">
              <a:lnSpc>
                <a:spcPct val="104000"/>
              </a:lnSpc>
              <a:buNone/>
            </a:pPr>
            <a:r>
              <a:rPr lang="en-US" sz="2600" dirty="0">
                <a:solidFill>
                  <a:srgbClr val="1F1E1E"/>
                </a:solidFill>
                <a:latin typeface="Roboto Mono Medium" pitchFamily="34" charset="0"/>
                <a:ea typeface="Roboto Mono Medium" pitchFamily="34" charset="-122"/>
                <a:cs typeface="Roboto Mono Medium" pitchFamily="34" charset="-120"/>
              </a:rPr>
              <a:t>Analytics de herramientas: Optimización continua en producción</a:t>
            </a:r>
            <a:endParaRPr lang="en-US" sz="2600" dirty="0"/>
          </a:p>
        </p:txBody>
      </p:sp>
      <p:sp>
        <p:nvSpPr>
          <p:cNvPr id="5" name="Text 3"/>
          <p:cNvSpPr/>
          <p:nvPr/>
        </p:nvSpPr>
        <p:spPr>
          <a:xfrm>
            <a:off x="661475" y="1925439"/>
            <a:ext cx="11478330" cy="190500"/>
          </a:xfrm>
          <a:prstGeom prst="rect">
            <a:avLst/>
          </a:prstGeom>
          <a:noFill/>
          <a:ln/>
        </p:spPr>
        <p:txBody>
          <a:bodyPr wrap="none" lIns="0" tIns="0" rIns="0" bIns="0" rtlCol="0" anchor="t"/>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En producción, monitorear cada llamada a herramientas permite detectar problemas sistémicos y optimizar el rendimiento del agente.</a:t>
            </a:r>
            <a:endParaRPr lang="en-US" sz="1000" dirty="0"/>
          </a:p>
        </p:txBody>
      </p:sp>
      <p:sp>
        <p:nvSpPr>
          <p:cNvPr id="6" name="Shape 4"/>
          <p:cNvSpPr/>
          <p:nvPr/>
        </p:nvSpPr>
        <p:spPr>
          <a:xfrm>
            <a:off x="566227" y="2235002"/>
            <a:ext cx="3560971" cy="1672630"/>
          </a:xfrm>
          <a:prstGeom prst="roundRect">
            <a:avLst>
              <a:gd name="adj" fmla="val 1187"/>
            </a:avLst>
          </a:prstGeom>
          <a:solidFill>
            <a:srgbClr val="F9D2D6">
              <a:alpha val="95000"/>
            </a:srgbClr>
          </a:solidFill>
          <a:ln/>
        </p:spPr>
      </p:sp>
      <p:sp>
        <p:nvSpPr>
          <p:cNvPr id="7" name="Text 5"/>
          <p:cNvSpPr/>
          <p:nvPr/>
        </p:nvSpPr>
        <p:spPr>
          <a:xfrm>
            <a:off x="698483" y="2340769"/>
            <a:ext cx="3296461" cy="206673"/>
          </a:xfrm>
          <a:prstGeom prst="rect">
            <a:avLst/>
          </a:prstGeom>
          <a:noFill/>
          <a:ln/>
        </p:spPr>
        <p:txBody>
          <a:bodyPr wrap="none" lIns="0" tIns="0" rIns="0" bIns="0" rtlCol="0" anchor="t"/>
          <a:lstStyle/>
          <a:p>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Herramientas sin uso</a:t>
            </a:r>
            <a:endParaRPr lang="en-US" sz="1300" dirty="0"/>
          </a:p>
        </p:txBody>
      </p:sp>
      <p:sp>
        <p:nvSpPr>
          <p:cNvPr id="8" name="Text 6"/>
          <p:cNvSpPr/>
          <p:nvPr/>
        </p:nvSpPr>
        <p:spPr>
          <a:xfrm>
            <a:off x="698483" y="2653209"/>
            <a:ext cx="3296461" cy="952500"/>
          </a:xfrm>
          <a:prstGeom prst="rect">
            <a:avLst/>
          </a:prstGeom>
          <a:noFill/>
          <a:ln/>
        </p:spPr>
        <p:txBody>
          <a:bodyPr wrap="square" lIns="0" tIns="0" rIns="0" bIns="0" rtlCol="0" anchor="t"/>
          <a:lstStyle/>
          <a:p>
            <a:pPr algn="l" indent="0" marL="0">
              <a:lnSpc>
                <a:spcPct val="120000"/>
              </a:lnSpc>
              <a:spcAft>
                <a:spcPts val="700"/>
              </a:spcAft>
              <a:buNone/>
            </a:pPr>
            <a:r>
              <a:rPr lang="en-US" sz="1000" dirty="0">
                <a:solidFill>
                  <a:srgbClr val="3B3535"/>
                </a:solidFill>
                <a:latin typeface="Roboto" pitchFamily="34" charset="0"/>
                <a:ea typeface="Roboto" pitchFamily="34" charset="-122"/>
                <a:cs typeface="Roboto" pitchFamily="34" charset="-120"/>
              </a:rPr>
              <a:t>Detectar herramientas que nunca se invocan.</a:t>
            </a:r>
            <a:endParaRPr lang="en-US" sz="1000" dirty="0"/>
          </a:p>
          <a:p>
            <a:pPr algn="l" indent="0" marL="0">
              <a:lnSpc>
                <a:spcPct val="120000"/>
              </a:lnSpc>
              <a:spcAft>
                <a:spcPts val="700"/>
              </a:spcAft>
              <a:buNone/>
            </a:pPr>
            <a:r>
              <a:rPr lang="en-US" sz="1000" dirty="0">
                <a:solidFill>
                  <a:srgbClr val="3B3535"/>
                </a:solidFill>
                <a:latin typeface="Roboto" pitchFamily="34" charset="0"/>
                <a:ea typeface="Roboto" pitchFamily="34" charset="-122"/>
                <a:cs typeface="Roboto" pitchFamily="34" charset="-120"/>
              </a:rPr>
              <a:t>Acción: Eliminar o consolidar.</a:t>
            </a:r>
            <a:endParaRPr lang="en-US" sz="1000" dirty="0"/>
          </a:p>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Ejemplo de alerta: "Eliminar herramienta sin uso: legacy_search"</a:t>
            </a:r>
            <a:endParaRPr lang="en-US" sz="1000" dirty="0"/>
          </a:p>
        </p:txBody>
      </p:sp>
      <p:sp>
        <p:nvSpPr>
          <p:cNvPr id="9" name="Text 7"/>
          <p:cNvSpPr/>
          <p:nvPr/>
        </p:nvSpPr>
        <p:spPr>
          <a:xfrm>
            <a:off x="4360952" y="2340769"/>
            <a:ext cx="3370476" cy="413345"/>
          </a:xfrm>
          <a:prstGeom prst="rect">
            <a:avLst/>
          </a:prstGeom>
          <a:noFill/>
          <a:ln/>
        </p:spPr>
        <p:txBody>
          <a:bodyPr wrap="square" lIns="0" tIns="0" rIns="0" bIns="0" rtlCol="0" anchor="t">
            <a:normAutofit/>
          </a:bodyPr>
          <a:lstStyle/>
          <a:p>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Herramientas con alta tasa de error</a:t>
            </a:r>
            <a:endParaRPr lang="en-US" sz="1300" dirty="0"/>
          </a:p>
        </p:txBody>
      </p:sp>
      <p:sp>
        <p:nvSpPr>
          <p:cNvPr id="10" name="Text 8"/>
          <p:cNvSpPr/>
          <p:nvPr/>
        </p:nvSpPr>
        <p:spPr>
          <a:xfrm>
            <a:off x="4360952" y="2859881"/>
            <a:ext cx="3370476" cy="952500"/>
          </a:xfrm>
          <a:prstGeom prst="rect">
            <a:avLst/>
          </a:prstGeom>
          <a:noFill/>
          <a:ln/>
        </p:spPr>
        <p:txBody>
          <a:bodyPr wrap="square" lIns="0" tIns="0" rIns="0" bIns="0" rtlCol="0" anchor="t"/>
          <a:lstStyle/>
          <a:p>
            <a:pPr algn="l" indent="0" marL="0">
              <a:lnSpc>
                <a:spcPct val="120000"/>
              </a:lnSpc>
              <a:spcAft>
                <a:spcPts val="700"/>
              </a:spcAft>
              <a:buNone/>
            </a:pPr>
            <a:r>
              <a:rPr lang="en-US" sz="1000" dirty="0">
                <a:solidFill>
                  <a:srgbClr val="3B3535"/>
                </a:solidFill>
                <a:latin typeface="Roboto" pitchFamily="34" charset="0"/>
                <a:ea typeface="Roboto" pitchFamily="34" charset="-122"/>
                <a:cs typeface="Roboto" pitchFamily="34" charset="-120"/>
              </a:rPr>
              <a:t>Detectar herramientas que fallan frecuentemente.</a:t>
            </a:r>
            <a:endParaRPr lang="en-US" sz="1000" dirty="0"/>
          </a:p>
          <a:p>
            <a:pPr algn="l" indent="0" marL="0">
              <a:lnSpc>
                <a:spcPct val="120000"/>
              </a:lnSpc>
              <a:spcAft>
                <a:spcPts val="700"/>
              </a:spcAft>
              <a:buNone/>
            </a:pPr>
            <a:r>
              <a:rPr lang="en-US" sz="1000" dirty="0">
                <a:solidFill>
                  <a:srgbClr val="3B3535"/>
                </a:solidFill>
                <a:latin typeface="Roboto" pitchFamily="34" charset="0"/>
                <a:ea typeface="Roboto" pitchFamily="34" charset="-122"/>
                <a:cs typeface="Roboto" pitchFamily="34" charset="-120"/>
              </a:rPr>
              <a:t>Acción: Revisar manejo de errores o mejorar descripción.</a:t>
            </a:r>
            <a:endParaRPr lang="en-US" sz="1000" dirty="0"/>
          </a:p>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Ejemplo de alerta: "flaky_tool falla el 40% — revisar error handling"</a:t>
            </a:r>
            <a:endParaRPr lang="en-US" sz="1000" dirty="0"/>
          </a:p>
        </p:txBody>
      </p:sp>
      <p:sp>
        <p:nvSpPr>
          <p:cNvPr id="11" name="Text 9"/>
          <p:cNvSpPr/>
          <p:nvPr/>
        </p:nvSpPr>
        <p:spPr>
          <a:xfrm>
            <a:off x="8060429" y="2340769"/>
            <a:ext cx="3482392" cy="206673"/>
          </a:xfrm>
          <a:prstGeom prst="rect">
            <a:avLst/>
          </a:prstGeom>
          <a:noFill/>
          <a:ln/>
        </p:spPr>
        <p:txBody>
          <a:bodyPr wrap="none" lIns="0" tIns="0" rIns="0" bIns="0" rtlCol="0" anchor="t"/>
          <a:lstStyle/>
          <a:p>
            <a:pPr algn="l" indent="0" marL="0">
              <a:lnSpc>
                <a:spcPct val="104000"/>
              </a:lnSpc>
              <a:buNone/>
            </a:pPr>
            <a:r>
              <a:rPr lang="en-US" sz="1300" dirty="0">
                <a:solidFill>
                  <a:srgbClr val="1F1E1E"/>
                </a:solidFill>
                <a:latin typeface="Roboto Mono Medium" pitchFamily="34" charset="0"/>
                <a:ea typeface="Roboto Mono Medium" pitchFamily="34" charset="-122"/>
                <a:cs typeface="Roboto Mono Medium" pitchFamily="34" charset="-120"/>
              </a:rPr>
              <a:t>Herramientas lentas</a:t>
            </a:r>
            <a:endParaRPr lang="en-US" sz="1300" dirty="0"/>
          </a:p>
        </p:txBody>
      </p:sp>
      <p:sp>
        <p:nvSpPr>
          <p:cNvPr id="12" name="Text 10"/>
          <p:cNvSpPr/>
          <p:nvPr/>
        </p:nvSpPr>
        <p:spPr>
          <a:xfrm>
            <a:off x="8060429" y="2653209"/>
            <a:ext cx="3482392" cy="952500"/>
          </a:xfrm>
          <a:prstGeom prst="rect">
            <a:avLst/>
          </a:prstGeom>
          <a:noFill/>
          <a:ln/>
        </p:spPr>
        <p:txBody>
          <a:bodyPr wrap="square" lIns="0" tIns="0" rIns="0" bIns="0" rtlCol="0" anchor="t"/>
          <a:lstStyle/>
          <a:p>
            <a:pPr algn="l" indent="0" marL="0">
              <a:lnSpc>
                <a:spcPct val="120000"/>
              </a:lnSpc>
              <a:spcAft>
                <a:spcPts val="700"/>
              </a:spcAft>
              <a:buNone/>
            </a:pPr>
            <a:r>
              <a:rPr lang="en-US" sz="1000" dirty="0">
                <a:solidFill>
                  <a:srgbClr val="3B3535"/>
                </a:solidFill>
                <a:latin typeface="Roboto" pitchFamily="34" charset="0"/>
                <a:ea typeface="Roboto" pitchFamily="34" charset="-122"/>
                <a:cs typeface="Roboto" pitchFamily="34" charset="-120"/>
              </a:rPr>
              <a:t>Detectar herramientas con alta latencia promedio.</a:t>
            </a:r>
            <a:endParaRPr lang="en-US" sz="1000" dirty="0"/>
          </a:p>
          <a:p>
            <a:pPr algn="l" indent="0" marL="0">
              <a:lnSpc>
                <a:spcPct val="120000"/>
              </a:lnSpc>
              <a:spcAft>
                <a:spcPts val="700"/>
              </a:spcAft>
              <a:buNone/>
            </a:pPr>
            <a:r>
              <a:rPr lang="en-US" sz="1000" dirty="0">
                <a:solidFill>
                  <a:srgbClr val="3B3535"/>
                </a:solidFill>
                <a:latin typeface="Roboto" pitchFamily="34" charset="0"/>
                <a:ea typeface="Roboto" pitchFamily="34" charset="-122"/>
                <a:cs typeface="Roboto" pitchFamily="34" charset="-120"/>
              </a:rPr>
              <a:t>Acción: Implementar caché o optimizar la API.</a:t>
            </a:r>
            <a:endParaRPr lang="en-US" sz="1000" dirty="0"/>
          </a:p>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Ejemplo de alerta: "slow_api promedia 3000ms — considerar caché"</a:t>
            </a:r>
            <a:endParaRPr lang="en-US" sz="1000" dirty="0"/>
          </a:p>
        </p:txBody>
      </p:sp>
      <p:sp>
        <p:nvSpPr>
          <p:cNvPr id="13" name="Shape 11"/>
          <p:cNvSpPr/>
          <p:nvPr/>
        </p:nvSpPr>
        <p:spPr>
          <a:xfrm>
            <a:off x="661475" y="4026694"/>
            <a:ext cx="10868745" cy="1367631"/>
          </a:xfrm>
          <a:prstGeom prst="roundRect">
            <a:avLst>
              <a:gd name="adj" fmla="val 557"/>
            </a:avLst>
          </a:prstGeom>
          <a:solidFill>
            <a:srgbClr val="F9D2D6"/>
          </a:solidFill>
          <a:ln/>
        </p:spPr>
      </p:sp>
      <p:pic>
        <p:nvPicPr>
          <p:cNvPr id="14" name="Image 0" descr="preencoded.png">    </p:cNvPr>
          <p:cNvPicPr>
            <a:picLocks noChangeAspect="1"/>
          </p:cNvPicPr>
          <p:nvPr/>
        </p:nvPicPr>
        <p:blipFill>
          <a:blip r:embed="rId1"/>
          <a:stretch>
            <a:fillRect/>
          </a:stretch>
        </p:blipFill>
        <p:spPr>
          <a:xfrm>
            <a:off x="793730" y="4183063"/>
            <a:ext cx="165294" cy="132259"/>
          </a:xfrm>
          <a:prstGeom prst="rect">
            <a:avLst/>
          </a:prstGeom>
        </p:spPr>
      </p:pic>
      <p:sp>
        <p:nvSpPr>
          <p:cNvPr id="15" name="Text 12"/>
          <p:cNvSpPr/>
          <p:nvPr/>
        </p:nvSpPr>
        <p:spPr>
          <a:xfrm>
            <a:off x="1091280" y="4165501"/>
            <a:ext cx="10916270" cy="190500"/>
          </a:xfrm>
          <a:prstGeom prst="rect">
            <a:avLst/>
          </a:prstGeom>
          <a:noFill/>
          <a:ln/>
        </p:spPr>
        <p:txBody>
          <a:bodyPr wrap="none" lIns="0" tIns="0" rIns="0" bIns="0" rtlCol="0" anchor="t"/>
          <a:lstStyle/>
          <a:p>
            <a:pPr algn="l" indent="0" marL="0">
              <a:lnSpc>
                <a:spcPct val="120000"/>
              </a:lnSpc>
              <a:buNone/>
            </a:pPr>
            <a:r>
              <a:rPr lang="en-US" sz="1000" dirty="0">
                <a:solidFill>
                  <a:srgbClr val="000000"/>
                </a:solidFill>
                <a:latin typeface="Roboto" pitchFamily="34" charset="0"/>
                <a:ea typeface="Roboto" pitchFamily="34" charset="-122"/>
                <a:cs typeface="Roboto" pitchFamily="34" charset="-120"/>
              </a:rPr>
              <a:t>Key metrics to track:</a:t>
            </a:r>
            <a:endParaRPr lang="en-US" sz="1000" dirty="0"/>
          </a:p>
        </p:txBody>
      </p:sp>
      <p:sp>
        <p:nvSpPr>
          <p:cNvPr id="16" name="Text 13"/>
          <p:cNvSpPr/>
          <p:nvPr/>
        </p:nvSpPr>
        <p:spPr>
          <a:xfrm>
            <a:off x="1091280" y="4451251"/>
            <a:ext cx="10306685" cy="873026"/>
          </a:xfrm>
          <a:prstGeom prst="rect">
            <a:avLst/>
          </a:prstGeom>
          <a:noFill/>
          <a:ln/>
        </p:spPr>
        <p:txBody>
          <a:bodyPr wrap="square" lIns="0" tIns="52925" rIns="0" bIns="0" rtlCol="0" anchor="t">
            <a:normAutofit/>
          </a:bodyPr>
          <a:lstStyle/>
          <a:p>
            <a:pPr algn="l" marL="203200" indent="-203200">
              <a:lnSpc>
                <a:spcPct val="120000"/>
              </a:lnSpc>
              <a:buSzPct val="100000"/>
              <a:buChar char="•"/>
            </a:pPr>
            <a:r>
              <a:rPr lang="en-US" sz="1000" dirty="0">
                <a:solidFill>
                  <a:srgbClr val="000000"/>
                </a:solidFill>
                <a:latin typeface="Roboto" pitchFamily="34" charset="0"/>
                <a:ea typeface="Roboto" pitchFamily="34" charset="-122"/>
                <a:cs typeface="Roboto" pitchFamily="34" charset="-120"/>
              </a:rPr>
              <a:t>call_count: número de invocaciones</a:t>
            </a:r>
            <a:endParaRPr lang="en-US" sz="1000" dirty="0"/>
          </a:p>
          <a:p>
            <a:pPr algn="l" marL="203200" indent="-203200">
              <a:lnSpc>
                <a:spcPct val="120000"/>
              </a:lnSpc>
              <a:buSzPct val="100000"/>
              <a:buChar char="•"/>
            </a:pPr>
            <a:r>
              <a:rPr lang="en-US" sz="1000" dirty="0">
                <a:solidFill>
                  <a:srgbClr val="000000"/>
                </a:solidFill>
                <a:latin typeface="Roboto" pitchFamily="34" charset="0"/>
                <a:ea typeface="Roboto" pitchFamily="34" charset="-122"/>
                <a:cs typeface="Roboto" pitchFamily="34" charset="-120"/>
              </a:rPr>
              <a:t>success_rate: tasa de éxito (%)</a:t>
            </a:r>
            <a:endParaRPr lang="en-US" sz="1000" dirty="0"/>
          </a:p>
          <a:p>
            <a:pPr algn="l" marL="203200" indent="-203200">
              <a:lnSpc>
                <a:spcPct val="120000"/>
              </a:lnSpc>
              <a:buSzPct val="100000"/>
              <a:buChar char="•"/>
            </a:pPr>
            <a:r>
              <a:rPr lang="en-US" sz="1000" dirty="0">
                <a:solidFill>
                  <a:srgbClr val="000000"/>
                </a:solidFill>
                <a:latin typeface="Roboto" pitchFamily="34" charset="0"/>
                <a:ea typeface="Roboto" pitchFamily="34" charset="-122"/>
                <a:cs typeface="Roboto" pitchFamily="34" charset="-120"/>
              </a:rPr>
              <a:t>avg_latency_ms: latencia promedio en ms</a:t>
            </a:r>
            <a:endParaRPr lang="en-US" sz="1000" dirty="0"/>
          </a:p>
          <a:p>
            <a:pPr algn="l" marL="203200" indent="-203200">
              <a:lnSpc>
                <a:spcPct val="120000"/>
              </a:lnSpc>
              <a:buSzPct val="100000"/>
              <a:buChar char="•"/>
            </a:pPr>
            <a:r>
              <a:rPr lang="en-US" sz="1000" dirty="0">
                <a:solidFill>
                  <a:srgbClr val="000000"/>
                </a:solidFill>
                <a:latin typeface="Roboto" pitchFamily="34" charset="0"/>
                <a:ea typeface="Roboto" pitchFamily="34" charset="-122"/>
                <a:cs typeface="Roboto" pitchFamily="34" charset="-120"/>
              </a:rPr>
              <a:t>last_used: última vez utilizada</a:t>
            </a:r>
            <a:endParaRPr lang="en-US" sz="1000" dirty="0"/>
          </a:p>
        </p:txBody>
      </p:sp>
      <p:sp>
        <p:nvSpPr>
          <p:cNvPr id="17" name="Shape 14"/>
          <p:cNvSpPr/>
          <p:nvPr/>
        </p:nvSpPr>
        <p:spPr>
          <a:xfrm>
            <a:off x="661475" y="5513388"/>
            <a:ext cx="10868745" cy="648097"/>
          </a:xfrm>
          <a:prstGeom prst="roundRect">
            <a:avLst>
              <a:gd name="adj" fmla="val 1176"/>
            </a:avLst>
          </a:prstGeom>
          <a:solidFill>
            <a:srgbClr val="F9D2D6"/>
          </a:solidFill>
          <a:ln/>
        </p:spPr>
      </p:sp>
      <p:pic>
        <p:nvPicPr>
          <p:cNvPr id="18" name="Image 1" descr="preencoded.png">    </p:cNvPr>
          <p:cNvPicPr>
            <a:picLocks noChangeAspect="1"/>
          </p:cNvPicPr>
          <p:nvPr/>
        </p:nvPicPr>
        <p:blipFill>
          <a:blip r:embed="rId2"/>
          <a:stretch>
            <a:fillRect/>
          </a:stretch>
        </p:blipFill>
        <p:spPr>
          <a:xfrm>
            <a:off x="793730" y="5669756"/>
            <a:ext cx="165294" cy="132259"/>
          </a:xfrm>
          <a:prstGeom prst="rect">
            <a:avLst/>
          </a:prstGeom>
        </p:spPr>
      </p:pic>
      <p:sp>
        <p:nvSpPr>
          <p:cNvPr id="19" name="Text 15"/>
          <p:cNvSpPr/>
          <p:nvPr/>
        </p:nvSpPr>
        <p:spPr>
          <a:xfrm>
            <a:off x="1091280" y="5652195"/>
            <a:ext cx="10306685"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000000"/>
                </a:solidFill>
                <a:latin typeface="Roboto" pitchFamily="34" charset="0"/>
                <a:ea typeface="Roboto" pitchFamily="34" charset="-122"/>
                <a:cs typeface="Roboto" pitchFamily="34" charset="-120"/>
              </a:rPr>
              <a:t>Las herramientas que el agente nunca usa o usa mal son señales de diseño deficiente — no de capacidad del modelo. Itera sobre descripciones y esquemas antes de cambiar el LLM.</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661475" y="2490887"/>
            <a:ext cx="1502928" cy="251420"/>
          </a:xfrm>
          <a:prstGeom prst="roundRect">
            <a:avLst>
              <a:gd name="adj" fmla="val 3031"/>
            </a:avLst>
          </a:prstGeom>
          <a:solidFill>
            <a:srgbClr val="F9D2D6"/>
          </a:solidFill>
          <a:ln/>
        </p:spPr>
      </p:sp>
      <p:sp>
        <p:nvSpPr>
          <p:cNvPr id="3" name="Text 1"/>
          <p:cNvSpPr/>
          <p:nvPr/>
        </p:nvSpPr>
        <p:spPr>
          <a:xfrm>
            <a:off x="760691" y="2540496"/>
            <a:ext cx="1914080"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FUNDAMENTOS</a:t>
            </a:r>
            <a:endParaRPr lang="en-US" sz="1000" dirty="0"/>
          </a:p>
        </p:txBody>
      </p:sp>
      <p:sp>
        <p:nvSpPr>
          <p:cNvPr id="4" name="Text 2"/>
          <p:cNvSpPr/>
          <p:nvPr/>
        </p:nvSpPr>
        <p:spPr>
          <a:xfrm>
            <a:off x="661475" y="2808387"/>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Model Context Protocol (MCP)</a:t>
            </a:r>
            <a:endParaRPr lang="en-US" sz="3250" dirty="0"/>
          </a:p>
        </p:txBody>
      </p:sp>
      <p:sp>
        <p:nvSpPr>
          <p:cNvPr id="5" name="Text 3"/>
          <p:cNvSpPr/>
          <p:nvPr/>
        </p:nvSpPr>
        <p:spPr>
          <a:xfrm>
            <a:off x="661475" y="3573165"/>
            <a:ext cx="1086874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Protocolo de Contexto del Modelo</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representa un avance fundamental en la integración de sistemas de IA con fuentes de datos y herramientas externas. Exploraremos los desafíos que motivaron su desarrollo, su arquitectura técnica y su impacto en el ecosistema de desarrollo de aplicaciones inteligentes.</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661475" y="1611313"/>
            <a:ext cx="1502928" cy="251420"/>
          </a:xfrm>
          <a:prstGeom prst="roundRect">
            <a:avLst>
              <a:gd name="adj" fmla="val 3031"/>
            </a:avLst>
          </a:prstGeom>
          <a:solidFill>
            <a:srgbClr val="F9D2D6"/>
          </a:solidFill>
          <a:ln/>
        </p:spPr>
      </p:sp>
      <p:sp>
        <p:nvSpPr>
          <p:cNvPr id="3" name="Text 1"/>
          <p:cNvSpPr/>
          <p:nvPr/>
        </p:nvSpPr>
        <p:spPr>
          <a:xfrm>
            <a:off x="760691" y="1660922"/>
            <a:ext cx="1914080"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FUNDAMENTOS</a:t>
            </a:r>
            <a:endParaRPr lang="en-US" sz="1000" dirty="0"/>
          </a:p>
        </p:txBody>
      </p:sp>
      <p:sp>
        <p:nvSpPr>
          <p:cNvPr id="4" name="Text 2"/>
          <p:cNvSpPr/>
          <p:nvPr/>
        </p:nvSpPr>
        <p:spPr>
          <a:xfrm>
            <a:off x="661475" y="1928813"/>
            <a:ext cx="10868745" cy="1033463"/>
          </a:xfrm>
          <a:prstGeom prst="rect">
            <a:avLst/>
          </a:prstGeom>
          <a:noFill/>
          <a:ln/>
        </p:spPr>
        <p:txBody>
          <a:bodyPr wrap="square" lIns="0" tIns="0" rIns="0" bIns="0" rtlCol="0" anchor="t">
            <a:normAutofit/>
          </a:bodyPr>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Necesidad: Integración de IA con sistemas externos</a:t>
            </a:r>
            <a:endParaRPr lang="en-US"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210322"/>
            <a:ext cx="413434" cy="413445"/>
          </a:xfrm>
          <a:prstGeom prst="rect">
            <a:avLst/>
          </a:prstGeom>
        </p:spPr>
      </p:pic>
      <p:sp>
        <p:nvSpPr>
          <p:cNvPr id="6" name="Text 3"/>
          <p:cNvSpPr/>
          <p:nvPr/>
        </p:nvSpPr>
        <p:spPr>
          <a:xfrm>
            <a:off x="661475" y="3830439"/>
            <a:ext cx="3485071"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Conocimiento estático</a:t>
            </a:r>
            <a:endParaRPr lang="en-US" sz="1600" dirty="0"/>
          </a:p>
        </p:txBody>
      </p:sp>
      <p:sp>
        <p:nvSpPr>
          <p:cNvPr id="7" name="Text 4"/>
          <p:cNvSpPr/>
          <p:nvPr/>
        </p:nvSpPr>
        <p:spPr>
          <a:xfrm>
            <a:off x="661475" y="4188123"/>
            <a:ext cx="3485071"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Los LLMs operan con conocimiento almacenado durante su entrenamiento, sin capacidad de acceder a información en tiempo real o sistemas de producción.</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3210322"/>
            <a:ext cx="413434" cy="413445"/>
          </a:xfrm>
          <a:prstGeom prst="rect">
            <a:avLst/>
          </a:prstGeom>
        </p:spPr>
      </p:pic>
      <p:sp>
        <p:nvSpPr>
          <p:cNvPr id="9" name="Text 5"/>
          <p:cNvSpPr/>
          <p:nvPr/>
        </p:nvSpPr>
        <p:spPr>
          <a:xfrm>
            <a:off x="4353213" y="3830439"/>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Conectores personalizados</a:t>
            </a:r>
            <a:endParaRPr lang="en-US" sz="1600" dirty="0"/>
          </a:p>
        </p:txBody>
      </p:sp>
      <p:sp>
        <p:nvSpPr>
          <p:cNvPr id="10" name="Text 6"/>
          <p:cNvSpPr/>
          <p:nvPr/>
        </p:nvSpPr>
        <p:spPr>
          <a:xfrm>
            <a:off x="4353213" y="4188123"/>
            <a:ext cx="348517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Cada integración requería el desarrollo de conectores únicos, generando costes elevados y un mantenimiento poco escalable para equipos de ingeniería.</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3210322"/>
            <a:ext cx="413434" cy="413445"/>
          </a:xfrm>
          <a:prstGeom prst="rect">
            <a:avLst/>
          </a:prstGeom>
        </p:spPr>
      </p:pic>
      <p:sp>
        <p:nvSpPr>
          <p:cNvPr id="12" name="Text 7"/>
          <p:cNvSpPr/>
          <p:nvPr/>
        </p:nvSpPr>
        <p:spPr>
          <a:xfrm>
            <a:off x="8045050" y="3830439"/>
            <a:ext cx="348517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Silos de información</a:t>
            </a:r>
            <a:endParaRPr lang="en-US" sz="1600" dirty="0"/>
          </a:p>
        </p:txBody>
      </p:sp>
      <p:sp>
        <p:nvSpPr>
          <p:cNvPr id="13" name="Text 8"/>
          <p:cNvSpPr/>
          <p:nvPr/>
        </p:nvSpPr>
        <p:spPr>
          <a:xfrm>
            <a:off x="8045050" y="4188123"/>
            <a:ext cx="348517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falta de estandarización creaba fragmentación de datos y duplicación masiva de esfuerzos de desarrollo en toda la industria.</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661475" y="1411684"/>
            <a:ext cx="1502928" cy="251420"/>
          </a:xfrm>
          <a:prstGeom prst="roundRect">
            <a:avLst>
              <a:gd name="adj" fmla="val 3031"/>
            </a:avLst>
          </a:prstGeom>
          <a:solidFill>
            <a:srgbClr val="F9D2D6"/>
          </a:solidFill>
          <a:ln/>
        </p:spPr>
      </p:sp>
      <p:sp>
        <p:nvSpPr>
          <p:cNvPr id="3" name="Text 1"/>
          <p:cNvSpPr/>
          <p:nvPr/>
        </p:nvSpPr>
        <p:spPr>
          <a:xfrm>
            <a:off x="760691" y="1461294"/>
            <a:ext cx="1914080"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MCP: FUNDAMENTOS</a:t>
            </a:r>
            <a:endParaRPr lang="en-US" sz="1000" dirty="0"/>
          </a:p>
        </p:txBody>
      </p:sp>
      <p:sp>
        <p:nvSpPr>
          <p:cNvPr id="4" name="Text 2"/>
          <p:cNvSpPr/>
          <p:nvPr/>
        </p:nvSpPr>
        <p:spPr>
          <a:xfrm>
            <a:off x="661475" y="172918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Historia y necesidad del MCP</a:t>
            </a:r>
            <a:endParaRPr lang="en-US" sz="3250" dirty="0"/>
          </a:p>
        </p:txBody>
      </p:sp>
      <p:sp>
        <p:nvSpPr>
          <p:cNvPr id="5" name="Text 3"/>
          <p:cNvSpPr/>
          <p:nvPr/>
        </p:nvSpPr>
        <p:spPr>
          <a:xfrm>
            <a:off x="909516" y="2742009"/>
            <a:ext cx="10620705"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1F1E1E"/>
                </a:solidFill>
                <a:latin typeface="Roboto Mono Bold" pitchFamily="34" charset="0"/>
                <a:ea typeface="Roboto Mono Bold" pitchFamily="34" charset="-122"/>
                <a:cs typeface="Roboto Mono Bold" pitchFamily="34" charset="-120"/>
              </a:rPr>
              <a:t>Noviembre 2024 — Anthropic lanza MCP como protocolo abierto para toda la comunidad de desarrollo de IA.</a:t>
            </a:r>
            <a:endParaRPr lang="en-US" sz="1600" dirty="0"/>
          </a:p>
        </p:txBody>
      </p:sp>
      <p:sp>
        <p:nvSpPr>
          <p:cNvPr id="6" name="Shape 4"/>
          <p:cNvSpPr/>
          <p:nvPr/>
        </p:nvSpPr>
        <p:spPr>
          <a:xfrm>
            <a:off x="661475" y="2493963"/>
            <a:ext cx="19050" cy="1013023"/>
          </a:xfrm>
          <a:prstGeom prst="roundRect">
            <a:avLst>
              <a:gd name="adj" fmla="val 49999"/>
            </a:avLst>
          </a:prstGeom>
          <a:solidFill>
            <a:srgbClr val="DA1B2E"/>
          </a:solidFill>
          <a:ln/>
        </p:spPr>
      </p:sp>
      <p:sp>
        <p:nvSpPr>
          <p:cNvPr id="7" name="Shape 5"/>
          <p:cNvSpPr/>
          <p:nvPr/>
        </p:nvSpPr>
        <p:spPr>
          <a:xfrm>
            <a:off x="661475" y="3693021"/>
            <a:ext cx="3512653" cy="1753295"/>
          </a:xfrm>
          <a:prstGeom prst="roundRect">
            <a:avLst>
              <a:gd name="adj" fmla="val 435"/>
            </a:avLst>
          </a:prstGeom>
          <a:solidFill>
            <a:srgbClr val="F2EEEE"/>
          </a:solidFill>
          <a:ln w="6350">
            <a:solidFill>
              <a:srgbClr val="D8D4D4"/>
            </a:solidFill>
            <a:prstDash val="solid"/>
          </a:ln>
        </p:spPr>
      </p:sp>
      <p:sp>
        <p:nvSpPr>
          <p:cNvPr id="8" name="Text 6"/>
          <p:cNvSpPr/>
          <p:nvPr/>
        </p:nvSpPr>
        <p:spPr>
          <a:xfrm>
            <a:off x="833119" y="3864670"/>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Visión «USB-C para IA»</a:t>
            </a:r>
            <a:endParaRPr lang="en-US" sz="1600" dirty="0"/>
          </a:p>
        </p:txBody>
      </p:sp>
      <p:sp>
        <p:nvSpPr>
          <p:cNvPr id="9" name="Text 7"/>
          <p:cNvSpPr/>
          <p:nvPr/>
        </p:nvSpPr>
        <p:spPr>
          <a:xfrm>
            <a:off x="833119" y="4222353"/>
            <a:ext cx="316936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Lenguaje común que conecta cualquier modelo con múltiples fuentes sin necesidad de conectores propietarios.</a:t>
            </a:r>
            <a:endParaRPr lang="en-US" sz="1300" dirty="0"/>
          </a:p>
        </p:txBody>
      </p:sp>
      <p:sp>
        <p:nvSpPr>
          <p:cNvPr id="10" name="Shape 8"/>
          <p:cNvSpPr/>
          <p:nvPr/>
        </p:nvSpPr>
        <p:spPr>
          <a:xfrm>
            <a:off x="4339422" y="3693021"/>
            <a:ext cx="3512752" cy="1753295"/>
          </a:xfrm>
          <a:prstGeom prst="roundRect">
            <a:avLst>
              <a:gd name="adj" fmla="val 435"/>
            </a:avLst>
          </a:prstGeom>
          <a:solidFill>
            <a:srgbClr val="F2EEEE"/>
          </a:solidFill>
          <a:ln w="6350">
            <a:solidFill>
              <a:srgbClr val="D8D4D4"/>
            </a:solidFill>
            <a:prstDash val="solid"/>
          </a:ln>
        </p:spPr>
      </p:sp>
      <p:sp>
        <p:nvSpPr>
          <p:cNvPr id="11" name="Text 9"/>
          <p:cNvSpPr/>
          <p:nvPr/>
        </p:nvSpPr>
        <p:spPr>
          <a:xfrm>
            <a:off x="4511066" y="3864670"/>
            <a:ext cx="31694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Reducción de complejidad</a:t>
            </a:r>
            <a:endParaRPr lang="en-US" sz="1600" dirty="0"/>
          </a:p>
        </p:txBody>
      </p:sp>
      <p:sp>
        <p:nvSpPr>
          <p:cNvPr id="12" name="Text 10"/>
          <p:cNvSpPr/>
          <p:nvPr/>
        </p:nvSpPr>
        <p:spPr>
          <a:xfrm>
            <a:off x="4511066" y="4222353"/>
            <a:ext cx="316946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De M×N integraciones (cada modelo con cada fuente) a M+N conexiones estandarizadas y reutilizables.</a:t>
            </a:r>
            <a:endParaRPr lang="en-US" sz="1300" dirty="0"/>
          </a:p>
        </p:txBody>
      </p:sp>
      <p:sp>
        <p:nvSpPr>
          <p:cNvPr id="13" name="Shape 11"/>
          <p:cNvSpPr/>
          <p:nvPr/>
        </p:nvSpPr>
        <p:spPr>
          <a:xfrm>
            <a:off x="8017468" y="3693021"/>
            <a:ext cx="3512653" cy="1753295"/>
          </a:xfrm>
          <a:prstGeom prst="roundRect">
            <a:avLst>
              <a:gd name="adj" fmla="val 435"/>
            </a:avLst>
          </a:prstGeom>
          <a:solidFill>
            <a:srgbClr val="F2EEEE"/>
          </a:solidFill>
          <a:ln w="6350">
            <a:solidFill>
              <a:srgbClr val="D8D4D4"/>
            </a:solidFill>
            <a:prstDash val="solid"/>
          </a:ln>
        </p:spPr>
      </p:sp>
      <p:sp>
        <p:nvSpPr>
          <p:cNvPr id="14" name="Text 12"/>
          <p:cNvSpPr/>
          <p:nvPr/>
        </p:nvSpPr>
        <p:spPr>
          <a:xfrm>
            <a:off x="8189112" y="3864670"/>
            <a:ext cx="3169364"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Aceleración del desarrollo</a:t>
            </a:r>
            <a:endParaRPr lang="en-US" sz="1600" dirty="0"/>
          </a:p>
        </p:txBody>
      </p:sp>
      <p:sp>
        <p:nvSpPr>
          <p:cNvPr id="15" name="Text 13"/>
          <p:cNvSpPr/>
          <p:nvPr/>
        </p:nvSpPr>
        <p:spPr>
          <a:xfrm>
            <a:off x="8189112" y="4480818"/>
            <a:ext cx="316936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Capa de abstracción universal que facilita la construcción rápida de aplicaciones inteligentes y componibles.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DA1B2E"/>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2026-08-14T16:27:33Z</dcterms:created>
  <dcterms:modified xsi:type="dcterms:W3CDTF">2026-08-14T16:27:33Z</dcterms:modified>
</cp:coreProperties>
</file>